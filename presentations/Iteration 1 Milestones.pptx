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9" r:id="rId2"/>
    <p:sldId id="258" r:id="rId3"/>
    <p:sldId id="259" r:id="rId4"/>
    <p:sldId id="270" r:id="rId5"/>
    <p:sldId id="260" r:id="rId6"/>
    <p:sldId id="261" r:id="rId7"/>
    <p:sldId id="262" r:id="rId8"/>
    <p:sldId id="275" r:id="rId9"/>
    <p:sldId id="263" r:id="rId10"/>
    <p:sldId id="27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924" autoAdjust="0"/>
  </p:normalViewPr>
  <p:slideViewPr>
    <p:cSldViewPr snapToGrid="0" snapToObjects="1">
      <p:cViewPr varScale="1">
        <p:scale>
          <a:sx n="52" d="100"/>
          <a:sy n="52" d="100"/>
        </p:scale>
        <p:origin x="1843" y="29"/>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ong" userId="f0dab1f4b2f59987" providerId="LiveId" clId="{BD423006-59C5-4E11-8B6B-507DC77F169F}"/>
    <pc:docChg chg="undo redo custSel addSld delSld modSld sldOrd">
      <pc:chgData name="David Long" userId="f0dab1f4b2f59987" providerId="LiveId" clId="{BD423006-59C5-4E11-8B6B-507DC77F169F}" dt="2026-10-13T23:36:02.503" v="623" actId="20577"/>
      <pc:docMkLst>
        <pc:docMk/>
      </pc:docMkLst>
      <pc:sldChg chg="modSp mod">
        <pc:chgData name="David Long" userId="f0dab1f4b2f59987" providerId="LiveId" clId="{BD423006-59C5-4E11-8B6B-507DC77F169F}" dt="2026-10-13T23:36:02.503" v="623" actId="20577"/>
        <pc:sldMkLst>
          <pc:docMk/>
          <pc:sldMk cId="0" sldId="260"/>
        </pc:sldMkLst>
        <pc:spChg chg="mod">
          <ac:chgData name="David Long" userId="f0dab1f4b2f59987" providerId="LiveId" clId="{BD423006-59C5-4E11-8B6B-507DC77F169F}" dt="2026-10-13T23:36:02.503" v="623" actId="20577"/>
          <ac:spMkLst>
            <pc:docMk/>
            <pc:sldMk cId="0" sldId="260"/>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1819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Hello everyone, today I will present my results of iteration 1 and also what I have done over the holidays which is introducing the priority-based selection algorithm. Some context for Darryl who hasn’t seen my project before, my project focuses on scheduling algorithm research, so when aircraft go into maintenance at the same time, the availability of the fleet will drop. My job is to stagger the aircraft, so the availability stays consistent throughout the whole schedule instead of having random dips in availability.</a:t>
            </a:r>
          </a:p>
        </p:txBody>
      </p:sp>
      <p:sp>
        <p:nvSpPr>
          <p:cNvPr id="4" name="Slide Number Placeholder 3"/>
          <p:cNvSpPr>
            <a:spLocks noGrp="1"/>
          </p:cNvSpPr>
          <p:nvPr>
            <p:ph type="sldNum" sz="quarter" idx="5"/>
          </p:nvPr>
        </p:nvSpPr>
        <p:spPr/>
        <p:txBody>
          <a:bodyPr/>
          <a:lstStyle/>
          <a:p>
            <a:fld id="{81A084F6-DEB1-46CA-8A6A-74785726ECE7}" type="slidenum">
              <a:rPr lang="en-AU" smtClean="0"/>
              <a:t>1</a:t>
            </a:fld>
            <a:endParaRPr lang="en-AU"/>
          </a:p>
        </p:txBody>
      </p:sp>
    </p:spTree>
    <p:extLst>
      <p:ext uri="{BB962C8B-B14F-4D97-AF65-F5344CB8AC3E}">
        <p14:creationId xmlns:p14="http://schemas.microsoft.com/office/powerpoint/2010/main" val="2100740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an overview on what I am going to talk about today. There are a total of three milestones I have achieved in iteration 1 and also an additional milestone that I have done since the last meeting. The first milestone was achieved when I received the simple dataset from Tim and I used a simple </a:t>
            </a:r>
            <a:r>
              <a:rPr lang="en-US" dirty="0" err="1"/>
              <a:t>neighbourhood</a:t>
            </a:r>
            <a:r>
              <a:rPr lang="en-US" dirty="0"/>
              <a:t> search to optimize it. The second milestone was achieved when I went back to Tim and he told me about the different types of checks that occur in maintenance which led to a heavy dataset to be generated. At first I tried to run the same algorithm on it but it was too slow, so I introduced the random sampling method for my third milestone. Finally, I will introduce the priority-based selection method which I worked on since the last meeting.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kumimoji="0" lang="en-AU" sz="1200" b="0" i="0" u="none" strike="noStrike" cap="none" normalizeH="0" baseline="0" noProof="0" dirty="0">
                <a:ln>
                  <a:noFill/>
                </a:ln>
                <a:effectLst/>
                <a:latin typeface="Arial" panose="020B0604020202020204" pitchFamily="34" charset="0"/>
              </a:rPr>
              <a:t>The Simple Dataset provided by Tim had 10-aircraft with 8 maintenance events each lasting 60 days. The maintenance windows were constrained to 320–380 days and the Initial random schedule caused heavy overlap. </a:t>
            </a:r>
            <a:r>
              <a:rPr lang="en-US" dirty="0"/>
              <a:t>To </a:t>
            </a:r>
            <a:r>
              <a:rPr lang="en-US" dirty="0" err="1"/>
              <a:t>optimise</a:t>
            </a:r>
            <a:r>
              <a:rPr lang="en-US" dirty="0"/>
              <a:t> the initial schedule, I implemented a Best-Improvement </a:t>
            </a:r>
            <a:r>
              <a:rPr lang="en-US" dirty="0" err="1"/>
              <a:t>Neighbourhood</a:t>
            </a:r>
            <a:r>
              <a:rPr lang="en-US" dirty="0"/>
              <a:t> Search algorithm. The algorithm explores </a:t>
            </a:r>
            <a:r>
              <a:rPr lang="en-US" dirty="0" err="1"/>
              <a:t>neighbouring</a:t>
            </a:r>
            <a:r>
              <a:rPr lang="en-US" dirty="0"/>
              <a:t> solutions by shifting maintenance start dates while ensuring all scheduling constraints remain feasible, including the required 320 to 380 day window. The </a:t>
            </a:r>
            <a:r>
              <a:rPr lang="en-US" dirty="0" err="1"/>
              <a:t>optimisation</a:t>
            </a:r>
            <a:r>
              <a:rPr lang="en-US" dirty="0"/>
              <a:t> objective was </a:t>
            </a:r>
            <a:r>
              <a:rPr lang="en-US" dirty="0" err="1"/>
              <a:t>prioritised</a:t>
            </a:r>
            <a:r>
              <a:rPr lang="en-US" dirty="0"/>
              <a:t> in two stages. First, </a:t>
            </a:r>
            <a:r>
              <a:rPr lang="en-US" dirty="0" err="1"/>
              <a:t>maximise</a:t>
            </a:r>
            <a:r>
              <a:rPr lang="en-US" dirty="0"/>
              <a:t> the minimum number of available aircraft across the schedule. Then, if multiple schedules achieved the same minimum availability, standard deviation was used as a secondary metric to smooth the schedule further. As shown, neighborhood search successfully removed the major dips in availability and produced a much more balanced maintenance schedule.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move toward a more realistic scheduling problem, the simple dataset was extended into a dataset with heavy maintenance cycles.</a:t>
            </a:r>
          </a:p>
          <a:p>
            <a:r>
              <a:rPr lang="en-US" dirty="0"/>
              <a:t>The model now includes four different maintenance checks: A, B, C, and D checks, each with different durations and intervals.</a:t>
            </a:r>
          </a:p>
          <a:p>
            <a:r>
              <a:rPr lang="en-US" dirty="0"/>
              <a:t>Higher-level checks include the work from lower-level checks, creating a repeating maintenance cycle of A, B, A, C, A, B, A, D.</a:t>
            </a:r>
          </a:p>
          <a:p>
            <a:r>
              <a:rPr lang="en-US" dirty="0"/>
              <a:t>To properly capture long-term scheduling effects, the forecast horizon was extended to 12 years, representing approximately one and a half maintenance cycles.</a:t>
            </a:r>
          </a:p>
          <a:p>
            <a:r>
              <a:rPr lang="en-US" dirty="0"/>
              <a:t>This significantly increases scheduling complexity, especially as fleet size grows from small fleets to larger operational fleets of 10 to 24 aircraft and different maintenance durations.</a:t>
            </a:r>
          </a:p>
          <a:p>
            <a:r>
              <a:rPr lang="en-US" dirty="0"/>
              <a:t>This graph shows an example long-term availability forecast under this more realistic maintenance structure.</a:t>
            </a:r>
          </a:p>
          <a:p>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4</a:t>
            </a:fld>
            <a:endParaRPr lang="en-AU"/>
          </a:p>
        </p:txBody>
      </p:sp>
    </p:spTree>
    <p:extLst>
      <p:ext uri="{BB962C8B-B14F-4D97-AF65-F5344CB8AC3E}">
        <p14:creationId xmlns:p14="http://schemas.microsoft.com/office/powerpoint/2010/main" val="3821960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After extending the dataset to </a:t>
            </a:r>
            <a:r>
              <a:rPr lang="en-US" dirty="0" err="1"/>
              <a:t>includethe</a:t>
            </a:r>
            <a:r>
              <a:rPr lang="en-US" dirty="0"/>
              <a:t> realistic checks, I developed a scheduling </a:t>
            </a:r>
            <a:r>
              <a:rPr lang="en-US" dirty="0" err="1"/>
              <a:t>optimiser</a:t>
            </a:r>
            <a:r>
              <a:rPr lang="en-US" dirty="0"/>
              <a:t> using a Variable </a:t>
            </a:r>
            <a:r>
              <a:rPr lang="en-US" dirty="0" err="1"/>
              <a:t>Neighbourhood</a:t>
            </a:r>
            <a:r>
              <a:rPr lang="en-US" dirty="0"/>
              <a:t> Search approach.</a:t>
            </a:r>
          </a:p>
          <a:p>
            <a:r>
              <a:rPr lang="en-US" dirty="0"/>
              <a:t>This flowchart </a:t>
            </a:r>
            <a:r>
              <a:rPr lang="en-US" dirty="0" err="1"/>
              <a:t>summarises</a:t>
            </a:r>
            <a:r>
              <a:rPr lang="en-US" dirty="0"/>
              <a:t> the </a:t>
            </a:r>
            <a:r>
              <a:rPr lang="en-US" dirty="0" err="1"/>
              <a:t>optimisation</a:t>
            </a:r>
            <a:r>
              <a:rPr lang="en-US" dirty="0"/>
              <a:t> process.</a:t>
            </a:r>
          </a:p>
          <a:p>
            <a:r>
              <a:rPr lang="en-US" dirty="0"/>
              <a:t>The algorithm first computes aircraft availability across the entire 12-year forecast horizon and evaluates the schedule using three metrics: minimum availability, standard deviation, and average availability.</a:t>
            </a:r>
          </a:p>
          <a:p>
            <a:r>
              <a:rPr lang="en-US" dirty="0"/>
              <a:t>It then generates </a:t>
            </a:r>
            <a:r>
              <a:rPr lang="en-US" dirty="0" err="1"/>
              <a:t>neighbouring</a:t>
            </a:r>
            <a:r>
              <a:rPr lang="en-US" dirty="0"/>
              <a:t> schedules by shifting maintenance start dates within their feasible maintenance windows.</a:t>
            </a:r>
          </a:p>
          <a:p>
            <a:r>
              <a:rPr lang="en-US" dirty="0"/>
              <a:t>Each candidate schedule undergoes a feasibility check to ensure there are no overlapping maintenance events.</a:t>
            </a:r>
          </a:p>
          <a:p>
            <a:r>
              <a:rPr lang="en-US" dirty="0"/>
              <a:t>Initially, I attempted to use the same brute-force </a:t>
            </a:r>
            <a:r>
              <a:rPr lang="en-US" dirty="0" err="1"/>
              <a:t>neighbourhood</a:t>
            </a:r>
            <a:r>
              <a:rPr lang="en-US" dirty="0"/>
              <a:t> search approach that worked on the smaller dataset. However, the problem became significantly larger after scaling from 10 aircraft to 24 aircraft, with around 11 to 12 maintenance events per aircraft.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Because the </a:t>
            </a:r>
            <a:r>
              <a:rPr lang="en-US" dirty="0" err="1"/>
              <a:t>neighbourhood</a:t>
            </a:r>
            <a:r>
              <a:rPr lang="en-US" dirty="0"/>
              <a:t> size is determined by aircraft multiplied by events multiplied by shift combinations, each iteration could generate over 1000 </a:t>
            </a:r>
            <a:r>
              <a:rPr lang="en-US" dirty="0" err="1"/>
              <a:t>neighbouring</a:t>
            </a:r>
            <a:r>
              <a:rPr lang="en-US" dirty="0"/>
              <a:t> schedules.</a:t>
            </a:r>
          </a:p>
          <a:p>
            <a:r>
              <a:rPr lang="en-US" dirty="0"/>
              <a:t>Evaluating every </a:t>
            </a:r>
            <a:r>
              <a:rPr lang="en-US" dirty="0" err="1"/>
              <a:t>neighbour</a:t>
            </a:r>
            <a:r>
              <a:rPr lang="en-US" dirty="0"/>
              <a:t> became computationally expensive, and the algorithm was taking more than 15 minutes to complete.</a:t>
            </a:r>
          </a:p>
          <a:p>
            <a:r>
              <a:rPr lang="en-US" dirty="0"/>
              <a:t>To solve this issue, I introduced a random sampling strategy. Instead of evaluating all </a:t>
            </a:r>
            <a:r>
              <a:rPr lang="en-US" dirty="0" err="1"/>
              <a:t>neighbours</a:t>
            </a:r>
            <a:r>
              <a:rPr lang="en-US" dirty="0"/>
              <a:t>, the </a:t>
            </a:r>
            <a:r>
              <a:rPr lang="en-US" dirty="0" err="1"/>
              <a:t>optimiser</a:t>
            </a:r>
            <a:r>
              <a:rPr lang="en-US" dirty="0"/>
              <a:t> randomly selects 200 candidate </a:t>
            </a:r>
            <a:r>
              <a:rPr lang="en-US" dirty="0" err="1"/>
              <a:t>neighbours</a:t>
            </a:r>
            <a:r>
              <a:rPr lang="en-US" dirty="0"/>
              <a:t> each iteration.</a:t>
            </a:r>
          </a:p>
          <a:p>
            <a:r>
              <a:rPr lang="en-US" dirty="0"/>
              <a:t>This significantly reduced runtime while still consistently finding improved schedules, because 200 sampled </a:t>
            </a:r>
            <a:r>
              <a:rPr lang="en-US" dirty="0" err="1"/>
              <a:t>neighbours</a:t>
            </a:r>
            <a:r>
              <a:rPr lang="en-US" dirty="0"/>
              <a:t> were sufficient to identify better local solutions. The trade-off is that it is nondeterministic as it is random however it can be reproduced by using the same seed.</a:t>
            </a:r>
          </a:p>
          <a:p>
            <a:r>
              <a:rPr lang="en-US" dirty="0"/>
              <a:t>There are still limitations to this approach as it may miss the best improving move and it still deep copies 200 </a:t>
            </a:r>
            <a:r>
              <a:rPr lang="en-US" dirty="0" err="1"/>
              <a:t>neighbours</a:t>
            </a:r>
            <a:r>
              <a:rPr lang="en-US" dirty="0"/>
              <a:t>. So I thought instead of having a random approach of 200 </a:t>
            </a:r>
            <a:r>
              <a:rPr lang="en-US" dirty="0" err="1"/>
              <a:t>neighbours</a:t>
            </a:r>
            <a:r>
              <a:rPr lang="en-US" dirty="0"/>
              <a:t> because 200 is still a lot, we can find a more deterministic approach that is smarter and </a:t>
            </a:r>
            <a:r>
              <a:rPr lang="en-US" dirty="0" err="1"/>
              <a:t>utilises</a:t>
            </a:r>
            <a:r>
              <a:rPr lang="en-US" dirty="0"/>
              <a:t> the nature of the schedule.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method I want to spend the most time on, because it is the main technical result of iteration 1.
Priority-based selection changes the question we ask. Instead of asking “what happens if we try random moves to find the best one?”, we ask “which maintenance events are actually hurting and causing the minimum availability to be the lowest?”
How this algorithm works is for every event, it gets a priority score equal to the lowest fleet availability of the event for every day it is active. So if an event overlaps a day when only fifteen aircraft are available on that day, then the event priority score is fifteen. Then the events with the lowest priority score will be the ones to be shifted first.
Another thing I changed is that when we move one check, we do not leave the rest of that aircraft’s plan sitting in a potentially broken state. Before, </a:t>
            </a:r>
            <a:r>
              <a:rPr lang="en-AU" sz="1200" b="0" i="0" kern="1200" dirty="0">
                <a:solidFill>
                  <a:schemeClr val="tx1"/>
                </a:solidFill>
                <a:effectLst/>
                <a:latin typeface="+mn-lt"/>
                <a:ea typeface="+mn-ea"/>
                <a:cs typeface="+mn-cs"/>
              </a:rPr>
              <a:t>when we move one maintenance check, only that selected event is shifted. Now when an event is shifted, the schedule is rebuilt, everything earlier on the same aircraft stays exactly as it was. Everything later is recalculated from the new shift date using the A/B/C/D rules, so the due dates will remain legal even after getting shifted.</a:t>
            </a:r>
            <a:r>
              <a:rPr lang="en-US" dirty="0"/>
              <a:t>
I also changed how scoring works. The entire fleet is not deep copied for every trial. We rebuild one aircraft, then update availability incrementally. That aircraft’s old intervals are removed from the stored availability array, and the new rebuilt intervals are added, and scored once. That is much cheaper than recomputing availability from scratch for every </a:t>
            </a:r>
            <a:r>
              <a:rPr lang="en-US" dirty="0" err="1"/>
              <a:t>neighbour</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Now I want to walk through the mechanics of those priority levels.
The global minimum availability for the starting schedule is fifteen. First, we score every event. For each event we look at fleet availability on every day that the event is active, and the priority is the minimum of those days. For example, for an event, if the first day has an availability of 18, the second has 18, third has 16, and forth has 15 aircraft available, and so on, its priority is fifteen.
Second, we split the events into exclusive buckets by that priority. In our starting schedule we had twenty events at level fifteen, ten at sixteen, nine at seventeen, and larger groups at higher levels. So level 21 had the </a:t>
            </a:r>
            <a:r>
              <a:rPr lang="en-US"/>
              <a:t>most events. </a:t>
            </a:r>
            <a:r>
              <a:rPr lang="en-US" dirty="0"/>
              <a:t>An event sits in only one bucket: the bucket for its own worst day. So the twenty events at fifteen and the ten at sixteen are different events. 
Third, we search the worst buckets first. For a shift set like plus and minus twenty-eight, level fifteen is about twenty events times two shifts, so around forty candidates. If any of those moves improve the score, we stop at that level for the iteration and take the best improving move. We only expand to level sixteen, then seventeen, and so on if the worse levels find nothing.
That is why the method is both targeted and fast. We are not randomly discarding most of the </a:t>
            </a:r>
            <a:r>
              <a:rPr lang="en-US" dirty="0" err="1"/>
              <a:t>neighbourhood</a:t>
            </a:r>
            <a:r>
              <a:rPr lang="en-US" dirty="0"/>
              <a:t>. We are concentrating effort on the events that touch the availability floor, and we only widen the search when we have to. And for higher levels like 21 where there are a lot of events, the algorithm converged at level 18 so the algorithm never needed to search that many </a:t>
            </a:r>
            <a:r>
              <a:rPr lang="en-US" dirty="0" err="1"/>
              <a:t>neighbours</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 are the measured results on the same heavy dataset.
All algorithms converged to 18 minimum availability and around 1.44 standard deviation. 
However, For runtime, full </a:t>
            </a:r>
            <a:r>
              <a:rPr lang="en-US" dirty="0" err="1"/>
              <a:t>neighbourhood</a:t>
            </a:r>
            <a:r>
              <a:rPr lang="en-US" dirty="0"/>
              <a:t> search took roughly fifteen minutes. The two-hundred random sample method took roughly seven and a half minutes. And Priority selection took only about fifteen seconds.
So I managed to cut runtime by about sixty times compared with full </a:t>
            </a:r>
            <a:r>
              <a:rPr lang="en-US" dirty="0" err="1"/>
              <a:t>neighbourhood</a:t>
            </a:r>
            <a:r>
              <a:rPr lang="en-US" dirty="0"/>
              <a:t> search, and by about thirty times compared with </a:t>
            </a:r>
            <a:r>
              <a:rPr lang="en-US" dirty="0" err="1"/>
              <a:t>neighbourhood</a:t>
            </a:r>
            <a:r>
              <a:rPr lang="en-US" dirty="0"/>
              <a:t> search with random sampling.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Looking ahead to Semester Two and Iteration 2, the plan is to investigate a hybrid method of simulated annealing and variable </a:t>
            </a:r>
            <a:r>
              <a:rPr lang="en-US" dirty="0" err="1"/>
              <a:t>neighbourhood</a:t>
            </a:r>
            <a:r>
              <a:rPr lang="en-US" dirty="0"/>
              <a:t> search, bring in additional operational and logistic constraints like maximizing availability for 3 months because of a special event by reducing availability of surrounding events, </a:t>
            </a:r>
            <a:r>
              <a:rPr lang="en-US" dirty="0" err="1"/>
              <a:t>analysing</a:t>
            </a:r>
            <a:r>
              <a:rPr lang="en-US" dirty="0"/>
              <a:t> hyperparameters more carefully like investigating in the step sizes, and I think investigating whether the initial stagger of the schedule changes the final outcome would be interesting. 
Thank you for listening.
---</a:t>
            </a:r>
          </a:p>
          <a:p>
            <a:endParaRPr lang="en-AU" dirty="0"/>
          </a:p>
        </p:txBody>
      </p:sp>
    </p:spTree>
    <p:extLst>
      <p:ext uri="{BB962C8B-B14F-4D97-AF65-F5344CB8AC3E}">
        <p14:creationId xmlns:p14="http://schemas.microsoft.com/office/powerpoint/2010/main" val="850873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536-CD70-9DE5-CFC2-48C7671739CA}"/>
              </a:ext>
            </a:extLst>
          </p:cNvPr>
          <p:cNvSpPr>
            <a:spLocks noGrp="1"/>
          </p:cNvSpPr>
          <p:nvPr>
            <p:ph type="ctrTitle"/>
          </p:nvPr>
        </p:nvSpPr>
        <p:spPr/>
        <p:txBody>
          <a:bodyPr/>
          <a:lstStyle/>
          <a:p>
            <a:endParaRPr lang="en-AU" noProof="0" dirty="0"/>
          </a:p>
        </p:txBody>
      </p:sp>
      <p:sp>
        <p:nvSpPr>
          <p:cNvPr id="3" name="Subtitle 2">
            <a:extLst>
              <a:ext uri="{FF2B5EF4-FFF2-40B4-BE49-F238E27FC236}">
                <a16:creationId xmlns:a16="http://schemas.microsoft.com/office/drawing/2014/main" id="{2ED935A8-37BF-57C3-A747-1FF6693A07D8}"/>
              </a:ext>
            </a:extLst>
          </p:cNvPr>
          <p:cNvSpPr>
            <a:spLocks noGrp="1"/>
          </p:cNvSpPr>
          <p:nvPr>
            <p:ph type="subTitle" idx="1"/>
          </p:nvPr>
        </p:nvSpPr>
        <p:spPr/>
        <p:txBody>
          <a:bodyPr/>
          <a:lstStyle/>
          <a:p>
            <a:endParaRPr lang="en-AU" noProof="0" dirty="0"/>
          </a:p>
        </p:txBody>
      </p:sp>
      <p:sp>
        <p:nvSpPr>
          <p:cNvPr id="6" name="Rectangle 5">
            <a:extLst>
              <a:ext uri="{FF2B5EF4-FFF2-40B4-BE49-F238E27FC236}">
                <a16:creationId xmlns:a16="http://schemas.microsoft.com/office/drawing/2014/main" id="{D78B6FCE-F346-304F-AA40-EB8F60801D40}"/>
              </a:ext>
            </a:extLst>
          </p:cNvPr>
          <p:cNvSpPr/>
          <p:nvPr/>
        </p:nvSpPr>
        <p:spPr>
          <a:xfrm>
            <a:off x="319872" y="291353"/>
            <a:ext cx="11552256" cy="6275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7" name="Picture 6">
            <a:extLst>
              <a:ext uri="{FF2B5EF4-FFF2-40B4-BE49-F238E27FC236}">
                <a16:creationId xmlns:a16="http://schemas.microsoft.com/office/drawing/2014/main" id="{D47208DD-28BB-3FF1-9FBB-E8C3FAEBA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64" y="5838783"/>
            <a:ext cx="2003282" cy="443724"/>
          </a:xfrm>
          <a:prstGeom prst="rect">
            <a:avLst/>
          </a:prstGeom>
        </p:spPr>
      </p:pic>
      <p:pic>
        <p:nvPicPr>
          <p:cNvPr id="8" name="Picture 7">
            <a:extLst>
              <a:ext uri="{FF2B5EF4-FFF2-40B4-BE49-F238E27FC236}">
                <a16:creationId xmlns:a16="http://schemas.microsoft.com/office/drawing/2014/main" id="{918BAAE8-9568-E670-3D2B-09E0493A6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7370" y="426737"/>
            <a:ext cx="717140" cy="717140"/>
          </a:xfrm>
          <a:prstGeom prst="rect">
            <a:avLst/>
          </a:prstGeom>
        </p:spPr>
      </p:pic>
      <p:sp>
        <p:nvSpPr>
          <p:cNvPr id="9" name="TextBox 8">
            <a:extLst>
              <a:ext uri="{FF2B5EF4-FFF2-40B4-BE49-F238E27FC236}">
                <a16:creationId xmlns:a16="http://schemas.microsoft.com/office/drawing/2014/main" id="{B6F76717-FBF4-D43F-202F-9235C7C3C349}"/>
              </a:ext>
            </a:extLst>
          </p:cNvPr>
          <p:cNvSpPr txBox="1"/>
          <p:nvPr/>
        </p:nvSpPr>
        <p:spPr>
          <a:xfrm>
            <a:off x="457490" y="785307"/>
            <a:ext cx="9760880" cy="8032968"/>
          </a:xfrm>
          <a:prstGeom prst="rect">
            <a:avLst/>
          </a:prstGeom>
          <a:noFill/>
        </p:spPr>
        <p:txBody>
          <a:bodyPr wrap="square" rtlCol="0">
            <a:spAutoFit/>
          </a:bodyPr>
          <a:lstStyle/>
          <a:p>
            <a:r>
              <a:rPr lang="en-AU" sz="3600" b="1" dirty="0">
                <a:solidFill>
                  <a:schemeClr val="bg1"/>
                </a:solidFill>
              </a:rPr>
              <a:t>Scheduling Algorithm Research. </a:t>
            </a:r>
          </a:p>
          <a:p>
            <a:r>
              <a:rPr lang="en-AU" sz="3600" b="1" dirty="0">
                <a:solidFill>
                  <a:schemeClr val="bg1"/>
                </a:solidFill>
              </a:rPr>
              <a:t>Prototype a range of proposed scheduling algorithm improvements with dummy data</a:t>
            </a:r>
          </a:p>
          <a:p>
            <a:endParaRPr lang="en-AU" sz="3500" b="1" noProof="0" dirty="0">
              <a:solidFill>
                <a:schemeClr val="bg1"/>
              </a:solidFill>
            </a:endParaRPr>
          </a:p>
          <a:p>
            <a:r>
              <a:rPr lang="en-AU" sz="3500" b="1" noProof="0" dirty="0">
                <a:solidFill>
                  <a:schemeClr val="bg1"/>
                </a:solidFill>
              </a:rPr>
              <a:t>Iteration 1</a:t>
            </a:r>
            <a:r>
              <a:rPr lang="en-AU" sz="3500" b="1" dirty="0">
                <a:solidFill>
                  <a:schemeClr val="bg1"/>
                </a:solidFill>
              </a:rPr>
              <a:t>- Results and Review</a:t>
            </a:r>
          </a:p>
          <a:p>
            <a:r>
              <a:rPr lang="en-US" sz="2000" b="1" dirty="0">
                <a:solidFill>
                  <a:srgbClr val="FFFFFF"/>
                </a:solidFill>
              </a:rPr>
              <a:t>From exhaustive search to practical priority selection</a:t>
            </a:r>
          </a:p>
          <a:p>
            <a:endParaRPr lang="en-AU" sz="3600" b="1" noProof="0" dirty="0">
              <a:solidFill>
                <a:schemeClr val="bg1"/>
              </a:solidFill>
            </a:endParaRPr>
          </a:p>
          <a:p>
            <a:endParaRPr lang="en-AU" sz="3500" b="1" noProof="0" dirty="0">
              <a:solidFill>
                <a:schemeClr val="bg1"/>
              </a:solidFill>
            </a:endParaRPr>
          </a:p>
          <a:p>
            <a:r>
              <a:rPr lang="en-AU" sz="2000" b="1" noProof="0" dirty="0">
                <a:solidFill>
                  <a:schemeClr val="bg1"/>
                </a:solidFill>
              </a:rPr>
              <a:t>Presenter: David Long</a:t>
            </a:r>
          </a:p>
          <a:p>
            <a:endParaRPr lang="en-AU" sz="35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3500" b="1" noProof="0" dirty="0">
              <a:solidFill>
                <a:schemeClr val="bg1"/>
              </a:solidFill>
            </a:endParaRPr>
          </a:p>
        </p:txBody>
      </p:sp>
      <p:pic>
        <p:nvPicPr>
          <p:cNvPr id="10" name="Picture 9">
            <a:extLst>
              <a:ext uri="{FF2B5EF4-FFF2-40B4-BE49-F238E27FC236}">
                <a16:creationId xmlns:a16="http://schemas.microsoft.com/office/drawing/2014/main" id="{76A11E68-1434-FB0F-7BF1-51BB9BD25F77}"/>
              </a:ext>
            </a:extLst>
          </p:cNvPr>
          <p:cNvPicPr>
            <a:picLocks noChangeAspect="1"/>
          </p:cNvPicPr>
          <p:nvPr/>
        </p:nvPicPr>
        <p:blipFill>
          <a:blip r:embed="rId5"/>
          <a:stretch>
            <a:fillRect/>
          </a:stretch>
        </p:blipFill>
        <p:spPr>
          <a:xfrm>
            <a:off x="4398117" y="2874216"/>
            <a:ext cx="3395766" cy="1109568"/>
          </a:xfrm>
          <a:prstGeom prst="rect">
            <a:avLst/>
          </a:prstGeom>
        </p:spPr>
      </p:pic>
    </p:spTree>
    <p:extLst>
      <p:ext uri="{BB962C8B-B14F-4D97-AF65-F5344CB8AC3E}">
        <p14:creationId xmlns:p14="http://schemas.microsoft.com/office/powerpoint/2010/main" val="323023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440" y="-496669"/>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399443"/>
            <a:ext cx="11155680" cy="707886"/>
          </a:xfrm>
          <a:prstGeom prst="rect">
            <a:avLst/>
          </a:prstGeom>
          <a:noFill/>
        </p:spPr>
        <p:txBody>
          <a:bodyPr wrap="square">
            <a:spAutoFit/>
          </a:bodyPr>
          <a:lstStyle/>
          <a:p>
            <a:pPr algn="l"/>
            <a:r>
              <a:rPr lang="en-AU" sz="4000" b="1" dirty="0">
                <a:solidFill>
                  <a:srgbClr val="000000"/>
                </a:solidFill>
                <a:latin typeface="Calibri"/>
              </a:rPr>
              <a:t>Overview</a:t>
            </a:r>
            <a:endParaRPr sz="4000" b="1" dirty="0">
              <a:solidFill>
                <a:srgbClr val="000000"/>
              </a:solidFill>
              <a:latin typeface="Calibri"/>
            </a:endParaRPr>
          </a:p>
        </p:txBody>
      </p:sp>
      <p:sp>
        <p:nvSpPr>
          <p:cNvPr id="6" name="Rounded Rectangle 5"/>
          <p:cNvSpPr/>
          <p:nvPr/>
        </p:nvSpPr>
        <p:spPr>
          <a:xfrm>
            <a:off x="411480" y="1423571"/>
            <a:ext cx="2606040" cy="1828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588163"/>
            <a:ext cx="2423160" cy="502920"/>
          </a:xfrm>
          <a:prstGeom prst="rect">
            <a:avLst/>
          </a:prstGeom>
          <a:noFill/>
        </p:spPr>
        <p:txBody>
          <a:bodyPr wrap="square">
            <a:spAutoFit/>
          </a:bodyPr>
          <a:lstStyle/>
          <a:p>
            <a:pPr algn="ctr"/>
            <a:r>
              <a:rPr sz="1300" b="1">
                <a:solidFill>
                  <a:srgbClr val="000000"/>
                </a:solidFill>
                <a:latin typeface="Calibri"/>
              </a:rPr>
              <a:t>Milestone 1</a:t>
            </a:r>
          </a:p>
        </p:txBody>
      </p:sp>
      <p:sp>
        <p:nvSpPr>
          <p:cNvPr id="8" name="TextBox 7"/>
          <p:cNvSpPr txBox="1"/>
          <p:nvPr/>
        </p:nvSpPr>
        <p:spPr>
          <a:xfrm>
            <a:off x="502920" y="2109371"/>
            <a:ext cx="2423160" cy="646331"/>
          </a:xfrm>
          <a:prstGeom prst="rect">
            <a:avLst/>
          </a:prstGeom>
          <a:noFill/>
        </p:spPr>
        <p:txBody>
          <a:bodyPr wrap="square">
            <a:spAutoFit/>
          </a:bodyPr>
          <a:lstStyle/>
          <a:p>
            <a:pPr algn="ctr"/>
            <a:r>
              <a:rPr b="0" dirty="0">
                <a:solidFill>
                  <a:srgbClr val="555555"/>
                </a:solidFill>
                <a:latin typeface="Calibri"/>
              </a:rPr>
              <a:t>Simple fleet
baseline </a:t>
            </a:r>
            <a:r>
              <a:rPr b="0" dirty="0" err="1">
                <a:solidFill>
                  <a:srgbClr val="555555"/>
                </a:solidFill>
                <a:latin typeface="Calibri"/>
              </a:rPr>
              <a:t>optimiser</a:t>
            </a:r>
            <a:endParaRPr b="0" dirty="0">
              <a:solidFill>
                <a:srgbClr val="555555"/>
              </a:solidFill>
              <a:latin typeface="Calibri"/>
            </a:endParaRPr>
          </a:p>
        </p:txBody>
      </p:sp>
      <p:sp>
        <p:nvSpPr>
          <p:cNvPr id="9" name="Right Arrow 8"/>
          <p:cNvSpPr/>
          <p:nvPr/>
        </p:nvSpPr>
        <p:spPr>
          <a:xfrm>
            <a:off x="3063240" y="2109371"/>
            <a:ext cx="201168" cy="32004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91840" y="1423571"/>
            <a:ext cx="2606040" cy="1828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1588163"/>
            <a:ext cx="2423160" cy="502920"/>
          </a:xfrm>
          <a:prstGeom prst="rect">
            <a:avLst/>
          </a:prstGeom>
          <a:noFill/>
        </p:spPr>
        <p:txBody>
          <a:bodyPr wrap="square">
            <a:spAutoFit/>
          </a:bodyPr>
          <a:lstStyle/>
          <a:p>
            <a:pPr algn="ctr"/>
            <a:r>
              <a:rPr sz="1300" b="1">
                <a:solidFill>
                  <a:srgbClr val="000000"/>
                </a:solidFill>
                <a:latin typeface="Calibri"/>
              </a:rPr>
              <a:t>Milestone 2</a:t>
            </a:r>
          </a:p>
        </p:txBody>
      </p:sp>
      <p:sp>
        <p:nvSpPr>
          <p:cNvPr id="12" name="TextBox 11"/>
          <p:cNvSpPr txBox="1"/>
          <p:nvPr/>
        </p:nvSpPr>
        <p:spPr>
          <a:xfrm>
            <a:off x="3383280" y="2109371"/>
            <a:ext cx="2423160" cy="923330"/>
          </a:xfrm>
          <a:prstGeom prst="rect">
            <a:avLst/>
          </a:prstGeom>
          <a:noFill/>
        </p:spPr>
        <p:txBody>
          <a:bodyPr wrap="square">
            <a:spAutoFit/>
          </a:bodyPr>
          <a:lstStyle/>
          <a:p>
            <a:pPr algn="ctr"/>
            <a:r>
              <a:rPr lang="en-AU" b="0" dirty="0">
                <a:solidFill>
                  <a:srgbClr val="555555"/>
                </a:solidFill>
                <a:latin typeface="Calibri"/>
              </a:rPr>
              <a:t>Heavy Dataset: </a:t>
            </a:r>
            <a:r>
              <a:rPr b="0" dirty="0">
                <a:solidFill>
                  <a:srgbClr val="555555"/>
                </a:solidFill>
                <a:latin typeface="Calibri"/>
              </a:rPr>
              <a:t>Full </a:t>
            </a:r>
            <a:r>
              <a:rPr b="0" dirty="0" err="1">
                <a:solidFill>
                  <a:srgbClr val="555555"/>
                </a:solidFill>
                <a:latin typeface="Calibri"/>
              </a:rPr>
              <a:t>neighbourhood</a:t>
            </a:r>
            <a:r>
              <a:rPr b="0" dirty="0">
                <a:solidFill>
                  <a:srgbClr val="555555"/>
                </a:solidFill>
                <a:latin typeface="Calibri"/>
              </a:rPr>
              <a:t>
search</a:t>
            </a:r>
          </a:p>
        </p:txBody>
      </p:sp>
      <p:sp>
        <p:nvSpPr>
          <p:cNvPr id="13" name="Right Arrow 12"/>
          <p:cNvSpPr/>
          <p:nvPr/>
        </p:nvSpPr>
        <p:spPr>
          <a:xfrm>
            <a:off x="5943600" y="2109371"/>
            <a:ext cx="201168" cy="32004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72200" y="1423571"/>
            <a:ext cx="2606040" cy="1828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1588163"/>
            <a:ext cx="2423160" cy="502920"/>
          </a:xfrm>
          <a:prstGeom prst="rect">
            <a:avLst/>
          </a:prstGeom>
          <a:noFill/>
        </p:spPr>
        <p:txBody>
          <a:bodyPr wrap="square">
            <a:spAutoFit/>
          </a:bodyPr>
          <a:lstStyle/>
          <a:p>
            <a:pPr algn="ctr"/>
            <a:r>
              <a:rPr sz="1300" b="1">
                <a:solidFill>
                  <a:srgbClr val="000000"/>
                </a:solidFill>
                <a:latin typeface="Calibri"/>
              </a:rPr>
              <a:t>Milestone 3</a:t>
            </a:r>
          </a:p>
        </p:txBody>
      </p:sp>
      <p:sp>
        <p:nvSpPr>
          <p:cNvPr id="16" name="TextBox 15"/>
          <p:cNvSpPr txBox="1"/>
          <p:nvPr/>
        </p:nvSpPr>
        <p:spPr>
          <a:xfrm>
            <a:off x="6263640" y="2109371"/>
            <a:ext cx="2423160" cy="923330"/>
          </a:xfrm>
          <a:prstGeom prst="rect">
            <a:avLst/>
          </a:prstGeom>
          <a:noFill/>
        </p:spPr>
        <p:txBody>
          <a:bodyPr wrap="square">
            <a:spAutoFit/>
          </a:bodyPr>
          <a:lstStyle/>
          <a:p>
            <a:pPr algn="ctr"/>
            <a:r>
              <a:rPr lang="en-AU" b="0" dirty="0">
                <a:solidFill>
                  <a:srgbClr val="555555"/>
                </a:solidFill>
                <a:latin typeface="Calibri"/>
              </a:rPr>
              <a:t>Random Sampling: </a:t>
            </a:r>
            <a:r>
              <a:rPr b="0" dirty="0">
                <a:solidFill>
                  <a:srgbClr val="555555"/>
                </a:solidFill>
                <a:latin typeface="Calibri"/>
              </a:rPr>
              <a:t>200 random
samples</a:t>
            </a:r>
          </a:p>
        </p:txBody>
      </p:sp>
      <p:sp>
        <p:nvSpPr>
          <p:cNvPr id="17" name="Right Arrow 16"/>
          <p:cNvSpPr/>
          <p:nvPr/>
        </p:nvSpPr>
        <p:spPr>
          <a:xfrm>
            <a:off x="8823960" y="2109371"/>
            <a:ext cx="201168" cy="32004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52560" y="1423571"/>
            <a:ext cx="2606040" cy="18288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588163"/>
            <a:ext cx="2423160" cy="502920"/>
          </a:xfrm>
          <a:prstGeom prst="rect">
            <a:avLst/>
          </a:prstGeom>
          <a:noFill/>
        </p:spPr>
        <p:txBody>
          <a:bodyPr wrap="square">
            <a:spAutoFit/>
          </a:bodyPr>
          <a:lstStyle/>
          <a:p>
            <a:pPr algn="ctr"/>
            <a:r>
              <a:rPr sz="1300" b="1">
                <a:solidFill>
                  <a:srgbClr val="000000"/>
                </a:solidFill>
                <a:latin typeface="Calibri"/>
              </a:rPr>
              <a:t>Milestone 4</a:t>
            </a:r>
          </a:p>
        </p:txBody>
      </p:sp>
      <p:sp>
        <p:nvSpPr>
          <p:cNvPr id="20" name="TextBox 19"/>
          <p:cNvSpPr txBox="1"/>
          <p:nvPr/>
        </p:nvSpPr>
        <p:spPr>
          <a:xfrm>
            <a:off x="9144000" y="2109371"/>
            <a:ext cx="2423160" cy="707886"/>
          </a:xfrm>
          <a:prstGeom prst="rect">
            <a:avLst/>
          </a:prstGeom>
          <a:noFill/>
        </p:spPr>
        <p:txBody>
          <a:bodyPr wrap="square">
            <a:spAutoFit/>
          </a:bodyPr>
          <a:lstStyle/>
          <a:p>
            <a:pPr algn="ctr"/>
            <a:r>
              <a:rPr sz="2000" b="0" dirty="0">
                <a:solidFill>
                  <a:srgbClr val="555555"/>
                </a:solidFill>
                <a:latin typeface="Calibri"/>
              </a:rPr>
              <a:t>Priority-based
selection</a:t>
            </a:r>
          </a:p>
        </p:txBody>
      </p:sp>
      <p:sp>
        <p:nvSpPr>
          <p:cNvPr id="21" name="Rounded Rectangle 20"/>
          <p:cNvSpPr/>
          <p:nvPr/>
        </p:nvSpPr>
        <p:spPr>
          <a:xfrm>
            <a:off x="411480" y="3618131"/>
            <a:ext cx="11155680" cy="20116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3801011"/>
            <a:ext cx="10607040" cy="1508105"/>
          </a:xfrm>
          <a:prstGeom prst="rect">
            <a:avLst/>
          </a:prstGeom>
          <a:noFill/>
        </p:spPr>
        <p:txBody>
          <a:bodyPr wrap="square">
            <a:spAutoFit/>
          </a:bodyPr>
          <a:lstStyle/>
          <a:p>
            <a:pPr algn="l">
              <a:spcAft>
                <a:spcPts val="800"/>
              </a:spcAft>
            </a:pPr>
            <a:r>
              <a:rPr b="0" dirty="0">
                <a:solidFill>
                  <a:srgbClr val="1A1A1A"/>
                </a:solidFill>
                <a:latin typeface="Calibri"/>
              </a:rPr>
              <a:t>Simple dataset: proved the objective and feasibility checks (80 events).</a:t>
            </a:r>
          </a:p>
          <a:p>
            <a:pPr algn="l">
              <a:spcAft>
                <a:spcPts val="800"/>
              </a:spcAft>
            </a:pPr>
            <a:r>
              <a:rPr b="0" dirty="0">
                <a:solidFill>
                  <a:srgbClr val="1A1A1A"/>
                </a:solidFill>
                <a:latin typeface="Calibri"/>
              </a:rPr>
              <a:t>Heavy dataset: 24 aircraft, 278 maintenance events over a multi-year horizon.</a:t>
            </a:r>
          </a:p>
          <a:p>
            <a:pPr algn="l">
              <a:spcAft>
                <a:spcPts val="800"/>
              </a:spcAft>
            </a:pPr>
            <a:r>
              <a:rPr b="0" dirty="0">
                <a:solidFill>
                  <a:srgbClr val="1A1A1A"/>
                </a:solidFill>
                <a:latin typeface="Calibri"/>
              </a:rPr>
              <a:t>Search strategy evolved from exhaustive → sampled → </a:t>
            </a:r>
            <a:r>
              <a:rPr lang="en-AU" b="0" dirty="0">
                <a:solidFill>
                  <a:srgbClr val="1A1A1A"/>
                </a:solidFill>
                <a:latin typeface="Calibri"/>
              </a:rPr>
              <a:t>priority-based</a:t>
            </a:r>
            <a:r>
              <a:rPr b="0" dirty="0">
                <a:solidFill>
                  <a:srgbClr val="1A1A1A"/>
                </a:solidFill>
                <a:latin typeface="Calibri"/>
              </a:rPr>
              <a:t>.</a:t>
            </a:r>
          </a:p>
          <a:p>
            <a:pPr algn="l">
              <a:spcAft>
                <a:spcPts val="800"/>
              </a:spcAft>
            </a:pPr>
            <a:r>
              <a:rPr b="0" dirty="0">
                <a:solidFill>
                  <a:srgbClr val="1A1A1A"/>
                </a:solidFill>
                <a:latin typeface="Calibri"/>
              </a:rPr>
              <a:t>Final method is deterministic, rule-aware, and substantially faster.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972800" cy="274320"/>
          </a:xfrm>
          <a:prstGeom prst="rect">
            <a:avLst/>
          </a:prstGeom>
          <a:noFill/>
        </p:spPr>
        <p:txBody>
          <a:bodyPr wrap="square">
            <a:spAutoFit/>
          </a:bodyPr>
          <a:lstStyle/>
          <a:p>
            <a:pPr algn="l"/>
            <a:r>
              <a:rPr sz="1200" b="1">
                <a:solidFill>
                  <a:srgbClr val="000000"/>
                </a:solidFill>
                <a:latin typeface="Calibri"/>
              </a:rPr>
              <a:t>MILESTONE 1 · SIMPLE DATASET</a:t>
            </a:r>
          </a:p>
        </p:txBody>
      </p:sp>
      <p:sp>
        <p:nvSpPr>
          <p:cNvPr id="5" name="TextBox 4"/>
          <p:cNvSpPr txBox="1"/>
          <p:nvPr/>
        </p:nvSpPr>
        <p:spPr>
          <a:xfrm>
            <a:off x="502920" y="502920"/>
            <a:ext cx="11155680" cy="640080"/>
          </a:xfrm>
          <a:prstGeom prst="rect">
            <a:avLst/>
          </a:prstGeom>
          <a:noFill/>
        </p:spPr>
        <p:txBody>
          <a:bodyPr wrap="square">
            <a:spAutoFit/>
          </a:bodyPr>
          <a:lstStyle/>
          <a:p>
            <a:pPr algn="l"/>
            <a:r>
              <a:rPr sz="3000" b="1">
                <a:solidFill>
                  <a:srgbClr val="000000"/>
                </a:solidFill>
                <a:latin typeface="Calibri"/>
              </a:rPr>
              <a:t>The simple dataset proved the optimisation objective</a:t>
            </a:r>
          </a:p>
        </p:txBody>
      </p:sp>
      <p:sp>
        <p:nvSpPr>
          <p:cNvPr id="6" name="Rounded Rectangle 5"/>
          <p:cNvSpPr/>
          <p:nvPr/>
        </p:nvSpPr>
        <p:spPr>
          <a:xfrm>
            <a:off x="502920" y="1371600"/>
            <a:ext cx="7824520" cy="5230368"/>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39" y="1600200"/>
            <a:ext cx="7550201" cy="2267287"/>
          </a:xfrm>
          <a:prstGeom prst="rect">
            <a:avLst/>
          </a:prstGeom>
          <a:noFill/>
        </p:spPr>
        <p:txBody>
          <a:bodyPr wrap="square">
            <a:spAutoFit/>
          </a:bodyPr>
          <a:lstStyle/>
          <a:p>
            <a:pPr algn="l">
              <a:spcAft>
                <a:spcPts val="800"/>
              </a:spcAft>
            </a:pPr>
            <a:r>
              <a:rPr b="0" dirty="0">
                <a:solidFill>
                  <a:srgbClr val="1A1A1A"/>
                </a:solidFill>
                <a:latin typeface="Calibri"/>
              </a:rPr>
              <a:t>Input: Simple Random Fleet Plans (80 maintenance events).</a:t>
            </a:r>
          </a:p>
          <a:p>
            <a:pPr algn="l">
              <a:spcAft>
                <a:spcPts val="800"/>
              </a:spcAft>
            </a:pPr>
            <a:r>
              <a:rPr b="0" dirty="0">
                <a:solidFill>
                  <a:srgbClr val="1A1A1A"/>
                </a:solidFill>
                <a:latin typeface="Calibri"/>
              </a:rPr>
              <a:t>Shift event start times within feasible windows.</a:t>
            </a:r>
          </a:p>
          <a:p>
            <a:pPr algn="l">
              <a:spcAft>
                <a:spcPts val="800"/>
              </a:spcAft>
            </a:pPr>
            <a:r>
              <a:rPr b="0" dirty="0">
                <a:solidFill>
                  <a:srgbClr val="1A1A1A"/>
                </a:solidFill>
                <a:latin typeface="Calibri"/>
              </a:rPr>
              <a:t>Reject overlapping maintenance on the same aircraft.</a:t>
            </a:r>
          </a:p>
          <a:p>
            <a:pPr algn="l">
              <a:spcAft>
                <a:spcPts val="800"/>
              </a:spcAft>
            </a:pPr>
            <a:r>
              <a:rPr b="0" dirty="0">
                <a:solidFill>
                  <a:srgbClr val="1A1A1A"/>
                </a:solidFill>
                <a:latin typeface="Calibri"/>
              </a:rPr>
              <a:t>Score schedules: min</a:t>
            </a:r>
            <a:r>
              <a:rPr lang="en-AU" b="0" dirty="0">
                <a:solidFill>
                  <a:srgbClr val="1A1A1A"/>
                </a:solidFill>
                <a:latin typeface="Calibri"/>
              </a:rPr>
              <a:t> avail.</a:t>
            </a:r>
            <a:r>
              <a:rPr b="0" dirty="0">
                <a:solidFill>
                  <a:srgbClr val="1A1A1A"/>
                </a:solidFill>
                <a:latin typeface="Calibri"/>
              </a:rPr>
              <a:t> → −std</a:t>
            </a:r>
            <a:r>
              <a:rPr lang="en-AU" b="0" dirty="0">
                <a:solidFill>
                  <a:srgbClr val="1A1A1A"/>
                </a:solidFill>
                <a:latin typeface="Calibri"/>
              </a:rPr>
              <a:t>.</a:t>
            </a:r>
            <a:r>
              <a:rPr b="0" dirty="0">
                <a:solidFill>
                  <a:srgbClr val="1A1A1A"/>
                </a:solidFill>
                <a:latin typeface="Calibri"/>
              </a:rPr>
              <a:t> → average.</a:t>
            </a:r>
          </a:p>
          <a:p>
            <a:pPr algn="l">
              <a:spcAft>
                <a:spcPts val="800"/>
              </a:spcAft>
            </a:pPr>
            <a:r>
              <a:rPr b="0" dirty="0">
                <a:solidFill>
                  <a:srgbClr val="1A1A1A"/>
                </a:solidFill>
                <a:latin typeface="Calibri"/>
              </a:rPr>
              <a:t>Variable </a:t>
            </a:r>
            <a:r>
              <a:rPr b="0" dirty="0" err="1">
                <a:solidFill>
                  <a:srgbClr val="1A1A1A"/>
                </a:solidFill>
                <a:latin typeface="Calibri"/>
              </a:rPr>
              <a:t>neighbourhood</a:t>
            </a:r>
            <a:r>
              <a:rPr b="0" dirty="0">
                <a:solidFill>
                  <a:srgbClr val="1A1A1A"/>
                </a:solidFill>
                <a:latin typeface="Calibri"/>
              </a:rPr>
              <a:t> search with coarse-to-fine shifts.</a:t>
            </a:r>
          </a:p>
          <a:p>
            <a:pPr algn="l">
              <a:spcAft>
                <a:spcPts val="800"/>
              </a:spcAft>
            </a:pPr>
            <a:r>
              <a:rPr b="0" dirty="0">
                <a:solidFill>
                  <a:srgbClr val="1A1A1A"/>
                </a:solidFill>
                <a:latin typeface="Calibri"/>
              </a:rPr>
              <a:t>Established the baseline </a:t>
            </a:r>
            <a:r>
              <a:rPr b="0" dirty="0" err="1">
                <a:solidFill>
                  <a:srgbClr val="1A1A1A"/>
                </a:solidFill>
                <a:latin typeface="Calibri"/>
              </a:rPr>
              <a:t>optimiser</a:t>
            </a:r>
            <a:r>
              <a:rPr b="0" dirty="0">
                <a:solidFill>
                  <a:srgbClr val="1A1A1A"/>
                </a:solidFill>
                <a:latin typeface="Calibri"/>
              </a:rPr>
              <a:t> design before scaling.</a:t>
            </a:r>
          </a:p>
        </p:txBody>
      </p:sp>
      <p:sp>
        <p:nvSpPr>
          <p:cNvPr id="8" name="Rounded Rectangle 7"/>
          <p:cNvSpPr/>
          <p:nvPr/>
        </p:nvSpPr>
        <p:spPr>
          <a:xfrm>
            <a:off x="8906256" y="1371600"/>
            <a:ext cx="2706624" cy="13716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81070" y="1536192"/>
            <a:ext cx="2522081" cy="276999"/>
          </a:xfrm>
          <a:prstGeom prst="rect">
            <a:avLst/>
          </a:prstGeom>
          <a:noFill/>
        </p:spPr>
        <p:txBody>
          <a:bodyPr wrap="square">
            <a:spAutoFit/>
          </a:bodyPr>
          <a:lstStyle/>
          <a:p>
            <a:pPr algn="l"/>
            <a:r>
              <a:rPr sz="1200" b="1">
                <a:solidFill>
                  <a:srgbClr val="000000"/>
                </a:solidFill>
                <a:latin typeface="Calibri"/>
              </a:rPr>
              <a:t>DATASET SCALE</a:t>
            </a:r>
          </a:p>
        </p:txBody>
      </p:sp>
      <p:sp>
        <p:nvSpPr>
          <p:cNvPr id="10" name="TextBox 9"/>
          <p:cNvSpPr txBox="1"/>
          <p:nvPr/>
        </p:nvSpPr>
        <p:spPr>
          <a:xfrm>
            <a:off x="8981070" y="1874520"/>
            <a:ext cx="2522081" cy="492443"/>
          </a:xfrm>
          <a:prstGeom prst="rect">
            <a:avLst/>
          </a:prstGeom>
          <a:noFill/>
        </p:spPr>
        <p:txBody>
          <a:bodyPr wrap="square">
            <a:spAutoFit/>
          </a:bodyPr>
          <a:lstStyle/>
          <a:p>
            <a:pPr algn="l"/>
            <a:r>
              <a:rPr sz="2600" b="1">
                <a:solidFill>
                  <a:srgbClr val="000000"/>
                </a:solidFill>
                <a:latin typeface="Calibri"/>
              </a:rPr>
              <a:t>80 events</a:t>
            </a:r>
          </a:p>
        </p:txBody>
      </p:sp>
      <p:sp>
        <p:nvSpPr>
          <p:cNvPr id="11" name="Rounded Rectangle 10"/>
          <p:cNvSpPr/>
          <p:nvPr/>
        </p:nvSpPr>
        <p:spPr>
          <a:xfrm>
            <a:off x="8906256" y="2971800"/>
            <a:ext cx="2706624" cy="13716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81070" y="3136392"/>
            <a:ext cx="2522081" cy="276999"/>
          </a:xfrm>
          <a:prstGeom prst="rect">
            <a:avLst/>
          </a:prstGeom>
          <a:noFill/>
        </p:spPr>
        <p:txBody>
          <a:bodyPr wrap="square">
            <a:spAutoFit/>
          </a:bodyPr>
          <a:lstStyle/>
          <a:p>
            <a:pPr algn="l"/>
            <a:r>
              <a:rPr sz="1200" b="1">
                <a:solidFill>
                  <a:srgbClr val="000000"/>
                </a:solidFill>
                <a:latin typeface="Calibri"/>
              </a:rPr>
              <a:t>PURPOSE</a:t>
            </a:r>
          </a:p>
        </p:txBody>
      </p:sp>
      <p:sp>
        <p:nvSpPr>
          <p:cNvPr id="13" name="TextBox 12"/>
          <p:cNvSpPr txBox="1"/>
          <p:nvPr/>
        </p:nvSpPr>
        <p:spPr>
          <a:xfrm>
            <a:off x="8981070" y="3474720"/>
            <a:ext cx="2522081" cy="492443"/>
          </a:xfrm>
          <a:prstGeom prst="rect">
            <a:avLst/>
          </a:prstGeom>
          <a:noFill/>
        </p:spPr>
        <p:txBody>
          <a:bodyPr wrap="square">
            <a:spAutoFit/>
          </a:bodyPr>
          <a:lstStyle/>
          <a:p>
            <a:pPr algn="l"/>
            <a:r>
              <a:rPr sz="2600" b="1">
                <a:solidFill>
                  <a:srgbClr val="000000"/>
                </a:solidFill>
                <a:latin typeface="Calibri"/>
              </a:rPr>
              <a:t>Proof of concept</a:t>
            </a:r>
          </a:p>
        </p:txBody>
      </p:sp>
      <p:sp>
        <p:nvSpPr>
          <p:cNvPr id="14" name="Rounded Rectangle 13"/>
          <p:cNvSpPr/>
          <p:nvPr/>
        </p:nvSpPr>
        <p:spPr>
          <a:xfrm>
            <a:off x="8906256" y="4572000"/>
            <a:ext cx="2706624" cy="13716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81070" y="4736592"/>
            <a:ext cx="2522081" cy="276999"/>
          </a:xfrm>
          <a:prstGeom prst="rect">
            <a:avLst/>
          </a:prstGeom>
          <a:noFill/>
        </p:spPr>
        <p:txBody>
          <a:bodyPr wrap="square">
            <a:spAutoFit/>
          </a:bodyPr>
          <a:lstStyle/>
          <a:p>
            <a:pPr algn="l"/>
            <a:r>
              <a:rPr lang="en-AU" sz="1200" b="1" dirty="0">
                <a:solidFill>
                  <a:srgbClr val="000000"/>
                </a:solidFill>
                <a:latin typeface="Calibri"/>
              </a:rPr>
              <a:t>RESULT</a:t>
            </a:r>
            <a:endParaRPr sz="1200" b="1" dirty="0">
              <a:solidFill>
                <a:srgbClr val="000000"/>
              </a:solidFill>
              <a:latin typeface="Calibri"/>
            </a:endParaRPr>
          </a:p>
        </p:txBody>
      </p:sp>
      <p:sp>
        <p:nvSpPr>
          <p:cNvPr id="16" name="TextBox 15"/>
          <p:cNvSpPr txBox="1"/>
          <p:nvPr/>
        </p:nvSpPr>
        <p:spPr>
          <a:xfrm>
            <a:off x="8981070" y="5074920"/>
            <a:ext cx="2522081" cy="892552"/>
          </a:xfrm>
          <a:prstGeom prst="rect">
            <a:avLst/>
          </a:prstGeom>
          <a:noFill/>
        </p:spPr>
        <p:txBody>
          <a:bodyPr wrap="square">
            <a:spAutoFit/>
          </a:bodyPr>
          <a:lstStyle/>
          <a:p>
            <a:pPr algn="l"/>
            <a:r>
              <a:rPr lang="en-AU" sz="2600" b="1" dirty="0">
                <a:solidFill>
                  <a:srgbClr val="4A4A4A"/>
                </a:solidFill>
                <a:latin typeface="Calibri"/>
              </a:rPr>
              <a:t>Staggered the schedule</a:t>
            </a:r>
            <a:endParaRPr sz="2600" b="1" dirty="0">
              <a:solidFill>
                <a:srgbClr val="4A4A4A"/>
              </a:solidFill>
              <a:latin typeface="Calibri"/>
            </a:endParaRPr>
          </a:p>
        </p:txBody>
      </p:sp>
      <p:pic>
        <p:nvPicPr>
          <p:cNvPr id="18" name="Picture 17">
            <a:extLst>
              <a:ext uri="{FF2B5EF4-FFF2-40B4-BE49-F238E27FC236}">
                <a16:creationId xmlns:a16="http://schemas.microsoft.com/office/drawing/2014/main" id="{1C290943-18E2-4685-93D1-C624FF4F9CA8}"/>
              </a:ext>
            </a:extLst>
          </p:cNvPr>
          <p:cNvPicPr>
            <a:picLocks noChangeAspect="1"/>
          </p:cNvPicPr>
          <p:nvPr/>
        </p:nvPicPr>
        <p:blipFill>
          <a:blip r:embed="rId3"/>
          <a:stretch>
            <a:fillRect/>
          </a:stretch>
        </p:blipFill>
        <p:spPr>
          <a:xfrm>
            <a:off x="4343043" y="4057641"/>
            <a:ext cx="3852633" cy="2032263"/>
          </a:xfrm>
          <a:prstGeom prst="rect">
            <a:avLst/>
          </a:prstGeom>
        </p:spPr>
      </p:pic>
      <p:pic>
        <p:nvPicPr>
          <p:cNvPr id="19" name="Picture 18">
            <a:extLst>
              <a:ext uri="{FF2B5EF4-FFF2-40B4-BE49-F238E27FC236}">
                <a16:creationId xmlns:a16="http://schemas.microsoft.com/office/drawing/2014/main" id="{6BFA9926-84B4-9F39-D474-64E16CE95D70}"/>
              </a:ext>
            </a:extLst>
          </p:cNvPr>
          <p:cNvPicPr>
            <a:picLocks noChangeAspect="1"/>
          </p:cNvPicPr>
          <p:nvPr/>
        </p:nvPicPr>
        <p:blipFill>
          <a:blip r:embed="rId4"/>
          <a:stretch>
            <a:fillRect/>
          </a:stretch>
        </p:blipFill>
        <p:spPr>
          <a:xfrm>
            <a:off x="688849" y="4190733"/>
            <a:ext cx="3579380" cy="19060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31BE-3F5B-89B5-E6DD-3C9C02762E56}"/>
              </a:ext>
            </a:extLst>
          </p:cNvPr>
          <p:cNvSpPr>
            <a:spLocks noGrp="1"/>
          </p:cNvSpPr>
          <p:nvPr>
            <p:ph type="title"/>
          </p:nvPr>
        </p:nvSpPr>
        <p:spPr>
          <a:xfrm>
            <a:off x="248980" y="-6861"/>
            <a:ext cx="10515600" cy="1325563"/>
          </a:xfrm>
        </p:spPr>
        <p:txBody>
          <a:bodyPr/>
          <a:lstStyle/>
          <a:p>
            <a:r>
              <a:rPr lang="en-AU" b="1" noProof="0" dirty="0"/>
              <a:t>Extended Heavy maintenance dataset	</a:t>
            </a:r>
          </a:p>
        </p:txBody>
      </p:sp>
      <p:sp>
        <p:nvSpPr>
          <p:cNvPr id="4" name="Rectangle 1">
            <a:extLst>
              <a:ext uri="{FF2B5EF4-FFF2-40B4-BE49-F238E27FC236}">
                <a16:creationId xmlns:a16="http://schemas.microsoft.com/office/drawing/2014/main" id="{A0DADB02-035B-53CF-9962-E4276D021B31}"/>
              </a:ext>
            </a:extLst>
          </p:cNvPr>
          <p:cNvSpPr>
            <a:spLocks noGrp="1" noChangeArrowheads="1"/>
          </p:cNvSpPr>
          <p:nvPr>
            <p:ph idx="1"/>
          </p:nvPr>
        </p:nvSpPr>
        <p:spPr bwMode="auto">
          <a:xfrm>
            <a:off x="513136" y="918778"/>
            <a:ext cx="5748703" cy="3301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AU" sz="2400" b="1" noProof="0" dirty="0"/>
              <a:t>Maintenance Cycle: </a:t>
            </a:r>
            <a:r>
              <a:rPr lang="en-AU" sz="2400" noProof="0" dirty="0"/>
              <a:t>A → B → A → C → A → B → A → D</a:t>
            </a:r>
            <a:endParaRPr lang="en-AU" sz="2400" b="1" noProof="0" dirty="0"/>
          </a:p>
          <a:p>
            <a:r>
              <a:rPr lang="en-AU" sz="2400" noProof="0" dirty="0"/>
              <a:t>Minimum forecast length: 12 years </a:t>
            </a:r>
          </a:p>
          <a:p>
            <a:r>
              <a:rPr lang="en-AU" sz="2400" noProof="0" dirty="0"/>
              <a:t>Represents 1.5 maintenance cycles</a:t>
            </a:r>
          </a:p>
          <a:p>
            <a:r>
              <a:rPr lang="en-AU" sz="2400" noProof="0" dirty="0"/>
              <a:t>24 Aircraft having 11-12 maintenance events per forecast</a:t>
            </a:r>
          </a:p>
          <a:p>
            <a:endParaRPr lang="en-AU" sz="2400" noProof="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noProof="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C493D12-EF4B-1041-B45A-3C193DD7B6E8}"/>
              </a:ext>
            </a:extLst>
          </p:cNvPr>
          <p:cNvPicPr>
            <a:picLocks noChangeAspect="1"/>
          </p:cNvPicPr>
          <p:nvPr/>
        </p:nvPicPr>
        <p:blipFill>
          <a:blip r:embed="rId3"/>
          <a:stretch>
            <a:fillRect/>
          </a:stretch>
        </p:blipFill>
        <p:spPr>
          <a:xfrm>
            <a:off x="1941574" y="3429000"/>
            <a:ext cx="8093974" cy="3226254"/>
          </a:xfrm>
          <a:prstGeom prst="rect">
            <a:avLst/>
          </a:prstGeom>
        </p:spPr>
      </p:pic>
      <p:pic>
        <p:nvPicPr>
          <p:cNvPr id="8" name="Picture 7">
            <a:extLst>
              <a:ext uri="{FF2B5EF4-FFF2-40B4-BE49-F238E27FC236}">
                <a16:creationId xmlns:a16="http://schemas.microsoft.com/office/drawing/2014/main" id="{7B7BE054-2C77-EFC1-5B63-B0D88EF391BB}"/>
              </a:ext>
            </a:extLst>
          </p:cNvPr>
          <p:cNvPicPr>
            <a:picLocks noChangeAspect="1"/>
          </p:cNvPicPr>
          <p:nvPr/>
        </p:nvPicPr>
        <p:blipFill>
          <a:blip r:embed="rId4"/>
          <a:stretch>
            <a:fillRect/>
          </a:stretch>
        </p:blipFill>
        <p:spPr>
          <a:xfrm>
            <a:off x="6151685" y="1514282"/>
            <a:ext cx="5711499" cy="1523558"/>
          </a:xfrm>
          <a:prstGeom prst="rect">
            <a:avLst/>
          </a:prstGeom>
        </p:spPr>
      </p:pic>
    </p:spTree>
    <p:extLst>
      <p:ext uri="{BB962C8B-B14F-4D97-AF65-F5344CB8AC3E}">
        <p14:creationId xmlns:p14="http://schemas.microsoft.com/office/powerpoint/2010/main" val="1800012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972800" cy="274320"/>
          </a:xfrm>
          <a:prstGeom prst="rect">
            <a:avLst/>
          </a:prstGeom>
          <a:noFill/>
        </p:spPr>
        <p:txBody>
          <a:bodyPr wrap="square">
            <a:spAutoFit/>
          </a:bodyPr>
          <a:lstStyle/>
          <a:p>
            <a:pPr algn="l"/>
            <a:r>
              <a:rPr sz="1200" b="1">
                <a:solidFill>
                  <a:srgbClr val="000000"/>
                </a:solidFill>
                <a:latin typeface="Calibri"/>
              </a:rPr>
              <a:t>MILESTONE 2 · FULL NEIGHBOURHOOD</a:t>
            </a:r>
          </a:p>
        </p:txBody>
      </p:sp>
      <p:sp>
        <p:nvSpPr>
          <p:cNvPr id="5" name="TextBox 4"/>
          <p:cNvSpPr txBox="1"/>
          <p:nvPr/>
        </p:nvSpPr>
        <p:spPr>
          <a:xfrm>
            <a:off x="502920" y="502920"/>
            <a:ext cx="11155680" cy="553998"/>
          </a:xfrm>
          <a:prstGeom prst="rect">
            <a:avLst/>
          </a:prstGeom>
          <a:noFill/>
        </p:spPr>
        <p:txBody>
          <a:bodyPr wrap="square">
            <a:spAutoFit/>
          </a:bodyPr>
          <a:lstStyle/>
          <a:p>
            <a:pPr algn="l"/>
            <a:r>
              <a:rPr sz="3000" b="1" dirty="0">
                <a:solidFill>
                  <a:srgbClr val="000000"/>
                </a:solidFill>
                <a:latin typeface="Calibri"/>
              </a:rPr>
              <a:t>Full </a:t>
            </a:r>
            <a:r>
              <a:rPr sz="3000" b="1" dirty="0" err="1">
                <a:solidFill>
                  <a:srgbClr val="000000"/>
                </a:solidFill>
                <a:latin typeface="Calibri"/>
              </a:rPr>
              <a:t>neighbourhood</a:t>
            </a:r>
            <a:r>
              <a:rPr sz="3000" b="1" dirty="0">
                <a:solidFill>
                  <a:srgbClr val="000000"/>
                </a:solidFill>
                <a:latin typeface="Calibri"/>
              </a:rPr>
              <a:t> search improved quality</a:t>
            </a:r>
            <a:r>
              <a:rPr lang="en-AU" sz="3000" b="1">
                <a:solidFill>
                  <a:srgbClr val="000000"/>
                </a:solidFill>
                <a:latin typeface="Calibri"/>
              </a:rPr>
              <a:t> </a:t>
            </a:r>
            <a:r>
              <a:rPr sz="3000" b="1">
                <a:solidFill>
                  <a:srgbClr val="000000"/>
                </a:solidFill>
                <a:latin typeface="Calibri"/>
              </a:rPr>
              <a:t>but did not scale</a:t>
            </a:r>
          </a:p>
        </p:txBody>
      </p:sp>
      <p:sp>
        <p:nvSpPr>
          <p:cNvPr id="6" name="Rounded Rectangle 5"/>
          <p:cNvSpPr/>
          <p:nvPr/>
        </p:nvSpPr>
        <p:spPr>
          <a:xfrm>
            <a:off x="502920" y="1325880"/>
            <a:ext cx="5577840" cy="484632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54480"/>
            <a:ext cx="5303520" cy="3272691"/>
          </a:xfrm>
          <a:prstGeom prst="rect">
            <a:avLst/>
          </a:prstGeom>
          <a:noFill/>
        </p:spPr>
        <p:txBody>
          <a:bodyPr wrap="square">
            <a:spAutoFit/>
          </a:bodyPr>
          <a:lstStyle/>
          <a:p>
            <a:pPr algn="l">
              <a:spcAft>
                <a:spcPts val="800"/>
              </a:spcAft>
            </a:pPr>
            <a:r>
              <a:rPr sz="2000" b="0" dirty="0">
                <a:solidFill>
                  <a:srgbClr val="1A1A1A"/>
                </a:solidFill>
                <a:latin typeface="Calibri"/>
              </a:rPr>
              <a:t>Heavy forecast: 24 aircraft, 278 events.</a:t>
            </a:r>
          </a:p>
          <a:p>
            <a:pPr algn="l">
              <a:spcAft>
                <a:spcPts val="800"/>
              </a:spcAft>
            </a:pPr>
            <a:r>
              <a:rPr sz="2000" b="0" dirty="0">
                <a:solidFill>
                  <a:srgbClr val="1A1A1A"/>
                </a:solidFill>
                <a:latin typeface="Calibri"/>
              </a:rPr>
              <a:t>For every aircraft and event, try each shift (±28, ±14, ±7, ±3).</a:t>
            </a:r>
          </a:p>
          <a:p>
            <a:pPr algn="l">
              <a:spcAft>
                <a:spcPts val="800"/>
              </a:spcAft>
            </a:pPr>
            <a:r>
              <a:rPr sz="2000" b="0" dirty="0">
                <a:solidFill>
                  <a:srgbClr val="1A1A1A"/>
                </a:solidFill>
                <a:latin typeface="Calibri"/>
              </a:rPr>
              <a:t>Deep-copy and fully evaluate every feasible </a:t>
            </a:r>
            <a:r>
              <a:rPr sz="2000" b="0" dirty="0" err="1">
                <a:solidFill>
                  <a:srgbClr val="1A1A1A"/>
                </a:solidFill>
                <a:latin typeface="Calibri"/>
              </a:rPr>
              <a:t>neighbour</a:t>
            </a:r>
            <a:r>
              <a:rPr sz="2000" b="0" dirty="0">
                <a:solidFill>
                  <a:srgbClr val="1A1A1A"/>
                </a:solidFill>
                <a:latin typeface="Calibri"/>
              </a:rPr>
              <a:t>.</a:t>
            </a:r>
          </a:p>
          <a:p>
            <a:pPr algn="l">
              <a:spcAft>
                <a:spcPts val="800"/>
              </a:spcAft>
            </a:pPr>
            <a:r>
              <a:rPr sz="2000" b="0" dirty="0">
                <a:solidFill>
                  <a:srgbClr val="1A1A1A"/>
                </a:solidFill>
                <a:latin typeface="Calibri"/>
              </a:rPr>
              <a:t>Candidate count grows with fleet size × events × shifts.</a:t>
            </a:r>
          </a:p>
          <a:p>
            <a:pPr algn="l">
              <a:spcAft>
                <a:spcPts val="800"/>
              </a:spcAft>
            </a:pPr>
            <a:r>
              <a:rPr sz="2000" b="0" dirty="0">
                <a:solidFill>
                  <a:srgbClr val="1A1A1A"/>
                </a:solidFill>
                <a:latin typeface="Calibri"/>
              </a:rPr>
              <a:t>Quality gains were real, but evaluation cost became impractical.</a:t>
            </a:r>
          </a:p>
        </p:txBody>
      </p:sp>
      <p:pic>
        <p:nvPicPr>
          <p:cNvPr id="8" name="Picture 7" descr="Flowchart of Neighborhood Search.png"/>
          <p:cNvPicPr>
            <a:picLocks noChangeAspect="1"/>
          </p:cNvPicPr>
          <p:nvPr/>
        </p:nvPicPr>
        <p:blipFill>
          <a:blip r:embed="rId3"/>
          <a:stretch>
            <a:fillRect/>
          </a:stretch>
        </p:blipFill>
        <p:spPr>
          <a:xfrm>
            <a:off x="6126480" y="1325879"/>
            <a:ext cx="5577840" cy="3701075"/>
          </a:xfrm>
          <a:prstGeom prst="rect">
            <a:avLst/>
          </a:prstGeom>
        </p:spPr>
      </p:pic>
      <p:pic>
        <p:nvPicPr>
          <p:cNvPr id="10" name="Picture 9">
            <a:extLst>
              <a:ext uri="{FF2B5EF4-FFF2-40B4-BE49-F238E27FC236}">
                <a16:creationId xmlns:a16="http://schemas.microsoft.com/office/drawing/2014/main" id="{F5A0932D-BB60-1057-95D9-66BA59BDE13A}"/>
              </a:ext>
            </a:extLst>
          </p:cNvPr>
          <p:cNvPicPr>
            <a:picLocks noChangeAspect="1"/>
          </p:cNvPicPr>
          <p:nvPr/>
        </p:nvPicPr>
        <p:blipFill>
          <a:blip r:embed="rId4"/>
          <a:stretch>
            <a:fillRect/>
          </a:stretch>
        </p:blipFill>
        <p:spPr>
          <a:xfrm>
            <a:off x="6583680" y="4806195"/>
            <a:ext cx="4947598" cy="19419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972800" cy="274320"/>
          </a:xfrm>
          <a:prstGeom prst="rect">
            <a:avLst/>
          </a:prstGeom>
          <a:noFill/>
        </p:spPr>
        <p:txBody>
          <a:bodyPr wrap="square">
            <a:spAutoFit/>
          </a:bodyPr>
          <a:lstStyle/>
          <a:p>
            <a:pPr algn="l"/>
            <a:r>
              <a:rPr sz="1200" b="1">
                <a:solidFill>
                  <a:srgbClr val="000000"/>
                </a:solidFill>
                <a:latin typeface="Calibri"/>
              </a:rPr>
              <a:t>MILESTONE 3 · 200 RANDOM SAMPLES</a:t>
            </a:r>
          </a:p>
        </p:txBody>
      </p:sp>
      <p:sp>
        <p:nvSpPr>
          <p:cNvPr id="5" name="TextBox 4"/>
          <p:cNvSpPr txBox="1"/>
          <p:nvPr/>
        </p:nvSpPr>
        <p:spPr>
          <a:xfrm>
            <a:off x="502920" y="502920"/>
            <a:ext cx="11155680" cy="640080"/>
          </a:xfrm>
          <a:prstGeom prst="rect">
            <a:avLst/>
          </a:prstGeom>
          <a:noFill/>
        </p:spPr>
        <p:txBody>
          <a:bodyPr wrap="square">
            <a:spAutoFit/>
          </a:bodyPr>
          <a:lstStyle/>
          <a:p>
            <a:pPr algn="l"/>
            <a:r>
              <a:rPr sz="3000" b="1">
                <a:solidFill>
                  <a:srgbClr val="000000"/>
                </a:solidFill>
                <a:latin typeface="Calibri"/>
              </a:rPr>
              <a:t>Sampling 200 neighbours reduced work but added uncertainty</a:t>
            </a:r>
          </a:p>
        </p:txBody>
      </p:sp>
      <p:sp>
        <p:nvSpPr>
          <p:cNvPr id="6" name="Rounded Rectangle 5"/>
          <p:cNvSpPr/>
          <p:nvPr/>
        </p:nvSpPr>
        <p:spPr>
          <a:xfrm>
            <a:off x="502920" y="1371600"/>
            <a:ext cx="1115568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645920"/>
            <a:ext cx="5029200" cy="400110"/>
          </a:xfrm>
          <a:prstGeom prst="rect">
            <a:avLst/>
          </a:prstGeom>
          <a:noFill/>
        </p:spPr>
        <p:txBody>
          <a:bodyPr wrap="square">
            <a:spAutoFit/>
          </a:bodyPr>
          <a:lstStyle/>
          <a:p>
            <a:pPr algn="l"/>
            <a:r>
              <a:rPr sz="2000" b="1" dirty="0">
                <a:solidFill>
                  <a:srgbClr val="000000"/>
                </a:solidFill>
                <a:latin typeface="Calibri"/>
              </a:rPr>
              <a:t>What changed</a:t>
            </a:r>
          </a:p>
        </p:txBody>
      </p:sp>
      <p:sp>
        <p:nvSpPr>
          <p:cNvPr id="8" name="TextBox 7"/>
          <p:cNvSpPr txBox="1"/>
          <p:nvPr/>
        </p:nvSpPr>
        <p:spPr>
          <a:xfrm>
            <a:off x="822960" y="2148840"/>
            <a:ext cx="5029200" cy="3580467"/>
          </a:xfrm>
          <a:prstGeom prst="rect">
            <a:avLst/>
          </a:prstGeom>
          <a:noFill/>
        </p:spPr>
        <p:txBody>
          <a:bodyPr wrap="square">
            <a:spAutoFit/>
          </a:bodyPr>
          <a:lstStyle/>
          <a:p>
            <a:pPr algn="l">
              <a:spcAft>
                <a:spcPts val="800"/>
              </a:spcAft>
            </a:pPr>
            <a:r>
              <a:rPr sz="2000" b="0" dirty="0">
                <a:solidFill>
                  <a:srgbClr val="1A1A1A"/>
                </a:solidFill>
                <a:latin typeface="Calibri"/>
              </a:rPr>
              <a:t>Same heavy dataset and shift sets as full </a:t>
            </a:r>
            <a:r>
              <a:rPr sz="2000" b="0" dirty="0" err="1">
                <a:solidFill>
                  <a:srgbClr val="1A1A1A"/>
                </a:solidFill>
                <a:latin typeface="Calibri"/>
              </a:rPr>
              <a:t>neighbourhood</a:t>
            </a:r>
            <a:r>
              <a:rPr sz="2000" b="0" dirty="0">
                <a:solidFill>
                  <a:srgbClr val="1A1A1A"/>
                </a:solidFill>
                <a:latin typeface="Calibri"/>
              </a:rPr>
              <a:t> search.</a:t>
            </a:r>
          </a:p>
          <a:p>
            <a:pPr algn="l">
              <a:spcAft>
                <a:spcPts val="800"/>
              </a:spcAft>
            </a:pPr>
            <a:r>
              <a:rPr sz="2000" b="0" dirty="0">
                <a:solidFill>
                  <a:srgbClr val="1A1A1A"/>
                </a:solidFill>
                <a:latin typeface="Calibri"/>
              </a:rPr>
              <a:t>If more than 200 </a:t>
            </a:r>
            <a:r>
              <a:rPr sz="2000" b="0" dirty="0" err="1">
                <a:solidFill>
                  <a:srgbClr val="1A1A1A"/>
                </a:solidFill>
                <a:latin typeface="Calibri"/>
              </a:rPr>
              <a:t>neighbours</a:t>
            </a:r>
            <a:r>
              <a:rPr sz="2000" b="0" dirty="0">
                <a:solidFill>
                  <a:srgbClr val="1A1A1A"/>
                </a:solidFill>
                <a:latin typeface="Calibri"/>
              </a:rPr>
              <a:t> exist, randomly sample 200.</a:t>
            </a:r>
          </a:p>
          <a:p>
            <a:pPr algn="l">
              <a:spcAft>
                <a:spcPts val="800"/>
              </a:spcAft>
            </a:pPr>
            <a:r>
              <a:rPr sz="2000" b="0" dirty="0">
                <a:solidFill>
                  <a:srgbClr val="1A1A1A"/>
                </a:solidFill>
                <a:latin typeface="Calibri"/>
              </a:rPr>
              <a:t>Cut evaluation cost dramatically versus the full set.</a:t>
            </a:r>
          </a:p>
          <a:p>
            <a:pPr algn="l">
              <a:spcAft>
                <a:spcPts val="800"/>
              </a:spcAft>
            </a:pPr>
            <a:r>
              <a:rPr sz="2000" b="0" dirty="0">
                <a:solidFill>
                  <a:srgbClr val="1A1A1A"/>
                </a:solidFill>
                <a:latin typeface="Calibri"/>
              </a:rPr>
              <a:t>Trade-off: non-deterministic candidate selection.</a:t>
            </a:r>
          </a:p>
          <a:p>
            <a:pPr algn="l">
              <a:spcAft>
                <a:spcPts val="800"/>
              </a:spcAft>
            </a:pPr>
            <a:r>
              <a:rPr sz="2000" b="0" dirty="0">
                <a:solidFill>
                  <a:srgbClr val="1A1A1A"/>
                </a:solidFill>
                <a:latin typeface="Calibri"/>
              </a:rPr>
              <a:t>Same seed later enables reproducible benchmarking.</a:t>
            </a:r>
          </a:p>
        </p:txBody>
      </p:sp>
      <p:sp>
        <p:nvSpPr>
          <p:cNvPr id="9" name="TextBox 8"/>
          <p:cNvSpPr txBox="1"/>
          <p:nvPr/>
        </p:nvSpPr>
        <p:spPr>
          <a:xfrm>
            <a:off x="6400800" y="1645920"/>
            <a:ext cx="4846320" cy="400110"/>
          </a:xfrm>
          <a:prstGeom prst="rect">
            <a:avLst/>
          </a:prstGeom>
          <a:noFill/>
        </p:spPr>
        <p:txBody>
          <a:bodyPr wrap="square">
            <a:spAutoFit/>
          </a:bodyPr>
          <a:lstStyle/>
          <a:p>
            <a:pPr algn="l"/>
            <a:r>
              <a:rPr sz="2000" b="1" dirty="0" err="1">
                <a:solidFill>
                  <a:srgbClr val="000000"/>
                </a:solidFill>
                <a:latin typeface="Calibri"/>
              </a:rPr>
              <a:t>Limi</a:t>
            </a:r>
            <a:r>
              <a:rPr lang="en-AU" sz="2000" b="1" dirty="0" err="1">
                <a:solidFill>
                  <a:srgbClr val="000000"/>
                </a:solidFill>
                <a:latin typeface="Calibri"/>
              </a:rPr>
              <a:t>tations</a:t>
            </a:r>
            <a:r>
              <a:rPr sz="2000" b="1" dirty="0">
                <a:solidFill>
                  <a:srgbClr val="000000"/>
                </a:solidFill>
                <a:latin typeface="Calibri"/>
              </a:rPr>
              <a:t> remaining</a:t>
            </a:r>
          </a:p>
        </p:txBody>
      </p:sp>
      <p:sp>
        <p:nvSpPr>
          <p:cNvPr id="10" name="TextBox 9"/>
          <p:cNvSpPr txBox="1"/>
          <p:nvPr/>
        </p:nvSpPr>
        <p:spPr>
          <a:xfrm>
            <a:off x="6400800" y="2148840"/>
            <a:ext cx="4846320" cy="2554545"/>
          </a:xfrm>
          <a:prstGeom prst="rect">
            <a:avLst/>
          </a:prstGeom>
          <a:noFill/>
        </p:spPr>
        <p:txBody>
          <a:bodyPr wrap="square">
            <a:spAutoFit/>
          </a:bodyPr>
          <a:lstStyle/>
          <a:p>
            <a:pPr algn="l">
              <a:spcAft>
                <a:spcPts val="800"/>
              </a:spcAft>
            </a:pPr>
            <a:r>
              <a:rPr sz="2000" b="0" dirty="0">
                <a:solidFill>
                  <a:srgbClr val="1A1A1A"/>
                </a:solidFill>
                <a:latin typeface="Calibri"/>
              </a:rPr>
              <a:t>May miss the best improving move in a </a:t>
            </a:r>
            <a:r>
              <a:rPr sz="2000" b="0" dirty="0" err="1">
                <a:solidFill>
                  <a:srgbClr val="1A1A1A"/>
                </a:solidFill>
                <a:latin typeface="Calibri"/>
              </a:rPr>
              <a:t>neighbourhood</a:t>
            </a:r>
            <a:r>
              <a:rPr sz="2000" b="0" dirty="0">
                <a:solidFill>
                  <a:srgbClr val="1A1A1A"/>
                </a:solidFill>
                <a:latin typeface="Calibri"/>
              </a:rPr>
              <a:t>.</a:t>
            </a:r>
          </a:p>
          <a:p>
            <a:pPr algn="l">
              <a:spcAft>
                <a:spcPts val="800"/>
              </a:spcAft>
            </a:pPr>
            <a:r>
              <a:rPr sz="2000" b="0" dirty="0">
                <a:solidFill>
                  <a:srgbClr val="1A1A1A"/>
                </a:solidFill>
                <a:latin typeface="Calibri"/>
              </a:rPr>
              <a:t>Still scores complete candidate schedules each time.</a:t>
            </a:r>
          </a:p>
          <a:p>
            <a:pPr algn="l">
              <a:spcAft>
                <a:spcPts val="800"/>
              </a:spcAft>
            </a:pPr>
            <a:r>
              <a:rPr sz="2000" b="0" dirty="0">
                <a:solidFill>
                  <a:srgbClr val="1A1A1A"/>
                </a:solidFill>
                <a:latin typeface="Calibri"/>
              </a:rPr>
              <a:t>Still deep-copies and revalidates.</a:t>
            </a:r>
          </a:p>
          <a:p>
            <a:pPr algn="l">
              <a:spcAft>
                <a:spcPts val="800"/>
              </a:spcAft>
            </a:pPr>
            <a:r>
              <a:rPr sz="2000" b="0" dirty="0">
                <a:solidFill>
                  <a:srgbClr val="1A1A1A"/>
                </a:solidFill>
                <a:latin typeface="Calibri"/>
              </a:rPr>
              <a:t>Motivated a smarter, deterministic selection </a:t>
            </a:r>
            <a:r>
              <a:rPr lang="en-AU" sz="2000" b="0" dirty="0">
                <a:solidFill>
                  <a:srgbClr val="1A1A1A"/>
                </a:solidFill>
                <a:latin typeface="Calibri"/>
              </a:rPr>
              <a:t>criteria</a:t>
            </a:r>
            <a:r>
              <a:rPr sz="2000" b="0" dirty="0">
                <a:solidFill>
                  <a:srgbClr val="1A1A1A"/>
                </a:solidFill>
                <a:latin typeface="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972800" cy="274320"/>
          </a:xfrm>
          <a:prstGeom prst="rect">
            <a:avLst/>
          </a:prstGeom>
          <a:noFill/>
        </p:spPr>
        <p:txBody>
          <a:bodyPr wrap="square">
            <a:spAutoFit/>
          </a:bodyPr>
          <a:lstStyle/>
          <a:p>
            <a:pPr algn="l"/>
            <a:r>
              <a:rPr sz="1200" b="1">
                <a:solidFill>
                  <a:srgbClr val="000000"/>
                </a:solidFill>
                <a:latin typeface="Calibri"/>
              </a:rPr>
              <a:t>MILESTONE 4 · PRIORITY-BASED SELECTION</a:t>
            </a:r>
          </a:p>
        </p:txBody>
      </p:sp>
      <p:sp>
        <p:nvSpPr>
          <p:cNvPr id="5" name="TextBox 4"/>
          <p:cNvSpPr txBox="1"/>
          <p:nvPr/>
        </p:nvSpPr>
        <p:spPr>
          <a:xfrm>
            <a:off x="502920" y="502920"/>
            <a:ext cx="11155680" cy="640080"/>
          </a:xfrm>
          <a:prstGeom prst="rect">
            <a:avLst/>
          </a:prstGeom>
          <a:noFill/>
        </p:spPr>
        <p:txBody>
          <a:bodyPr wrap="square">
            <a:spAutoFit/>
          </a:bodyPr>
          <a:lstStyle/>
          <a:p>
            <a:pPr algn="l"/>
            <a:r>
              <a:rPr sz="3000" b="1">
                <a:solidFill>
                  <a:srgbClr val="000000"/>
                </a:solidFill>
                <a:latin typeface="Calibri"/>
              </a:rPr>
              <a:t>Priority selection searches the worst availability regions first</a:t>
            </a:r>
          </a:p>
        </p:txBody>
      </p:sp>
      <p:sp>
        <p:nvSpPr>
          <p:cNvPr id="6" name="Rounded Rectangle 5"/>
          <p:cNvSpPr/>
          <p:nvPr/>
        </p:nvSpPr>
        <p:spPr>
          <a:xfrm>
            <a:off x="502921" y="1280160"/>
            <a:ext cx="4747506" cy="48920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08760"/>
            <a:ext cx="4542012" cy="4606389"/>
          </a:xfrm>
          <a:prstGeom prst="rect">
            <a:avLst/>
          </a:prstGeom>
          <a:noFill/>
        </p:spPr>
        <p:txBody>
          <a:bodyPr wrap="square">
            <a:spAutoFit/>
          </a:bodyPr>
          <a:lstStyle/>
          <a:p>
            <a:pPr algn="l">
              <a:spcAft>
                <a:spcPts val="800"/>
              </a:spcAft>
            </a:pPr>
            <a:r>
              <a:rPr sz="2000" b="0" dirty="0">
                <a:solidFill>
                  <a:srgbClr val="1A1A1A"/>
                </a:solidFill>
                <a:latin typeface="Calibri"/>
              </a:rPr>
              <a:t>Rank events by the worst availability during their interval.</a:t>
            </a:r>
          </a:p>
          <a:p>
            <a:pPr algn="l">
              <a:spcAft>
                <a:spcPts val="800"/>
              </a:spcAft>
            </a:pPr>
            <a:r>
              <a:rPr sz="2000" b="0" dirty="0">
                <a:solidFill>
                  <a:srgbClr val="1A1A1A"/>
                </a:solidFill>
                <a:latin typeface="Calibri"/>
              </a:rPr>
              <a:t>Search the worst priority level first</a:t>
            </a:r>
            <a:r>
              <a:rPr lang="en-AU" sz="2000" b="0" dirty="0">
                <a:solidFill>
                  <a:srgbClr val="1A1A1A"/>
                </a:solidFill>
                <a:latin typeface="Calibri"/>
              </a:rPr>
              <a:t>,</a:t>
            </a:r>
            <a:r>
              <a:rPr sz="2000" b="0" dirty="0">
                <a:solidFill>
                  <a:srgbClr val="1A1A1A"/>
                </a:solidFill>
                <a:latin typeface="Calibri"/>
              </a:rPr>
              <a:t> expand only if needed.</a:t>
            </a:r>
          </a:p>
          <a:p>
            <a:pPr algn="l">
              <a:spcAft>
                <a:spcPts val="800"/>
              </a:spcAft>
            </a:pPr>
            <a:r>
              <a:rPr sz="2000" b="0" dirty="0">
                <a:solidFill>
                  <a:srgbClr val="1A1A1A"/>
                </a:solidFill>
                <a:latin typeface="Calibri"/>
              </a:rPr>
              <a:t>Move one check, then rebuild later events using A/B/C/D rules.</a:t>
            </a:r>
            <a:endParaRPr lang="en-AU" sz="2000" b="0" dirty="0">
              <a:solidFill>
                <a:srgbClr val="1A1A1A"/>
              </a:solidFill>
              <a:latin typeface="Calibri"/>
            </a:endParaRPr>
          </a:p>
          <a:p>
            <a:pPr algn="l">
              <a:spcAft>
                <a:spcPts val="800"/>
              </a:spcAft>
            </a:pPr>
            <a:r>
              <a:rPr lang="en-AU" sz="2000" dirty="0">
                <a:solidFill>
                  <a:srgbClr val="1A1A1A"/>
                </a:solidFill>
                <a:latin typeface="Calibri"/>
              </a:rPr>
              <a:t>Update incrementally by removing old intervals and add the rebuilt intervals and score once.</a:t>
            </a:r>
            <a:endParaRPr sz="2000" b="0" dirty="0">
              <a:solidFill>
                <a:srgbClr val="1A1A1A"/>
              </a:solidFill>
              <a:latin typeface="Calibri"/>
            </a:endParaRPr>
          </a:p>
          <a:p>
            <a:pPr algn="l">
              <a:spcAft>
                <a:spcPts val="800"/>
              </a:spcAft>
            </a:pPr>
            <a:r>
              <a:rPr sz="2000" b="0" dirty="0">
                <a:solidFill>
                  <a:srgbClr val="1A1A1A"/>
                </a:solidFill>
                <a:latin typeface="Calibri"/>
              </a:rPr>
              <a:t>Deterministic, rule-compliant, and substantially faster.</a:t>
            </a:r>
          </a:p>
          <a:p>
            <a:pPr algn="l">
              <a:spcAft>
                <a:spcPts val="800"/>
              </a:spcAft>
            </a:pPr>
            <a:r>
              <a:rPr sz="2000" b="0" dirty="0">
                <a:solidFill>
                  <a:srgbClr val="1A1A1A"/>
                </a:solidFill>
                <a:latin typeface="Calibri"/>
              </a:rPr>
              <a:t>Measured result: min 15→18, std 1.96→1.44.</a:t>
            </a:r>
          </a:p>
        </p:txBody>
      </p:sp>
      <p:pic>
        <p:nvPicPr>
          <p:cNvPr id="8" name="Picture 7" descr="Priority Based Optimiser Flowchart.png"/>
          <p:cNvPicPr>
            <a:picLocks noChangeAspect="1"/>
          </p:cNvPicPr>
          <p:nvPr/>
        </p:nvPicPr>
        <p:blipFill>
          <a:blip r:embed="rId3"/>
          <a:stretch>
            <a:fillRect/>
          </a:stretch>
        </p:blipFill>
        <p:spPr>
          <a:xfrm>
            <a:off x="5311632" y="1142999"/>
            <a:ext cx="6677334" cy="44515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972800" cy="274320"/>
          </a:xfrm>
          <a:prstGeom prst="rect">
            <a:avLst/>
          </a:prstGeom>
          <a:noFill/>
        </p:spPr>
        <p:txBody>
          <a:bodyPr wrap="square">
            <a:spAutoFit/>
          </a:bodyPr>
          <a:lstStyle/>
          <a:p>
            <a:pPr algn="l"/>
            <a:r>
              <a:rPr sz="1200" b="1">
                <a:solidFill>
                  <a:srgbClr val="000000"/>
                </a:solidFill>
                <a:latin typeface="Calibri"/>
              </a:rPr>
              <a:t>MILESTONE 4 · HOW PRIORITY LEVELS WORK</a:t>
            </a:r>
          </a:p>
        </p:txBody>
      </p:sp>
      <p:sp>
        <p:nvSpPr>
          <p:cNvPr id="5" name="TextBox 4"/>
          <p:cNvSpPr txBox="1"/>
          <p:nvPr/>
        </p:nvSpPr>
        <p:spPr>
          <a:xfrm>
            <a:off x="502920" y="502920"/>
            <a:ext cx="11155680" cy="553998"/>
          </a:xfrm>
          <a:prstGeom prst="rect">
            <a:avLst/>
          </a:prstGeom>
          <a:noFill/>
        </p:spPr>
        <p:txBody>
          <a:bodyPr wrap="square">
            <a:spAutoFit/>
          </a:bodyPr>
          <a:lstStyle/>
          <a:p>
            <a:pPr algn="l"/>
            <a:r>
              <a:rPr sz="3000" b="1" dirty="0">
                <a:solidFill>
                  <a:srgbClr val="000000"/>
                </a:solidFill>
                <a:latin typeface="Calibri"/>
              </a:rPr>
              <a:t>Each event gets one priority</a:t>
            </a:r>
            <a:r>
              <a:rPr lang="en-AU" sz="3000" b="1" dirty="0">
                <a:solidFill>
                  <a:srgbClr val="000000"/>
                </a:solidFill>
                <a:latin typeface="Calibri"/>
              </a:rPr>
              <a:t>: </a:t>
            </a:r>
            <a:r>
              <a:rPr sz="3000" b="1" dirty="0">
                <a:solidFill>
                  <a:srgbClr val="000000"/>
                </a:solidFill>
                <a:latin typeface="Calibri"/>
              </a:rPr>
              <a:t>the worst day it covers</a:t>
            </a:r>
          </a:p>
        </p:txBody>
      </p:sp>
      <p:sp>
        <p:nvSpPr>
          <p:cNvPr id="6" name="TextBox 5"/>
          <p:cNvSpPr txBox="1"/>
          <p:nvPr/>
        </p:nvSpPr>
        <p:spPr>
          <a:xfrm>
            <a:off x="502920" y="1143000"/>
            <a:ext cx="11155680" cy="369332"/>
          </a:xfrm>
          <a:prstGeom prst="rect">
            <a:avLst/>
          </a:prstGeom>
          <a:noFill/>
        </p:spPr>
        <p:txBody>
          <a:bodyPr wrap="square">
            <a:spAutoFit/>
          </a:bodyPr>
          <a:lstStyle/>
          <a:p>
            <a:pPr algn="l"/>
            <a:r>
              <a:rPr b="0" dirty="0">
                <a:solidFill>
                  <a:srgbClr val="555555"/>
                </a:solidFill>
                <a:latin typeface="Calibri"/>
              </a:rPr>
              <a:t>From the heavy starting schedule: global min availability = 15</a:t>
            </a:r>
            <a:r>
              <a:rPr lang="en-AU" b="0" dirty="0">
                <a:solidFill>
                  <a:srgbClr val="555555"/>
                </a:solidFill>
                <a:latin typeface="Calibri"/>
              </a:rPr>
              <a:t>,</a:t>
            </a:r>
            <a:r>
              <a:rPr b="0" dirty="0">
                <a:solidFill>
                  <a:srgbClr val="555555"/>
                </a:solidFill>
                <a:latin typeface="Calibri"/>
              </a:rPr>
              <a:t> 278 events</a:t>
            </a:r>
            <a:r>
              <a:rPr lang="en-AU" b="0" dirty="0">
                <a:solidFill>
                  <a:srgbClr val="555555"/>
                </a:solidFill>
                <a:latin typeface="Calibri"/>
              </a:rPr>
              <a:t>,</a:t>
            </a:r>
            <a:r>
              <a:rPr b="0" dirty="0">
                <a:solidFill>
                  <a:srgbClr val="555555"/>
                </a:solidFill>
                <a:latin typeface="Calibri"/>
              </a:rPr>
              <a:t> 24 aircraft</a:t>
            </a:r>
          </a:p>
        </p:txBody>
      </p:sp>
      <p:sp>
        <p:nvSpPr>
          <p:cNvPr id="7" name="Rounded Rectangle 6"/>
          <p:cNvSpPr/>
          <p:nvPr/>
        </p:nvSpPr>
        <p:spPr>
          <a:xfrm>
            <a:off x="502920" y="1600199"/>
            <a:ext cx="3657600" cy="4672781"/>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3291840" cy="400110"/>
          </a:xfrm>
          <a:prstGeom prst="rect">
            <a:avLst/>
          </a:prstGeom>
          <a:noFill/>
        </p:spPr>
        <p:txBody>
          <a:bodyPr wrap="square">
            <a:spAutoFit/>
          </a:bodyPr>
          <a:lstStyle/>
          <a:p>
            <a:pPr algn="l"/>
            <a:r>
              <a:rPr sz="2000" b="1">
                <a:solidFill>
                  <a:srgbClr val="000000"/>
                </a:solidFill>
                <a:latin typeface="Calibri"/>
              </a:rPr>
              <a:t>1. Score every event</a:t>
            </a:r>
          </a:p>
        </p:txBody>
      </p:sp>
      <p:sp>
        <p:nvSpPr>
          <p:cNvPr id="9" name="TextBox 8"/>
          <p:cNvSpPr txBox="1"/>
          <p:nvPr/>
        </p:nvSpPr>
        <p:spPr>
          <a:xfrm>
            <a:off x="685800" y="2194560"/>
            <a:ext cx="3291840" cy="2759730"/>
          </a:xfrm>
          <a:prstGeom prst="rect">
            <a:avLst/>
          </a:prstGeom>
          <a:noFill/>
        </p:spPr>
        <p:txBody>
          <a:bodyPr wrap="square">
            <a:spAutoFit/>
          </a:bodyPr>
          <a:lstStyle/>
          <a:p>
            <a:pPr algn="l">
              <a:spcAft>
                <a:spcPts val="800"/>
              </a:spcAft>
            </a:pPr>
            <a:r>
              <a:rPr sz="2000" b="0" dirty="0">
                <a:solidFill>
                  <a:srgbClr val="1A1A1A"/>
                </a:solidFill>
                <a:latin typeface="Calibri"/>
              </a:rPr>
              <a:t>Look at fleet availability on every day that event is in the hangar.</a:t>
            </a:r>
          </a:p>
          <a:p>
            <a:pPr algn="l">
              <a:spcAft>
                <a:spcPts val="800"/>
              </a:spcAft>
            </a:pPr>
            <a:r>
              <a:rPr sz="2000" b="0" dirty="0">
                <a:solidFill>
                  <a:srgbClr val="1A1A1A"/>
                </a:solidFill>
                <a:latin typeface="Calibri"/>
              </a:rPr>
              <a:t>Priority = the minimum of those days.</a:t>
            </a:r>
          </a:p>
          <a:p>
            <a:pPr algn="l">
              <a:spcAft>
                <a:spcPts val="800"/>
              </a:spcAft>
            </a:pPr>
            <a:r>
              <a:rPr sz="2000" b="0" dirty="0">
                <a:solidFill>
                  <a:srgbClr val="1A1A1A"/>
                </a:solidFill>
                <a:latin typeface="Calibri"/>
              </a:rPr>
              <a:t>Example: </a:t>
            </a:r>
            <a:r>
              <a:rPr lang="en-AU" sz="2000" b="0" dirty="0">
                <a:solidFill>
                  <a:srgbClr val="1A1A1A"/>
                </a:solidFill>
                <a:latin typeface="Calibri"/>
              </a:rPr>
              <a:t>event </a:t>
            </a:r>
            <a:r>
              <a:rPr sz="2000" b="0" dirty="0">
                <a:solidFill>
                  <a:srgbClr val="1A1A1A"/>
                </a:solidFill>
                <a:latin typeface="Calibri"/>
              </a:rPr>
              <a:t>days with avail</a:t>
            </a:r>
            <a:r>
              <a:rPr lang="en-AU" sz="2000" dirty="0">
                <a:solidFill>
                  <a:srgbClr val="1A1A1A"/>
                </a:solidFill>
                <a:latin typeface="Calibri"/>
              </a:rPr>
              <a:t>a</a:t>
            </a:r>
            <a:r>
              <a:rPr lang="en-AU" sz="2000" b="0" dirty="0">
                <a:solidFill>
                  <a:srgbClr val="1A1A1A"/>
                </a:solidFill>
                <a:latin typeface="Calibri"/>
              </a:rPr>
              <a:t>bility:</a:t>
            </a:r>
            <a:r>
              <a:rPr sz="2000" b="0" dirty="0">
                <a:solidFill>
                  <a:srgbClr val="1A1A1A"/>
                </a:solidFill>
                <a:latin typeface="Calibri"/>
              </a:rPr>
              <a:t> [</a:t>
            </a:r>
            <a:r>
              <a:rPr lang="en-AU" sz="2000" b="0" dirty="0">
                <a:solidFill>
                  <a:srgbClr val="1A1A1A"/>
                </a:solidFill>
                <a:latin typeface="Calibri"/>
              </a:rPr>
              <a:t>18, </a:t>
            </a:r>
            <a:r>
              <a:rPr sz="2000" b="0" dirty="0">
                <a:solidFill>
                  <a:srgbClr val="1A1A1A"/>
                </a:solidFill>
                <a:latin typeface="Calibri"/>
              </a:rPr>
              <a:t>18, 1</a:t>
            </a:r>
            <a:r>
              <a:rPr lang="en-AU" sz="2000" b="0" dirty="0">
                <a:solidFill>
                  <a:srgbClr val="1A1A1A"/>
                </a:solidFill>
                <a:latin typeface="Calibri"/>
              </a:rPr>
              <a:t>6</a:t>
            </a:r>
            <a:r>
              <a:rPr sz="2000" b="0" dirty="0">
                <a:solidFill>
                  <a:srgbClr val="1A1A1A"/>
                </a:solidFill>
                <a:latin typeface="Calibri"/>
              </a:rPr>
              <a:t>, 1</a:t>
            </a:r>
            <a:r>
              <a:rPr lang="en-AU" sz="2000" b="0" dirty="0">
                <a:solidFill>
                  <a:srgbClr val="1A1A1A"/>
                </a:solidFill>
                <a:latin typeface="Calibri"/>
              </a:rPr>
              <a:t>5</a:t>
            </a:r>
            <a:r>
              <a:rPr lang="en-AU" sz="2000" dirty="0">
                <a:solidFill>
                  <a:srgbClr val="1A1A1A"/>
                </a:solidFill>
                <a:latin typeface="Calibri"/>
              </a:rPr>
              <a:t>, etc.</a:t>
            </a:r>
            <a:r>
              <a:rPr sz="2000" b="0" dirty="0">
                <a:solidFill>
                  <a:srgbClr val="1A1A1A"/>
                </a:solidFill>
                <a:latin typeface="Calibri"/>
              </a:rPr>
              <a:t>] → priority 15.</a:t>
            </a:r>
          </a:p>
        </p:txBody>
      </p:sp>
      <p:sp>
        <p:nvSpPr>
          <p:cNvPr id="10" name="Rounded Rectangle 9"/>
          <p:cNvSpPr/>
          <p:nvPr/>
        </p:nvSpPr>
        <p:spPr>
          <a:xfrm>
            <a:off x="4297680" y="1600200"/>
            <a:ext cx="365760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737360"/>
            <a:ext cx="3291840" cy="400110"/>
          </a:xfrm>
          <a:prstGeom prst="rect">
            <a:avLst/>
          </a:prstGeom>
          <a:noFill/>
        </p:spPr>
        <p:txBody>
          <a:bodyPr wrap="square">
            <a:spAutoFit/>
          </a:bodyPr>
          <a:lstStyle/>
          <a:p>
            <a:pPr algn="l"/>
            <a:r>
              <a:rPr sz="2000" b="1" dirty="0">
                <a:solidFill>
                  <a:srgbClr val="000000"/>
                </a:solidFill>
                <a:latin typeface="Calibri"/>
              </a:rPr>
              <a:t>2. Split into exclusive buckets</a:t>
            </a:r>
          </a:p>
        </p:txBody>
      </p:sp>
      <p:sp>
        <p:nvSpPr>
          <p:cNvPr id="12" name="TextBox 11"/>
          <p:cNvSpPr txBox="1"/>
          <p:nvPr/>
        </p:nvSpPr>
        <p:spPr>
          <a:xfrm>
            <a:off x="4480560" y="2194560"/>
            <a:ext cx="3291840" cy="2349361"/>
          </a:xfrm>
          <a:prstGeom prst="rect">
            <a:avLst/>
          </a:prstGeom>
          <a:noFill/>
        </p:spPr>
        <p:txBody>
          <a:bodyPr wrap="square">
            <a:spAutoFit/>
          </a:bodyPr>
          <a:lstStyle/>
          <a:p>
            <a:pPr algn="l">
              <a:spcAft>
                <a:spcPts val="800"/>
              </a:spcAft>
            </a:pPr>
            <a:r>
              <a:rPr sz="2000" b="0" dirty="0">
                <a:solidFill>
                  <a:srgbClr val="1A1A1A"/>
                </a:solidFill>
                <a:latin typeface="Calibri"/>
              </a:rPr>
              <a:t>Level 15 → 20 events (touch a day-15 </a:t>
            </a:r>
            <a:r>
              <a:rPr lang="en-AU" sz="2000" b="0" dirty="0">
                <a:solidFill>
                  <a:srgbClr val="1A1A1A"/>
                </a:solidFill>
                <a:latin typeface="Calibri"/>
              </a:rPr>
              <a:t>dip</a:t>
            </a:r>
            <a:r>
              <a:rPr sz="2000" b="0" dirty="0">
                <a:solidFill>
                  <a:srgbClr val="1A1A1A"/>
                </a:solidFill>
                <a:latin typeface="Calibri"/>
              </a:rPr>
              <a:t>).</a:t>
            </a:r>
          </a:p>
          <a:p>
            <a:pPr algn="l">
              <a:spcAft>
                <a:spcPts val="800"/>
              </a:spcAft>
            </a:pPr>
            <a:r>
              <a:rPr sz="2000" b="0" dirty="0">
                <a:solidFill>
                  <a:srgbClr val="1A1A1A"/>
                </a:solidFill>
                <a:latin typeface="Calibri"/>
              </a:rPr>
              <a:t>Level 16 → 10 events</a:t>
            </a:r>
            <a:r>
              <a:rPr lang="en-AU" sz="2000" b="0" dirty="0">
                <a:solidFill>
                  <a:srgbClr val="1A1A1A"/>
                </a:solidFill>
                <a:latin typeface="Calibri"/>
              </a:rPr>
              <a:t> </a:t>
            </a:r>
          </a:p>
          <a:p>
            <a:pPr algn="l">
              <a:spcAft>
                <a:spcPts val="800"/>
              </a:spcAft>
            </a:pPr>
            <a:r>
              <a:rPr lang="en-AU" sz="2000" b="0" dirty="0">
                <a:solidFill>
                  <a:srgbClr val="1A1A1A"/>
                </a:solidFill>
                <a:latin typeface="Calibri"/>
              </a:rPr>
              <a:t>Level 17 → 9 events</a:t>
            </a:r>
          </a:p>
          <a:p>
            <a:pPr>
              <a:spcAft>
                <a:spcPts val="800"/>
              </a:spcAft>
            </a:pPr>
            <a:r>
              <a:rPr lang="en-AU" sz="2000" dirty="0">
                <a:solidFill>
                  <a:srgbClr val="1A1A1A"/>
                </a:solidFill>
                <a:latin typeface="Calibri"/>
              </a:rPr>
              <a:t>Level 21 </a:t>
            </a:r>
            <a:r>
              <a:rPr lang="en-AU" sz="2000" dirty="0">
                <a:solidFill>
                  <a:srgbClr val="1A1A1A"/>
                </a:solidFill>
              </a:rPr>
              <a:t>→ 68 events</a:t>
            </a:r>
            <a:endParaRPr lang="en-AU" sz="2000" dirty="0">
              <a:solidFill>
                <a:srgbClr val="1A1A1A"/>
              </a:solidFill>
              <a:latin typeface="Calibri"/>
            </a:endParaRPr>
          </a:p>
          <a:p>
            <a:pPr algn="l">
              <a:spcAft>
                <a:spcPts val="800"/>
              </a:spcAft>
            </a:pPr>
            <a:endParaRPr lang="en-AU" sz="2000" b="0" dirty="0">
              <a:solidFill>
                <a:srgbClr val="1A1A1A"/>
              </a:solidFill>
              <a:latin typeface="Calibri"/>
            </a:endParaRPr>
          </a:p>
        </p:txBody>
      </p:sp>
      <p:sp>
        <p:nvSpPr>
          <p:cNvPr id="13" name="Rounded Rectangle 12"/>
          <p:cNvSpPr/>
          <p:nvPr/>
        </p:nvSpPr>
        <p:spPr>
          <a:xfrm>
            <a:off x="8092440" y="1600200"/>
            <a:ext cx="365760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737360"/>
            <a:ext cx="3291840" cy="400110"/>
          </a:xfrm>
          <a:prstGeom prst="rect">
            <a:avLst/>
          </a:prstGeom>
          <a:noFill/>
        </p:spPr>
        <p:txBody>
          <a:bodyPr wrap="square">
            <a:spAutoFit/>
          </a:bodyPr>
          <a:lstStyle/>
          <a:p>
            <a:pPr algn="l"/>
            <a:r>
              <a:rPr sz="2000" b="1" dirty="0">
                <a:solidFill>
                  <a:srgbClr val="000000"/>
                </a:solidFill>
                <a:latin typeface="Calibri"/>
              </a:rPr>
              <a:t>3. Search worst first</a:t>
            </a:r>
          </a:p>
        </p:txBody>
      </p:sp>
      <p:sp>
        <p:nvSpPr>
          <p:cNvPr id="15" name="TextBox 14"/>
          <p:cNvSpPr txBox="1"/>
          <p:nvPr/>
        </p:nvSpPr>
        <p:spPr>
          <a:xfrm>
            <a:off x="8275320" y="2194560"/>
            <a:ext cx="3291840" cy="2144177"/>
          </a:xfrm>
          <a:prstGeom prst="rect">
            <a:avLst/>
          </a:prstGeom>
          <a:noFill/>
        </p:spPr>
        <p:txBody>
          <a:bodyPr wrap="square">
            <a:spAutoFit/>
          </a:bodyPr>
          <a:lstStyle/>
          <a:p>
            <a:pPr algn="l">
              <a:spcAft>
                <a:spcPts val="800"/>
              </a:spcAft>
            </a:pPr>
            <a:r>
              <a:rPr sz="2000" b="0" dirty="0">
                <a:solidFill>
                  <a:srgbClr val="1A1A1A"/>
                </a:solidFill>
                <a:latin typeface="Calibri"/>
              </a:rPr>
              <a:t>Try only level-15 events × shifts (e.g. 20 × 2 = 40).</a:t>
            </a:r>
          </a:p>
          <a:p>
            <a:pPr algn="l">
              <a:spcAft>
                <a:spcPts val="800"/>
              </a:spcAft>
            </a:pPr>
            <a:r>
              <a:rPr sz="2000" b="0" dirty="0">
                <a:solidFill>
                  <a:srgbClr val="1A1A1A"/>
                </a:solidFill>
                <a:latin typeface="Calibri"/>
              </a:rPr>
              <a:t>If any move improves the score, stop and pick the best.</a:t>
            </a:r>
          </a:p>
          <a:p>
            <a:pPr algn="l">
              <a:spcAft>
                <a:spcPts val="800"/>
              </a:spcAft>
            </a:pPr>
            <a:r>
              <a:rPr sz="2000" b="0" dirty="0">
                <a:solidFill>
                  <a:srgbClr val="1A1A1A"/>
                </a:solidFill>
                <a:latin typeface="Calibri"/>
              </a:rPr>
              <a:t>Only then expand to 16, 17… if level 15 finds nothing.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972800" cy="274320"/>
          </a:xfrm>
          <a:prstGeom prst="rect">
            <a:avLst/>
          </a:prstGeom>
          <a:noFill/>
        </p:spPr>
        <p:txBody>
          <a:bodyPr wrap="square">
            <a:spAutoFit/>
          </a:bodyPr>
          <a:lstStyle/>
          <a:p>
            <a:pPr algn="l"/>
            <a:r>
              <a:rPr sz="1200" b="1">
                <a:solidFill>
                  <a:srgbClr val="000000"/>
                </a:solidFill>
                <a:latin typeface="Calibri"/>
              </a:rPr>
              <a:t>MEASURED COMPARISON · HEAVY DATASET</a:t>
            </a:r>
          </a:p>
        </p:txBody>
      </p:sp>
      <p:sp>
        <p:nvSpPr>
          <p:cNvPr id="5" name="TextBox 4"/>
          <p:cNvSpPr txBox="1"/>
          <p:nvPr/>
        </p:nvSpPr>
        <p:spPr>
          <a:xfrm>
            <a:off x="502920" y="502920"/>
            <a:ext cx="11155680" cy="640080"/>
          </a:xfrm>
          <a:prstGeom prst="rect">
            <a:avLst/>
          </a:prstGeom>
          <a:noFill/>
        </p:spPr>
        <p:txBody>
          <a:bodyPr wrap="square">
            <a:spAutoFit/>
          </a:bodyPr>
          <a:lstStyle/>
          <a:p>
            <a:pPr algn="l"/>
            <a:r>
              <a:rPr sz="3000" b="1">
                <a:solidFill>
                  <a:srgbClr val="000000"/>
                </a:solidFill>
                <a:latin typeface="Calibri"/>
              </a:rPr>
              <a:t>Better worst-case availability with less variation</a:t>
            </a:r>
          </a:p>
        </p:txBody>
      </p:sp>
      <p:sp>
        <p:nvSpPr>
          <p:cNvPr id="6" name="Rounded Rectangle 5"/>
          <p:cNvSpPr/>
          <p:nvPr/>
        </p:nvSpPr>
        <p:spPr>
          <a:xfrm>
            <a:off x="502920" y="1371600"/>
            <a:ext cx="365760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536192"/>
            <a:ext cx="3383280" cy="320040"/>
          </a:xfrm>
          <a:prstGeom prst="rect">
            <a:avLst/>
          </a:prstGeom>
          <a:noFill/>
        </p:spPr>
        <p:txBody>
          <a:bodyPr wrap="square">
            <a:spAutoFit/>
          </a:bodyPr>
          <a:lstStyle/>
          <a:p>
            <a:pPr algn="l"/>
            <a:r>
              <a:rPr sz="1200" b="1">
                <a:solidFill>
                  <a:srgbClr val="000000"/>
                </a:solidFill>
                <a:latin typeface="Calibri"/>
              </a:rPr>
              <a:t>MINIMUM AVAILABILITY</a:t>
            </a:r>
          </a:p>
        </p:txBody>
      </p:sp>
      <p:sp>
        <p:nvSpPr>
          <p:cNvPr id="8" name="TextBox 7"/>
          <p:cNvSpPr txBox="1"/>
          <p:nvPr/>
        </p:nvSpPr>
        <p:spPr>
          <a:xfrm>
            <a:off x="667512" y="1874520"/>
            <a:ext cx="3383280" cy="640080"/>
          </a:xfrm>
          <a:prstGeom prst="rect">
            <a:avLst/>
          </a:prstGeom>
          <a:noFill/>
        </p:spPr>
        <p:txBody>
          <a:bodyPr wrap="square">
            <a:spAutoFit/>
          </a:bodyPr>
          <a:lstStyle/>
          <a:p>
            <a:pPr algn="l"/>
            <a:r>
              <a:rPr sz="2600" b="1">
                <a:solidFill>
                  <a:srgbClr val="000000"/>
                </a:solidFill>
                <a:latin typeface="Calibri"/>
              </a:rPr>
              <a:t>15 → 18</a:t>
            </a:r>
          </a:p>
        </p:txBody>
      </p:sp>
      <p:sp>
        <p:nvSpPr>
          <p:cNvPr id="9" name="Rounded Rectangle 8"/>
          <p:cNvSpPr/>
          <p:nvPr/>
        </p:nvSpPr>
        <p:spPr>
          <a:xfrm>
            <a:off x="4343400" y="1371600"/>
            <a:ext cx="365760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7992" y="1536192"/>
            <a:ext cx="3383280" cy="320040"/>
          </a:xfrm>
          <a:prstGeom prst="rect">
            <a:avLst/>
          </a:prstGeom>
          <a:noFill/>
        </p:spPr>
        <p:txBody>
          <a:bodyPr wrap="square">
            <a:spAutoFit/>
          </a:bodyPr>
          <a:lstStyle/>
          <a:p>
            <a:pPr algn="l"/>
            <a:r>
              <a:rPr sz="1200" b="1">
                <a:solidFill>
                  <a:srgbClr val="000000"/>
                </a:solidFill>
                <a:latin typeface="Calibri"/>
              </a:rPr>
              <a:t>STANDARD DEVIATION</a:t>
            </a:r>
          </a:p>
        </p:txBody>
      </p:sp>
      <p:sp>
        <p:nvSpPr>
          <p:cNvPr id="11" name="TextBox 10"/>
          <p:cNvSpPr txBox="1"/>
          <p:nvPr/>
        </p:nvSpPr>
        <p:spPr>
          <a:xfrm>
            <a:off x="4507992" y="1874520"/>
            <a:ext cx="3383280" cy="492443"/>
          </a:xfrm>
          <a:prstGeom prst="rect">
            <a:avLst/>
          </a:prstGeom>
          <a:noFill/>
        </p:spPr>
        <p:txBody>
          <a:bodyPr wrap="square">
            <a:spAutoFit/>
          </a:bodyPr>
          <a:lstStyle/>
          <a:p>
            <a:pPr algn="l"/>
            <a:r>
              <a:rPr sz="2600" b="1" dirty="0">
                <a:solidFill>
                  <a:srgbClr val="000000"/>
                </a:solidFill>
                <a:latin typeface="Calibri"/>
              </a:rPr>
              <a:t>1.96 → 1.4</a:t>
            </a:r>
            <a:r>
              <a:rPr lang="en-AU" sz="2600" b="1" dirty="0">
                <a:solidFill>
                  <a:srgbClr val="000000"/>
                </a:solidFill>
                <a:latin typeface="Calibri"/>
              </a:rPr>
              <a:t>1</a:t>
            </a:r>
            <a:endParaRPr sz="2600" b="1" dirty="0">
              <a:solidFill>
                <a:srgbClr val="000000"/>
              </a:solidFill>
              <a:latin typeface="Calibri"/>
            </a:endParaRPr>
          </a:p>
        </p:txBody>
      </p:sp>
      <p:sp>
        <p:nvSpPr>
          <p:cNvPr id="12" name="Rounded Rectangle 11"/>
          <p:cNvSpPr/>
          <p:nvPr/>
        </p:nvSpPr>
        <p:spPr>
          <a:xfrm>
            <a:off x="8183879" y="1371600"/>
            <a:ext cx="347472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48471" y="1536192"/>
            <a:ext cx="3200400" cy="320040"/>
          </a:xfrm>
          <a:prstGeom prst="rect">
            <a:avLst/>
          </a:prstGeom>
          <a:noFill/>
        </p:spPr>
        <p:txBody>
          <a:bodyPr wrap="square">
            <a:spAutoFit/>
          </a:bodyPr>
          <a:lstStyle/>
          <a:p>
            <a:pPr algn="l"/>
            <a:r>
              <a:rPr sz="1200" b="1">
                <a:solidFill>
                  <a:srgbClr val="000000"/>
                </a:solidFill>
                <a:latin typeface="Calibri"/>
              </a:rPr>
              <a:t>AVERAGE AVAILABILITY</a:t>
            </a:r>
          </a:p>
        </p:txBody>
      </p:sp>
      <p:sp>
        <p:nvSpPr>
          <p:cNvPr id="14" name="TextBox 13"/>
          <p:cNvSpPr txBox="1"/>
          <p:nvPr/>
        </p:nvSpPr>
        <p:spPr>
          <a:xfrm>
            <a:off x="8348471" y="1874520"/>
            <a:ext cx="3200400" cy="640080"/>
          </a:xfrm>
          <a:prstGeom prst="rect">
            <a:avLst/>
          </a:prstGeom>
          <a:noFill/>
        </p:spPr>
        <p:txBody>
          <a:bodyPr wrap="square">
            <a:spAutoFit/>
          </a:bodyPr>
          <a:lstStyle/>
          <a:p>
            <a:pPr algn="l"/>
            <a:r>
              <a:rPr sz="2600" b="1">
                <a:solidFill>
                  <a:srgbClr val="000000"/>
                </a:solidFill>
                <a:latin typeface="Calibri"/>
              </a:rPr>
              <a:t>21.76 → 21.75</a:t>
            </a:r>
          </a:p>
        </p:txBody>
      </p:sp>
      <p:sp>
        <p:nvSpPr>
          <p:cNvPr id="15" name="Rounded Rectangle 14"/>
          <p:cNvSpPr/>
          <p:nvPr/>
        </p:nvSpPr>
        <p:spPr>
          <a:xfrm>
            <a:off x="502920" y="3200400"/>
            <a:ext cx="11155680" cy="29260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383280"/>
            <a:ext cx="10607040" cy="365760"/>
          </a:xfrm>
          <a:prstGeom prst="rect">
            <a:avLst/>
          </a:prstGeom>
          <a:noFill/>
        </p:spPr>
        <p:txBody>
          <a:bodyPr wrap="square">
            <a:spAutoFit/>
          </a:bodyPr>
          <a:lstStyle/>
          <a:p>
            <a:pPr algn="l"/>
            <a:r>
              <a:rPr sz="1600" b="1">
                <a:solidFill>
                  <a:srgbClr val="000000"/>
                </a:solidFill>
                <a:latin typeface="Calibri"/>
              </a:rPr>
              <a:t>Measured runtime on the heavy dataset (24 aircraft, 278 events)</a:t>
            </a:r>
          </a:p>
        </p:txBody>
      </p:sp>
      <p:sp>
        <p:nvSpPr>
          <p:cNvPr id="17" name="TextBox 16"/>
          <p:cNvSpPr txBox="1"/>
          <p:nvPr/>
        </p:nvSpPr>
        <p:spPr>
          <a:xfrm>
            <a:off x="777240" y="3886200"/>
            <a:ext cx="2743200" cy="365760"/>
          </a:xfrm>
          <a:prstGeom prst="rect">
            <a:avLst/>
          </a:prstGeom>
          <a:noFill/>
        </p:spPr>
        <p:txBody>
          <a:bodyPr wrap="square">
            <a:spAutoFit/>
          </a:bodyPr>
          <a:lstStyle/>
          <a:p>
            <a:pPr algn="l"/>
            <a:r>
              <a:rPr sz="1400" b="0">
                <a:solidFill>
                  <a:srgbClr val="1A1A1A"/>
                </a:solidFill>
                <a:latin typeface="Calibri"/>
              </a:rPr>
              <a:t>Full neighbourhood</a:t>
            </a:r>
          </a:p>
        </p:txBody>
      </p:sp>
      <p:sp>
        <p:nvSpPr>
          <p:cNvPr id="18" name="Rounded Rectangle 17"/>
          <p:cNvSpPr/>
          <p:nvPr/>
        </p:nvSpPr>
        <p:spPr>
          <a:xfrm>
            <a:off x="3657600" y="3931920"/>
            <a:ext cx="5943600" cy="32004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92640" y="3886200"/>
            <a:ext cx="1828800" cy="365760"/>
          </a:xfrm>
          <a:prstGeom prst="rect">
            <a:avLst/>
          </a:prstGeom>
          <a:noFill/>
        </p:spPr>
        <p:txBody>
          <a:bodyPr wrap="square">
            <a:spAutoFit/>
          </a:bodyPr>
          <a:lstStyle/>
          <a:p>
            <a:pPr algn="l"/>
            <a:r>
              <a:rPr sz="1200" b="1">
                <a:solidFill>
                  <a:srgbClr val="1A1A1A"/>
                </a:solidFill>
                <a:latin typeface="Calibri"/>
              </a:rPr>
              <a:t>920 s  (~15.3 min)</a:t>
            </a:r>
          </a:p>
        </p:txBody>
      </p:sp>
      <p:sp>
        <p:nvSpPr>
          <p:cNvPr id="20" name="TextBox 19"/>
          <p:cNvSpPr txBox="1"/>
          <p:nvPr/>
        </p:nvSpPr>
        <p:spPr>
          <a:xfrm>
            <a:off x="777240" y="4526280"/>
            <a:ext cx="2743200" cy="365760"/>
          </a:xfrm>
          <a:prstGeom prst="rect">
            <a:avLst/>
          </a:prstGeom>
          <a:noFill/>
        </p:spPr>
        <p:txBody>
          <a:bodyPr wrap="square">
            <a:spAutoFit/>
          </a:bodyPr>
          <a:lstStyle/>
          <a:p>
            <a:pPr algn="l"/>
            <a:r>
              <a:rPr sz="1400" b="0">
                <a:solidFill>
                  <a:srgbClr val="1A1A1A"/>
                </a:solidFill>
                <a:latin typeface="Calibri"/>
              </a:rPr>
              <a:t>200 random samples</a:t>
            </a:r>
          </a:p>
        </p:txBody>
      </p:sp>
      <p:sp>
        <p:nvSpPr>
          <p:cNvPr id="21" name="Rounded Rectangle 20"/>
          <p:cNvSpPr/>
          <p:nvPr/>
        </p:nvSpPr>
        <p:spPr>
          <a:xfrm>
            <a:off x="3657600" y="4572000"/>
            <a:ext cx="2914935" cy="320040"/>
          </a:xfrm>
          <a:prstGeom prst="round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92640" y="4526280"/>
            <a:ext cx="1828800" cy="365760"/>
          </a:xfrm>
          <a:prstGeom prst="rect">
            <a:avLst/>
          </a:prstGeom>
          <a:noFill/>
        </p:spPr>
        <p:txBody>
          <a:bodyPr wrap="square">
            <a:spAutoFit/>
          </a:bodyPr>
          <a:lstStyle/>
          <a:p>
            <a:pPr algn="l"/>
            <a:r>
              <a:rPr sz="1200" b="1">
                <a:solidFill>
                  <a:srgbClr val="1A1A1A"/>
                </a:solidFill>
                <a:latin typeface="Calibri"/>
              </a:rPr>
              <a:t>451 s  (~7.5 min)</a:t>
            </a:r>
          </a:p>
        </p:txBody>
      </p:sp>
      <p:sp>
        <p:nvSpPr>
          <p:cNvPr id="23" name="TextBox 22"/>
          <p:cNvSpPr txBox="1"/>
          <p:nvPr/>
        </p:nvSpPr>
        <p:spPr>
          <a:xfrm>
            <a:off x="777240" y="5166360"/>
            <a:ext cx="2743200" cy="365760"/>
          </a:xfrm>
          <a:prstGeom prst="rect">
            <a:avLst/>
          </a:prstGeom>
          <a:noFill/>
        </p:spPr>
        <p:txBody>
          <a:bodyPr wrap="square">
            <a:spAutoFit/>
          </a:bodyPr>
          <a:lstStyle/>
          <a:p>
            <a:pPr algn="l"/>
            <a:r>
              <a:rPr sz="1400" b="0">
                <a:solidFill>
                  <a:srgbClr val="1A1A1A"/>
                </a:solidFill>
                <a:latin typeface="Calibri"/>
              </a:rPr>
              <a:t>Priority selection</a:t>
            </a:r>
          </a:p>
        </p:txBody>
      </p:sp>
      <p:sp>
        <p:nvSpPr>
          <p:cNvPr id="24" name="Rounded Rectangle 23"/>
          <p:cNvSpPr/>
          <p:nvPr/>
        </p:nvSpPr>
        <p:spPr>
          <a:xfrm>
            <a:off x="3657600" y="5212080"/>
            <a:ext cx="237744" cy="320040"/>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92640" y="5166360"/>
            <a:ext cx="1828800" cy="276999"/>
          </a:xfrm>
          <a:prstGeom prst="rect">
            <a:avLst/>
          </a:prstGeom>
          <a:noFill/>
        </p:spPr>
        <p:txBody>
          <a:bodyPr wrap="square">
            <a:spAutoFit/>
          </a:bodyPr>
          <a:lstStyle/>
          <a:p>
            <a:pPr algn="l"/>
            <a:r>
              <a:rPr sz="1200" b="1" dirty="0">
                <a:solidFill>
                  <a:srgbClr val="1A1A1A"/>
                </a:solidFill>
                <a:latin typeface="Calibri"/>
              </a:rPr>
              <a:t>15.4 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09E4-D676-312A-2925-0C2CD7BD82FD}"/>
              </a:ext>
            </a:extLst>
          </p:cNvPr>
          <p:cNvSpPr>
            <a:spLocks noGrp="1"/>
          </p:cNvSpPr>
          <p:nvPr>
            <p:ph type="title"/>
          </p:nvPr>
        </p:nvSpPr>
        <p:spPr>
          <a:xfrm>
            <a:off x="365760" y="197499"/>
            <a:ext cx="3783453" cy="1168874"/>
          </a:xfrm>
        </p:spPr>
        <p:txBody>
          <a:bodyPr anchor="b">
            <a:normAutofit/>
          </a:bodyPr>
          <a:lstStyle/>
          <a:p>
            <a:pPr algn="l"/>
            <a:r>
              <a:rPr lang="en-AU" sz="3200" noProof="0" dirty="0"/>
              <a:t>Future Work and Research Direction</a:t>
            </a:r>
          </a:p>
        </p:txBody>
      </p:sp>
      <p:sp>
        <p:nvSpPr>
          <p:cNvPr id="4" name="Rectangle 1">
            <a:extLst>
              <a:ext uri="{FF2B5EF4-FFF2-40B4-BE49-F238E27FC236}">
                <a16:creationId xmlns:a16="http://schemas.microsoft.com/office/drawing/2014/main" id="{954CBAB1-6598-9422-700E-18DF863746B5}"/>
              </a:ext>
            </a:extLst>
          </p:cNvPr>
          <p:cNvSpPr>
            <a:spLocks noGrp="1" noChangeArrowheads="1"/>
          </p:cNvSpPr>
          <p:nvPr>
            <p:ph idx="1"/>
          </p:nvPr>
        </p:nvSpPr>
        <p:spPr bwMode="auto">
          <a:xfrm>
            <a:off x="365760" y="1377214"/>
            <a:ext cx="6019716" cy="528328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AU" sz="2400" b="0" i="0" u="none" strike="noStrike" cap="none" normalizeH="0" baseline="0" noProof="0" dirty="0">
                <a:ln>
                  <a:noFill/>
                </a:ln>
                <a:effectLst/>
                <a:latin typeface="Arial" panose="020B0604020202020204" pitchFamily="34" charset="0"/>
              </a:rPr>
              <a:t>Semester 2 (Iteration 2)</a:t>
            </a:r>
          </a:p>
          <a:p>
            <a:pPr marL="0" marR="0" lvl="0" indent="0" defTabSz="914400" rtl="0" eaLnBrk="0" fontAlgn="base" latinLnBrk="0" hangingPunct="0">
              <a:spcBef>
                <a:spcPct val="0"/>
              </a:spcBef>
              <a:spcAft>
                <a:spcPts val="600"/>
              </a:spcAft>
              <a:buClrTx/>
              <a:buSzTx/>
              <a:buFontTx/>
              <a:buChar char="•"/>
              <a:tabLst/>
            </a:pPr>
            <a:r>
              <a:rPr kumimoji="0" lang="en-AU" sz="2400" b="0" i="0" u="none" strike="noStrike" cap="none" normalizeH="0" baseline="0" noProof="0" dirty="0">
                <a:ln>
                  <a:noFill/>
                </a:ln>
                <a:effectLst/>
                <a:latin typeface="Arial" panose="020B0604020202020204" pitchFamily="34" charset="0"/>
              </a:rPr>
              <a:t>Investigate Simulated Annealing + VNS hybrid optimisation </a:t>
            </a:r>
          </a:p>
          <a:p>
            <a:pPr marL="0" marR="0" lvl="0" indent="0" defTabSz="914400" rtl="0" eaLnBrk="0" fontAlgn="base" latinLnBrk="0" hangingPunct="0">
              <a:spcBef>
                <a:spcPct val="0"/>
              </a:spcBef>
              <a:spcAft>
                <a:spcPts val="600"/>
              </a:spcAft>
              <a:buClrTx/>
              <a:buSzTx/>
              <a:buFontTx/>
              <a:buChar char="•"/>
              <a:tabLst/>
            </a:pPr>
            <a:r>
              <a:rPr kumimoji="0" lang="en-AU" sz="2400" b="0" i="0" u="none" strike="noStrike" cap="none" normalizeH="0" baseline="0" noProof="0" dirty="0">
                <a:ln>
                  <a:noFill/>
                </a:ln>
                <a:effectLst/>
                <a:latin typeface="Arial" panose="020B0604020202020204" pitchFamily="34" charset="0"/>
              </a:rPr>
              <a:t>Include additional operational and logistic constraints (in these 3 months, maximise availability, can change surrounding events) </a:t>
            </a:r>
          </a:p>
          <a:p>
            <a:pPr marL="0" marR="0" lvl="0" indent="0" defTabSz="914400" rtl="0" eaLnBrk="0" fontAlgn="base" latinLnBrk="0" hangingPunct="0">
              <a:spcBef>
                <a:spcPct val="0"/>
              </a:spcBef>
              <a:spcAft>
                <a:spcPts val="600"/>
              </a:spcAft>
              <a:buClrTx/>
              <a:buSzTx/>
              <a:buFontTx/>
              <a:buChar char="•"/>
              <a:tabLst/>
            </a:pPr>
            <a:r>
              <a:rPr lang="en-AU" sz="2400" dirty="0">
                <a:latin typeface="Arial" panose="020B0604020202020204" pitchFamily="34" charset="0"/>
              </a:rPr>
              <a:t>Analysis of Hyperparameters</a:t>
            </a:r>
          </a:p>
          <a:p>
            <a:pPr marL="0" marR="0" lvl="0" indent="0" defTabSz="914400" rtl="0" eaLnBrk="0" fontAlgn="base" latinLnBrk="0" hangingPunct="0">
              <a:spcBef>
                <a:spcPct val="0"/>
              </a:spcBef>
              <a:spcAft>
                <a:spcPts val="600"/>
              </a:spcAft>
              <a:buClrTx/>
              <a:buSzTx/>
              <a:buFontTx/>
              <a:buChar char="•"/>
              <a:tabLst/>
            </a:pPr>
            <a:r>
              <a:rPr kumimoji="0" lang="en-AU" sz="2400" b="0" i="0" u="none" strike="noStrike" cap="none" normalizeH="0" baseline="0" noProof="0" dirty="0">
                <a:ln>
                  <a:noFill/>
                </a:ln>
                <a:effectLst/>
                <a:latin typeface="Arial" panose="020B0604020202020204" pitchFamily="34" charset="0"/>
              </a:rPr>
              <a:t>Analyse if initial stagger changes outcome	</a:t>
            </a:r>
          </a:p>
        </p:txBody>
      </p:sp>
      <p:pic>
        <p:nvPicPr>
          <p:cNvPr id="5" name="Picture 4">
            <a:extLst>
              <a:ext uri="{FF2B5EF4-FFF2-40B4-BE49-F238E27FC236}">
                <a16:creationId xmlns:a16="http://schemas.microsoft.com/office/drawing/2014/main" id="{11FEE290-E7ED-EE14-0AA0-E526D2BEA4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85476" y="917831"/>
            <a:ext cx="5570492" cy="4122163"/>
          </a:xfrm>
          <a:prstGeom prst="rect">
            <a:avLst/>
          </a:prstGeom>
        </p:spPr>
      </p:pic>
      <p:sp>
        <p:nvSpPr>
          <p:cNvPr id="6" name="Rectangle 5">
            <a:extLst>
              <a:ext uri="{FF2B5EF4-FFF2-40B4-BE49-F238E27FC236}">
                <a16:creationId xmlns:a16="http://schemas.microsoft.com/office/drawing/2014/main" id="{1F24DC49-3623-2953-21F6-1E12696BF941}"/>
              </a:ext>
            </a:extLst>
          </p:cNvPr>
          <p:cNvSpPr/>
          <p:nvPr/>
        </p:nvSpPr>
        <p:spPr>
          <a:xfrm>
            <a:off x="8684260" y="3738880"/>
            <a:ext cx="635000" cy="1295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05916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4018</TotalTime>
  <Words>2459</Words>
  <Application>Microsoft Office PowerPoint</Application>
  <PresentationFormat>Widescreen</PresentationFormat>
  <Paragraphs>139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Extended Heavy maintenance dataset </vt:lpstr>
      <vt:lpstr>PowerPoint Presentation</vt:lpstr>
      <vt:lpstr>PowerPoint Presentation</vt:lpstr>
      <vt:lpstr>PowerPoint Presentation</vt:lpstr>
      <vt:lpstr>PowerPoint Presentation</vt:lpstr>
      <vt:lpstr>PowerPoint Presentation</vt:lpstr>
      <vt:lpstr>Future Work and Research Direction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Long</cp:lastModifiedBy>
  <cp:revision>9</cp:revision>
  <dcterms:created xsi:type="dcterms:W3CDTF">2013-01-27T09:14:16Z</dcterms:created>
  <dcterms:modified xsi:type="dcterms:W3CDTF">2026-10-13T23:36:04Z</dcterms:modified>
  <cp:category/>
</cp:coreProperties>
</file>