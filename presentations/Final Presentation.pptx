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68" r:id="rId5"/>
    <p:sldId id="276" r:id="rId6"/>
    <p:sldId id="286" r:id="rId7"/>
    <p:sldId id="275" r:id="rId8"/>
    <p:sldId id="284" r:id="rId9"/>
    <p:sldId id="287" r:id="rId10"/>
    <p:sldId id="279" r:id="rId11"/>
    <p:sldId id="280" r:id="rId12"/>
    <p:sldId id="288" r:id="rId13"/>
    <p:sldId id="285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BF5219-141B-4B15-B12B-FD9888D4FAD0}" v="70" dt="2026-10-14T01:39:19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07" autoAdjust="0"/>
  </p:normalViewPr>
  <p:slideViewPr>
    <p:cSldViewPr snapToGrid="0">
      <p:cViewPr varScale="1">
        <p:scale>
          <a:sx n="67" d="100"/>
          <a:sy n="67" d="100"/>
        </p:scale>
        <p:origin x="1267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Long" userId="f0dab1f4b2f59987" providerId="LiveId" clId="{BD423006-59C5-4E11-8B6B-507DC77F169F}"/>
    <pc:docChg chg="undo redo custSel addSld delSld modSld sldOrd">
      <pc:chgData name="David Long" userId="f0dab1f4b2f59987" providerId="LiveId" clId="{BD423006-59C5-4E11-8B6B-507DC77F169F}" dt="2026-10-14T02:41:27.125" v="844" actId="20577"/>
      <pc:docMkLst>
        <pc:docMk/>
      </pc:docMkLst>
      <pc:sldChg chg="modNotesTx">
        <pc:chgData name="David Long" userId="f0dab1f4b2f59987" providerId="LiveId" clId="{BD423006-59C5-4E11-8B6B-507DC77F169F}" dt="2026-10-14T02:40:57.383" v="831" actId="20577"/>
        <pc:sldMkLst>
          <pc:docMk/>
          <pc:sldMk cId="3230234624" sldId="256"/>
        </pc:sldMkLst>
      </pc:sldChg>
      <pc:sldChg chg="modSp mod modNotesTx">
        <pc:chgData name="David Long" userId="f0dab1f4b2f59987" providerId="LiveId" clId="{BD423006-59C5-4E11-8B6B-507DC77F169F}" dt="2026-10-14T02:40:59.509" v="832" actId="20577"/>
        <pc:sldMkLst>
          <pc:docMk/>
          <pc:sldMk cId="3285733717" sldId="258"/>
        </pc:sldMkLst>
        <pc:spChg chg="mod">
          <ac:chgData name="David Long" userId="f0dab1f4b2f59987" providerId="LiveId" clId="{BD423006-59C5-4E11-8B6B-507DC77F169F}" dt="2026-10-14T02:03:20.166" v="830" actId="20577"/>
          <ac:spMkLst>
            <pc:docMk/>
            <pc:sldMk cId="3285733717" sldId="258"/>
            <ac:spMk id="3" creationId="{DE578AE2-AAF2-7D4A-3EC2-6D7583687400}"/>
          </ac:spMkLst>
        </pc:spChg>
      </pc:sldChg>
      <pc:sldChg chg="del">
        <pc:chgData name="David Long" userId="f0dab1f4b2f59987" providerId="LiveId" clId="{BD423006-59C5-4E11-8B6B-507DC77F169F}" dt="2026-10-14T01:26:06.228" v="267" actId="2696"/>
        <pc:sldMkLst>
          <pc:docMk/>
          <pc:sldMk cId="0" sldId="263"/>
        </pc:sldMkLst>
      </pc:sldChg>
      <pc:sldChg chg="modNotesTx">
        <pc:chgData name="David Long" userId="f0dab1f4b2f59987" providerId="LiveId" clId="{BD423006-59C5-4E11-8B6B-507DC77F169F}" dt="2026-10-14T02:41:03.481" v="834" actId="20577"/>
        <pc:sldMkLst>
          <pc:docMk/>
          <pc:sldMk cId="1800012807" sldId="268"/>
        </pc:sldMkLst>
      </pc:sldChg>
      <pc:sldChg chg="modNotesTx">
        <pc:chgData name="David Long" userId="f0dab1f4b2f59987" providerId="LiveId" clId="{BD423006-59C5-4E11-8B6B-507DC77F169F}" dt="2026-10-14T02:41:01.564" v="833" actId="20577"/>
        <pc:sldMkLst>
          <pc:docMk/>
          <pc:sldMk cId="606155539" sldId="269"/>
        </pc:sldMkLst>
      </pc:sldChg>
      <pc:sldChg chg="modNotesTx">
        <pc:chgData name="David Long" userId="f0dab1f4b2f59987" providerId="LiveId" clId="{BD423006-59C5-4E11-8B6B-507DC77F169F}" dt="2026-10-14T02:41:10.415" v="837" actId="20577"/>
        <pc:sldMkLst>
          <pc:docMk/>
          <pc:sldMk cId="0" sldId="275"/>
        </pc:sldMkLst>
      </pc:sldChg>
      <pc:sldChg chg="modNotesTx">
        <pc:chgData name="David Long" userId="f0dab1f4b2f59987" providerId="LiveId" clId="{BD423006-59C5-4E11-8B6B-507DC77F169F}" dt="2026-10-14T02:41:05.474" v="835" actId="20577"/>
        <pc:sldMkLst>
          <pc:docMk/>
          <pc:sldMk cId="1221033634" sldId="276"/>
        </pc:sldMkLst>
      </pc:sldChg>
      <pc:sldChg chg="delSp modSp mod modNotesTx">
        <pc:chgData name="David Long" userId="f0dab1f4b2f59987" providerId="LiveId" clId="{BD423006-59C5-4E11-8B6B-507DC77F169F}" dt="2026-10-14T02:41:17.791" v="840" actId="20577"/>
        <pc:sldMkLst>
          <pc:docMk/>
          <pc:sldMk cId="2829286252" sldId="279"/>
        </pc:sldMkLst>
        <pc:spChg chg="mod">
          <ac:chgData name="David Long" userId="f0dab1f4b2f59987" providerId="LiveId" clId="{BD423006-59C5-4E11-8B6B-507DC77F169F}" dt="2026-10-14T01:37:49.505" v="509" actId="20577"/>
          <ac:spMkLst>
            <pc:docMk/>
            <pc:sldMk cId="2829286252" sldId="279"/>
            <ac:spMk id="5" creationId="{00000000-0000-0000-0000-000000000000}"/>
          </ac:spMkLst>
        </pc:spChg>
        <pc:spChg chg="mod">
          <ac:chgData name="David Long" userId="f0dab1f4b2f59987" providerId="LiveId" clId="{BD423006-59C5-4E11-8B6B-507DC77F169F}" dt="2026-10-14T01:40:48.573" v="731" actId="313"/>
          <ac:spMkLst>
            <pc:docMk/>
            <pc:sldMk cId="2829286252" sldId="279"/>
            <ac:spMk id="16" creationId="{03764756-E802-0138-69BF-2D283926E903}"/>
          </ac:spMkLst>
        </pc:spChg>
        <pc:spChg chg="del">
          <ac:chgData name="David Long" userId="f0dab1f4b2f59987" providerId="LiveId" clId="{BD423006-59C5-4E11-8B6B-507DC77F169F}" dt="2026-10-14T01:40:14.641" v="636" actId="478"/>
          <ac:spMkLst>
            <pc:docMk/>
            <pc:sldMk cId="2829286252" sldId="279"/>
            <ac:spMk id="17" creationId="{2D701409-90CA-A5CD-FDBC-FDDC0A2A9CB0}"/>
          </ac:spMkLst>
        </pc:spChg>
        <pc:graphicFrameChg chg="mod modGraphic">
          <ac:chgData name="David Long" userId="f0dab1f4b2f59987" providerId="LiveId" clId="{BD423006-59C5-4E11-8B6B-507DC77F169F}" dt="2026-10-14T01:39:31.747" v="554" actId="20577"/>
          <ac:graphicFrameMkLst>
            <pc:docMk/>
            <pc:sldMk cId="2829286252" sldId="279"/>
            <ac:graphicFrameMk id="15" creationId="{CD681E3F-FD85-D410-57D3-F3F256E76129}"/>
          </ac:graphicFrameMkLst>
        </pc:graphicFrameChg>
      </pc:sldChg>
      <pc:sldChg chg="modSp mod modNotesTx">
        <pc:chgData name="David Long" userId="f0dab1f4b2f59987" providerId="LiveId" clId="{BD423006-59C5-4E11-8B6B-507DC77F169F}" dt="2026-10-14T02:41:20.378" v="841" actId="20577"/>
        <pc:sldMkLst>
          <pc:docMk/>
          <pc:sldMk cId="2975520988" sldId="280"/>
        </pc:sldMkLst>
        <pc:spChg chg="mod">
          <ac:chgData name="David Long" userId="f0dab1f4b2f59987" providerId="LiveId" clId="{BD423006-59C5-4E11-8B6B-507DC77F169F}" dt="2026-10-14T01:42:25.558" v="733" actId="20577"/>
          <ac:spMkLst>
            <pc:docMk/>
            <pc:sldMk cId="2975520988" sldId="280"/>
            <ac:spMk id="17" creationId="{79EF1278-47B2-350E-7824-41D5EF7DA597}"/>
          </ac:spMkLst>
        </pc:spChg>
      </pc:sldChg>
      <pc:sldChg chg="modSp mod modNotesTx">
        <pc:chgData name="David Long" userId="f0dab1f4b2f59987" providerId="LiveId" clId="{BD423006-59C5-4E11-8B6B-507DC77F169F}" dt="2026-10-14T02:41:27.125" v="844" actId="20577"/>
        <pc:sldMkLst>
          <pc:docMk/>
          <pc:sldMk cId="119599713" sldId="281"/>
        </pc:sldMkLst>
        <pc:spChg chg="mod">
          <ac:chgData name="David Long" userId="f0dab1f4b2f59987" providerId="LiveId" clId="{BD423006-59C5-4E11-8B6B-507DC77F169F}" dt="2026-10-14T01:44:11.584" v="759" actId="20577"/>
          <ac:spMkLst>
            <pc:docMk/>
            <pc:sldMk cId="119599713" sldId="281"/>
            <ac:spMk id="14" creationId="{00000000-0000-0000-0000-000000000000}"/>
          </ac:spMkLst>
        </pc:spChg>
      </pc:sldChg>
      <pc:sldChg chg="modNotesTx">
        <pc:chgData name="David Long" userId="f0dab1f4b2f59987" providerId="LiveId" clId="{BD423006-59C5-4E11-8B6B-507DC77F169F}" dt="2026-10-14T02:41:12.155" v="838" actId="20577"/>
        <pc:sldMkLst>
          <pc:docMk/>
          <pc:sldMk cId="2032942179" sldId="284"/>
        </pc:sldMkLst>
      </pc:sldChg>
      <pc:sldChg chg="addSp delSp modSp mod modNotesTx">
        <pc:chgData name="David Long" userId="f0dab1f4b2f59987" providerId="LiveId" clId="{BD423006-59C5-4E11-8B6B-507DC77F169F}" dt="2026-10-14T02:41:24.132" v="843" actId="20577"/>
        <pc:sldMkLst>
          <pc:docMk/>
          <pc:sldMk cId="4004988534" sldId="285"/>
        </pc:sldMkLst>
        <pc:spChg chg="add del mod">
          <ac:chgData name="David Long" userId="f0dab1f4b2f59987" providerId="LiveId" clId="{BD423006-59C5-4E11-8B6B-507DC77F169F}" dt="2026-10-14T01:26:16.295" v="269" actId="1076"/>
          <ac:spMkLst>
            <pc:docMk/>
            <pc:sldMk cId="4004988534" sldId="285"/>
            <ac:spMk id="8" creationId="{60730574-5999-A20D-047A-9D43CD9C6B0E}"/>
          </ac:spMkLst>
        </pc:spChg>
        <pc:graphicFrameChg chg="mod modGraphic">
          <ac:chgData name="David Long" userId="f0dab1f4b2f59987" providerId="LiveId" clId="{BD423006-59C5-4E11-8B6B-507DC77F169F}" dt="2026-10-14T01:24:54.976" v="139" actId="20577"/>
          <ac:graphicFrameMkLst>
            <pc:docMk/>
            <pc:sldMk cId="4004988534" sldId="285"/>
            <ac:graphicFrameMk id="6" creationId="{C47F4C4B-330A-CD4D-FA5F-6E5E686EC89C}"/>
          </ac:graphicFrameMkLst>
        </pc:graphicFrameChg>
      </pc:sldChg>
      <pc:sldChg chg="modNotesTx">
        <pc:chgData name="David Long" userId="f0dab1f4b2f59987" providerId="LiveId" clId="{BD423006-59C5-4E11-8B6B-507DC77F169F}" dt="2026-10-14T02:41:08.481" v="836" actId="20577"/>
        <pc:sldMkLst>
          <pc:docMk/>
          <pc:sldMk cId="0" sldId="286"/>
        </pc:sldMkLst>
      </pc:sldChg>
      <pc:sldChg chg="modNotesTx">
        <pc:chgData name="David Long" userId="f0dab1f4b2f59987" providerId="LiveId" clId="{BD423006-59C5-4E11-8B6B-507DC77F169F}" dt="2026-10-14T02:41:15.657" v="839" actId="20577"/>
        <pc:sldMkLst>
          <pc:docMk/>
          <pc:sldMk cId="916217653" sldId="287"/>
        </pc:sldMkLst>
      </pc:sldChg>
      <pc:sldChg chg="modNotesTx">
        <pc:chgData name="David Long" userId="f0dab1f4b2f59987" providerId="LiveId" clId="{BD423006-59C5-4E11-8B6B-507DC77F169F}" dt="2026-10-14T02:41:22.323" v="842" actId="20577"/>
        <pc:sldMkLst>
          <pc:docMk/>
          <pc:sldMk cId="4143879525" sldId="288"/>
        </pc:sldMkLst>
      </pc:sldChg>
      <pc:sldChg chg="modSp add del mod modNotes">
        <pc:chgData name="David Long" userId="f0dab1f4b2f59987" providerId="LiveId" clId="{BD423006-59C5-4E11-8B6B-507DC77F169F}" dt="2026-10-14T01:25:25.439" v="210" actId="2696"/>
        <pc:sldMkLst>
          <pc:docMk/>
          <pc:sldMk cId="4042621730" sldId="289"/>
        </pc:sldMkLst>
        <pc:spChg chg="mod">
          <ac:chgData name="David Long" userId="f0dab1f4b2f59987" providerId="LiveId" clId="{BD423006-59C5-4E11-8B6B-507DC77F169F}" dt="2026-10-14T01:18:57.895" v="40" actId="139"/>
          <ac:spMkLst>
            <pc:docMk/>
            <pc:sldMk cId="4042621730" sldId="289"/>
            <ac:spMk id="5" creationId="{00000000-0000-0000-0000-000000000000}"/>
          </ac:spMkLst>
        </pc:spChg>
        <pc:spChg chg="mod">
          <ac:chgData name="David Long" userId="f0dab1f4b2f59987" providerId="LiveId" clId="{BD423006-59C5-4E11-8B6B-507DC77F169F}" dt="2026-10-14T01:18:58.195" v="60" actId="139"/>
          <ac:spMkLst>
            <pc:docMk/>
            <pc:sldMk cId="4042621730" sldId="289"/>
            <ac:spMk id="7" creationId="{023F1CF4-A312-8E8E-481A-FD6D6BB15480}"/>
          </ac:spMkLst>
        </pc:spChg>
        <pc:spChg chg="mod">
          <ac:chgData name="David Long" userId="f0dab1f4b2f59987" providerId="LiveId" clId="{BD423006-59C5-4E11-8B6B-507DC77F169F}" dt="2026-10-14T01:18:58.451" v="80"/>
          <ac:spMkLst>
            <pc:docMk/>
            <pc:sldMk cId="4042621730" sldId="289"/>
            <ac:spMk id="8" creationId="{F0AE5DB2-73E5-8FE9-FE51-45675AE50032}"/>
          </ac:spMkLst>
        </pc:spChg>
        <pc:spChg chg="mod">
          <ac:chgData name="David Long" userId="f0dab1f4b2f59987" providerId="LiveId" clId="{BD423006-59C5-4E11-8B6B-507DC77F169F}" dt="2026-10-14T01:18:57.951" v="44" actId="139"/>
          <ac:spMkLst>
            <pc:docMk/>
            <pc:sldMk cId="4042621730" sldId="289"/>
            <ac:spMk id="13" creationId="{578B1173-56A7-CCBE-B621-B5F6C57B3633}"/>
          </ac:spMkLst>
        </pc:spChg>
        <pc:spChg chg="mod">
          <ac:chgData name="David Long" userId="f0dab1f4b2f59987" providerId="LiveId" clId="{BD423006-59C5-4E11-8B6B-507DC77F169F}" dt="2026-10-14T01:18:58.326" v="70" actId="948"/>
          <ac:spMkLst>
            <pc:docMk/>
            <pc:sldMk cId="4042621730" sldId="289"/>
            <ac:spMk id="15" creationId="{917E8644-1360-B249-7DC8-687D66DE8ACE}"/>
          </ac:spMkLst>
        </pc:spChg>
        <pc:spChg chg="mod">
          <ac:chgData name="David Long" userId="f0dab1f4b2f59987" providerId="LiveId" clId="{BD423006-59C5-4E11-8B6B-507DC77F169F}" dt="2026-10-14T01:18:58.083" v="52" actId="139"/>
          <ac:spMkLst>
            <pc:docMk/>
            <pc:sldMk cId="4042621730" sldId="289"/>
            <ac:spMk id="17" creationId="{BBE33486-1A26-9B55-897F-E21A9D782C94}"/>
          </ac:spMkLst>
        </pc:spChg>
        <pc:spChg chg="mod">
          <ac:chgData name="David Long" userId="f0dab1f4b2f59987" providerId="LiveId" clId="{BD423006-59C5-4E11-8B6B-507DC77F169F}" dt="2026-10-14T01:18:58.402" v="76" actId="948"/>
          <ac:spMkLst>
            <pc:docMk/>
            <pc:sldMk cId="4042621730" sldId="289"/>
            <ac:spMk id="19" creationId="{8ACC2210-B02E-C807-76AC-1C2EFAEF7739}"/>
          </ac:spMkLst>
        </pc:spChg>
      </pc:sldChg>
      <pc:sldChg chg="modSp add del mod ord modTransition modNotes">
        <pc:chgData name="David Long" userId="f0dab1f4b2f59987" providerId="LiveId" clId="{BD423006-59C5-4E11-8B6B-507DC77F169F}" dt="2026-10-14T01:25:21.499" v="203" actId="2696"/>
        <pc:sldMkLst>
          <pc:docMk/>
          <pc:sldMk cId="3752395769" sldId="290"/>
        </pc:sldMkLst>
        <pc:spChg chg="mod">
          <ac:chgData name="David Long" userId="f0dab1f4b2f59987" providerId="LiveId" clId="{BD423006-59C5-4E11-8B6B-507DC77F169F}" dt="2026-10-14T01:18:57.238" v="7" actId="139"/>
          <ac:spMkLst>
            <pc:docMk/>
            <pc:sldMk cId="3752395769" sldId="290"/>
            <ac:spMk id="4" creationId="{00000000-0000-0000-0000-000000000000}"/>
          </ac:spMkLst>
        </pc:spChg>
        <pc:spChg chg="mod">
          <ac:chgData name="David Long" userId="f0dab1f4b2f59987" providerId="LiveId" clId="{BD423006-59C5-4E11-8B6B-507DC77F169F}" dt="2026-10-14T01:18:57.299" v="11" actId="139"/>
          <ac:spMkLst>
            <pc:docMk/>
            <pc:sldMk cId="3752395769" sldId="290"/>
            <ac:spMk id="5" creationId="{00000000-0000-0000-0000-000000000000}"/>
          </ac:spMkLst>
        </pc:spChg>
        <pc:spChg chg="mod">
          <ac:chgData name="David Long" userId="f0dab1f4b2f59987" providerId="LiveId" clId="{BD423006-59C5-4E11-8B6B-507DC77F169F}" dt="2026-10-14T01:18:57.653" v="31" actId="139"/>
          <ac:spMkLst>
            <pc:docMk/>
            <pc:sldMk cId="3752395769" sldId="290"/>
            <ac:spMk id="7" creationId="{023F1CF4-A312-8E8E-481A-FD6D6BB15480}"/>
          </ac:spMkLst>
        </pc:spChg>
        <pc:spChg chg="mod">
          <ac:chgData name="David Long" userId="f0dab1f4b2f59987" providerId="LiveId" clId="{BD423006-59C5-4E11-8B6B-507DC77F169F}" dt="2026-10-14T01:18:58.627" v="96"/>
          <ac:spMkLst>
            <pc:docMk/>
            <pc:sldMk cId="3752395769" sldId="290"/>
            <ac:spMk id="8" creationId="{F0AE5DB2-73E5-8FE9-FE51-45675AE50032}"/>
          </ac:spMkLst>
        </pc:spChg>
        <pc:spChg chg="mod">
          <ac:chgData name="David Long" userId="f0dab1f4b2f59987" providerId="LiveId" clId="{BD423006-59C5-4E11-8B6B-507DC77F169F}" dt="2026-10-14T01:18:57.363" v="15" actId="139"/>
          <ac:spMkLst>
            <pc:docMk/>
            <pc:sldMk cId="3752395769" sldId="290"/>
            <ac:spMk id="13" creationId="{578B1173-56A7-CCBE-B621-B5F6C57B3633}"/>
          </ac:spMkLst>
        </pc:spChg>
        <pc:spChg chg="mod">
          <ac:chgData name="David Long" userId="f0dab1f4b2f59987" providerId="LiveId" clId="{BD423006-59C5-4E11-8B6B-507DC77F169F}" dt="2026-10-14T01:18:58.514" v="86" actId="948"/>
          <ac:spMkLst>
            <pc:docMk/>
            <pc:sldMk cId="3752395769" sldId="290"/>
            <ac:spMk id="15" creationId="{917E8644-1360-B249-7DC8-687D66DE8ACE}"/>
          </ac:spMkLst>
        </pc:spChg>
        <pc:spChg chg="mod">
          <ac:chgData name="David Long" userId="f0dab1f4b2f59987" providerId="LiveId" clId="{BD423006-59C5-4E11-8B6B-507DC77F169F}" dt="2026-10-14T01:18:57.521" v="23" actId="139"/>
          <ac:spMkLst>
            <pc:docMk/>
            <pc:sldMk cId="3752395769" sldId="290"/>
            <ac:spMk id="17" creationId="{BBE33486-1A26-9B55-897F-E21A9D782C94}"/>
          </ac:spMkLst>
        </pc:spChg>
        <pc:spChg chg="mod">
          <ac:chgData name="David Long" userId="f0dab1f4b2f59987" providerId="LiveId" clId="{BD423006-59C5-4E11-8B6B-507DC77F169F}" dt="2026-10-14T01:18:58.564" v="92" actId="948"/>
          <ac:spMkLst>
            <pc:docMk/>
            <pc:sldMk cId="3752395769" sldId="290"/>
            <ac:spMk id="19" creationId="{8ACC2210-B02E-C807-76AC-1C2EFAEF77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0086F-6501-442A-B5F5-9D09605BDEE0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084F6-DEB1-46CA-8A6A-74785726EC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46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74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253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473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1960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59F1-A0E3-C8D8-2304-B07ADAE0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9E565-BC4E-5CC4-A1D2-4628A881D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FAB18-7B0E-E825-351F-1141FACEC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28F73-DBEA-CA63-193B-43E3DC8CF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259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0486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6747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A805-A8D4-A0B5-BD61-445EFB81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27E42-CB92-3204-96E6-6FF5A5885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B0EF6-829D-6A59-601F-5A50FF260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DED6C-E7CF-5D54-986C-46D285DB4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416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AC29-5489-7E59-EAC9-D647FB484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01C13-E0B2-D076-7CD7-A6AC33D13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ABFF5-6218-2733-F7D7-DD43FF3E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09D1-4BB8-DFBC-BBAA-CF2404718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124C5-CBB2-6745-3685-4BA6A7ED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66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5595-0FC8-A071-C6A1-FD736E65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650A-169D-8AE2-1DCA-D4E4EDE6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2D135-BC8E-4B1F-B311-615BDA2B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E205C-2CDA-B38C-FCDF-0583627C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7FF6-BD67-1FA2-6C13-761141E5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226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7FDA-BC2B-2887-C4A9-7B9ED044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02086-03F0-09BB-A77A-4FB4C29E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66CE-BB85-0270-43B0-3C359B12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BB362-5A23-5B68-BE51-F0911E4A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C5297-93D0-8140-2ACD-F50F9574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54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9449-3E44-6EA6-776C-F7F459ED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B937-9F21-3E4E-4E61-D5AE3E5B6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022D0-26BA-67B5-621D-EBA2C13C8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D2C76-6DCC-1274-1CD9-163BE5B5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5CCA0-9807-AF6E-1257-31140E40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ADBAA-34A0-299F-9CC8-4E887DC8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87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3C85-D656-7770-7F02-ABA0B758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86C69-4818-8D27-53B3-61459A979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F99EB-0DDC-F689-0CAD-3B8A4EF14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55FA0-F4BF-294D-6C91-839EC185E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2D8F-9E7C-BFCC-7506-42FAD0452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9DA42-17EC-0526-9EAE-55968BE9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22C3E-FF08-4F95-71B6-A3DFCB2B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EF523-A7A4-5C96-A87E-62A9FFE8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638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2C16-082C-1C2D-2E7F-5A6EAA6D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E42EB-571E-35CA-2A3B-7512CBAD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FFC9C-6799-4836-1125-10115B30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A684E-FF97-AD89-A309-B4EF8132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08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33FB7-EB70-9CAB-3760-550ED1D9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3D347-9DE0-5C07-52C1-88314FBC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43FF2-4A69-6A74-5C0D-F878E8C9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50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98DE-29C8-674F-C03A-25643424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68ED-8F37-98B1-EF30-760C493A4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23C02-58C9-E86C-64B0-548C80A60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717D8-E341-BB22-238E-E9AFE292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953E8-4735-72DA-6B79-6867005B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09CD1-1C39-4510-CDA4-ED3EA977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57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23AD-791B-B7F3-A376-E608A61C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FF0F7-6039-9D71-D0F2-F020EB1BD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11312-EB3B-5541-AF2E-8A5A7DB73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2DDDA-6916-3433-381F-F9E3D806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1D945-48A8-8981-9F9B-8D606E9E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CBBC1-F6AE-DF73-5D10-1AFE1FE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68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948F-B5F0-6E1C-9D2F-FE655DBF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B8EDC-C405-DDDD-C07D-E4B134181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4D829-7E7C-76B9-31E3-3CF6DB4E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9E042-4052-64D4-92D5-404003C8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6AAB2-7265-573F-5D26-153411B5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246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FF2DB-AAD9-5CB0-E51B-B937F5D7F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E478B-10DD-1473-2606-A5B383462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3A97E-9A01-7B17-FE27-E352FCAA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22961-B1D5-80C6-4DDD-DF3201D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B7E82-8EF1-B9DA-9BFB-DF20717A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953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53780-02F0-855E-B11C-90780D54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40E0-0AF6-2A1F-24E0-8970A6C9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5E01E-A400-C215-C4C4-272CCB5FE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A5D4D-6049-4B4A-AC9A-1E104DF16849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BA32E-F332-6240-29D9-F2CB902BA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CC8AC-8647-5973-91D8-83A301967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85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B536-CD70-9DE5-CFC2-48C767173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35A8-37BF-57C3-A747-1FF6693A07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B6FCE-F346-304F-AA40-EB8F60801D40}"/>
              </a:ext>
            </a:extLst>
          </p:cNvPr>
          <p:cNvSpPr/>
          <p:nvPr/>
        </p:nvSpPr>
        <p:spPr>
          <a:xfrm>
            <a:off x="319872" y="291353"/>
            <a:ext cx="11552256" cy="62752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208DD-28BB-3FF1-9FBB-E8C3FAEBA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64" y="5838783"/>
            <a:ext cx="2003282" cy="443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8BAAE8-9568-E670-3D2B-09E0493A6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370" y="426737"/>
            <a:ext cx="717140" cy="7171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F76717-FBF4-D43F-202F-9235C7C3C349}"/>
              </a:ext>
            </a:extLst>
          </p:cNvPr>
          <p:cNvSpPr txBox="1"/>
          <p:nvPr/>
        </p:nvSpPr>
        <p:spPr>
          <a:xfrm>
            <a:off x="457490" y="761999"/>
            <a:ext cx="9760880" cy="4889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Scheduling Algorithm Research: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Fleet maintenance optimisation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Data7902 Capstone Project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Presenter: David Long</a:t>
            </a:r>
            <a:endParaRPr lang="en-AU" sz="2400" b="1" noProof="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A11E68-1434-FB0F-7BF1-51BB9BD25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837" y="2760759"/>
            <a:ext cx="3395766" cy="11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3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AD5A-A999-31AC-C7EE-FD3C41CC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59" y="330739"/>
            <a:ext cx="4646904" cy="1624520"/>
          </a:xfrm>
        </p:spPr>
        <p:txBody>
          <a:bodyPr anchor="ctr">
            <a:noAutofit/>
          </a:bodyPr>
          <a:lstStyle/>
          <a:p>
            <a:r>
              <a:rPr lang="en-US" sz="4000" b="1" dirty="0"/>
              <a:t>The aircraft maintenance scheduling problem</a:t>
            </a:r>
            <a:endParaRPr lang="en-A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78AE2-AAF2-7D4A-3EC2-6D7583687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10" y="2311400"/>
            <a:ext cx="5460170" cy="3937000"/>
          </a:xfrm>
        </p:spPr>
        <p:txBody>
          <a:bodyPr anchor="ctr">
            <a:noAutofit/>
          </a:bodyPr>
          <a:lstStyle/>
          <a:p>
            <a:pPr>
              <a:spcAft>
                <a:spcPts val="15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aviation, aircraft needs to go through routine checks. Multiple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aircraft can go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through routine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checks concurrently.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5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Concurrent maintenance creates dips in fleet availability. Staggered checks must preserve start windows and maintenance rules.</a:t>
            </a:r>
          </a:p>
          <a:p>
            <a:pPr>
              <a:spcAft>
                <a:spcPts val="15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Finite resources such as dock space, mechanics, and components.</a:t>
            </a:r>
          </a:p>
          <a:p>
            <a:pPr>
              <a:spcAft>
                <a:spcPts val="15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maximise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worst-day availability.</a:t>
            </a:r>
          </a:p>
          <a:p>
            <a:pPr>
              <a:spcAft>
                <a:spcPts val="15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Then: reduce standard deviation.</a:t>
            </a:r>
          </a:p>
        </p:txBody>
      </p:sp>
      <p:pic>
        <p:nvPicPr>
          <p:cNvPr id="29" name="Picture 28" descr="Airplanes on a road">
            <a:extLst>
              <a:ext uri="{FF2B5EF4-FFF2-40B4-BE49-F238E27FC236}">
                <a16:creationId xmlns:a16="http://schemas.microsoft.com/office/drawing/2014/main" id="{3F3F97C4-1E4E-D0DA-2013-1C72D5700F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40" r="17305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3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F1B5D-6607-B3F3-80DB-2DF2490C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78A0E-4412-E1D8-63D2-94FC3D4A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3700"/>
            <a:ext cx="11277600" cy="5715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noProof="0"/>
              <a:t>Simple fleet proof of concept</a:t>
            </a:r>
            <a:endParaRPr lang="en-US" sz="3200" noProof="0" dirty="0"/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E707D9-B313-19D3-7B8A-ACCC04D0A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50" y="1541418"/>
            <a:ext cx="7503609" cy="4971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29261-A05C-A617-9507-997E370A4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042" y="4059948"/>
            <a:ext cx="4522391" cy="2385560"/>
          </a:xfrm>
          <a:prstGeom prst="rect">
            <a:avLst/>
          </a:prstGeom>
        </p:spPr>
      </p:pic>
      <p:sp>
        <p:nvSpPr>
          <p:cNvPr id="13" name="AutoShape 10" descr="Optimization algorithm workflow diagram">
            <a:extLst>
              <a:ext uri="{FF2B5EF4-FFF2-40B4-BE49-F238E27FC236}">
                <a16:creationId xmlns:a16="http://schemas.microsoft.com/office/drawing/2014/main" id="{21EBC921-E282-B19E-243B-300038ACDA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3" name="Simple setup">
            <a:extLst>
              <a:ext uri="{FF2B5EF4-FFF2-40B4-BE49-F238E27FC236}">
                <a16:creationId xmlns:a16="http://schemas.microsoft.com/office/drawing/2014/main" id="{CCCAD1C2-1825-58A1-7ABB-CCDAB7AD881E}"/>
              </a:ext>
            </a:extLst>
          </p:cNvPr>
          <p:cNvSpPr txBox="1"/>
          <p:nvPr/>
        </p:nvSpPr>
        <p:spPr>
          <a:xfrm>
            <a:off x="609600" y="1130300"/>
            <a:ext cx="10922000" cy="2462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 panose="020F0502020204030204" pitchFamily="34" charset="0"/>
              </a:rPr>
              <a:t>10 aircraft, 80 checks. Keep the best feasible improvement at each iteration.</a:t>
            </a:r>
            <a:endParaRPr lang="en-AU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A7279-AB1A-3648-2A8E-FC165FC58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733" y="965200"/>
            <a:ext cx="4376143" cy="233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5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31BE-3F5B-89B5-E6DD-3C9C0276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61" y="0"/>
            <a:ext cx="10515600" cy="1325563"/>
          </a:xfrm>
        </p:spPr>
        <p:txBody>
          <a:bodyPr>
            <a:noAutofit/>
          </a:bodyPr>
          <a:lstStyle/>
          <a:p>
            <a:r>
              <a:rPr lang="en-AU" sz="3600" b="1" noProof="0"/>
              <a:t>The heavy maintenance forecast</a:t>
            </a:r>
            <a:endParaRPr lang="en-AU" sz="3600" b="1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DADB02-035B-53CF-9962-E4276D021B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4390" y="1125220"/>
            <a:ext cx="5562600" cy="210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2100" b="1" noProof="0" dirty="0"/>
              <a:t>24 aircraft and 278 checks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2100" b="1" noProof="0" dirty="0"/>
              <a:t>A, B, C and D maintenance checks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2100" b="1" noProof="0" dirty="0"/>
              <a:t>Sequence: A B A C A B A D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2100" b="1" noProof="0" dirty="0"/>
              <a:t>12-year forecast</a:t>
            </a:r>
            <a:endParaRPr kumimoji="0" lang="en-AU" sz="21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93D12-EF4B-1041-B45A-3C193DD7B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74" y="3429000"/>
            <a:ext cx="8093974" cy="3226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BE054-2C77-EFC1-5B63-B0D88EF3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685" y="1514282"/>
            <a:ext cx="5711499" cy="152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1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72B5A-3216-1A11-5E04-044444A7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67D4E3B-0388-2BED-5B01-DA2A6F1A8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74C51-8353-BD72-29D5-D47AC2ED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AU" sz="3200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Scaling the search: Random Sampling method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3D4C6D-5699-C424-0613-87C1939B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824" y="1443811"/>
            <a:ext cx="4947598" cy="3277784"/>
          </a:xfrm>
          <a:prstGeom prst="rect">
            <a:avLst/>
          </a:prstGeom>
        </p:spPr>
      </p:pic>
      <p:sp>
        <p:nvSpPr>
          <p:cNvPr id="13" name="AutoShape 10" descr="Optimization algorithm workflow diagram">
            <a:extLst>
              <a:ext uri="{FF2B5EF4-FFF2-40B4-BE49-F238E27FC236}">
                <a16:creationId xmlns:a16="http://schemas.microsoft.com/office/drawing/2014/main" id="{1AE887EE-4832-D343-9523-0BD8C614F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7B2555-8466-DE0B-896A-8C3D64BCF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801" y="1673760"/>
            <a:ext cx="4326349" cy="412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1500"/>
              </a:spcAft>
              <a:buNone/>
            </a:pPr>
            <a:r>
              <a:rPr lang="en-US" sz="2100" noProof="0" dirty="0"/>
              <a:t>The heavy fleet creates over 1,000 </a:t>
            </a:r>
            <a:r>
              <a:rPr lang="en-US" sz="2100" noProof="0" dirty="0" err="1"/>
              <a:t>neighbours</a:t>
            </a:r>
            <a:r>
              <a:rPr lang="en-US" sz="2100" noProof="0" dirty="0"/>
              <a:t> per iteration.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 sz="2100" noProof="0" dirty="0"/>
              <a:t>Full evaluation becomes too slow.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 sz="2100" noProof="0" dirty="0"/>
              <a:t>Sampling 200 </a:t>
            </a:r>
            <a:r>
              <a:rPr lang="en-US" sz="2100" noProof="0" dirty="0" err="1"/>
              <a:t>neighbours</a:t>
            </a:r>
            <a:r>
              <a:rPr lang="en-US" sz="2100" noProof="0" dirty="0"/>
              <a:t> reduces work.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 sz="2100" dirty="0"/>
              <a:t>Not deterministic, only reproducible with same seed</a:t>
            </a:r>
            <a:endParaRPr lang="en-US" sz="2100" noProof="0" dirty="0"/>
          </a:p>
          <a:p>
            <a:pPr marL="0" indent="0">
              <a:spcAft>
                <a:spcPts val="1500"/>
              </a:spcAft>
              <a:buNone/>
            </a:pPr>
            <a:r>
              <a:rPr lang="en-US" sz="2100" noProof="0" dirty="0"/>
              <a:t>Random selection can miss a useful move.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E6387-1899-EEAF-8BA1-BCA8D4DA0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824" y="4542035"/>
            <a:ext cx="4947598" cy="194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3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1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>
                <a:solidFill>
                  <a:srgbClr val="000000"/>
                </a:solidFill>
                <a:latin typeface="Calibri"/>
              </a:rPr>
              <a:t>PRIORITY BASED SELECTION WITH VARIABLE NEIGHBOURHOOD SEARCH</a:t>
            </a:r>
            <a:endParaRPr sz="14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Priority selection searches the worst availability regions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1" y="1280160"/>
            <a:ext cx="474750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542012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Rank events by the worst availability during their interval.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Search the worst priority level first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,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 expand only if needed.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Move one check, then rebuild later events using A/B/C/D rules.</a:t>
            </a:r>
            <a:endParaRPr lang="en-AU" sz="2000" b="0" dirty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lang="en-AU" sz="2000" dirty="0">
                <a:solidFill>
                  <a:srgbClr val="1A1A1A"/>
                </a:solidFill>
                <a:latin typeface="Calibri"/>
              </a:rPr>
              <a:t>Update incrementally and score once.</a:t>
            </a:r>
            <a:endParaRPr sz="2000" b="0" dirty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Deterministic, rule-compliant, and substantially faster.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Measured result: min 15→18, std 1.96→1.44.</a:t>
            </a:r>
          </a:p>
        </p:txBody>
      </p:sp>
      <p:pic>
        <p:nvPicPr>
          <p:cNvPr id="8" name="Picture 7" descr="Priority Based Optimiser 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632" y="1142999"/>
            <a:ext cx="6677334" cy="4451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00000"/>
                </a:solidFill>
                <a:latin typeface="Calibri"/>
              </a:rPr>
              <a:t>Each event gets one priority</a:t>
            </a:r>
            <a:r>
              <a:rPr lang="en-AU" sz="3000" b="1" dirty="0">
                <a:solidFill>
                  <a:srgbClr val="000000"/>
                </a:solidFill>
                <a:latin typeface="Calibri"/>
              </a:rPr>
              <a:t>: </a:t>
            </a:r>
            <a:r>
              <a:rPr sz="3000" b="1" dirty="0">
                <a:solidFill>
                  <a:srgbClr val="000000"/>
                </a:solidFill>
                <a:latin typeface="Calibri"/>
              </a:rPr>
              <a:t>the worst day it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55555"/>
                </a:solidFill>
                <a:latin typeface="Calibri"/>
              </a:rPr>
              <a:t>From the heavy starting schedule: global min availability = 15</a:t>
            </a:r>
            <a:r>
              <a:rPr lang="en-AU" b="0" dirty="0">
                <a:solidFill>
                  <a:srgbClr val="555555"/>
                </a:solidFill>
                <a:latin typeface="Calibri"/>
              </a:rPr>
              <a:t>,</a:t>
            </a:r>
            <a:r>
              <a:rPr b="0" dirty="0">
                <a:solidFill>
                  <a:srgbClr val="555555"/>
                </a:solidFill>
                <a:latin typeface="Calibri"/>
              </a:rPr>
              <a:t> 278 events</a:t>
            </a:r>
            <a:r>
              <a:rPr lang="en-AU" b="0" dirty="0">
                <a:solidFill>
                  <a:srgbClr val="555555"/>
                </a:solidFill>
                <a:latin typeface="Calibri"/>
              </a:rPr>
              <a:t>,</a:t>
            </a:r>
            <a:r>
              <a:rPr b="0" dirty="0">
                <a:solidFill>
                  <a:srgbClr val="555555"/>
                </a:solidFill>
                <a:latin typeface="Calibri"/>
              </a:rPr>
              <a:t> 24 aircraft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199"/>
            <a:ext cx="3657600" cy="46727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alibri"/>
              </a:rPr>
              <a:t>1. Score every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9184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Look at fleet availability on every day that event is in the hangar.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Priority = the minimum of those days.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Example: 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event 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days with avail</a:t>
            </a:r>
            <a:r>
              <a:rPr lang="en-AU" sz="2000" dirty="0">
                <a:solidFill>
                  <a:srgbClr val="1A1A1A"/>
                </a:solidFill>
                <a:latin typeface="Calibri"/>
              </a:rPr>
              <a:t>a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bility: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 [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18, 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18, 1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6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, 1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5</a:t>
            </a:r>
            <a:r>
              <a:rPr lang="en-AU" sz="2000" dirty="0">
                <a:solidFill>
                  <a:srgbClr val="1A1A1A"/>
                </a:solidFill>
                <a:latin typeface="Calibri"/>
              </a:rPr>
              <a:t>, etc.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] → priority 15.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Calibri"/>
              </a:rPr>
              <a:t>2. Split into exclusive buckets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918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Level 15 → 20 events (touch a day-15 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dip</a:t>
            </a:r>
            <a:r>
              <a:rPr sz="2000" b="0" dirty="0">
                <a:solidFill>
                  <a:srgbClr val="1A1A1A"/>
                </a:solidFill>
                <a:latin typeface="Calibri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Level 16 → 10 events</a:t>
            </a:r>
            <a:r>
              <a:rPr lang="en-AU" sz="2000" b="0" dirty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lang="en-AU" sz="2000" b="0" dirty="0">
                <a:solidFill>
                  <a:srgbClr val="1A1A1A"/>
                </a:solidFill>
                <a:latin typeface="Calibri"/>
              </a:rPr>
              <a:t>Level 17 → 9 events</a:t>
            </a:r>
          </a:p>
          <a:p>
            <a:pPr>
              <a:spcAft>
                <a:spcPts val="800"/>
              </a:spcAft>
            </a:pPr>
            <a:r>
              <a:rPr lang="en-AU" sz="2000" dirty="0">
                <a:solidFill>
                  <a:srgbClr val="1A1A1A"/>
                </a:solidFill>
                <a:latin typeface="Calibri"/>
              </a:rPr>
              <a:t>Level 21 </a:t>
            </a:r>
            <a:r>
              <a:rPr lang="en-AU" sz="2000" dirty="0">
                <a:solidFill>
                  <a:srgbClr val="1A1A1A"/>
                </a:solidFill>
              </a:rPr>
              <a:t>→ 68 events</a:t>
            </a:r>
            <a:endParaRPr lang="en-AU" sz="2000" dirty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endParaRPr lang="en-AU" sz="20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Calibri"/>
              </a:rPr>
              <a:t>3. Search worst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2918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Try only level-15 events × shifts (e.g. 20 × 2 = 40).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If any move improves the score, stop and pick the best.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1A1A1A"/>
                </a:solidFill>
                <a:latin typeface="Calibri"/>
              </a:rPr>
              <a:t>Only then expand to 16, 17… if level 15 finds nothing.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112776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3200" b="1">
                <a:solidFill>
                  <a:srgbClr val="000000"/>
                </a:solidFill>
                <a:latin typeface="Calibri"/>
              </a:rPr>
              <a:t>Priority selection made the heavy search practical</a:t>
            </a:r>
            <a:endParaRPr sz="32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536192"/>
            <a:ext cx="3383280" cy="276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200" b="1">
                <a:solidFill>
                  <a:srgbClr val="000000"/>
                </a:solidFill>
                <a:latin typeface="Calibri"/>
              </a:rPr>
              <a:t>WORST-DAY AVAILABILITY</a:t>
            </a:r>
            <a:endParaRPr sz="12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874520"/>
            <a:ext cx="3383280" cy="4924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2400" b="1">
                <a:solidFill>
                  <a:srgbClr val="000000"/>
                </a:solidFill>
                <a:latin typeface="Calibri"/>
              </a:rPr>
              <a:t>15 to 18</a:t>
            </a:r>
            <a:endParaRPr sz="24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65760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536192"/>
            <a:ext cx="3383280" cy="276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200" b="1">
                <a:solidFill>
                  <a:srgbClr val="000000"/>
                </a:solidFill>
                <a:latin typeface="Calibri"/>
              </a:rPr>
              <a:t>SEARCH STRATEGY</a:t>
            </a:r>
            <a:endParaRPr sz="12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07992" y="1874520"/>
            <a:ext cx="3383280" cy="4924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2400" b="1">
                <a:solidFill>
                  <a:srgbClr val="000000"/>
                </a:solidFill>
                <a:latin typeface="Calibri"/>
              </a:rPr>
              <a:t>Worst days first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47472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1" y="1536192"/>
            <a:ext cx="3200400" cy="276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200" b="1">
                <a:solidFill>
                  <a:srgbClr val="000000"/>
                </a:solidFill>
                <a:latin typeface="Calibri"/>
              </a:rPr>
              <a:t>VALIDITY</a:t>
            </a:r>
            <a:endParaRPr sz="12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48471" y="1874520"/>
            <a:ext cx="3200400" cy="4924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2400" b="1" dirty="0">
                <a:solidFill>
                  <a:srgbClr val="000000"/>
                </a:solidFill>
                <a:latin typeface="Calibri"/>
              </a:rPr>
              <a:t>Rebuilt every time we find improvement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200400"/>
            <a:ext cx="111556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10607040" cy="33855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1">
                <a:solidFill>
                  <a:srgbClr val="000000"/>
                </a:solidFill>
                <a:latin typeface="Calibri"/>
              </a:rPr>
              <a:t>Historical runtime comparison from the Iteration 1 milestone</a:t>
            </a:r>
            <a:endParaRPr sz="1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Full neighbourhood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931920"/>
            <a:ext cx="5943600" cy="3200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3886200"/>
            <a:ext cx="1828800" cy="276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200" b="1">
                <a:solidFill>
                  <a:srgbClr val="1A1A1A"/>
                </a:solidFill>
                <a:latin typeface="Calibri"/>
              </a:rPr>
              <a:t>920 s</a:t>
            </a:r>
            <a:endParaRPr sz="12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200 random samples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572000"/>
            <a:ext cx="2914935" cy="32004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4526280"/>
            <a:ext cx="1828800" cy="276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200" b="1">
                <a:solidFill>
                  <a:srgbClr val="1A1A1A"/>
                </a:solidFill>
                <a:latin typeface="Calibri"/>
              </a:rPr>
              <a:t>451 s</a:t>
            </a:r>
            <a:endParaRPr sz="12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Priority selection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212080"/>
            <a:ext cx="237744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5166360"/>
            <a:ext cx="1828800" cy="276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200" b="1">
                <a:solidFill>
                  <a:srgbClr val="1A1A1A"/>
                </a:solidFill>
                <a:latin typeface="Calibri"/>
              </a:rPr>
              <a:t>15.4 s</a:t>
            </a:r>
            <a:endParaRPr sz="1200" b="1" dirty="0">
              <a:solidFill>
                <a:srgbClr val="1A1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2942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4DC6C8-EE33-72F7-95A1-953E9046C877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F7F6B7-D9AA-1A29-39E2-1D2D3447BD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3D42E-5AB8-5080-D935-F249DC57DC05}"/>
              </a:ext>
            </a:extLst>
          </p:cNvPr>
          <p:cNvSpPr txBox="1"/>
          <p:nvPr/>
        </p:nvSpPr>
        <p:spPr>
          <a:xfrm>
            <a:off x="457200" y="165100"/>
            <a:ext cx="1117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1700" b="1">
                <a:solidFill>
                  <a:srgbClr val="000000"/>
                </a:solidFill>
                <a:latin typeface="Calibri" panose="020F0502020204030204" pitchFamily="34" charset="0"/>
              </a:rPr>
              <a:t>SIMULATED ANNEALING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8A97F-A4AD-824E-1349-58727E4A223A}"/>
              </a:ext>
            </a:extLst>
          </p:cNvPr>
          <p:cNvSpPr txBox="1"/>
          <p:nvPr/>
        </p:nvSpPr>
        <p:spPr>
          <a:xfrm>
            <a:off x="457200" y="406400"/>
            <a:ext cx="11303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</a:rPr>
              <a:t>What simulated annealing is </a:t>
            </a:r>
            <a:endParaRPr lang="en-AU" sz="3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218566-5204-FD9B-68B7-82FF2C629F19}"/>
              </a:ext>
            </a:extLst>
          </p:cNvPr>
          <p:cNvSpPr/>
          <p:nvPr/>
        </p:nvSpPr>
        <p:spPr>
          <a:xfrm>
            <a:off x="457200" y="1206500"/>
            <a:ext cx="3619500" cy="1905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730056-2EAC-D3A6-ADEB-76C560F98819}"/>
              </a:ext>
            </a:extLst>
          </p:cNvPr>
          <p:cNvSpPr/>
          <p:nvPr/>
        </p:nvSpPr>
        <p:spPr>
          <a:xfrm>
            <a:off x="4292600" y="1206500"/>
            <a:ext cx="3619500" cy="1905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77D632-801B-BCDB-30F2-DDC63601BFEB}"/>
              </a:ext>
            </a:extLst>
          </p:cNvPr>
          <p:cNvSpPr/>
          <p:nvPr/>
        </p:nvSpPr>
        <p:spPr>
          <a:xfrm>
            <a:off x="8128000" y="1206500"/>
            <a:ext cx="3619500" cy="1905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F0705-6F17-595E-C80C-D05976A44CE0}"/>
              </a:ext>
            </a:extLst>
          </p:cNvPr>
          <p:cNvSpPr txBox="1"/>
          <p:nvPr/>
        </p:nvSpPr>
        <p:spPr>
          <a:xfrm>
            <a:off x="660400" y="1397000"/>
            <a:ext cx="32385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2000" b="1">
                <a:solidFill>
                  <a:srgbClr val="000000"/>
                </a:solidFill>
              </a:rPr>
              <a:t>1 · 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F10A2-CF9E-0A7C-E5FD-1F5527E2E124}"/>
              </a:ext>
            </a:extLst>
          </p:cNvPr>
          <p:cNvSpPr txBox="1"/>
          <p:nvPr/>
        </p:nvSpPr>
        <p:spPr>
          <a:xfrm>
            <a:off x="660400" y="1841500"/>
            <a:ext cx="3238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Calibri" panose="020F0502020204030204" pitchFamily="34" charset="0"/>
              </a:rPr>
              <a:t>Same priority-based selection </a:t>
            </a:r>
            <a:r>
              <a:rPr lang="en-US" sz="1600" dirty="0" err="1">
                <a:solidFill>
                  <a:srgbClr val="111111"/>
                </a:solidFill>
                <a:latin typeface="Calibri" panose="020F0502020204030204" pitchFamily="34" charset="0"/>
              </a:rPr>
              <a:t>neighbour</a:t>
            </a:r>
            <a:r>
              <a:rPr lang="en-US" sz="1600" dirty="0">
                <a:solidFill>
                  <a:srgbClr val="111111"/>
                </a:solidFill>
                <a:latin typeface="Calibri" panose="020F0502020204030204" pitchFamily="34" charset="0"/>
              </a:rPr>
              <a:t> search algorithm</a:t>
            </a:r>
            <a:endParaRPr lang="en-AU" sz="1600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AAB5C-4D53-FE1B-6D43-8EA22402B17E}"/>
              </a:ext>
            </a:extLst>
          </p:cNvPr>
          <p:cNvSpPr txBox="1"/>
          <p:nvPr/>
        </p:nvSpPr>
        <p:spPr>
          <a:xfrm>
            <a:off x="4495800" y="1397000"/>
            <a:ext cx="32385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2000" b="1">
                <a:solidFill>
                  <a:srgbClr val="000000"/>
                </a:solidFill>
              </a:rPr>
              <a:t>2 · Accept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4C2E4-2FF9-3CAF-0AD9-C09BB003A385}"/>
              </a:ext>
            </a:extLst>
          </p:cNvPr>
          <p:cNvSpPr txBox="1"/>
          <p:nvPr/>
        </p:nvSpPr>
        <p:spPr>
          <a:xfrm>
            <a:off x="4495800" y="1841500"/>
            <a:ext cx="32385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1A1A1A"/>
                </a:solidFill>
              </a:rPr>
              <a:t>Better moves are always kept. Worse moves can still be kept early on, by chance.</a:t>
            </a:r>
            <a:endParaRPr lang="en-AU" sz="1600">
              <a:solidFill>
                <a:srgbClr val="1A1A1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7F5FBD-3DB9-430C-0F4A-33620E8A1574}"/>
              </a:ext>
            </a:extLst>
          </p:cNvPr>
          <p:cNvSpPr txBox="1"/>
          <p:nvPr/>
        </p:nvSpPr>
        <p:spPr>
          <a:xfrm>
            <a:off x="8331200" y="1397000"/>
            <a:ext cx="32385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2000" b="1">
                <a:solidFill>
                  <a:srgbClr val="000000"/>
                </a:solidFill>
              </a:rPr>
              <a:t>3 · Cool down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7B489-F8AA-CCCA-B194-C2DE18317B9B}"/>
              </a:ext>
            </a:extLst>
          </p:cNvPr>
          <p:cNvSpPr txBox="1"/>
          <p:nvPr/>
        </p:nvSpPr>
        <p:spPr>
          <a:xfrm>
            <a:off x="8331200" y="1841500"/>
            <a:ext cx="32385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1A1A1A"/>
                </a:solidFill>
              </a:rPr>
              <a:t>Over time we accept fewer worse moves, so the search settles on a strong plan.</a:t>
            </a:r>
            <a:endParaRPr lang="en-AU" sz="1600">
              <a:solidFill>
                <a:srgbClr val="1A1A1A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99B483-487F-7054-3978-97E8125E47D5}"/>
              </a:ext>
            </a:extLst>
          </p:cNvPr>
          <p:cNvSpPr/>
          <p:nvPr/>
        </p:nvSpPr>
        <p:spPr>
          <a:xfrm>
            <a:off x="457200" y="3365500"/>
            <a:ext cx="11303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452C5-DE8E-5059-B6B3-9200A878AE2C}"/>
              </a:ext>
            </a:extLst>
          </p:cNvPr>
          <p:cNvSpPr txBox="1"/>
          <p:nvPr/>
        </p:nvSpPr>
        <p:spPr>
          <a:xfrm>
            <a:off x="698500" y="3556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2200" b="1">
                <a:solidFill>
                  <a:srgbClr val="000000"/>
                </a:solidFill>
              </a:rPr>
              <a:t>Why it helps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8B08F-FA4A-8008-3678-314F14A422BD}"/>
              </a:ext>
            </a:extLst>
          </p:cNvPr>
          <p:cNvSpPr txBox="1"/>
          <p:nvPr/>
        </p:nvSpPr>
        <p:spPr>
          <a:xfrm>
            <a:off x="698500" y="4064000"/>
            <a:ext cx="10795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>
                <a:solidFill>
                  <a:srgbClr val="1A1A1A"/>
                </a:solidFill>
              </a:rPr>
              <a:t>Think of the search like walking over hills. Today’s method only walks uphill. That is fast and safe, but you can get stuck on a steep part of the hill when a better peak is nearby.</a:t>
            </a:r>
          </a:p>
          <a:p>
            <a:endParaRPr lang="en-US" dirty="0">
              <a:solidFill>
                <a:srgbClr val="1A1A1A"/>
              </a:solidFill>
            </a:endParaRPr>
          </a:p>
          <a:p>
            <a:r>
              <a:rPr lang="en-US" dirty="0">
                <a:solidFill>
                  <a:srgbClr val="1A1A1A"/>
                </a:solidFill>
              </a:rPr>
              <a:t>Simulated annealing sometimes takes a downhill step early, so you can leave a trap and reach a better overall schedule. As the search “cools,” those downhill steps become rare, and we settle on the best plan we found.</a:t>
            </a:r>
            <a:endParaRPr lang="en-AU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217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5100"/>
            <a:ext cx="1127760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500" b="1">
                <a:solidFill>
                  <a:srgbClr val="000000"/>
                </a:solidFill>
                <a:latin typeface="Calibri"/>
              </a:rPr>
              <a:t>METHOD COMPARISON</a:t>
            </a:r>
            <a:endParaRPr sz="15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112776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3200" b="1" dirty="0">
                <a:solidFill>
                  <a:srgbClr val="000000"/>
                </a:solidFill>
                <a:latin typeface="Calibri"/>
              </a:rPr>
              <a:t>Simulated Annealing was too slow</a:t>
            </a:r>
            <a:endParaRPr sz="3200" b="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5" name="Method results">
            <a:extLst>
              <a:ext uri="{FF2B5EF4-FFF2-40B4-BE49-F238E27FC236}">
                <a16:creationId xmlns:a16="http://schemas.microsoft.com/office/drawing/2014/main" id="{CD681E3F-FD85-D410-57D3-F3F256E76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582539"/>
              </p:ext>
            </p:extLst>
          </p:nvPr>
        </p:nvGraphicFramePr>
        <p:xfrm>
          <a:off x="457200" y="1727200"/>
          <a:ext cx="11277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340417487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7578573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81551589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253128408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Method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Worst day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Std deviation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Runtime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15337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Priority Based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Selection with VNS</a:t>
                      </a:r>
                      <a:endParaRPr lang="en-AU" sz="18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18</a:t>
                      </a:r>
                      <a:endParaRPr lang="en-AU" sz="20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1.44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15.4 s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31162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8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Simulated Annealing median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1.391860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63.5 s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172694"/>
                  </a:ext>
                </a:extLst>
              </a:tr>
            </a:tbl>
          </a:graphicData>
        </a:graphic>
      </p:graphicFrame>
      <p:sp>
        <p:nvSpPr>
          <p:cNvPr id="16" name="Decision finding">
            <a:extLst>
              <a:ext uri="{FF2B5EF4-FFF2-40B4-BE49-F238E27FC236}">
                <a16:creationId xmlns:a16="http://schemas.microsoft.com/office/drawing/2014/main" id="{03764756-E802-0138-69BF-2D283926E903}"/>
              </a:ext>
            </a:extLst>
          </p:cNvPr>
          <p:cNvSpPr txBox="1"/>
          <p:nvPr/>
        </p:nvSpPr>
        <p:spPr>
          <a:xfrm>
            <a:off x="533400" y="4864100"/>
            <a:ext cx="11112500" cy="3231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Smoothness gain: around 0.05 . Run time took 4x longer.</a:t>
            </a:r>
          </a:p>
          <a:p>
            <a:endParaRPr lang="en-US" sz="21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Conclusion: Drop this method and focus on Priority Based selection method with VNS.</a:t>
            </a:r>
            <a:endParaRPr lang="en-AU" sz="21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286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5100"/>
            <a:ext cx="1127760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500" b="1">
                <a:solidFill>
                  <a:srgbClr val="000000"/>
                </a:solidFill>
                <a:latin typeface="Calibri"/>
              </a:rPr>
              <a:t>CONTROLLED START SCHEDULES</a:t>
            </a:r>
            <a:endParaRPr sz="15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112776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3200" b="1">
                <a:solidFill>
                  <a:srgbClr val="000000"/>
                </a:solidFill>
                <a:latin typeface="Calibri"/>
              </a:rPr>
              <a:t>The as-loaded start finished smoothest</a:t>
            </a:r>
            <a:endParaRPr sz="3200" b="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5" name="Start schedule results">
            <a:extLst>
              <a:ext uri="{FF2B5EF4-FFF2-40B4-BE49-F238E27FC236}">
                <a16:creationId xmlns:a16="http://schemas.microsoft.com/office/drawing/2014/main" id="{85071843-9FD9-E62E-BD68-CEB787296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050802"/>
              </p:ext>
            </p:extLst>
          </p:nvPr>
        </p:nvGraphicFramePr>
        <p:xfrm>
          <a:off x="457200" y="1727200"/>
          <a:ext cx="112776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96076182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36550224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864216480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3340908839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Start schedule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Initial worst day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Final worst day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Final std deviation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0456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As-loaded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1.414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79767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0.944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9404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Wide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0.713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44776"/>
                  </a:ext>
                </a:extLst>
              </a:tr>
            </a:tbl>
          </a:graphicData>
        </a:graphic>
      </p:graphicFrame>
      <p:sp>
        <p:nvSpPr>
          <p:cNvPr id="17" name="Start distinction">
            <a:extLst>
              <a:ext uri="{FF2B5EF4-FFF2-40B4-BE49-F238E27FC236}">
                <a16:creationId xmlns:a16="http://schemas.microsoft.com/office/drawing/2014/main" id="{79EF1278-47B2-350E-7824-41D5EF7DA597}"/>
              </a:ext>
            </a:extLst>
          </p:cNvPr>
          <p:cNvSpPr txBox="1"/>
          <p:nvPr/>
        </p:nvSpPr>
        <p:spPr>
          <a:xfrm>
            <a:off x="457200" y="4836160"/>
            <a:ext cx="11112500" cy="58477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AU" sz="1900" dirty="0">
                <a:solidFill>
                  <a:srgbClr val="000000"/>
                </a:solidFill>
                <a:latin typeface="Calibri" panose="020F0502020204030204" pitchFamily="34" charset="0"/>
              </a:rPr>
              <a:t>Instead of focusing on the algorithm which cannot be improved further because of constraints, I decided to focus on the initial stagger. In the normal heavy dataset, all the D checks happen at once. What if we move the D checks around? </a:t>
            </a:r>
          </a:p>
        </p:txBody>
      </p:sp>
    </p:spTree>
    <p:extLst>
      <p:ext uri="{BB962C8B-B14F-4D97-AF65-F5344CB8AC3E}">
        <p14:creationId xmlns:p14="http://schemas.microsoft.com/office/powerpoint/2010/main" val="2975520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7BDB-9DB9-950C-7AC5-CAA26572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3C61EB-FD76-B859-E393-CE1A2EB0EF90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630ED-A7C9-18EB-B9DB-C1DCE8C111DE}"/>
              </a:ext>
            </a:extLst>
          </p:cNvPr>
          <p:cNvSpPr txBox="1"/>
          <p:nvPr/>
        </p:nvSpPr>
        <p:spPr>
          <a:xfrm>
            <a:off x="457200" y="165100"/>
            <a:ext cx="1127760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500" b="1">
                <a:solidFill>
                  <a:srgbClr val="000000"/>
                </a:solidFill>
                <a:latin typeface="Calibri"/>
              </a:rPr>
              <a:t>CONTROLLED START SCHEDULES</a:t>
            </a:r>
            <a:endParaRPr sz="15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5376C-8509-6CCA-08B6-EDD31F06747F}"/>
              </a:ext>
            </a:extLst>
          </p:cNvPr>
          <p:cNvSpPr txBox="1"/>
          <p:nvPr/>
        </p:nvSpPr>
        <p:spPr>
          <a:xfrm>
            <a:off x="457200" y="533400"/>
            <a:ext cx="112776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3200" b="1" dirty="0">
                <a:solidFill>
                  <a:srgbClr val="000000"/>
                </a:solidFill>
                <a:latin typeface="Calibri"/>
              </a:rPr>
              <a:t>Moderate and Wide Staggers</a:t>
            </a:r>
            <a:endParaRPr sz="3200" b="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8D653-B757-0E2A-4085-61393D41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179" y="1192384"/>
            <a:ext cx="6867611" cy="2729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3795DE-FF8E-E2FC-7437-C85049882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179" y="3963525"/>
            <a:ext cx="7193490" cy="2639060"/>
          </a:xfrm>
          <a:prstGeom prst="rect">
            <a:avLst/>
          </a:prstGeom>
        </p:spPr>
      </p:pic>
      <p:sp>
        <p:nvSpPr>
          <p:cNvPr id="10" name="Start distinction">
            <a:extLst>
              <a:ext uri="{FF2B5EF4-FFF2-40B4-BE49-F238E27FC236}">
                <a16:creationId xmlns:a16="http://schemas.microsoft.com/office/drawing/2014/main" id="{22C7D028-6D16-58CD-5363-9385BD6D6A74}"/>
              </a:ext>
            </a:extLst>
          </p:cNvPr>
          <p:cNvSpPr txBox="1"/>
          <p:nvPr/>
        </p:nvSpPr>
        <p:spPr>
          <a:xfrm>
            <a:off x="969210" y="2158250"/>
            <a:ext cx="4030980" cy="58477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AU" sz="1900" dirty="0">
                <a:solidFill>
                  <a:srgbClr val="000000"/>
                </a:solidFill>
                <a:latin typeface="Calibri" panose="020F0502020204030204" pitchFamily="34" charset="0"/>
              </a:rPr>
              <a:t>Moderate initial stagger</a:t>
            </a:r>
          </a:p>
        </p:txBody>
      </p:sp>
      <p:sp>
        <p:nvSpPr>
          <p:cNvPr id="12" name="Start distinction">
            <a:extLst>
              <a:ext uri="{FF2B5EF4-FFF2-40B4-BE49-F238E27FC236}">
                <a16:creationId xmlns:a16="http://schemas.microsoft.com/office/drawing/2014/main" id="{261E6202-0618-936F-D861-E54B1F8E6E62}"/>
              </a:ext>
            </a:extLst>
          </p:cNvPr>
          <p:cNvSpPr txBox="1"/>
          <p:nvPr/>
        </p:nvSpPr>
        <p:spPr>
          <a:xfrm>
            <a:off x="835660" y="4927975"/>
            <a:ext cx="4030980" cy="58477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AU" sz="1900" dirty="0">
                <a:solidFill>
                  <a:srgbClr val="000000"/>
                </a:solidFill>
                <a:latin typeface="Calibri" panose="020F0502020204030204" pitchFamily="34" charset="0"/>
              </a:rPr>
              <a:t>Wide initial stagger</a:t>
            </a:r>
          </a:p>
        </p:txBody>
      </p:sp>
    </p:spTree>
    <p:extLst>
      <p:ext uri="{BB962C8B-B14F-4D97-AF65-F5344CB8AC3E}">
        <p14:creationId xmlns:p14="http://schemas.microsoft.com/office/powerpoint/2010/main" val="414387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5100"/>
            <a:ext cx="1127760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500" b="1">
                <a:solidFill>
                  <a:srgbClr val="000000"/>
                </a:solidFill>
                <a:latin typeface="Calibri"/>
              </a:rPr>
              <a:t>HYPERPARAMETER RESULTS</a:t>
            </a:r>
            <a:endParaRPr sz="15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112776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3200" b="1">
                <a:solidFill>
                  <a:srgbClr val="000000"/>
                </a:solidFill>
                <a:latin typeface="Calibri"/>
              </a:rPr>
              <a:t>Tuning improved smoothness on every forecast</a:t>
            </a:r>
            <a:endParaRPr sz="3200" b="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6" name="Hyperparameter results">
            <a:extLst>
              <a:ext uri="{FF2B5EF4-FFF2-40B4-BE49-F238E27FC236}">
                <a16:creationId xmlns:a16="http://schemas.microsoft.com/office/drawing/2014/main" id="{C47F4C4B-330A-CD4D-FA5F-6E5E686EC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28136"/>
              </p:ext>
            </p:extLst>
          </p:nvPr>
        </p:nvGraphicFramePr>
        <p:xfrm>
          <a:off x="457200" y="1638300"/>
          <a:ext cx="112776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9969909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809564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83081926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92714247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425995423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864458135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Dataset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Initial worst day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Tuned worst day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Default std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Tuned std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Results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91567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Original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1.4221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1.4019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7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1.42%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64761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0.9117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0.8834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7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3.1%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6779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Wide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0.6167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2000" b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0.5868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AU" sz="1700" b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4.85%</a:t>
                      </a:r>
                    </a:p>
                  </a:txBody>
                  <a:tcPr marL="127000" marR="88900" marT="88900" marB="889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96885"/>
                  </a:ext>
                </a:extLst>
              </a:tr>
            </a:tbl>
          </a:graphicData>
        </a:graphic>
      </p:graphicFrame>
      <p:sp>
        <p:nvSpPr>
          <p:cNvPr id="7" name="Quality gain">
            <a:extLst>
              <a:ext uri="{FF2B5EF4-FFF2-40B4-BE49-F238E27FC236}">
                <a16:creationId xmlns:a16="http://schemas.microsoft.com/office/drawing/2014/main" id="{91500ADB-73AE-5E36-2B31-54DE0155DC76}"/>
              </a:ext>
            </a:extLst>
          </p:cNvPr>
          <p:cNvSpPr txBox="1"/>
          <p:nvPr/>
        </p:nvSpPr>
        <p:spPr>
          <a:xfrm>
            <a:off x="533400" y="4787900"/>
            <a:ext cx="11112500" cy="33855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Smoothness improvement at the same worst day: 1.42%, 3.10% and 4.85%</a:t>
            </a:r>
            <a:endParaRPr lang="en-AU" sz="2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Quality gain">
            <a:extLst>
              <a:ext uri="{FF2B5EF4-FFF2-40B4-BE49-F238E27FC236}">
                <a16:creationId xmlns:a16="http://schemas.microsoft.com/office/drawing/2014/main" id="{60730574-5999-A20D-047A-9D43CD9C6B0E}"/>
              </a:ext>
            </a:extLst>
          </p:cNvPr>
          <p:cNvSpPr txBox="1"/>
          <p:nvPr/>
        </p:nvSpPr>
        <p:spPr>
          <a:xfrm>
            <a:off x="539750" y="5380454"/>
            <a:ext cx="11112500" cy="33855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So far, best step sizes are 56, 42, 28, 14, 7, 3, 1 </a:t>
            </a:r>
          </a:p>
        </p:txBody>
      </p:sp>
    </p:spTree>
    <p:extLst>
      <p:ext uri="{BB962C8B-B14F-4D97-AF65-F5344CB8AC3E}">
        <p14:creationId xmlns:p14="http://schemas.microsoft.com/office/powerpoint/2010/main" val="4004988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5100"/>
            <a:ext cx="1127760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500" b="1">
                <a:solidFill>
                  <a:srgbClr val="000000"/>
                </a:solidFill>
                <a:latin typeface="Calibri"/>
              </a:rPr>
              <a:t>FINAL RECOMMENDATION</a:t>
            </a:r>
            <a:endParaRPr sz="15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112776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3100" b="1" dirty="0">
                <a:solidFill>
                  <a:srgbClr val="000000"/>
                </a:solidFill>
                <a:latin typeface="Calibri"/>
              </a:rPr>
              <a:t>Final method: Priority Based Selection with VNS</a:t>
            </a:r>
            <a:endParaRPr sz="31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406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5074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700" b="1">
                <a:solidFill>
                  <a:srgbClr val="000000"/>
                </a:solidFill>
                <a:latin typeface="Calibri"/>
              </a:rPr>
              <a:t>METHOD</a:t>
            </a:r>
            <a:endParaRPr sz="17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810511"/>
            <a:ext cx="5074920" cy="787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300" b="1">
                <a:solidFill>
                  <a:srgbClr val="000000"/>
                </a:solidFill>
                <a:latin typeface="Calibri"/>
              </a:rPr>
              <a:t>Priority Based Selection</a:t>
            </a:r>
          </a:p>
          <a:p>
            <a:pPr algn="l"/>
            <a:r>
              <a:rPr lang="en-US" sz="2300" b="1">
                <a:solidFill>
                  <a:srgbClr val="000000"/>
                </a:solidFill>
                <a:latin typeface="Calibri"/>
              </a:rPr>
              <a:t>with VNS</a:t>
            </a:r>
            <a:endParaRPr sz="23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4406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389888"/>
            <a:ext cx="5074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AU" sz="1700" b="1">
                <a:solidFill>
                  <a:srgbClr val="000000"/>
                </a:solidFill>
                <a:latin typeface="Calibri"/>
              </a:rPr>
              <a:t>SHARED STEP SIZES</a:t>
            </a:r>
            <a:endParaRPr sz="17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3368" y="1810511"/>
            <a:ext cx="5074920" cy="850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300" b="1" dirty="0">
                <a:solidFill>
                  <a:srgbClr val="000000"/>
                </a:solidFill>
                <a:latin typeface="Calibri"/>
              </a:rPr>
              <a:t>±56, ±42, ±28, ±14,</a:t>
            </a:r>
          </a:p>
          <a:p>
            <a:pPr algn="l"/>
            <a:r>
              <a:rPr lang="en-US" sz="2300" b="1" dirty="0">
                <a:solidFill>
                  <a:srgbClr val="000000"/>
                </a:solidFill>
                <a:latin typeface="Calibri"/>
              </a:rPr>
              <a:t>±7, ±3, ±1 days</a:t>
            </a:r>
            <a:endParaRPr sz="23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112471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0698480" cy="4308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200" b="1">
                <a:solidFill>
                  <a:srgbClr val="000000"/>
                </a:solidFill>
                <a:latin typeface="Calibri"/>
              </a:rPr>
              <a:t>Project outcome</a:t>
            </a:r>
            <a:endParaRPr sz="22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10698480" cy="2095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400"/>
              </a:spcAft>
            </a:pPr>
            <a:r>
              <a:rPr lang="en-US" sz="1900" b="0" dirty="0">
                <a:solidFill>
                  <a:srgbClr val="1A1A1A"/>
                </a:solidFill>
                <a:latin typeface="Calibri"/>
              </a:rPr>
              <a:t>Raised original worst-day availability from 15 to 18.</a:t>
            </a:r>
          </a:p>
          <a:p>
            <a:pPr algn="l">
              <a:spcAft>
                <a:spcPts val="1400"/>
              </a:spcAft>
            </a:pPr>
            <a:r>
              <a:rPr lang="en-US" sz="1900" b="0" dirty="0">
                <a:solidFill>
                  <a:srgbClr val="1A1A1A"/>
                </a:solidFill>
                <a:latin typeface="Calibri"/>
              </a:rPr>
              <a:t>Simulated Annealing offered too little smoothness gain for its runtime.</a:t>
            </a:r>
          </a:p>
          <a:p>
            <a:pPr>
              <a:spcAft>
                <a:spcPts val="1400"/>
              </a:spcAf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Priority Based Selection with VNS was the best algorithm for computation time and solution</a:t>
            </a:r>
          </a:p>
          <a:p>
            <a:pPr>
              <a:spcAft>
                <a:spcPts val="1400"/>
              </a:spcAf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The Initial stagger is the deciding factor because it is not possible to improve it anymore with initial heavy schedule.</a:t>
            </a:r>
            <a:endParaRPr lang="en-US" sz="1900" dirty="0">
              <a:solidFill>
                <a:srgbClr val="1A1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59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2577</TotalTime>
  <Words>934</Words>
  <Application>Microsoft Office PowerPoint</Application>
  <PresentationFormat>Widescreen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The aircraft maintenance scheduling problem</vt:lpstr>
      <vt:lpstr>Simple fleet proof of concept</vt:lpstr>
      <vt:lpstr>The heavy maintenance forecast</vt:lpstr>
      <vt:lpstr>Scaling the search: Random Sampling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Long</dc:creator>
  <cp:lastModifiedBy>David Long</cp:lastModifiedBy>
  <cp:revision>1</cp:revision>
  <dcterms:created xsi:type="dcterms:W3CDTF">2026-03-18T14:25:52Z</dcterms:created>
  <dcterms:modified xsi:type="dcterms:W3CDTF">2026-10-14T02:41:27Z</dcterms:modified>
</cp:coreProperties>
</file>