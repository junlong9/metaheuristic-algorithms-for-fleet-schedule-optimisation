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5" r:id="rId3"/>
    <p:sldId id="267" r:id="rId4"/>
    <p:sldId id="266" r:id="rId5"/>
    <p:sldId id="269" r:id="rId6"/>
    <p:sldId id="268" r:id="rId7"/>
    <p:sldId id="276" r:id="rId8"/>
    <p:sldId id="270" r:id="rId9"/>
    <p:sldId id="277" r:id="rId10"/>
    <p:sldId id="274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B64244-62C1-4604-BDCC-269E11D8891A}" v="73" dt="2026-05-29T06:16:26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07" autoAdjust="0"/>
  </p:normalViewPr>
  <p:slideViewPr>
    <p:cSldViewPr snapToGrid="0">
      <p:cViewPr>
        <p:scale>
          <a:sx n="75" d="100"/>
          <a:sy n="75" d="100"/>
        </p:scale>
        <p:origin x="946" y="-12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Long" userId="f0dab1f4b2f59987" providerId="LiveId" clId="{BD423006-59C5-4E11-8B6B-507DC77F169F}"/>
    <pc:docChg chg="undo redo custSel addSld delSld modSld sldOrd">
      <pc:chgData name="David Long" userId="f0dab1f4b2f59987" providerId="LiveId" clId="{BD423006-59C5-4E11-8B6B-507DC77F169F}" dt="2026-07-21T06:42:15.505" v="9952" actId="27636"/>
      <pc:docMkLst>
        <pc:docMk/>
      </pc:docMkLst>
      <pc:sldChg chg="addSp delSp modSp new mod ord setBg">
        <pc:chgData name="David Long" userId="f0dab1f4b2f59987" providerId="LiveId" clId="{BD423006-59C5-4E11-8B6B-507DC77F169F}" dt="2026-07-21T06:42:15.505" v="9952" actId="27636"/>
        <pc:sldMkLst>
          <pc:docMk/>
          <pc:sldMk cId="1605916702" sldId="274"/>
        </pc:sldMkLst>
        <pc:spChg chg="add mod">
          <ac:chgData name="David Long" userId="f0dab1f4b2f59987" providerId="LiveId" clId="{BD423006-59C5-4E11-8B6B-507DC77F169F}" dt="2026-07-21T06:42:15.505" v="9952" actId="27636"/>
          <ac:spMkLst>
            <pc:docMk/>
            <pc:sldMk cId="1605916702" sldId="274"/>
            <ac:spMk id="4" creationId="{954CBAB1-6598-9422-700E-18DF863746B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020111-FDA8-471F-8A04-87B4295C3D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A6E8230-0EFD-4DCF-9003-D075E39E1B97}">
      <dgm:prSet/>
      <dgm:spPr/>
      <dgm:t>
        <a:bodyPr/>
        <a:lstStyle/>
        <a:p>
          <a:r>
            <a:rPr lang="en-AU" noProof="0" dirty="0"/>
            <a:t>Mathematical Programming </a:t>
          </a:r>
        </a:p>
      </dgm:t>
    </dgm:pt>
    <dgm:pt modelId="{93465BAB-01A9-467B-8A3B-247DED3252A8}" type="parTrans" cxnId="{07728A55-F61D-4615-82B0-55A9753209B8}">
      <dgm:prSet/>
      <dgm:spPr/>
      <dgm:t>
        <a:bodyPr/>
        <a:lstStyle/>
        <a:p>
          <a:endParaRPr lang="en-US"/>
        </a:p>
      </dgm:t>
    </dgm:pt>
    <dgm:pt modelId="{2FEC4603-ECFE-4504-A03B-B787D6A6610A}" type="sibTrans" cxnId="{07728A55-F61D-4615-82B0-55A9753209B8}">
      <dgm:prSet/>
      <dgm:spPr/>
      <dgm:t>
        <a:bodyPr/>
        <a:lstStyle/>
        <a:p>
          <a:endParaRPr lang="en-US"/>
        </a:p>
      </dgm:t>
    </dgm:pt>
    <dgm:pt modelId="{18E1B4C1-77E8-4EE6-A766-09B72D6F956D}">
      <dgm:prSet/>
      <dgm:spPr/>
      <dgm:t>
        <a:bodyPr/>
        <a:lstStyle/>
        <a:p>
          <a:r>
            <a:rPr lang="en-AU" noProof="0" dirty="0"/>
            <a:t>Stochastic Simulation </a:t>
          </a:r>
        </a:p>
      </dgm:t>
    </dgm:pt>
    <dgm:pt modelId="{BD18C9E6-A686-416E-80F9-9677C9163D83}" type="parTrans" cxnId="{5A6DECC1-A1B5-406B-A60E-F8BEAFF942C8}">
      <dgm:prSet/>
      <dgm:spPr/>
      <dgm:t>
        <a:bodyPr/>
        <a:lstStyle/>
        <a:p>
          <a:endParaRPr lang="en-US"/>
        </a:p>
      </dgm:t>
    </dgm:pt>
    <dgm:pt modelId="{8B7B73AA-96D4-4D15-9623-D10D0EECF0E6}" type="sibTrans" cxnId="{5A6DECC1-A1B5-406B-A60E-F8BEAFF942C8}">
      <dgm:prSet/>
      <dgm:spPr/>
      <dgm:t>
        <a:bodyPr/>
        <a:lstStyle/>
        <a:p>
          <a:endParaRPr lang="en-US"/>
        </a:p>
      </dgm:t>
    </dgm:pt>
    <dgm:pt modelId="{57D70619-EB1D-4C46-9EF8-D0365F4CCE16}">
      <dgm:prSet/>
      <dgm:spPr/>
      <dgm:t>
        <a:bodyPr/>
        <a:lstStyle/>
        <a:p>
          <a:r>
            <a:rPr lang="en-AU" noProof="0" dirty="0"/>
            <a:t>Metaheuristic Algorithms</a:t>
          </a:r>
        </a:p>
      </dgm:t>
    </dgm:pt>
    <dgm:pt modelId="{C6E8FEB6-CDBB-431B-BE3A-37E2377A61B5}" type="parTrans" cxnId="{ECC50F5B-5AA4-4A9E-A6D3-057EAFD8E87C}">
      <dgm:prSet/>
      <dgm:spPr/>
      <dgm:t>
        <a:bodyPr/>
        <a:lstStyle/>
        <a:p>
          <a:endParaRPr lang="en-US"/>
        </a:p>
      </dgm:t>
    </dgm:pt>
    <dgm:pt modelId="{CC0D0DA3-A622-4E39-B952-6832E22BD89C}" type="sibTrans" cxnId="{ECC50F5B-5AA4-4A9E-A6D3-057EAFD8E87C}">
      <dgm:prSet/>
      <dgm:spPr/>
      <dgm:t>
        <a:bodyPr/>
        <a:lstStyle/>
        <a:p>
          <a:endParaRPr lang="en-US"/>
        </a:p>
      </dgm:t>
    </dgm:pt>
    <dgm:pt modelId="{EE4D7001-52A1-446A-9B96-2FA2619BD2CB}">
      <dgm:prSet/>
      <dgm:spPr/>
      <dgm:t>
        <a:bodyPr/>
        <a:lstStyle/>
        <a:p>
          <a:r>
            <a:rPr lang="en-AU" noProof="0" dirty="0"/>
            <a:t>Selected approach: Simulated Annealing with Variable Neighbourhood Search (SAVNS) (Winata, 2011)</a:t>
          </a:r>
        </a:p>
      </dgm:t>
    </dgm:pt>
    <dgm:pt modelId="{E6C4F9D0-51FE-462D-9FC0-A3963E5FCF51}" type="parTrans" cxnId="{759B8031-C19B-4C32-9C28-8546E356F31E}">
      <dgm:prSet/>
      <dgm:spPr/>
      <dgm:t>
        <a:bodyPr/>
        <a:lstStyle/>
        <a:p>
          <a:endParaRPr lang="en-US"/>
        </a:p>
      </dgm:t>
    </dgm:pt>
    <dgm:pt modelId="{6B4ADE1B-BBFE-4976-8A09-D720F0F32F3C}" type="sibTrans" cxnId="{759B8031-C19B-4C32-9C28-8546E356F31E}">
      <dgm:prSet/>
      <dgm:spPr/>
      <dgm:t>
        <a:bodyPr/>
        <a:lstStyle/>
        <a:p>
          <a:endParaRPr lang="en-US"/>
        </a:p>
      </dgm:t>
    </dgm:pt>
    <dgm:pt modelId="{647E6C37-04C9-47E5-8346-E3CF4DF51787}" type="pres">
      <dgm:prSet presAssocID="{8C020111-FDA8-471F-8A04-87B4295C3DE6}" presName="root" presStyleCnt="0">
        <dgm:presLayoutVars>
          <dgm:dir/>
          <dgm:resizeHandles val="exact"/>
        </dgm:presLayoutVars>
      </dgm:prSet>
      <dgm:spPr/>
    </dgm:pt>
    <dgm:pt modelId="{A3F972F1-8DE7-48FE-90DC-EE0476016952}" type="pres">
      <dgm:prSet presAssocID="{2A6E8230-0EFD-4DCF-9003-D075E39E1B97}" presName="compNode" presStyleCnt="0"/>
      <dgm:spPr/>
    </dgm:pt>
    <dgm:pt modelId="{CA11AC62-8C08-469B-BBFE-8CEB1119DA44}" type="pres">
      <dgm:prSet presAssocID="{2A6E8230-0EFD-4DCF-9003-D075E39E1B97}" presName="bgRect" presStyleLbl="bgShp" presStyleIdx="0" presStyleCnt="4"/>
      <dgm:spPr/>
    </dgm:pt>
    <dgm:pt modelId="{0B79494C-B303-4764-966E-66EED8E8E923}" type="pres">
      <dgm:prSet presAssocID="{2A6E8230-0EFD-4DCF-9003-D075E39E1B9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D711803C-7EAC-4C27-AB9C-1DAF3A0EFFAB}" type="pres">
      <dgm:prSet presAssocID="{2A6E8230-0EFD-4DCF-9003-D075E39E1B97}" presName="spaceRect" presStyleCnt="0"/>
      <dgm:spPr/>
    </dgm:pt>
    <dgm:pt modelId="{B106C89A-B853-43B1-8FB5-8F98095059F8}" type="pres">
      <dgm:prSet presAssocID="{2A6E8230-0EFD-4DCF-9003-D075E39E1B97}" presName="parTx" presStyleLbl="revTx" presStyleIdx="0" presStyleCnt="4">
        <dgm:presLayoutVars>
          <dgm:chMax val="0"/>
          <dgm:chPref val="0"/>
        </dgm:presLayoutVars>
      </dgm:prSet>
      <dgm:spPr/>
    </dgm:pt>
    <dgm:pt modelId="{9942D025-30D8-4547-A683-4BADDDFB48AC}" type="pres">
      <dgm:prSet presAssocID="{2FEC4603-ECFE-4504-A03B-B787D6A6610A}" presName="sibTrans" presStyleCnt="0"/>
      <dgm:spPr/>
    </dgm:pt>
    <dgm:pt modelId="{BE9CEFEB-2E9C-4411-B9CD-426A69399425}" type="pres">
      <dgm:prSet presAssocID="{18E1B4C1-77E8-4EE6-A766-09B72D6F956D}" presName="compNode" presStyleCnt="0"/>
      <dgm:spPr/>
    </dgm:pt>
    <dgm:pt modelId="{6E0C00B1-F5CD-44D2-B354-C747E0DC6853}" type="pres">
      <dgm:prSet presAssocID="{18E1B4C1-77E8-4EE6-A766-09B72D6F956D}" presName="bgRect" presStyleLbl="bgShp" presStyleIdx="1" presStyleCnt="4"/>
      <dgm:spPr/>
    </dgm:pt>
    <dgm:pt modelId="{06046487-05EB-4B59-98ED-54A9438334B1}" type="pres">
      <dgm:prSet presAssocID="{18E1B4C1-77E8-4EE6-A766-09B72D6F956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FA7B2DD-8B93-4989-BA81-51F9AD675F99}" type="pres">
      <dgm:prSet presAssocID="{18E1B4C1-77E8-4EE6-A766-09B72D6F956D}" presName="spaceRect" presStyleCnt="0"/>
      <dgm:spPr/>
    </dgm:pt>
    <dgm:pt modelId="{B0E5C977-70F8-40C4-B8FF-8C3324F4859D}" type="pres">
      <dgm:prSet presAssocID="{18E1B4C1-77E8-4EE6-A766-09B72D6F956D}" presName="parTx" presStyleLbl="revTx" presStyleIdx="1" presStyleCnt="4">
        <dgm:presLayoutVars>
          <dgm:chMax val="0"/>
          <dgm:chPref val="0"/>
        </dgm:presLayoutVars>
      </dgm:prSet>
      <dgm:spPr/>
    </dgm:pt>
    <dgm:pt modelId="{CBA347B5-25C4-49C5-9D07-4C720D6A8051}" type="pres">
      <dgm:prSet presAssocID="{8B7B73AA-96D4-4D15-9623-D10D0EECF0E6}" presName="sibTrans" presStyleCnt="0"/>
      <dgm:spPr/>
    </dgm:pt>
    <dgm:pt modelId="{A4B4D2F3-D8C2-45D6-B27E-47E79E6AA313}" type="pres">
      <dgm:prSet presAssocID="{57D70619-EB1D-4C46-9EF8-D0365F4CCE16}" presName="compNode" presStyleCnt="0"/>
      <dgm:spPr/>
    </dgm:pt>
    <dgm:pt modelId="{BB825BDD-11F9-46A4-B6C2-49D3C9B95BBE}" type="pres">
      <dgm:prSet presAssocID="{57D70619-EB1D-4C46-9EF8-D0365F4CCE16}" presName="bgRect" presStyleLbl="bgShp" presStyleIdx="2" presStyleCnt="4"/>
      <dgm:spPr/>
    </dgm:pt>
    <dgm:pt modelId="{AF1A9200-852C-4045-8734-1DD99B021296}" type="pres">
      <dgm:prSet presAssocID="{57D70619-EB1D-4C46-9EF8-D0365F4CCE1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AE76408-D7FD-487F-9BE8-E42C2D8BC49C}" type="pres">
      <dgm:prSet presAssocID="{57D70619-EB1D-4C46-9EF8-D0365F4CCE16}" presName="spaceRect" presStyleCnt="0"/>
      <dgm:spPr/>
    </dgm:pt>
    <dgm:pt modelId="{18C26B40-30A8-4F29-842C-97EBF614EB76}" type="pres">
      <dgm:prSet presAssocID="{57D70619-EB1D-4C46-9EF8-D0365F4CCE16}" presName="parTx" presStyleLbl="revTx" presStyleIdx="2" presStyleCnt="4">
        <dgm:presLayoutVars>
          <dgm:chMax val="0"/>
          <dgm:chPref val="0"/>
        </dgm:presLayoutVars>
      </dgm:prSet>
      <dgm:spPr/>
    </dgm:pt>
    <dgm:pt modelId="{F6FA0B16-81E7-44CA-B578-64BF08383799}" type="pres">
      <dgm:prSet presAssocID="{CC0D0DA3-A622-4E39-B952-6832E22BD89C}" presName="sibTrans" presStyleCnt="0"/>
      <dgm:spPr/>
    </dgm:pt>
    <dgm:pt modelId="{34E4FEAB-8DA6-488F-841C-4A51FABB3FA6}" type="pres">
      <dgm:prSet presAssocID="{EE4D7001-52A1-446A-9B96-2FA2619BD2CB}" presName="compNode" presStyleCnt="0"/>
      <dgm:spPr/>
    </dgm:pt>
    <dgm:pt modelId="{FF5A1AE2-A900-4BE0-A321-43A699C73F2D}" type="pres">
      <dgm:prSet presAssocID="{EE4D7001-52A1-446A-9B96-2FA2619BD2CB}" presName="bgRect" presStyleLbl="bgShp" presStyleIdx="3" presStyleCnt="4"/>
      <dgm:spPr/>
    </dgm:pt>
    <dgm:pt modelId="{7D78BE65-957E-4DC7-BC8A-BFBE881F594D}" type="pres">
      <dgm:prSet presAssocID="{EE4D7001-52A1-446A-9B96-2FA2619BD2C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C187485-DCB8-4D9D-9E42-39545C102F6D}" type="pres">
      <dgm:prSet presAssocID="{EE4D7001-52A1-446A-9B96-2FA2619BD2CB}" presName="spaceRect" presStyleCnt="0"/>
      <dgm:spPr/>
    </dgm:pt>
    <dgm:pt modelId="{215AC3C7-EE2C-4525-AF5B-A893C9ACCE3D}" type="pres">
      <dgm:prSet presAssocID="{EE4D7001-52A1-446A-9B96-2FA2619BD2C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59B8031-C19B-4C32-9C28-8546E356F31E}" srcId="{8C020111-FDA8-471F-8A04-87B4295C3DE6}" destId="{EE4D7001-52A1-446A-9B96-2FA2619BD2CB}" srcOrd="3" destOrd="0" parTransId="{E6C4F9D0-51FE-462D-9FC0-A3963E5FCF51}" sibTransId="{6B4ADE1B-BBFE-4976-8A09-D720F0F32F3C}"/>
    <dgm:cxn modelId="{ECC50F5B-5AA4-4A9E-A6D3-057EAFD8E87C}" srcId="{8C020111-FDA8-471F-8A04-87B4295C3DE6}" destId="{57D70619-EB1D-4C46-9EF8-D0365F4CCE16}" srcOrd="2" destOrd="0" parTransId="{C6E8FEB6-CDBB-431B-BE3A-37E2377A61B5}" sibTransId="{CC0D0DA3-A622-4E39-B952-6832E22BD89C}"/>
    <dgm:cxn modelId="{7D407263-3D58-48EF-BE7E-8D5DA45A52F0}" type="presOf" srcId="{8C020111-FDA8-471F-8A04-87B4295C3DE6}" destId="{647E6C37-04C9-47E5-8346-E3CF4DF51787}" srcOrd="0" destOrd="0" presId="urn:microsoft.com/office/officeart/2018/2/layout/IconVerticalSolidList"/>
    <dgm:cxn modelId="{277E734E-6C9E-4249-A4F4-2594ECD2EA27}" type="presOf" srcId="{18E1B4C1-77E8-4EE6-A766-09B72D6F956D}" destId="{B0E5C977-70F8-40C4-B8FF-8C3324F4859D}" srcOrd="0" destOrd="0" presId="urn:microsoft.com/office/officeart/2018/2/layout/IconVerticalSolidList"/>
    <dgm:cxn modelId="{07728A55-F61D-4615-82B0-55A9753209B8}" srcId="{8C020111-FDA8-471F-8A04-87B4295C3DE6}" destId="{2A6E8230-0EFD-4DCF-9003-D075E39E1B97}" srcOrd="0" destOrd="0" parTransId="{93465BAB-01A9-467B-8A3B-247DED3252A8}" sibTransId="{2FEC4603-ECFE-4504-A03B-B787D6A6610A}"/>
    <dgm:cxn modelId="{2F108E7E-CAAC-408E-A354-9A680FBD3728}" type="presOf" srcId="{2A6E8230-0EFD-4DCF-9003-D075E39E1B97}" destId="{B106C89A-B853-43B1-8FB5-8F98095059F8}" srcOrd="0" destOrd="0" presId="urn:microsoft.com/office/officeart/2018/2/layout/IconVerticalSolidList"/>
    <dgm:cxn modelId="{54FC4FA4-A96E-4E88-8DD3-F6940E430D45}" type="presOf" srcId="{EE4D7001-52A1-446A-9B96-2FA2619BD2CB}" destId="{215AC3C7-EE2C-4525-AF5B-A893C9ACCE3D}" srcOrd="0" destOrd="0" presId="urn:microsoft.com/office/officeart/2018/2/layout/IconVerticalSolidList"/>
    <dgm:cxn modelId="{5A6DECC1-A1B5-406B-A60E-F8BEAFF942C8}" srcId="{8C020111-FDA8-471F-8A04-87B4295C3DE6}" destId="{18E1B4C1-77E8-4EE6-A766-09B72D6F956D}" srcOrd="1" destOrd="0" parTransId="{BD18C9E6-A686-416E-80F9-9677C9163D83}" sibTransId="{8B7B73AA-96D4-4D15-9623-D10D0EECF0E6}"/>
    <dgm:cxn modelId="{A0770BED-7645-4E4B-AC6E-CD554324D878}" type="presOf" srcId="{57D70619-EB1D-4C46-9EF8-D0365F4CCE16}" destId="{18C26B40-30A8-4F29-842C-97EBF614EB76}" srcOrd="0" destOrd="0" presId="urn:microsoft.com/office/officeart/2018/2/layout/IconVerticalSolidList"/>
    <dgm:cxn modelId="{56F6C1CC-3EA3-4C7F-B53A-CD938100079F}" type="presParOf" srcId="{647E6C37-04C9-47E5-8346-E3CF4DF51787}" destId="{A3F972F1-8DE7-48FE-90DC-EE0476016952}" srcOrd="0" destOrd="0" presId="urn:microsoft.com/office/officeart/2018/2/layout/IconVerticalSolidList"/>
    <dgm:cxn modelId="{0AE948C6-1755-413A-8F1C-DE297C4D1BF3}" type="presParOf" srcId="{A3F972F1-8DE7-48FE-90DC-EE0476016952}" destId="{CA11AC62-8C08-469B-BBFE-8CEB1119DA44}" srcOrd="0" destOrd="0" presId="urn:microsoft.com/office/officeart/2018/2/layout/IconVerticalSolidList"/>
    <dgm:cxn modelId="{ED89BD07-70FD-492D-B533-E0860981E1EF}" type="presParOf" srcId="{A3F972F1-8DE7-48FE-90DC-EE0476016952}" destId="{0B79494C-B303-4764-966E-66EED8E8E923}" srcOrd="1" destOrd="0" presId="urn:microsoft.com/office/officeart/2018/2/layout/IconVerticalSolidList"/>
    <dgm:cxn modelId="{4B75EB95-9894-4989-A5A8-B229DF2F8597}" type="presParOf" srcId="{A3F972F1-8DE7-48FE-90DC-EE0476016952}" destId="{D711803C-7EAC-4C27-AB9C-1DAF3A0EFFAB}" srcOrd="2" destOrd="0" presId="urn:microsoft.com/office/officeart/2018/2/layout/IconVerticalSolidList"/>
    <dgm:cxn modelId="{28D1B75D-BE53-4CCD-9952-FFD9076989A0}" type="presParOf" srcId="{A3F972F1-8DE7-48FE-90DC-EE0476016952}" destId="{B106C89A-B853-43B1-8FB5-8F98095059F8}" srcOrd="3" destOrd="0" presId="urn:microsoft.com/office/officeart/2018/2/layout/IconVerticalSolidList"/>
    <dgm:cxn modelId="{8E356E51-550E-40A0-8749-7BABCE80E587}" type="presParOf" srcId="{647E6C37-04C9-47E5-8346-E3CF4DF51787}" destId="{9942D025-30D8-4547-A683-4BADDDFB48AC}" srcOrd="1" destOrd="0" presId="urn:microsoft.com/office/officeart/2018/2/layout/IconVerticalSolidList"/>
    <dgm:cxn modelId="{D35421AD-1875-480D-8475-FFF1A6151BAC}" type="presParOf" srcId="{647E6C37-04C9-47E5-8346-E3CF4DF51787}" destId="{BE9CEFEB-2E9C-4411-B9CD-426A69399425}" srcOrd="2" destOrd="0" presId="urn:microsoft.com/office/officeart/2018/2/layout/IconVerticalSolidList"/>
    <dgm:cxn modelId="{607E68D0-CCB2-4566-8853-F8121F9A954A}" type="presParOf" srcId="{BE9CEFEB-2E9C-4411-B9CD-426A69399425}" destId="{6E0C00B1-F5CD-44D2-B354-C747E0DC6853}" srcOrd="0" destOrd="0" presId="urn:microsoft.com/office/officeart/2018/2/layout/IconVerticalSolidList"/>
    <dgm:cxn modelId="{C54F1ED3-49E4-48D9-96B9-FFA13C015020}" type="presParOf" srcId="{BE9CEFEB-2E9C-4411-B9CD-426A69399425}" destId="{06046487-05EB-4B59-98ED-54A9438334B1}" srcOrd="1" destOrd="0" presId="urn:microsoft.com/office/officeart/2018/2/layout/IconVerticalSolidList"/>
    <dgm:cxn modelId="{1735EE4B-7D9B-4CCC-9650-923B93160EF3}" type="presParOf" srcId="{BE9CEFEB-2E9C-4411-B9CD-426A69399425}" destId="{8FA7B2DD-8B93-4989-BA81-51F9AD675F99}" srcOrd="2" destOrd="0" presId="urn:microsoft.com/office/officeart/2018/2/layout/IconVerticalSolidList"/>
    <dgm:cxn modelId="{4E90E175-5B9E-459B-81A4-1ADBDD30B1B9}" type="presParOf" srcId="{BE9CEFEB-2E9C-4411-B9CD-426A69399425}" destId="{B0E5C977-70F8-40C4-B8FF-8C3324F4859D}" srcOrd="3" destOrd="0" presId="urn:microsoft.com/office/officeart/2018/2/layout/IconVerticalSolidList"/>
    <dgm:cxn modelId="{67DF9910-77A9-4BC1-A65E-D0A5A35CED1A}" type="presParOf" srcId="{647E6C37-04C9-47E5-8346-E3CF4DF51787}" destId="{CBA347B5-25C4-49C5-9D07-4C720D6A8051}" srcOrd="3" destOrd="0" presId="urn:microsoft.com/office/officeart/2018/2/layout/IconVerticalSolidList"/>
    <dgm:cxn modelId="{945F9517-C7E7-4D0F-9DF5-958F4C35D5ED}" type="presParOf" srcId="{647E6C37-04C9-47E5-8346-E3CF4DF51787}" destId="{A4B4D2F3-D8C2-45D6-B27E-47E79E6AA313}" srcOrd="4" destOrd="0" presId="urn:microsoft.com/office/officeart/2018/2/layout/IconVerticalSolidList"/>
    <dgm:cxn modelId="{D730537F-30C7-40B0-A982-EAC8F267E18D}" type="presParOf" srcId="{A4B4D2F3-D8C2-45D6-B27E-47E79E6AA313}" destId="{BB825BDD-11F9-46A4-B6C2-49D3C9B95BBE}" srcOrd="0" destOrd="0" presId="urn:microsoft.com/office/officeart/2018/2/layout/IconVerticalSolidList"/>
    <dgm:cxn modelId="{7C54343B-09D3-4BE6-BFDF-01EF5E23A68B}" type="presParOf" srcId="{A4B4D2F3-D8C2-45D6-B27E-47E79E6AA313}" destId="{AF1A9200-852C-4045-8734-1DD99B021296}" srcOrd="1" destOrd="0" presId="urn:microsoft.com/office/officeart/2018/2/layout/IconVerticalSolidList"/>
    <dgm:cxn modelId="{03A70AF8-8FCA-4F65-9A16-DB7DDF436C65}" type="presParOf" srcId="{A4B4D2F3-D8C2-45D6-B27E-47E79E6AA313}" destId="{BAE76408-D7FD-487F-9BE8-E42C2D8BC49C}" srcOrd="2" destOrd="0" presId="urn:microsoft.com/office/officeart/2018/2/layout/IconVerticalSolidList"/>
    <dgm:cxn modelId="{5577FE80-A058-4DE1-B11C-8F9005486F52}" type="presParOf" srcId="{A4B4D2F3-D8C2-45D6-B27E-47E79E6AA313}" destId="{18C26B40-30A8-4F29-842C-97EBF614EB76}" srcOrd="3" destOrd="0" presId="urn:microsoft.com/office/officeart/2018/2/layout/IconVerticalSolidList"/>
    <dgm:cxn modelId="{E150E383-B85B-492D-B2B6-77320C3A2D48}" type="presParOf" srcId="{647E6C37-04C9-47E5-8346-E3CF4DF51787}" destId="{F6FA0B16-81E7-44CA-B578-64BF08383799}" srcOrd="5" destOrd="0" presId="urn:microsoft.com/office/officeart/2018/2/layout/IconVerticalSolidList"/>
    <dgm:cxn modelId="{88A564F2-6FAD-4B21-A02B-E062F57751A8}" type="presParOf" srcId="{647E6C37-04C9-47E5-8346-E3CF4DF51787}" destId="{34E4FEAB-8DA6-488F-841C-4A51FABB3FA6}" srcOrd="6" destOrd="0" presId="urn:microsoft.com/office/officeart/2018/2/layout/IconVerticalSolidList"/>
    <dgm:cxn modelId="{9388B9EF-4B29-4E99-AF67-AB76C737F283}" type="presParOf" srcId="{34E4FEAB-8DA6-488F-841C-4A51FABB3FA6}" destId="{FF5A1AE2-A900-4BE0-A321-43A699C73F2D}" srcOrd="0" destOrd="0" presId="urn:microsoft.com/office/officeart/2018/2/layout/IconVerticalSolidList"/>
    <dgm:cxn modelId="{32C93F22-C8FB-4983-A291-640465AE77C1}" type="presParOf" srcId="{34E4FEAB-8DA6-488F-841C-4A51FABB3FA6}" destId="{7D78BE65-957E-4DC7-BC8A-BFBE881F594D}" srcOrd="1" destOrd="0" presId="urn:microsoft.com/office/officeart/2018/2/layout/IconVerticalSolidList"/>
    <dgm:cxn modelId="{D2DB75D6-5CD5-4AEF-AA14-677F90E66818}" type="presParOf" srcId="{34E4FEAB-8DA6-488F-841C-4A51FABB3FA6}" destId="{1C187485-DCB8-4D9D-9E42-39545C102F6D}" srcOrd="2" destOrd="0" presId="urn:microsoft.com/office/officeart/2018/2/layout/IconVerticalSolidList"/>
    <dgm:cxn modelId="{DB92D1D9-1C58-4A0E-8579-31BE0132EA4B}" type="presParOf" srcId="{34E4FEAB-8DA6-488F-841C-4A51FABB3FA6}" destId="{215AC3C7-EE2C-4525-AF5B-A893C9ACCE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1AC62-8C08-469B-BBFE-8CEB1119DA44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9494C-B303-4764-966E-66EED8E8E923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6C89A-B853-43B1-8FB5-8F98095059F8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noProof="0" dirty="0"/>
            <a:t>Mathematical Programming </a:t>
          </a:r>
        </a:p>
      </dsp:txBody>
      <dsp:txXfrm>
        <a:off x="1428292" y="2439"/>
        <a:ext cx="4873308" cy="1236616"/>
      </dsp:txXfrm>
    </dsp:sp>
    <dsp:sp modelId="{6E0C00B1-F5CD-44D2-B354-C747E0DC6853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046487-05EB-4B59-98ED-54A9438334B1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5C977-70F8-40C4-B8FF-8C3324F4859D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noProof="0" dirty="0"/>
            <a:t>Stochastic Simulation </a:t>
          </a:r>
        </a:p>
      </dsp:txBody>
      <dsp:txXfrm>
        <a:off x="1428292" y="1548210"/>
        <a:ext cx="4873308" cy="1236616"/>
      </dsp:txXfrm>
    </dsp:sp>
    <dsp:sp modelId="{BB825BDD-11F9-46A4-B6C2-49D3C9B95BBE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1A9200-852C-4045-8734-1DD99B021296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C26B40-30A8-4F29-842C-97EBF614EB76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noProof="0" dirty="0"/>
            <a:t>Metaheuristic Algorithms</a:t>
          </a:r>
        </a:p>
      </dsp:txBody>
      <dsp:txXfrm>
        <a:off x="1428292" y="3093981"/>
        <a:ext cx="4873308" cy="1236616"/>
      </dsp:txXfrm>
    </dsp:sp>
    <dsp:sp modelId="{FF5A1AE2-A900-4BE0-A321-43A699C73F2D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8BE65-957E-4DC7-BC8A-BFBE881F594D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AC3C7-EE2C-4525-AF5B-A893C9ACCE3D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100" kern="1200" noProof="0" dirty="0"/>
            <a:t>Selected approach: Simulated Annealing with Variable Neighbourhood Search (SAVNS) (Winata, 2011)</a:t>
          </a:r>
        </a:p>
      </dsp:txBody>
      <dsp:txXfrm>
        <a:off x="1428292" y="4639752"/>
        <a:ext cx="48733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0086F-6501-442A-B5F5-9D09605BDEE0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084F6-DEB1-46CA-8A6A-74785726EC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1466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740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5118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2E8C-64BE-4DD3-5F27-DA27B3D0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07124-BE03-37E4-0D10-B2DB4625F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52DF3-2D5E-8272-88B1-31CAEEDB2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EECAF-192A-6798-9F62-1296C944E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9823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3473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1960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59F1-A0E3-C8D8-2304-B07ADAE0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9E565-BC4E-5CC4-A1D2-4628A881D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FAB18-7B0E-E825-351F-1141FACEC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28F73-DBEA-CA63-193B-43E3DC8CF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8259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34573-8912-13B1-45A0-60D5537CF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FFDE2-3DAA-F09B-1411-CAB7AFDF6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6D9C9-7D2A-0148-BDA5-A0E1F4ECC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F1379-8678-C3EB-6EDE-19A8BCB94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084F6-DEB1-46CA-8A6A-74785726ECE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7785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AC29-5489-7E59-EAC9-D647FB484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501C13-E0B2-D076-7CD7-A6AC33D13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ABFF5-6218-2733-F7D7-DD43FF3E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C09D1-4BB8-DFBC-BBAA-CF2404718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124C5-CBB2-6745-3685-4BA6A7ED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9660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5595-0FC8-A071-C6A1-FD736E65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C650A-169D-8AE2-1DCA-D4E4EDE6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2D135-BC8E-4B1F-B311-615BDA2B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E205C-2CDA-B38C-FCDF-0583627C1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E7FF6-BD67-1FA2-6C13-761141E5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226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7FDA-BC2B-2887-C4A9-7B9ED044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02086-03F0-09BB-A77A-4FB4C29E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66CE-BB85-0270-43B0-3C359B125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BB362-5A23-5B68-BE51-F0911E4A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C5297-93D0-8140-2ACD-F50F9574C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954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9449-3E44-6EA6-776C-F7F459ED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B937-9F21-3E4E-4E61-D5AE3E5B66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022D0-26BA-67B5-621D-EBA2C13C8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D2C76-6DCC-1274-1CD9-163BE5B5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5CCA0-9807-AF6E-1257-31140E40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ADBAA-34A0-299F-9CC8-4E887DC8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987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3C85-D656-7770-7F02-ABA0B758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86C69-4818-8D27-53B3-61459A979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F99EB-0DDC-F689-0CAD-3B8A4EF14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655FA0-F4BF-294D-6C91-839EC185E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32D8F-9E7C-BFCC-7506-42FAD0452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A9DA42-17EC-0526-9EAE-55968BE9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A22C3E-FF08-4F95-71B6-A3DFCB2B1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8EF523-A7A4-5C96-A87E-62A9FFE8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638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2C16-082C-1C2D-2E7F-5A6EAA6D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E42EB-571E-35CA-2A3B-7512CBAD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FFC9C-6799-4836-1125-10115B30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A684E-FF97-AD89-A309-B4EF8132F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908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A33FB7-EB70-9CAB-3760-550ED1D9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3D347-9DE0-5C07-52C1-88314FBC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43FF2-4A69-6A74-5C0D-F878E8C9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250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98DE-29C8-674F-C03A-256434246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168ED-8F37-98B1-EF30-760C493A4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23C02-58C9-E86C-64B0-548C80A60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717D8-E341-BB22-238E-E9AFE292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953E8-4735-72DA-6B79-6867005B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09CD1-1C39-4510-CDA4-ED3EA977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9570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C23AD-791B-B7F3-A376-E608A61C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FF0F7-6039-9D71-D0F2-F020EB1BD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11312-EB3B-5541-AF2E-8A5A7DB73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2DDDA-6916-3433-381F-F9E3D806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1D945-48A8-8981-9F9B-8D606E9E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CBBC1-F6AE-DF73-5D10-1AFE1FE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68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948F-B5F0-6E1C-9D2F-FE655DBF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B8EDC-C405-DDDD-C07D-E4B134181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4D829-7E7C-76B9-31E3-3CF6DB4EB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9E042-4052-64D4-92D5-404003C8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6AAB2-7265-573F-5D26-153411B5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246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CFF2DB-AAD9-5CB0-E51B-B937F5D7F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E478B-10DD-1473-2606-A5B383462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3A97E-9A01-7B17-FE27-E352FCAA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22961-B1D5-80C6-4DDD-DF3201D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B7E82-8EF1-B9DA-9BFB-DF20717A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953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53780-02F0-855E-B11C-90780D54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40E0-0AF6-2A1F-24E0-8970A6C9B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5E01E-A400-C215-C4C4-272CCB5FE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A5D4D-6049-4B4A-AC9A-1E104DF16849}" type="datetimeFigureOut">
              <a:rPr lang="en-AU" smtClean="0"/>
              <a:t>21/07/2026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BA32E-F332-6240-29D9-F2CB902BA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CC8AC-8647-5973-91D8-83A301967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143E0-65BA-4AF4-B9F5-3A6221583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857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B536-CD70-9DE5-CFC2-48C767173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935A8-37BF-57C3-A747-1FF6693A07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B6FCE-F346-304F-AA40-EB8F60801D40}"/>
              </a:ext>
            </a:extLst>
          </p:cNvPr>
          <p:cNvSpPr/>
          <p:nvPr/>
        </p:nvSpPr>
        <p:spPr>
          <a:xfrm>
            <a:off x="319872" y="291353"/>
            <a:ext cx="11552256" cy="627529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7208DD-28BB-3FF1-9FBB-E8C3FAEBA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64" y="5838783"/>
            <a:ext cx="2003282" cy="4437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8BAAE8-9568-E670-3D2B-09E0493A65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370" y="426737"/>
            <a:ext cx="717140" cy="7171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F76717-FBF4-D43F-202F-9235C7C3C349}"/>
              </a:ext>
            </a:extLst>
          </p:cNvPr>
          <p:cNvSpPr txBox="1"/>
          <p:nvPr/>
        </p:nvSpPr>
        <p:spPr>
          <a:xfrm>
            <a:off x="457490" y="785307"/>
            <a:ext cx="9760880" cy="8294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chemeClr val="bg1"/>
                </a:solidFill>
              </a:rPr>
              <a:t>Scheduling Algorithm Research. </a:t>
            </a:r>
          </a:p>
          <a:p>
            <a:r>
              <a:rPr lang="en-AU" sz="3600" b="1" dirty="0">
                <a:solidFill>
                  <a:schemeClr val="bg1"/>
                </a:solidFill>
              </a:rPr>
              <a:t>Prototype a range of proposed scheduling algorithm improvements with dummy data</a:t>
            </a:r>
          </a:p>
          <a:p>
            <a:endParaRPr lang="en-AU" sz="3500" b="1" noProof="0" dirty="0">
              <a:solidFill>
                <a:schemeClr val="bg1"/>
              </a:solidFill>
            </a:endParaRPr>
          </a:p>
          <a:p>
            <a:r>
              <a:rPr lang="en-AU" sz="3500" b="1" noProof="0" dirty="0">
                <a:solidFill>
                  <a:schemeClr val="bg1"/>
                </a:solidFill>
              </a:rPr>
              <a:t>Iteration 1</a:t>
            </a:r>
          </a:p>
          <a:p>
            <a:endParaRPr lang="en-AU" sz="3500" b="1" noProof="0" dirty="0">
              <a:solidFill>
                <a:schemeClr val="bg1"/>
              </a:solidFill>
            </a:endParaRPr>
          </a:p>
          <a:p>
            <a:endParaRPr lang="en-AU" sz="3500" b="1" noProof="0" dirty="0">
              <a:solidFill>
                <a:schemeClr val="bg1"/>
              </a:solidFill>
            </a:endParaRPr>
          </a:p>
          <a:p>
            <a:endParaRPr lang="en-AU" sz="3500" b="1" noProof="0" dirty="0">
              <a:solidFill>
                <a:schemeClr val="bg1"/>
              </a:solidFill>
            </a:endParaRPr>
          </a:p>
          <a:p>
            <a:r>
              <a:rPr lang="en-AU" sz="2000" b="1" noProof="0" dirty="0">
                <a:solidFill>
                  <a:schemeClr val="bg1"/>
                </a:solidFill>
              </a:rPr>
              <a:t>Presenter: David Long</a:t>
            </a:r>
          </a:p>
          <a:p>
            <a:endParaRPr lang="en-AU" sz="3500" b="1" noProof="0" dirty="0">
              <a:solidFill>
                <a:schemeClr val="bg1"/>
              </a:solidFill>
            </a:endParaRPr>
          </a:p>
          <a:p>
            <a:endParaRPr lang="en-AU" sz="2000" b="1" noProof="0" dirty="0">
              <a:solidFill>
                <a:schemeClr val="bg1"/>
              </a:solidFill>
            </a:endParaRPr>
          </a:p>
          <a:p>
            <a:endParaRPr lang="en-AU" sz="2000" b="1" noProof="0" dirty="0">
              <a:solidFill>
                <a:schemeClr val="bg1"/>
              </a:solidFill>
            </a:endParaRPr>
          </a:p>
          <a:p>
            <a:endParaRPr lang="en-AU" sz="2000" b="1" noProof="0" dirty="0">
              <a:solidFill>
                <a:schemeClr val="bg1"/>
              </a:solidFill>
            </a:endParaRPr>
          </a:p>
          <a:p>
            <a:endParaRPr lang="en-AU" sz="2000" b="1" noProof="0" dirty="0">
              <a:solidFill>
                <a:schemeClr val="bg1"/>
              </a:solidFill>
            </a:endParaRPr>
          </a:p>
          <a:p>
            <a:endParaRPr lang="en-AU" sz="2000" b="1" noProof="0" dirty="0">
              <a:solidFill>
                <a:schemeClr val="bg1"/>
              </a:solidFill>
            </a:endParaRPr>
          </a:p>
          <a:p>
            <a:endParaRPr lang="en-AU" sz="2000" b="1" noProof="0" dirty="0">
              <a:solidFill>
                <a:schemeClr val="bg1"/>
              </a:solidFill>
            </a:endParaRPr>
          </a:p>
          <a:p>
            <a:endParaRPr lang="en-AU" sz="2000" b="1" noProof="0" dirty="0">
              <a:solidFill>
                <a:schemeClr val="bg1"/>
              </a:solidFill>
            </a:endParaRPr>
          </a:p>
          <a:p>
            <a:endParaRPr lang="en-AU" sz="2000" b="1" noProof="0" dirty="0">
              <a:solidFill>
                <a:schemeClr val="bg1"/>
              </a:solidFill>
            </a:endParaRPr>
          </a:p>
          <a:p>
            <a:endParaRPr lang="en-AU" sz="3500" b="1" noProof="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A11E68-1434-FB0F-7BF1-51BB9BD25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117" y="2874216"/>
            <a:ext cx="3395766" cy="11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234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F29D2-68F3-0A4A-23D3-3B9151B3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5A31B-B3BC-96F9-681C-5F5EFC6B7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Literature Review and Method Selection</a:t>
            </a:r>
          </a:p>
          <a:p>
            <a:r>
              <a:rPr lang="en-AU" dirty="0"/>
              <a:t>Initial Simple Dataset</a:t>
            </a:r>
          </a:p>
          <a:p>
            <a:r>
              <a:rPr lang="en-AU" dirty="0"/>
              <a:t>Best Improvement Neighbourhood Search</a:t>
            </a:r>
          </a:p>
          <a:p>
            <a:r>
              <a:rPr lang="en-AU" dirty="0"/>
              <a:t>Extended Heavy Maintenance Dataset</a:t>
            </a:r>
          </a:p>
          <a:p>
            <a:r>
              <a:rPr lang="en-AU" dirty="0"/>
              <a:t>Introducing Random Sampling </a:t>
            </a:r>
            <a:r>
              <a:rPr lang="en-AU"/>
              <a:t>Method for Heavy Dataset</a:t>
            </a:r>
            <a:endParaRPr lang="en-AU" dirty="0"/>
          </a:p>
          <a:p>
            <a:r>
              <a:rPr lang="en-AU" dirty="0"/>
              <a:t>Behaviour of Algorithm</a:t>
            </a:r>
          </a:p>
          <a:p>
            <a:r>
              <a:rPr lang="en-AU" dirty="0"/>
              <a:t>Future Works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853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C119C-6C5B-0770-1E12-2081CC78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AU" noProof="0" dirty="0">
                <a:solidFill>
                  <a:schemeClr val="bg1"/>
                </a:solidFill>
              </a:rPr>
              <a:t>Literature Review and Method Selection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noProof="0" dirty="0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noProof="0" dirty="0"/>
            </a:p>
          </p:txBody>
        </p:sp>
      </p:grp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25B04361-4C3D-6D2C-28A4-8ABF6472C3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33803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6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17583-7247-D2B9-C13F-B371424F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">
            <a:extLst>
              <a:ext uri="{FF2B5EF4-FFF2-40B4-BE49-F238E27FC236}">
                <a16:creationId xmlns:a16="http://schemas.microsoft.com/office/drawing/2014/main" id="{649C91A9-84E7-4BF0-9026-62F01380D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D94F0-52A1-115F-023D-9DC071C5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91" y="0"/>
            <a:ext cx="4080362" cy="1708242"/>
          </a:xfrm>
        </p:spPr>
        <p:txBody>
          <a:bodyPr anchor="ctr">
            <a:normAutofit/>
          </a:bodyPr>
          <a:lstStyle/>
          <a:p>
            <a:r>
              <a:rPr lang="en-AU" sz="4000" b="1" noProof="0" dirty="0"/>
              <a:t>Initial Dataset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78D83E5-E1DF-1F06-8A2A-658630B39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4092" y="1088020"/>
            <a:ext cx="5010108" cy="56137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AU" sz="2000" b="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0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Simple Dataset provided by Tim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AU" sz="2000" b="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0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10-aircraft fleet maintenance schedule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AU" sz="2000" b="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0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8 maintenance event with </a:t>
            </a:r>
            <a:r>
              <a:rPr lang="en-AU" sz="2000" noProof="0" dirty="0">
                <a:latin typeface="Arial" panose="020B0604020202020204" pitchFamily="34" charset="0"/>
              </a:rPr>
              <a:t>e</a:t>
            </a:r>
            <a:r>
              <a:rPr kumimoji="0" lang="en-AU" sz="20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ach even lasting 60 days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AU" sz="2000" b="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0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Maintenance windows constrained to 320–380 days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AU" sz="2000" b="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0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 Initial random schedule caused heavy maintenance overlap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AU" sz="2000" b="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000" b="1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Goal</a:t>
            </a:r>
            <a:r>
              <a:rPr kumimoji="0" lang="en-AU" sz="20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: stagger maintenance checks to maximum of 2 aircraft offline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47378D-AD27-45D0-8C1C-5B1098DCC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7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215900" dir="8520000" sx="94000" sy="94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96626D-A8A2-4179-7C98-3F853F6F2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847" y="1565476"/>
            <a:ext cx="6999151" cy="372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51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0F1B5D-6607-B3F3-80DB-2DF2490C4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78A0E-4412-E1D8-63D2-94FC3D4A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 noProof="0" dirty="0"/>
              <a:t>Best-Improvement Neighbourhood Search	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E707D9-B313-19D3-7B8A-ACCC04D0A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50" y="1541418"/>
            <a:ext cx="7503609" cy="4971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F29261-A05C-A617-9507-997E370A4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912" y="2481080"/>
            <a:ext cx="4522391" cy="2385560"/>
          </a:xfrm>
          <a:prstGeom prst="rect">
            <a:avLst/>
          </a:prstGeom>
        </p:spPr>
      </p:pic>
      <p:sp>
        <p:nvSpPr>
          <p:cNvPr id="13" name="AutoShape 10" descr="Optimization algorithm workflow diagram">
            <a:extLst>
              <a:ext uri="{FF2B5EF4-FFF2-40B4-BE49-F238E27FC236}">
                <a16:creationId xmlns:a16="http://schemas.microsoft.com/office/drawing/2014/main" id="{21EBC921-E282-B19E-243B-300038ACDA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60615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31BE-3F5B-89B5-E6DD-3C9C0276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761" y="0"/>
            <a:ext cx="10515600" cy="1325563"/>
          </a:xfrm>
        </p:spPr>
        <p:txBody>
          <a:bodyPr/>
          <a:lstStyle/>
          <a:p>
            <a:r>
              <a:rPr lang="en-AU" b="1" noProof="0" dirty="0"/>
              <a:t>Extended Heavy maintenance dataset	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DADB02-035B-53CF-9962-E4276D021B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3136" y="918778"/>
            <a:ext cx="5748703" cy="3301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AU" sz="2400" b="1" noProof="0" dirty="0"/>
              <a:t>Maintenance Cycle: </a:t>
            </a:r>
            <a:r>
              <a:rPr lang="en-AU" sz="2400" noProof="0" dirty="0"/>
              <a:t>A → B → A → C → A → B → A → D</a:t>
            </a:r>
            <a:endParaRPr lang="en-AU" sz="2400" b="1" noProof="0" dirty="0"/>
          </a:p>
          <a:p>
            <a:r>
              <a:rPr lang="en-AU" sz="2400" noProof="0" dirty="0"/>
              <a:t>Minimum forecast length: 12 years </a:t>
            </a:r>
          </a:p>
          <a:p>
            <a:r>
              <a:rPr lang="en-AU" sz="2400" noProof="0" dirty="0"/>
              <a:t>Represents 1.5 maintenance cycles</a:t>
            </a:r>
          </a:p>
          <a:p>
            <a:r>
              <a:rPr lang="en-AU" sz="2400" noProof="0" dirty="0"/>
              <a:t>24 Aircraft having 11-12 maintenance events per forecast</a:t>
            </a:r>
          </a:p>
          <a:p>
            <a:endParaRPr lang="en-AU" sz="2400" noProof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24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493D12-EF4B-1041-B45A-3C193DD7B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574" y="3429000"/>
            <a:ext cx="8093974" cy="3226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7BE054-2C77-EFC1-5B63-B0D88EF39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685" y="1514282"/>
            <a:ext cx="5711499" cy="152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12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72B5A-3216-1A11-5E04-044444A7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67D4E3B-0388-2BED-5B01-DA2A6F1A8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74C51-8353-BD72-29D5-D47AC2ED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AU" sz="3200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Optimised Heavy dataset using Random Sampling	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3D4C6D-5699-C424-0613-87C1939BA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690" y="1542844"/>
            <a:ext cx="7711332" cy="5108758"/>
          </a:xfrm>
          <a:prstGeom prst="rect">
            <a:avLst/>
          </a:prstGeom>
        </p:spPr>
      </p:pic>
      <p:sp>
        <p:nvSpPr>
          <p:cNvPr id="13" name="AutoShape 10" descr="Optimization algorithm workflow diagram">
            <a:extLst>
              <a:ext uri="{FF2B5EF4-FFF2-40B4-BE49-F238E27FC236}">
                <a16:creationId xmlns:a16="http://schemas.microsoft.com/office/drawing/2014/main" id="{1AE887EE-4832-D343-9523-0BD8C614F8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E7B2555-8466-DE0B-896A-8C3D64BCFE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1371" y="1927334"/>
            <a:ext cx="4326349" cy="423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AU" sz="2000" noProof="0" dirty="0"/>
              <a:t>Initial neighbour</a:t>
            </a:r>
            <a:r>
              <a:rPr lang="en-AU" sz="2000" dirty="0"/>
              <a:t>hood search worked on smaller dataset but too slow for heavy dataset</a:t>
            </a:r>
          </a:p>
          <a:p>
            <a:r>
              <a:rPr lang="en-AU" sz="2000" noProof="0" dirty="0"/>
              <a:t>Scaling to 24 aircraft made the search generate over 1000 schedules per iteration</a:t>
            </a:r>
          </a:p>
          <a:p>
            <a:r>
              <a:rPr lang="en-AU" sz="2000" dirty="0"/>
              <a:t>Random sampling strategy introduced </a:t>
            </a:r>
          </a:p>
          <a:p>
            <a:r>
              <a:rPr lang="en-AU" sz="2000" noProof="0" dirty="0"/>
              <a:t>Only 200 neighbouring schedules are evaluated which is </a:t>
            </a:r>
            <a:r>
              <a:rPr lang="en-US" sz="2000" noProof="0" dirty="0"/>
              <a:t>s</a:t>
            </a:r>
            <a:r>
              <a:rPr lang="en-US" sz="2000" dirty="0" err="1"/>
              <a:t>ufficient</a:t>
            </a:r>
            <a:r>
              <a:rPr lang="en-US" sz="2000" dirty="0"/>
              <a:t> to identify better local solutions.</a:t>
            </a:r>
          </a:p>
          <a:p>
            <a:pPr marL="0" indent="0">
              <a:buNone/>
            </a:pPr>
            <a:endParaRPr lang="en-AU" sz="2000" noProof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AU" sz="20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033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18882-17B0-915B-638B-C4C536C4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68EBB-78B6-E914-90C1-6CC53B736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AU" sz="3200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Optimised Heavy maintenance dataset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1579A-8727-45A4-0C5E-8AF40B12C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391" y="2113281"/>
            <a:ext cx="8645706" cy="3393440"/>
          </a:xfrm>
          <a:prstGeom prst="rect">
            <a:avLst/>
          </a:prstGeom>
        </p:spPr>
      </p:pic>
      <p:sp>
        <p:nvSpPr>
          <p:cNvPr id="13" name="AutoShape 10" descr="Optimization algorithm workflow diagram">
            <a:extLst>
              <a:ext uri="{FF2B5EF4-FFF2-40B4-BE49-F238E27FC236}">
                <a16:creationId xmlns:a16="http://schemas.microsoft.com/office/drawing/2014/main" id="{B968A629-87FD-BE29-B42B-137ACE7B7D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31813-CDCF-7253-FD64-AEABA5EAF128}"/>
              </a:ext>
            </a:extLst>
          </p:cNvPr>
          <p:cNvSpPr txBox="1"/>
          <p:nvPr/>
        </p:nvSpPr>
        <p:spPr>
          <a:xfrm>
            <a:off x="345439" y="2113281"/>
            <a:ext cx="33306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Original</a:t>
            </a:r>
            <a:r>
              <a:rPr lang="en-AU" dirty="0"/>
              <a:t> </a:t>
            </a:r>
          </a:p>
          <a:p>
            <a:r>
              <a:rPr lang="en-AU" dirty="0"/>
              <a:t>Min Availability: 15</a:t>
            </a:r>
          </a:p>
          <a:p>
            <a:r>
              <a:rPr lang="en-AU" dirty="0"/>
              <a:t>Availability S.D.: 1.947</a:t>
            </a:r>
          </a:p>
          <a:p>
            <a:r>
              <a:rPr lang="en-AU" dirty="0"/>
              <a:t>Average Availability:  21.694</a:t>
            </a:r>
          </a:p>
          <a:p>
            <a:endParaRPr lang="en-AU" dirty="0"/>
          </a:p>
          <a:p>
            <a:r>
              <a:rPr lang="en-AU" b="1" dirty="0"/>
              <a:t>Optimised</a:t>
            </a:r>
          </a:p>
          <a:p>
            <a:r>
              <a:rPr lang="en-AU" dirty="0"/>
              <a:t>Min Availability: 18</a:t>
            </a:r>
          </a:p>
          <a:p>
            <a:r>
              <a:rPr lang="en-AU" dirty="0"/>
              <a:t>Availability S.D.: 1.433</a:t>
            </a:r>
          </a:p>
          <a:p>
            <a:r>
              <a:rPr lang="en-AU" dirty="0"/>
              <a:t>Average Availability:  21.712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6135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4BC9-2E00-9F71-0C2C-94D78668E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301553"/>
            <a:ext cx="4597747" cy="1616203"/>
          </a:xfrm>
        </p:spPr>
        <p:txBody>
          <a:bodyPr anchor="b">
            <a:normAutofit/>
          </a:bodyPr>
          <a:lstStyle/>
          <a:p>
            <a:r>
              <a:rPr lang="en-AU" sz="3200" dirty="0"/>
              <a:t>Convergence Behaviour of Variable Neighbourhood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3E21C-F6EE-9CED-EACA-8C3B522E5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116787"/>
            <a:ext cx="5319061" cy="4439659"/>
          </a:xfrm>
        </p:spPr>
        <p:txBody>
          <a:bodyPr anchor="t">
            <a:normAutofit/>
          </a:bodyPr>
          <a:lstStyle/>
          <a:p>
            <a:r>
              <a:rPr lang="en-AU" sz="2000" dirty="0"/>
              <a:t>Standard Deviation of fleet availability decreases over iterations</a:t>
            </a:r>
          </a:p>
          <a:p>
            <a:r>
              <a:rPr lang="en-AU" sz="2000" dirty="0"/>
              <a:t>Final value converges to ~1.40</a:t>
            </a:r>
          </a:p>
          <a:p>
            <a:r>
              <a:rPr lang="en-AU" sz="2000" dirty="0"/>
              <a:t>Around iteration ~100, the algorithm transitions between shift sizes</a:t>
            </a:r>
          </a:p>
          <a:p>
            <a:r>
              <a:rPr lang="en-AU" sz="2000" dirty="0"/>
              <a:t>Earlier iterations relied on large shift sizes (±28)</a:t>
            </a:r>
          </a:p>
          <a:p>
            <a:r>
              <a:rPr lang="en-AU" sz="2000" dirty="0"/>
              <a:t>Later iterations focused on local optimisation (±14, ±7, ±3)</a:t>
            </a:r>
          </a:p>
          <a:p>
            <a:r>
              <a:rPr lang="en-AU" sz="2000" dirty="0"/>
              <a:t>Algorithm terminated at iteration 311 (no improvement found)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78B23-3F2B-9BE4-9D82-80F360769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806" y="1773442"/>
            <a:ext cx="5908812" cy="367823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9435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B09E4-D676-312A-2925-0C2CD7BD8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97499"/>
            <a:ext cx="3455821" cy="1168874"/>
          </a:xfrm>
        </p:spPr>
        <p:txBody>
          <a:bodyPr anchor="b">
            <a:normAutofit/>
          </a:bodyPr>
          <a:lstStyle/>
          <a:p>
            <a:r>
              <a:rPr lang="en-AU" sz="3200" noProof="0" dirty="0"/>
              <a:t>Future Work and Research Direction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4CBAB1-6598-9422-700E-18DF863746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5760" y="1377214"/>
            <a:ext cx="6019716" cy="52832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AU" sz="24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Semester 2 (Iteration 2)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4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Investigate Simulated Annealing + VNS hybrid optimisation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4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Include additional operational and logistic constraints (in these 3 months, maximise availability, can change surrounding) (standard deviation inside the window)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4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Improve computational efficiency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AU" sz="2400" dirty="0">
                <a:latin typeface="Arial" panose="020B0604020202020204" pitchFamily="34" charset="0"/>
              </a:rPr>
              <a:t>Analysis of Hyperparameters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AU" sz="2400" b="0" i="0" u="none" strike="noStrike" cap="none" normalizeH="0" baseline="0" noProof="0" dirty="0">
                <a:ln>
                  <a:noFill/>
                </a:ln>
                <a:effectLst/>
                <a:latin typeface="Arial" panose="020B0604020202020204" pitchFamily="34" charset="0"/>
              </a:rPr>
              <a:t>Look at the start to see if initial stagger changes outcome	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AU" sz="2400" dirty="0">
                <a:latin typeface="Arial" panose="020B0604020202020204" pitchFamily="34" charset="0"/>
              </a:rPr>
              <a:t>Exploit left to right nature of timeline (start from left)</a:t>
            </a:r>
            <a:endParaRPr kumimoji="0" lang="en-AU" sz="2400" b="0" i="0" u="none" strike="noStrike" cap="none" normalizeH="0" baseline="0" noProof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EE290-E7ED-EE14-0AA0-E526D2BEA4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476" y="917831"/>
            <a:ext cx="5570492" cy="41221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noProof="0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F24DC49-3623-2953-21F6-1E12696BF941}"/>
              </a:ext>
            </a:extLst>
          </p:cNvPr>
          <p:cNvSpPr/>
          <p:nvPr/>
        </p:nvSpPr>
        <p:spPr>
          <a:xfrm>
            <a:off x="8684260" y="3738880"/>
            <a:ext cx="635000" cy="129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591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8F286-5669-8427-1D0F-CA345657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858AE-5184-BF77-CA05-BC56957F9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noProof="0" dirty="0">
                <a:latin typeface="Arial" panose="020B0604020202020204" pitchFamily="34" charset="0"/>
                <a:cs typeface="Arial" panose="020B0604020202020204" pitchFamily="34" charset="0"/>
              </a:rPr>
              <a:t>Pippin, Bradley W.</a:t>
            </a:r>
            <a:r>
              <a:rPr lang="en-AU" noProof="0" dirty="0">
                <a:latin typeface="Arial" panose="020B0604020202020204" pitchFamily="34" charset="0"/>
                <a:cs typeface="Arial" panose="020B0604020202020204" pitchFamily="34" charset="0"/>
              </a:rPr>
              <a:t> Allocating Flight Hours to Army Helicopters. PhD thesis, Naval Postgraduate School, 1998.</a:t>
            </a:r>
          </a:p>
          <a:p>
            <a:r>
              <a:rPr lang="en-AU" b="1" noProof="0" dirty="0">
                <a:latin typeface="Arial" panose="020B0604020202020204" pitchFamily="34" charset="0"/>
                <a:cs typeface="Arial" panose="020B0604020202020204" pitchFamily="34" charset="0"/>
              </a:rPr>
              <a:t>U.S. Army, </a:t>
            </a:r>
            <a:r>
              <a:rPr lang="en-AU" noProof="0" dirty="0">
                <a:latin typeface="Arial" panose="020B0604020202020204" pitchFamily="34" charset="0"/>
                <a:cs typeface="Arial" panose="020B0604020202020204" pitchFamily="34" charset="0"/>
              </a:rPr>
              <a:t>Black Hawk helicopter celebrates 40 years of aviation service with the Army, 2018.</a:t>
            </a:r>
          </a:p>
          <a:p>
            <a:r>
              <a:rPr lang="en-AU" b="1" noProof="0" dirty="0">
                <a:latin typeface="Arial" panose="020B0604020202020204" pitchFamily="34" charset="0"/>
                <a:cs typeface="Arial" panose="020B0604020202020204" pitchFamily="34" charset="0"/>
              </a:rPr>
              <a:t>Winata, Leonard</a:t>
            </a:r>
            <a:r>
              <a:rPr lang="en-AU" noProof="0" dirty="0">
                <a:latin typeface="Arial" panose="020B0604020202020204" pitchFamily="34" charset="0"/>
                <a:cs typeface="Arial" panose="020B0604020202020204" pitchFamily="34" charset="0"/>
              </a:rPr>
              <a:t>. Heuristic approaches for flight and maintenance planning of Large Fleets. Doctor of Philosophy Thesis, RMIT University, 2011.</a:t>
            </a:r>
          </a:p>
          <a:p>
            <a:endParaRPr lang="en-AU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72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2451</TotalTime>
  <Words>470</Words>
  <Application>Microsoft Office PowerPoint</Application>
  <PresentationFormat>Widescreen</PresentationFormat>
  <Paragraphs>89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Overview</vt:lpstr>
      <vt:lpstr>Literature Review and Method Selection</vt:lpstr>
      <vt:lpstr>Initial Dataset</vt:lpstr>
      <vt:lpstr>Best-Improvement Neighbourhood Search </vt:lpstr>
      <vt:lpstr>Extended Heavy maintenance dataset </vt:lpstr>
      <vt:lpstr>Optimised Heavy dataset using Random Sampling </vt:lpstr>
      <vt:lpstr>Optimised Heavy maintenance dataset </vt:lpstr>
      <vt:lpstr>Convergence Behaviour of Variable Neighbourhood Search</vt:lpstr>
      <vt:lpstr>Future Work and Research Direction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Long</dc:creator>
  <cp:lastModifiedBy>David Long</cp:lastModifiedBy>
  <cp:revision>1</cp:revision>
  <dcterms:created xsi:type="dcterms:W3CDTF">2026-03-18T14:25:52Z</dcterms:created>
  <dcterms:modified xsi:type="dcterms:W3CDTF">2026-07-21T06:42:26Z</dcterms:modified>
</cp:coreProperties>
</file>