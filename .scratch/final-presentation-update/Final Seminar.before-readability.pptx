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revisionInfo.xml" ContentType="application/vnd.ms-powerpoint.revisioninfo+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48" r:id="rId1"/>
  </p:sldMasterIdLst>
  <p:notesMasterIdLst>
    <p:notesMasterId r:id="rId18"/>
  </p:notesMasterIdLst>
  <p:sldIdLst>
    <p:sldId id="256" r:id="rId2"/>
    <p:sldId id="258" r:id="rId3"/>
    <p:sldId id="269" r:id="rId4"/>
    <p:sldId id="268" r:id="rId5"/>
    <p:sldId id="276" r:id="rId6"/>
    <p:sldId id="286" r:id="rId7"/>
    <p:sldId id="275" r:id="rId8"/>
    <p:sldId id="284" r:id="rId9"/>
    <p:sldId id="257" r:id="rId10"/>
    <p:sldId id="287" r:id="rId11"/>
    <p:sldId id="279" r:id="rId12"/>
    <p:sldId id="280" r:id="rId13"/>
    <p:sldId id="288" r:id="rId14"/>
    <p:sldId id="285" r:id="rId15"/>
    <p:sldId id="263" r:id="rId16"/>
    <p:sldId id="281" r:id="rId17"/>
  </p:sldIdLst>
  <p:sldSz cx="12192000" cy="6858000"/>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revisionInfo.xml><?xml version="1.0" encoding="utf-8"?>
<p1510:revInfo xmlns:a="http://schemas.openxmlformats.org/drawingml/2006/main" xmlns:r="http://schemas.openxmlformats.org/officeDocument/2006/relationships" xmlns:p1510="http://schemas.microsoft.com/office/powerpoint/2015/10/main">
  <p1510:revLst>
    <p1510:client id="{3FBF5219-141B-4B15-B12B-FD9888D4FAD0}" v="51" dt="2026-10-14T00:42:55.561"/>
  </p1510:revLst>
</p1510:revInfo>
</file>

<file path=ppt/tableStyles.xml><?xml version="1.0" encoding="utf-8"?>
<a:tblStyleLst xmlns:a="http://schemas.openxmlformats.org/drawingml/2006/main" def="{5C22544A-7EE6-4342-B048-85BDC9FD1C3A}">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81307" autoAdjust="0"/>
  </p:normalViewPr>
  <p:slideViewPr>
    <p:cSldViewPr snapToGrid="0">
      <p:cViewPr>
        <p:scale>
          <a:sx n="75" d="100"/>
          <a:sy n="75" d="100"/>
        </p:scale>
        <p:origin x="946" y="-293"/>
      </p:cViewPr>
      <p:guideLst/>
    </p:cSldViewPr>
  </p:slideViewPr>
  <p:notesTextViewPr>
    <p:cViewPr>
      <p:scale>
        <a:sx n="3" d="2"/>
        <a:sy n="3" d="2"/>
      </p:scale>
      <p:origin x="0" y="0"/>
    </p:cViewPr>
  </p:notesTextViewPr>
  <p:gridSpacing cx="72008" cy="72008"/>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notesMaster" Target="notesMasters/notesMaster1.xml"/><Relationship Id="rId3" Type="http://schemas.openxmlformats.org/officeDocument/2006/relationships/slide" Target="slides/slide2.xml"/><Relationship Id="rId21" Type="http://schemas.openxmlformats.org/officeDocument/2006/relationships/theme" Target="theme/theme1.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viewProps" Target="viewProps.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5" Type="http://schemas.openxmlformats.org/officeDocument/2006/relationships/slide" Target="slides/slide4.xml"/><Relationship Id="rId15" Type="http://schemas.openxmlformats.org/officeDocument/2006/relationships/slide" Target="slides/slide14.xml"/><Relationship Id="rId23" Type="http://schemas.microsoft.com/office/2015/10/relationships/revisionInfo" Target="revisionInfo.xml"/><Relationship Id="rId10" Type="http://schemas.openxmlformats.org/officeDocument/2006/relationships/slide" Target="slides/slide9.xml"/><Relationship Id="rId19" Type="http://schemas.openxmlformats.org/officeDocument/2006/relationships/presProps" Target="presProps.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tableStyles" Target="tableStyles.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AU"/>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340086F-6501-442A-B5F5-9D09605BDEE0}" type="datetimeFigureOut">
              <a:rPr lang="en-AU" smtClean="0"/>
              <a:t>14/10/2026</a:t>
            </a:fld>
            <a:endParaRPr lang="en-AU"/>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AU"/>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AU"/>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AU"/>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81A084F6-DEB1-46CA-8A6A-74785726ECE7}" type="slidenum">
              <a:rPr lang="en-AU" smtClean="0"/>
              <a:t>‹#›</a:t>
            </a:fld>
            <a:endParaRPr lang="en-AU"/>
          </a:p>
        </p:txBody>
      </p:sp>
    </p:spTree>
    <p:extLst>
      <p:ext uri="{BB962C8B-B14F-4D97-AF65-F5344CB8AC3E}">
        <p14:creationId xmlns:p14="http://schemas.microsoft.com/office/powerpoint/2010/main" val="2091466365"/>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2" Type="http://schemas.openxmlformats.org/officeDocument/2006/relationships/slide" Target="../slides/slide16.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txBody>
          <a:bodyPr/>
          <a:lstStyle/>
          <a:p>
            <a:endParaRPr lang="en-AU"/>
          </a:p>
        </p:txBody>
      </p:sp>
      <p:sp>
        <p:nvSpPr>
          <p:cNvPr id="3" name="Notes Placeholder 2"/>
          <p:cNvSpPr>
            <a:spLocks noGrp="1"/>
          </p:cNvSpPr>
          <p:nvPr>
            <p:ph type="body" idx="1"/>
          </p:nvPr>
        </p:nvSpPr>
        <p:spPr/>
        <p:txBody>
          <a:bodyPr/>
          <a:lstStyle/>
          <a:p>
            <a:r>
              <a:rPr lang="en-US"/>
              <a:t>Today I will present the complete journey through both iterations of the scheduling algorithm research. The goal was to improve daily aircraft availability by changing maintenance timing while preserving the maintenance rules. Iteration 1 established the objective and made the search practical. Iteration 2 tested whether a more exploratory method could improve it, investigated starting schedules, and finished a wider hyperparameter study. I will focus on the measured findings and the final recommendation. The supporting diagrams and earlier plots are available after the references for questions.</a:t>
            </a:r>
            <a:endParaRPr lang="en-AU" dirty="0"/>
          </a:p>
        </p:txBody>
      </p:sp>
      <p:sp>
        <p:nvSpPr>
          <p:cNvPr id="4" name="Slide Number Placeholder 3"/>
          <p:cNvSpPr>
            <a:spLocks noGrp="1"/>
          </p:cNvSpPr>
          <p:nvPr>
            <p:ph type="sldNum" sz="quarter" idx="5"/>
          </p:nvPr>
        </p:nvSpPr>
        <p:spPr/>
        <p:txBody>
          <a:bodyPr/>
          <a:lstStyle/>
          <a:p>
            <a:fld id="{81A084F6-DEB1-46CA-8A6A-74785726ECE7}" type="slidenum">
              <a:rPr lang="en-AU" smtClean="0"/>
              <a:t>1</a:t>
            </a:fld>
            <a:endParaRPr lang="en-AU"/>
          </a:p>
        </p:txBody>
      </p:sp>
    </p:spTree>
    <p:extLst>
      <p:ext uri="{BB962C8B-B14F-4D97-AF65-F5344CB8AC3E}">
        <p14:creationId xmlns:p14="http://schemas.microsoft.com/office/powerpoint/2010/main" val="2100740490"/>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txBody>
          <a:bodyPr/>
          <a:lstStyle/>
          <a:p>
            <a:endParaRPr lang="en-AU"/>
          </a:p>
        </p:txBody>
      </p:sp>
      <p:sp>
        <p:nvSpPr>
          <p:cNvPr id="3" name="Notes Placeholder 2"/>
          <p:cNvSpPr>
            <a:spLocks noGrp="1"/>
          </p:cNvSpPr>
          <p:nvPr>
            <p:ph type="body" idx="1"/>
          </p:nvPr>
        </p:nvSpPr>
        <p:spPr/>
        <p:txBody>
          <a:bodyPr/>
          <a:lstStyle/>
          <a:p>
            <a:r>
              <a:rPr lang="en-US"/>
              <a:t>The scheduling problem starts when several aircraft enter maintenance at similar times. Availability then falls even if the average across the year looks acceptable. The decision variable is the start of a check inside its legal start window. Checks must not overlap on one aircraft, and changing one check must preserve the sequence and the reset rules for later checks. The score ranks worst-day availability first, lower population standard deviation second, and mean availability last. A smoother schedule cannot compensate for a lower worst day. Random failures and resource shortages motivate the problem, but the reported experiments model scheduled maintenance. Source: CONTEXT.md and the completed technical report dated 12 October 2026.</a:t>
            </a:r>
            <a:endParaRPr lang="en-AU" dirty="0"/>
          </a:p>
        </p:txBody>
      </p:sp>
      <p:sp>
        <p:nvSpPr>
          <p:cNvPr id="4" name="Slide Number Placeholder 3"/>
          <p:cNvSpPr>
            <a:spLocks noGrp="1"/>
          </p:cNvSpPr>
          <p:nvPr>
            <p:ph type="sldNum" sz="quarter" idx="5"/>
          </p:nvPr>
        </p:nvSpPr>
        <p:spPr/>
        <p:txBody>
          <a:bodyPr/>
          <a:lstStyle/>
          <a:p>
            <a:fld id="{81A084F6-DEB1-46CA-8A6A-74785726ECE7}" type="slidenum">
              <a:rPr lang="en-AU" smtClean="0"/>
              <a:t>2</a:t>
            </a:fld>
            <a:endParaRPr lang="en-AU"/>
          </a:p>
        </p:txBody>
      </p:sp>
    </p:spTree>
    <p:extLst>
      <p:ext uri="{BB962C8B-B14F-4D97-AF65-F5344CB8AC3E}">
        <p14:creationId xmlns:p14="http://schemas.microsoft.com/office/powerpoint/2010/main" val="3758253296"/>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a:t>The first proof of concept used ten aircraft with eight checks each. Each check lasted sixty days, and the model constrained maintenance intervals to the supplied window. The flowchart shows the basic search loop: calculate daily availability, score the schedule, generate neighbours by shifting one check, reject infeasible candidates, and keep the best improvement. Larger timing changes came before smaller changes. On the right, the resulting simple-fleet schedule retains at least eight available aircraft, which was the original target. This established the objective and feasibility checks before the heavy maintenance model made the neighbourhood much larger. Source: presentations/Iteration 1.pptx and Iteration 1 Milestones.pptx.</a:t>
            </a:r>
            <a:endParaRPr lang="en-US" dirty="0"/>
          </a:p>
        </p:txBody>
      </p:sp>
      <p:sp>
        <p:nvSpPr>
          <p:cNvPr id="4" name="Slide Number Placeholder 3"/>
          <p:cNvSpPr>
            <a:spLocks noGrp="1"/>
          </p:cNvSpPr>
          <p:nvPr>
            <p:ph type="sldNum" sz="quarter" idx="5"/>
          </p:nvPr>
        </p:nvSpPr>
        <p:spPr/>
        <p:txBody>
          <a:bodyPr/>
          <a:lstStyle/>
          <a:p>
            <a:fld id="{81A084F6-DEB1-46CA-8A6A-74785726ECE7}" type="slidenum">
              <a:rPr lang="en-AU" smtClean="0"/>
              <a:t>3</a:t>
            </a:fld>
            <a:endParaRPr lang="en-AU"/>
          </a:p>
        </p:txBody>
      </p:sp>
    </p:spTree>
    <p:extLst>
      <p:ext uri="{BB962C8B-B14F-4D97-AF65-F5344CB8AC3E}">
        <p14:creationId xmlns:p14="http://schemas.microsoft.com/office/powerpoint/2010/main" val="2193473238"/>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a:t>The heavy forecast contains twenty-four aircraft and two hundred and seventy-eight supplied checks over roughly twelve years. It adds A, B, C, and D check types, with different durations and maintenance reset rules. The repeating sequence is shown on the slide. The availability plot makes the central difficulty visible: long checks can overlap and create a sustained dip. In this model, shifting one check can change the due clocks for later checks on the same aircraft. The optimiser therefore needs to rebuild the later schedule rather than treating every start as an independent variable. The displayed table and plot come from the original iteration presentation.</a:t>
            </a:r>
            <a:endParaRPr lang="en-AU" dirty="0"/>
          </a:p>
        </p:txBody>
      </p:sp>
      <p:sp>
        <p:nvSpPr>
          <p:cNvPr id="4" name="Slide Number Placeholder 3"/>
          <p:cNvSpPr>
            <a:spLocks noGrp="1"/>
          </p:cNvSpPr>
          <p:nvPr>
            <p:ph type="sldNum" sz="quarter" idx="5"/>
          </p:nvPr>
        </p:nvSpPr>
        <p:spPr/>
        <p:txBody>
          <a:bodyPr/>
          <a:lstStyle/>
          <a:p>
            <a:fld id="{81A084F6-DEB1-46CA-8A6A-74785726ECE7}" type="slidenum">
              <a:rPr lang="en-AU" smtClean="0"/>
              <a:t>4</a:t>
            </a:fld>
            <a:endParaRPr lang="en-AU"/>
          </a:p>
        </p:txBody>
      </p:sp>
    </p:spTree>
    <p:extLst>
      <p:ext uri="{BB962C8B-B14F-4D97-AF65-F5344CB8AC3E}">
        <p14:creationId xmlns:p14="http://schemas.microsoft.com/office/powerpoint/2010/main" val="3821960675"/>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F67B59F1-A0E3-C8D8-2304-B07ADAE00554}"/>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ED69E565-BC4E-5CC4-A1D2-4628A881D848}"/>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388FAB18-7B0E-E825-351F-1141FACECE3F}"/>
              </a:ext>
            </a:extLst>
          </p:cNvPr>
          <p:cNvSpPr>
            <a:spLocks noGrp="1"/>
          </p:cNvSpPr>
          <p:nvPr>
            <p:ph type="body" idx="1"/>
          </p:nvPr>
        </p:nvSpPr>
        <p:spPr/>
        <p:txBody>
          <a:bodyPr/>
          <a:lstStyle/>
          <a:p>
            <a:r>
              <a:rPr lang="en-US"/>
              <a:t>When the same neighbourhood search scaled to the heavy forecast, an iteration could produce over a thousand candidate schedules. Fully copying, checking, and scoring each one was expensive. Sampling two hundred neighbours reduced the work but introduced uncertainty, because the sample could omit a useful improving move. The next change used the structure of the problem: checks covering the worst availability days are the most relevant place to search first. Priority selection therefore concentrates the work deterministically, while widening the search when a worse priority group cannot improve. Source: Iteration 1 milestone slides 5 to 7.</a:t>
            </a:r>
            <a:endParaRPr lang="en-US" dirty="0"/>
          </a:p>
        </p:txBody>
      </p:sp>
      <p:sp>
        <p:nvSpPr>
          <p:cNvPr id="4" name="Slide Number Placeholder 3">
            <a:extLst>
              <a:ext uri="{FF2B5EF4-FFF2-40B4-BE49-F238E27FC236}">
                <a16:creationId xmlns:a16="http://schemas.microsoft.com/office/drawing/2014/main" id="{5E528F73-DBEA-CA63-193B-43E3DC8CFA23}"/>
              </a:ext>
            </a:extLst>
          </p:cNvPr>
          <p:cNvSpPr>
            <a:spLocks noGrp="1"/>
          </p:cNvSpPr>
          <p:nvPr>
            <p:ph type="sldNum" sz="quarter" idx="5"/>
          </p:nvPr>
        </p:nvSpPr>
        <p:spPr/>
        <p:txBody>
          <a:bodyPr/>
          <a:lstStyle/>
          <a:p>
            <a:fld id="{81A084F6-DEB1-46CA-8A6A-74785726ECE7}" type="slidenum">
              <a:rPr lang="en-AU" smtClean="0"/>
              <a:t>5</a:t>
            </a:fld>
            <a:endParaRPr lang="en-AU"/>
          </a:p>
        </p:txBody>
      </p:sp>
    </p:spTree>
    <p:extLst>
      <p:ext uri="{BB962C8B-B14F-4D97-AF65-F5344CB8AC3E}">
        <p14:creationId xmlns:p14="http://schemas.microsoft.com/office/powerpoint/2010/main" val="1408259295"/>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rPr lang="en-US" dirty="0"/>
              <a:t>This is the method I want to spend the most time on, because it is the main technical result of iteration 1.
Priority-based selection changes the question we ask. Instead of asking “what happens if we try random moves to find the best one?”, we ask “which maintenance events are actually hurting and causing the minimum availability to be the lowest?”
How this algorithm works is for every event, it gets a priority score equal to the lowest fleet availability of the event for every day it is active. So if an event overlaps a day when only fifteen aircraft are available on that day, then the event priority score is fifteen. Then the events with the lowest priority score will be the ones to be shifted first.
Another thing I changed is that when we move one check, we do not leave the rest of that aircraft’s plan sitting in a potentially broken state. Before, </a:t>
            </a:r>
            <a:r>
              <a:rPr lang="en-AU" sz="1200" b="0" i="0" kern="1200" dirty="0">
                <a:solidFill>
                  <a:schemeClr val="tx1"/>
                </a:solidFill>
                <a:effectLst/>
                <a:latin typeface="+mn-lt"/>
                <a:ea typeface="+mn-ea"/>
                <a:cs typeface="+mn-cs"/>
              </a:rPr>
              <a:t>when we move one maintenance check, only that selected event is shifted. Now when an event is shifted, the schedule is rebuilt, everything earlier on the same aircraft stays exactly as it was. Everything later is recalculated from the new shift date using the A/B/C/D rules, so the due dates will remain legal even after getting shifted.</a:t>
            </a:r>
            <a:r>
              <a:rPr lang="en-US" dirty="0"/>
              <a:t>
I also changed how scoring works. The entire fleet is not deep copied for every trial. We rebuild one aircraft, then update availability incrementally. That aircraft’s old intervals are removed from the stored availability array, and the new rebuilt intervals are added, and scored once. That is much cheaper than recomputing availability from scratch for every </a:t>
            </a:r>
            <a:r>
              <a:rPr lang="en-US" dirty="0" err="1"/>
              <a:t>neighbour</a:t>
            </a:r>
            <a:r>
              <a:rPr lang="en-US" dirty="0"/>
              <a:t>.
---</a:t>
            </a:r>
          </a:p>
        </p:txBody>
      </p:sp>
      <p:sp>
        <p:nvSpPr>
          <p:cNvPr id="4" name="Slide Number Placeholder 3"/>
          <p:cNvSpPr>
            <a:spLocks noGrp="1"/>
          </p:cNvSpPr>
          <p:nvPr>
            <p:ph type="sldNum" sz="quarter" idx="5"/>
          </p:nvPr>
        </p:nvSpPr>
        <p:spPr/>
      </p:sp>
    </p:spTree>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rPr lang="en-US" dirty="0"/>
              <a:t>Now I want to walk through the mechanics of those priority levels.
The global minimum availability for the starting schedule is fifteen. First, we score every event. For each event we look at fleet availability on every day that the event is active, and the priority is the minimum of those days. For example, for an event, if the first day has an availability of 18, the second has 18, third has 16, and forth has 15 aircraft available, and so on, its priority is fifteen.
Second, we split the events into exclusive buckets by that priority. In our starting schedule we had twenty events at level fifteen, ten at sixteen, nine at seventeen, and larger groups at higher levels. So level 21 had the </a:t>
            </a:r>
            <a:r>
              <a:rPr lang="en-US"/>
              <a:t>most events. </a:t>
            </a:r>
            <a:r>
              <a:rPr lang="en-US" dirty="0"/>
              <a:t>An event sits in only one bucket: the bucket for its own worst day. So the twenty events at fifteen and the ten at sixteen are different events. 
Third, we search the worst buckets first. For a shift set like plus and minus twenty-eight, level fifteen is about twenty events times two shifts, so around forty candidates. If any of those moves improve the score, we stop at that level for the iteration and take the best improving move. We only expand to level sixteen, then seventeen, and so on if the worse levels find nothing.
That is why the method is both targeted and fast. We are not randomly discarding most of the </a:t>
            </a:r>
            <a:r>
              <a:rPr lang="en-US" dirty="0" err="1"/>
              <a:t>neighbourhood</a:t>
            </a:r>
            <a:r>
              <a:rPr lang="en-US" dirty="0"/>
              <a:t>. We are concentrating effort on the events that touch the availability floor, and we only widen the search when we have to. And for higher levels like 21 where there are a lot of events, the algorithm converged at level 18 so the algorithm never needed to search that many </a:t>
            </a:r>
            <a:r>
              <a:rPr lang="en-US" dirty="0" err="1"/>
              <a:t>neighbours</a:t>
            </a:r>
            <a:r>
              <a:rPr lang="en-US" dirty="0"/>
              <a:t>.
---</a:t>
            </a:r>
          </a:p>
        </p:txBody>
      </p:sp>
      <p:sp>
        <p:nvSpPr>
          <p:cNvPr id="4" name="Slide Number Placeholder 3"/>
          <p:cNvSpPr>
            <a:spLocks noGrp="1"/>
          </p:cNvSpPr>
          <p:nvPr>
            <p:ph type="sldNum" sz="quarter" idx="5"/>
          </p:nvPr>
        </p:nvSpPr>
        <p:spPr/>
      </p:sp>
    </p:spTree>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rPr lang="en-US"/>
              <a:t>The historical milestone comparison reported about nine hundred and twenty seconds for full neighbourhood search, four hundred and fifty-one seconds for two hundred random samples, and fifteen point four seconds for priority selection. That is approximately sixty times faster than full search and thirty times faster than the sampled method in that benchmark. The primary result was an improvement from fifteen to eighteen available aircraft on the worst day. These are the historical Iteration 1 measurements. They are not directly comparable with the timings in the new hyperparameter study, which uses a matched scoring window and a verified study driver. Source: Iteration 1 Milestones.pptx slide 9.</a:t>
            </a:r>
            <a:endParaRPr lang="en-US" dirty="0"/>
          </a:p>
        </p:txBody>
      </p:sp>
      <p:sp>
        <p:nvSpPr>
          <p:cNvPr id="4" name="Slide Number Placeholder 3"/>
          <p:cNvSpPr>
            <a:spLocks noGrp="1"/>
          </p:cNvSpPr>
          <p:nvPr>
            <p:ph type="sldNum" sz="quarter" idx="5"/>
          </p:nvPr>
        </p:nvSpPr>
        <p:spPr/>
      </p:sp>
    </p:spTree>
    <p:extLst>
      <p:ext uri="{BB962C8B-B14F-4D97-AF65-F5344CB8AC3E}">
        <p14:creationId xmlns:p14="http://schemas.microsoft.com/office/powerpoint/2010/main" val="131048660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txBody>
          <a:bodyPr/>
          <a:lstStyle/>
          <a:p>
            <a:endParaRPr lang="en-AU"/>
          </a:p>
        </p:txBody>
      </p:sp>
      <p:sp>
        <p:nvSpPr>
          <p:cNvPr id="3" name="Notes Placeholder 2"/>
          <p:cNvSpPr>
            <a:spLocks noGrp="1"/>
          </p:cNvSpPr>
          <p:nvPr>
            <p:ph type="body" sz="quarter" idx="3"/>
          </p:nvPr>
        </p:nvSpPr>
        <p:spPr/>
        <p:txBody>
          <a:bodyPr/>
          <a:lstStyle/>
          <a:p>
            <a:r>
              <a:rPr lang="en-US"/>
              <a:t>The second iteration focused on three questions. Could a method that temporarily accepts a worse schedule improve the tuned Priority Based Selection with VNS? How much did the starting schedule affect the result? And which settings worked consistently across the tested forecasts? Operational constraints were part of the earlier plan, but they are outside the scope requested for this final presentation. Maintenance legality remains necessary throughout. I will separate the earlier controlled start-schedule experiment from the new moderate and wide stagger datasets, because those newer datasets change maintenance opening states and are different problem instances. Sources: Iteration 2 execution plan, completed study records, and the final-presentation scope.</a:t>
            </a:r>
            <a:endParaRPr dirty="0"/>
          </a:p>
        </p:txBody>
      </p:sp>
      <p:sp>
        <p:nvSpPr>
          <p:cNvPr id="4" name="Slide Number Placeholder 3"/>
          <p:cNvSpPr>
            <a:spLocks noGrp="1"/>
          </p:cNvSpPr>
          <p:nvPr>
            <p:ph type="sldNum" sz="quarter" idx="5"/>
          </p:nvPr>
        </p:nvSpPr>
        <p:spPr/>
        <p:txBody>
          <a:bodyPr/>
          <a:lstStyle/>
          <a:p>
            <a:endParaRPr lang="en-AU"/>
          </a:p>
        </p:txBody>
      </p:sp>
    </p:spTree>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685800" y="1143000"/>
            <a:ext cx="5486400" cy="3086100"/>
          </a:xfrm>
          <a:prstGeom prst="rect">
            <a:avLst/>
          </a:prstGeom>
          <a:noFill/>
          <a:ln w="12700">
            <a:solidFill>
              <a:prstClr val="black"/>
            </a:solidFill>
          </a:ln>
        </p:spPr>
        <p:txBody>
          <a:bodyPr/>
          <a:lstStyle/>
          <a:p>
            <a:endParaRPr lang="en-AU"/>
          </a:p>
        </p:txBody>
      </p:sp>
      <p:sp>
        <p:nvSpPr>
          <p:cNvPr id="3" name="Notes Placeholder 2"/>
          <p:cNvSpPr>
            <a:spLocks noGrp="1"/>
          </p:cNvSpPr>
          <p:nvPr>
            <p:ph type="body" idx="1"/>
          </p:nvPr>
        </p:nvSpPr>
        <p:spPr>
          <a:xfrm>
            <a:off x="685800" y="4400550"/>
            <a:ext cx="5486400" cy="3600450"/>
          </a:xfrm>
          <a:prstGeom prst="rect">
            <a:avLst/>
          </a:prstGeom>
        </p:spPr>
        <p:txBody>
          <a:bodyPr/>
          <a:lstStyle/>
          <a:p>
            <a:r>
              <a:rPr lang="en-US" dirty="0"/>
              <a:t>So what is simulated annealing.
Simulated annealing is a search method. The idea comes from metalworking: heating metal allows it to bend, then cool it slowly so it settles into a strong structure. In optimisation, “heat” means we are more willing to try unusual moves. “Cooling” means we become stricter over time.
There are three simple steps.
First, search. We propose a change to the maintenance schedule — for example, shift a check a few days earlier or later — then evaluate the new plan with the same availability score we already use: minimum availability first, then smoothness, then average. We are not inventing a new scoring system here.
Second, accept. If the new plan is better, we keep it. That part is familiar. The difference is early in the search we may also keep a slightly worse plan, by chance. That sounds odd, but it is deliberate. A temporary worse move can get us out of a local minima.
Third, cool down. As the search continues, we accept fewer and fewer worse moves. Near the end, we mostly behave like today’s method: keep improvements, reject clear steps backwards.
So if we were walking up a hill, sometimes we might need to take a step downhill just to find a better path rather than constantly going up a hill that might be steep. If we accept worse moves temporarily, we might find an easier path.
What annealing does need later is a fair acceptance rule for those temporary worse moves — because our score is a ranked tuple, not one number. That is an acceptance detail, not a new objective. Next I will show how this idea maps onto the </a:t>
            </a:r>
            <a:r>
              <a:rPr lang="en-US" dirty="0" err="1"/>
              <a:t>optimiser</a:t>
            </a:r>
            <a:r>
              <a:rPr lang="en-US" dirty="0"/>
              <a:t> we already built.</a:t>
            </a:r>
            <a:endParaRPr lang="en-AU" dirty="0"/>
          </a:p>
        </p:txBody>
      </p:sp>
    </p:spTree>
    <p:extLst>
      <p:ext uri="{BB962C8B-B14F-4D97-AF65-F5344CB8AC3E}">
        <p14:creationId xmlns:p14="http://schemas.microsoft.com/office/powerpoint/2010/main" val="3166747972"/>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txBody>
          <a:bodyPr/>
          <a:lstStyle/>
          <a:p>
            <a:endParaRPr lang="en-AU"/>
          </a:p>
        </p:txBody>
      </p:sp>
      <p:sp>
        <p:nvSpPr>
          <p:cNvPr id="3" name="Notes Placeholder 2"/>
          <p:cNvSpPr>
            <a:spLocks noGrp="1"/>
          </p:cNvSpPr>
          <p:nvPr>
            <p:ph type="body" sz="quarter" idx="3"/>
          </p:nvPr>
        </p:nvSpPr>
        <p:spPr/>
        <p:txBody>
          <a:bodyPr/>
          <a:lstStyle/>
          <a:p>
            <a:r>
              <a:rPr lang="en-US"/>
              <a:t>On the original decision benchmark, all reported methods retained eighteen aircraft on the worst day. The tuned Priority Based Selection with VNS achieved standard deviation about one point three nine two in one hundred and fifteen point six seconds. Simulated Annealing improved the median standard deviation by only zero point zero zero one four four, below the required zero point zero zero five. Its median runtime was three hundred and six point three seconds, just over the five-minute limit. Two runs reached the time budget. Tightened acceptance matched the Priority Based Selection with VNS quality. The candidate therefore failed both the smoothness threshold and the runtime criterion. These values use the earlier decision-study horizon and must not be compared numerically with the later matched hyperparameter scores. Source: .scratch/iteration-2/study-results.json, decision section.</a:t>
            </a:r>
            <a:endParaRPr dirty="0"/>
          </a:p>
        </p:txBody>
      </p:sp>
      <p:sp>
        <p:nvSpPr>
          <p:cNvPr id="4" name="Slide Number Placeholder 3"/>
          <p:cNvSpPr>
            <a:spLocks noGrp="1"/>
          </p:cNvSpPr>
          <p:nvPr>
            <p:ph type="sldNum" sz="quarter" idx="5"/>
          </p:nvPr>
        </p:nvSpPr>
        <p:spPr/>
        <p:txBody>
          <a:bodyPr/>
          <a:lstStyle/>
          <a:p>
            <a:endParaRPr lang="en-AU"/>
          </a:p>
        </p:txBody>
      </p:sp>
    </p:spTree>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txBody>
          <a:bodyPr/>
          <a:lstStyle/>
          <a:p>
            <a:endParaRPr lang="en-AU"/>
          </a:p>
        </p:txBody>
      </p:sp>
      <p:sp>
        <p:nvSpPr>
          <p:cNvPr id="3" name="Notes Placeholder 2"/>
          <p:cNvSpPr>
            <a:spLocks noGrp="1"/>
          </p:cNvSpPr>
          <p:nvPr>
            <p:ph type="body" sz="quarter" idx="3"/>
          </p:nvPr>
        </p:nvSpPr>
        <p:spPr/>
        <p:txBody>
          <a:bodyPr/>
          <a:lstStyle/>
          <a:p>
            <a:r>
              <a:rPr lang="en-US"/>
              <a:t>This earlier experiment changes the opening start schedule for the same original checks and due dates. The three starts are as-loaded, bunched, and spread. All begin at a worst-day availability of fifteen and finish at eighteen with the tuned Priority Based Selection with VNS. The as-loaded start finishes smoothest. Simulated Annealing adds a small smoothness improvement on each start but takes longer. This supports retaining the as-loaded start for that original instance. It does not show that a more widely staggered fleet is always worse. The new moderate and wide datasets have different maintenance ages and check mixes, so their results answer a different question. Source: .scratch/iteration-2/study-results.json, stagger section.</a:t>
            </a:r>
            <a:endParaRPr dirty="0"/>
          </a:p>
        </p:txBody>
      </p:sp>
      <p:sp>
        <p:nvSpPr>
          <p:cNvPr id="4" name="Slide Number Placeholder 3"/>
          <p:cNvSpPr>
            <a:spLocks noGrp="1"/>
          </p:cNvSpPr>
          <p:nvPr>
            <p:ph type="sldNum" sz="quarter" idx="5"/>
          </p:nvPr>
        </p:nvSpPr>
        <p:spPr/>
        <p:txBody>
          <a:bodyPr/>
          <a:lstStyle/>
          <a:p>
            <a:endParaRPr lang="en-AU"/>
          </a:p>
        </p:txBody>
      </p:sp>
    </p:spTree>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906DA805-A8D4-A0B5-BD61-445EFB819457}"/>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C7127E42-CB92-3204-96E6-6FF5A588560D}"/>
              </a:ext>
            </a:extLst>
          </p:cNvPr>
          <p:cNvSpPr>
            <a:spLocks noGrp="1" noRot="1" noChangeAspect="1"/>
          </p:cNvSpPr>
          <p:nvPr>
            <p:ph type="sldImg" idx="2"/>
          </p:nvPr>
        </p:nvSpPr>
        <p:spPr/>
        <p:txBody>
          <a:bodyPr/>
          <a:lstStyle/>
          <a:p>
            <a:endParaRPr lang="en-AU"/>
          </a:p>
        </p:txBody>
      </p:sp>
      <p:sp>
        <p:nvSpPr>
          <p:cNvPr id="3" name="Notes Placeholder 2">
            <a:extLst>
              <a:ext uri="{FF2B5EF4-FFF2-40B4-BE49-F238E27FC236}">
                <a16:creationId xmlns:a16="http://schemas.microsoft.com/office/drawing/2014/main" id="{FD8B0EF6-829D-6A59-601F-5A50FF2601E2}"/>
              </a:ext>
            </a:extLst>
          </p:cNvPr>
          <p:cNvSpPr>
            <a:spLocks noGrp="1"/>
          </p:cNvSpPr>
          <p:nvPr>
            <p:ph type="body" sz="quarter" idx="3"/>
          </p:nvPr>
        </p:nvSpPr>
        <p:spPr/>
        <p:txBody>
          <a:bodyPr/>
          <a:lstStyle/>
          <a:p>
            <a:r>
              <a:rPr lang="en-US"/>
              <a:t>This earlier experiment changes the opening start schedule for the same original checks and due dates. The three starts are as-loaded, bunched, and spread. All begin at a worst-day availability of fifteen and finish at eighteen with the tuned Priority Based Selection with VNS. The as-loaded start finishes smoothest. Simulated Annealing adds a small smoothness improvement on each start but takes longer. This supports retaining the as-loaded start for that original instance. It does not show that a more widely staggered fleet is always worse. The new moderate and wide datasets have different maintenance ages and check mixes, so their results answer a different question. Source: .scratch/iteration-2/study-results.json, stagger section.</a:t>
            </a:r>
            <a:endParaRPr dirty="0"/>
          </a:p>
        </p:txBody>
      </p:sp>
      <p:sp>
        <p:nvSpPr>
          <p:cNvPr id="4" name="Slide Number Placeholder 3">
            <a:extLst>
              <a:ext uri="{FF2B5EF4-FFF2-40B4-BE49-F238E27FC236}">
                <a16:creationId xmlns:a16="http://schemas.microsoft.com/office/drawing/2014/main" id="{9CADED6C-E7CF-5D54-986C-46D285DB481B}"/>
              </a:ext>
            </a:extLst>
          </p:cNvPr>
          <p:cNvSpPr>
            <a:spLocks noGrp="1"/>
          </p:cNvSpPr>
          <p:nvPr>
            <p:ph type="sldNum" sz="quarter" idx="5"/>
          </p:nvPr>
        </p:nvSpPr>
        <p:spPr/>
        <p:txBody>
          <a:bodyPr/>
          <a:lstStyle/>
          <a:p>
            <a:endParaRPr lang="en-AU"/>
          </a:p>
        </p:txBody>
      </p:sp>
    </p:spTree>
    <p:extLst>
      <p:ext uri="{BB962C8B-B14F-4D97-AF65-F5344CB8AC3E}">
        <p14:creationId xmlns:p14="http://schemas.microsoft.com/office/powerpoint/2010/main" val="2458416926"/>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txBody>
          <a:bodyPr/>
          <a:lstStyle/>
          <a:p>
            <a:endParaRPr lang="en-AU"/>
          </a:p>
        </p:txBody>
      </p:sp>
      <p:sp>
        <p:nvSpPr>
          <p:cNvPr id="3" name="Notes Placeholder 2"/>
          <p:cNvSpPr>
            <a:spLocks noGrp="1"/>
          </p:cNvSpPr>
          <p:nvPr>
            <p:ph type="body" sz="quarter" idx="3"/>
          </p:nvPr>
        </p:nvSpPr>
        <p:spPr/>
        <p:txBody>
          <a:bodyPr/>
          <a:lstStyle/>
          <a:p>
            <a:r>
              <a:rPr lang="en-US"/>
              <a:t>The best measured setting on the original forecast is C57, half steps plus forty-two days. It retains eighteen aircraft and improves smoothness by one point four two percent against the default. Moderate and wide stagger both favour C30, the wide dense ladder. They retain nineteen and twenty aircraft respectively, with smoothness improvements of three point one and four point eight five percent. All listed winners naturally exhausted their improving neighbourhoods. The previous half-step setting reaches only nineteen aircraft on wide stagger, while the default reaches twenty, so it cannot be adopted universally. Serial timings are local-machine medians, and repeated deterministic endpoints agree. Source: the three-forecast report dated 14 October 2026 and .scratch/priority-hyperparameter-analysis/three-dataset-summary.json.</a:t>
            </a:r>
            <a:endParaRPr dirty="0"/>
          </a:p>
        </p:txBody>
      </p:sp>
      <p:sp>
        <p:nvSpPr>
          <p:cNvPr id="4" name="Slide Number Placeholder 3"/>
          <p:cNvSpPr>
            <a:spLocks noGrp="1"/>
          </p:cNvSpPr>
          <p:nvPr>
            <p:ph type="sldNum" sz="quarter" idx="5"/>
          </p:nvPr>
        </p:nvSpPr>
        <p:spPr/>
        <p:txBody>
          <a:bodyPr/>
          <a:lstStyle/>
          <a:p>
            <a:endParaRPr lang="en-AU"/>
          </a:p>
        </p:txBody>
      </p:sp>
    </p:spTree>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txBody>
          <a:bodyPr/>
          <a:lstStyle/>
          <a:p>
            <a:endParaRPr lang="en-AU"/>
          </a:p>
        </p:txBody>
      </p:sp>
      <p:sp>
        <p:nvSpPr>
          <p:cNvPr id="3" name="Notes Placeholder 2"/>
          <p:cNvSpPr>
            <a:spLocks noGrp="1"/>
          </p:cNvSpPr>
          <p:nvPr>
            <p:ph type="body" sz="quarter" idx="3"/>
          </p:nvPr>
        </p:nvSpPr>
        <p:spPr/>
        <p:txBody>
          <a:bodyPr/>
          <a:lstStyle/>
          <a:p>
            <a:r>
              <a:rPr lang="en-US"/>
              <a:t>The original forecast has a useful bound on the primary objective. A D check lasts one hundred and twenty-six days and has a seventy-day early allowance, so each first D check must cover a fixed fifty-six-day interval beginning at its due date. Six of those mandatory intervals overlap in the original fleet. With twenty-four aircraft, no legal schedule can exceed eighteen available aircraft on every day. Our result reaches that bound. For the two stagger inputs, the corresponding upper bound is twenty-one, while the measured results reach nineteen and twenty. Those gaps remain unresolved. These bounds do not prove globally optimal smoothness. Source: the three-forecast report, limits of the evidence section.</a:t>
            </a:r>
            <a:endParaRPr/>
          </a:p>
        </p:txBody>
      </p:sp>
      <p:sp>
        <p:nvSpPr>
          <p:cNvPr id="4" name="Slide Number Placeholder 3"/>
          <p:cNvSpPr>
            <a:spLocks noGrp="1"/>
          </p:cNvSpPr>
          <p:nvPr>
            <p:ph type="sldNum" sz="quarter" idx="5"/>
          </p:nvPr>
        </p:nvSpPr>
        <p:spPr/>
        <p:txBody>
          <a:bodyPr/>
          <a:lstStyle/>
          <a:p>
            <a:endParaRPr lang="en-AU"/>
          </a:p>
        </p:txBody>
      </p:sp>
    </p:spTree>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txBody>
          <a:bodyPr/>
          <a:lstStyle/>
          <a:p>
            <a:endParaRPr lang="en-AU"/>
          </a:p>
        </p:txBody>
      </p:sp>
      <p:sp>
        <p:nvSpPr>
          <p:cNvPr id="3" name="Notes Placeholder 2"/>
          <p:cNvSpPr>
            <a:spLocks noGrp="1"/>
          </p:cNvSpPr>
          <p:nvPr>
            <p:ph type="body" sz="quarter" idx="3"/>
          </p:nvPr>
        </p:nvSpPr>
        <p:spPr/>
        <p:txBody>
          <a:bodyPr/>
          <a:lstStyle/>
          <a:p>
            <a:r>
              <a:rPr lang="en-US"/>
              <a:t>The final recommendation is to retain the Priority Based Selection with VNS. Iteration 1 delivered the major practical improvement: raising original worst-day availability from fifteen to eighteen and reducing search cost. Iteration 2 showed that Simulated Annealing's small smoothness gain did not justify its runtime in the decision benchmark. The completed three-forecast study now supports C30 as the shared tuning choice, with C57 as the original-input option. The method, input opening state, and scoring window need to stay explicit in future comparisons. The remaining work is broader validation on new fleets and investigation of the unresolved stagger-input gaps. That completes the project journey, and I am happy to take questions.</a:t>
            </a:r>
            <a:endParaRPr dirty="0"/>
          </a:p>
        </p:txBody>
      </p:sp>
      <p:sp>
        <p:nvSpPr>
          <p:cNvPr id="4" name="Slide Number Placeholder 3"/>
          <p:cNvSpPr>
            <a:spLocks noGrp="1"/>
          </p:cNvSpPr>
          <p:nvPr>
            <p:ph type="sldNum" sz="quarter" idx="5"/>
          </p:nvPr>
        </p:nvSpPr>
        <p:spPr/>
        <p:txBody>
          <a:bodyPr/>
          <a:lstStyle/>
          <a:p>
            <a:endParaRPr lang="en-AU"/>
          </a:p>
        </p:txBody>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E27AC29-5489-7E59-EAC9-D647FB484268}"/>
              </a:ext>
            </a:extLst>
          </p:cNvPr>
          <p:cNvSpPr>
            <a:spLocks noGrp="1"/>
          </p:cNvSpPr>
          <p:nvPr>
            <p:ph type="ctrTitle"/>
          </p:nvPr>
        </p:nvSpPr>
        <p:spPr>
          <a:xfrm>
            <a:off x="1524000" y="1122363"/>
            <a:ext cx="9144000" cy="2387600"/>
          </a:xfrm>
        </p:spPr>
        <p:txBody>
          <a:bodyPr anchor="b"/>
          <a:lstStyle>
            <a:lvl1pPr algn="ctr">
              <a:defRPr sz="6000"/>
            </a:lvl1pPr>
          </a:lstStyle>
          <a:p>
            <a:r>
              <a:rPr lang="en-US"/>
              <a:t>Click to edit Master title style</a:t>
            </a:r>
            <a:endParaRPr lang="en-AU"/>
          </a:p>
        </p:txBody>
      </p:sp>
      <p:sp>
        <p:nvSpPr>
          <p:cNvPr id="3" name="Subtitle 2">
            <a:extLst>
              <a:ext uri="{FF2B5EF4-FFF2-40B4-BE49-F238E27FC236}">
                <a16:creationId xmlns:a16="http://schemas.microsoft.com/office/drawing/2014/main" id="{E2501C13-E0B2-D076-7CD7-A6AC33D13451}"/>
              </a:ext>
            </a:extLst>
          </p:cNvPr>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endParaRPr lang="en-AU"/>
          </a:p>
        </p:txBody>
      </p:sp>
      <p:sp>
        <p:nvSpPr>
          <p:cNvPr id="4" name="Date Placeholder 3">
            <a:extLst>
              <a:ext uri="{FF2B5EF4-FFF2-40B4-BE49-F238E27FC236}">
                <a16:creationId xmlns:a16="http://schemas.microsoft.com/office/drawing/2014/main" id="{CBAABFF5-6218-2733-F7D7-DD43FF3EAF22}"/>
              </a:ext>
            </a:extLst>
          </p:cNvPr>
          <p:cNvSpPr>
            <a:spLocks noGrp="1"/>
          </p:cNvSpPr>
          <p:nvPr>
            <p:ph type="dt" sz="half" idx="10"/>
          </p:nvPr>
        </p:nvSpPr>
        <p:spPr/>
        <p:txBody>
          <a:bodyPr/>
          <a:lstStyle/>
          <a:p>
            <a:fld id="{9F7A5D4D-6049-4B4A-AC9A-1E104DF16849}" type="datetimeFigureOut">
              <a:rPr lang="en-AU" smtClean="0"/>
              <a:t>14/10/2026</a:t>
            </a:fld>
            <a:endParaRPr lang="en-AU"/>
          </a:p>
        </p:txBody>
      </p:sp>
      <p:sp>
        <p:nvSpPr>
          <p:cNvPr id="5" name="Footer Placeholder 4">
            <a:extLst>
              <a:ext uri="{FF2B5EF4-FFF2-40B4-BE49-F238E27FC236}">
                <a16:creationId xmlns:a16="http://schemas.microsoft.com/office/drawing/2014/main" id="{E33C09D1-4BB8-DFBC-BBAA-CF2404718D13}"/>
              </a:ext>
            </a:extLst>
          </p:cNvPr>
          <p:cNvSpPr>
            <a:spLocks noGrp="1"/>
          </p:cNvSpPr>
          <p:nvPr>
            <p:ph type="ftr" sz="quarter" idx="11"/>
          </p:nvPr>
        </p:nvSpPr>
        <p:spPr/>
        <p:txBody>
          <a:bodyPr/>
          <a:lstStyle/>
          <a:p>
            <a:endParaRPr lang="en-AU"/>
          </a:p>
        </p:txBody>
      </p:sp>
      <p:sp>
        <p:nvSpPr>
          <p:cNvPr id="6" name="Slide Number Placeholder 5">
            <a:extLst>
              <a:ext uri="{FF2B5EF4-FFF2-40B4-BE49-F238E27FC236}">
                <a16:creationId xmlns:a16="http://schemas.microsoft.com/office/drawing/2014/main" id="{FEF124C5-CBB2-6745-3685-4BA6A7EDC064}"/>
              </a:ext>
            </a:extLst>
          </p:cNvPr>
          <p:cNvSpPr>
            <a:spLocks noGrp="1"/>
          </p:cNvSpPr>
          <p:nvPr>
            <p:ph type="sldNum" sz="quarter" idx="12"/>
          </p:nvPr>
        </p:nvSpPr>
        <p:spPr/>
        <p:txBody>
          <a:bodyPr/>
          <a:lstStyle/>
          <a:p>
            <a:fld id="{666143E0-65BA-4AF4-B9F5-3A622158391E}" type="slidenum">
              <a:rPr lang="en-AU" smtClean="0"/>
              <a:t>‹#›</a:t>
            </a:fld>
            <a:endParaRPr lang="en-AU"/>
          </a:p>
        </p:txBody>
      </p:sp>
    </p:spTree>
    <p:extLst>
      <p:ext uri="{BB962C8B-B14F-4D97-AF65-F5344CB8AC3E}">
        <p14:creationId xmlns:p14="http://schemas.microsoft.com/office/powerpoint/2010/main" val="1959660356"/>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B345595-0FC8-A071-C6A1-FD736E6572DD}"/>
              </a:ext>
            </a:extLst>
          </p:cNvPr>
          <p:cNvSpPr>
            <a:spLocks noGrp="1"/>
          </p:cNvSpPr>
          <p:nvPr>
            <p:ph type="title"/>
          </p:nvPr>
        </p:nvSpPr>
        <p:spPr/>
        <p:txBody>
          <a:bodyPr/>
          <a:lstStyle/>
          <a:p>
            <a:r>
              <a:rPr lang="en-US"/>
              <a:t>Click to edit Master title style</a:t>
            </a:r>
            <a:endParaRPr lang="en-AU"/>
          </a:p>
        </p:txBody>
      </p:sp>
      <p:sp>
        <p:nvSpPr>
          <p:cNvPr id="3" name="Content Placeholder 2">
            <a:extLst>
              <a:ext uri="{FF2B5EF4-FFF2-40B4-BE49-F238E27FC236}">
                <a16:creationId xmlns:a16="http://schemas.microsoft.com/office/drawing/2014/main" id="{785C650A-169D-8AE2-1DCA-D4E4EDE6F576}"/>
              </a:ext>
            </a:extLst>
          </p:cNvPr>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AU"/>
          </a:p>
        </p:txBody>
      </p:sp>
      <p:sp>
        <p:nvSpPr>
          <p:cNvPr id="4" name="Date Placeholder 3">
            <a:extLst>
              <a:ext uri="{FF2B5EF4-FFF2-40B4-BE49-F238E27FC236}">
                <a16:creationId xmlns:a16="http://schemas.microsoft.com/office/drawing/2014/main" id="{6EB2D135-BC8E-4B1F-B311-615BDA2B09D9}"/>
              </a:ext>
            </a:extLst>
          </p:cNvPr>
          <p:cNvSpPr>
            <a:spLocks noGrp="1"/>
          </p:cNvSpPr>
          <p:nvPr>
            <p:ph type="dt" sz="half" idx="10"/>
          </p:nvPr>
        </p:nvSpPr>
        <p:spPr/>
        <p:txBody>
          <a:bodyPr/>
          <a:lstStyle/>
          <a:p>
            <a:fld id="{9F7A5D4D-6049-4B4A-AC9A-1E104DF16849}" type="datetimeFigureOut">
              <a:rPr lang="en-AU" smtClean="0"/>
              <a:t>14/10/2026</a:t>
            </a:fld>
            <a:endParaRPr lang="en-AU"/>
          </a:p>
        </p:txBody>
      </p:sp>
      <p:sp>
        <p:nvSpPr>
          <p:cNvPr id="5" name="Footer Placeholder 4">
            <a:extLst>
              <a:ext uri="{FF2B5EF4-FFF2-40B4-BE49-F238E27FC236}">
                <a16:creationId xmlns:a16="http://schemas.microsoft.com/office/drawing/2014/main" id="{288E205C-2CDA-B38C-FCDF-0583627C1F90}"/>
              </a:ext>
            </a:extLst>
          </p:cNvPr>
          <p:cNvSpPr>
            <a:spLocks noGrp="1"/>
          </p:cNvSpPr>
          <p:nvPr>
            <p:ph type="ftr" sz="quarter" idx="11"/>
          </p:nvPr>
        </p:nvSpPr>
        <p:spPr/>
        <p:txBody>
          <a:bodyPr/>
          <a:lstStyle/>
          <a:p>
            <a:endParaRPr lang="en-AU"/>
          </a:p>
        </p:txBody>
      </p:sp>
      <p:sp>
        <p:nvSpPr>
          <p:cNvPr id="6" name="Slide Number Placeholder 5">
            <a:extLst>
              <a:ext uri="{FF2B5EF4-FFF2-40B4-BE49-F238E27FC236}">
                <a16:creationId xmlns:a16="http://schemas.microsoft.com/office/drawing/2014/main" id="{F8BE7FF6-BD67-1FA2-6C13-761141E5CCDC}"/>
              </a:ext>
            </a:extLst>
          </p:cNvPr>
          <p:cNvSpPr>
            <a:spLocks noGrp="1"/>
          </p:cNvSpPr>
          <p:nvPr>
            <p:ph type="sldNum" sz="quarter" idx="12"/>
          </p:nvPr>
        </p:nvSpPr>
        <p:spPr/>
        <p:txBody>
          <a:bodyPr/>
          <a:lstStyle/>
          <a:p>
            <a:fld id="{666143E0-65BA-4AF4-B9F5-3A622158391E}" type="slidenum">
              <a:rPr lang="en-AU" smtClean="0"/>
              <a:t>‹#›</a:t>
            </a:fld>
            <a:endParaRPr lang="en-AU"/>
          </a:p>
        </p:txBody>
      </p:sp>
    </p:spTree>
    <p:extLst>
      <p:ext uri="{BB962C8B-B14F-4D97-AF65-F5344CB8AC3E}">
        <p14:creationId xmlns:p14="http://schemas.microsoft.com/office/powerpoint/2010/main" val="4032267331"/>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FD87FDA-BC2B-2887-C4A9-7B9ED044593F}"/>
              </a:ext>
            </a:extLst>
          </p:cNvPr>
          <p:cNvSpPr>
            <a:spLocks noGrp="1"/>
          </p:cNvSpPr>
          <p:nvPr>
            <p:ph type="title"/>
          </p:nvPr>
        </p:nvSpPr>
        <p:spPr>
          <a:xfrm>
            <a:off x="831850" y="1709738"/>
            <a:ext cx="10515600" cy="2852737"/>
          </a:xfrm>
        </p:spPr>
        <p:txBody>
          <a:bodyPr anchor="b"/>
          <a:lstStyle>
            <a:lvl1pPr>
              <a:defRPr sz="6000"/>
            </a:lvl1pPr>
          </a:lstStyle>
          <a:p>
            <a:r>
              <a:rPr lang="en-US"/>
              <a:t>Click to edit Master title style</a:t>
            </a:r>
            <a:endParaRPr lang="en-AU"/>
          </a:p>
        </p:txBody>
      </p:sp>
      <p:sp>
        <p:nvSpPr>
          <p:cNvPr id="3" name="Text Placeholder 2">
            <a:extLst>
              <a:ext uri="{FF2B5EF4-FFF2-40B4-BE49-F238E27FC236}">
                <a16:creationId xmlns:a16="http://schemas.microsoft.com/office/drawing/2014/main" id="{57202086-03F0-09BB-A77A-4FB4C29E2EA8}"/>
              </a:ext>
            </a:extLst>
          </p:cNvPr>
          <p:cNvSpPr>
            <a:spLocks noGrp="1"/>
          </p:cNvSpPr>
          <p:nvPr>
            <p:ph type="body" idx="1"/>
          </p:nvPr>
        </p:nvSpPr>
        <p:spPr>
          <a:xfrm>
            <a:off x="831850" y="4589463"/>
            <a:ext cx="10515600" cy="1500187"/>
          </a:xfrm>
        </p:spPr>
        <p:txBody>
          <a:bodyPr/>
          <a:lstStyle>
            <a:lvl1pPr marL="0" indent="0">
              <a:buNone/>
              <a:defRPr sz="2400">
                <a:solidFill>
                  <a:schemeClr val="tx1">
                    <a:tint val="82000"/>
                  </a:schemeClr>
                </a:solidFill>
              </a:defRPr>
            </a:lvl1pPr>
            <a:lvl2pPr marL="457200" indent="0">
              <a:buNone/>
              <a:defRPr sz="2000">
                <a:solidFill>
                  <a:schemeClr val="tx1">
                    <a:tint val="82000"/>
                  </a:schemeClr>
                </a:solidFill>
              </a:defRPr>
            </a:lvl2pPr>
            <a:lvl3pPr marL="914400" indent="0">
              <a:buNone/>
              <a:defRPr sz="1800">
                <a:solidFill>
                  <a:schemeClr val="tx1">
                    <a:tint val="82000"/>
                  </a:schemeClr>
                </a:solidFill>
              </a:defRPr>
            </a:lvl3pPr>
            <a:lvl4pPr marL="1371600" indent="0">
              <a:buNone/>
              <a:defRPr sz="1600">
                <a:solidFill>
                  <a:schemeClr val="tx1">
                    <a:tint val="82000"/>
                  </a:schemeClr>
                </a:solidFill>
              </a:defRPr>
            </a:lvl4pPr>
            <a:lvl5pPr marL="1828800" indent="0">
              <a:buNone/>
              <a:defRPr sz="1600">
                <a:solidFill>
                  <a:schemeClr val="tx1">
                    <a:tint val="82000"/>
                  </a:schemeClr>
                </a:solidFill>
              </a:defRPr>
            </a:lvl5pPr>
            <a:lvl6pPr marL="2286000" indent="0">
              <a:buNone/>
              <a:defRPr sz="1600">
                <a:solidFill>
                  <a:schemeClr val="tx1">
                    <a:tint val="82000"/>
                  </a:schemeClr>
                </a:solidFill>
              </a:defRPr>
            </a:lvl6pPr>
            <a:lvl7pPr marL="2743200" indent="0">
              <a:buNone/>
              <a:defRPr sz="1600">
                <a:solidFill>
                  <a:schemeClr val="tx1">
                    <a:tint val="82000"/>
                  </a:schemeClr>
                </a:solidFill>
              </a:defRPr>
            </a:lvl7pPr>
            <a:lvl8pPr marL="3200400" indent="0">
              <a:buNone/>
              <a:defRPr sz="1600">
                <a:solidFill>
                  <a:schemeClr val="tx1">
                    <a:tint val="82000"/>
                  </a:schemeClr>
                </a:solidFill>
              </a:defRPr>
            </a:lvl8pPr>
            <a:lvl9pPr marL="3657600" indent="0">
              <a:buNone/>
              <a:defRPr sz="1600">
                <a:solidFill>
                  <a:schemeClr val="tx1">
                    <a:tint val="82000"/>
                  </a:schemeClr>
                </a:solidFill>
              </a:defRPr>
            </a:lvl9pPr>
          </a:lstStyle>
          <a:p>
            <a:pPr lvl="0"/>
            <a:r>
              <a:rPr lang="en-US"/>
              <a:t>Click to edit Master text styles</a:t>
            </a:r>
          </a:p>
        </p:txBody>
      </p:sp>
      <p:sp>
        <p:nvSpPr>
          <p:cNvPr id="4" name="Date Placeholder 3">
            <a:extLst>
              <a:ext uri="{FF2B5EF4-FFF2-40B4-BE49-F238E27FC236}">
                <a16:creationId xmlns:a16="http://schemas.microsoft.com/office/drawing/2014/main" id="{2FD266CE-BB85-0270-43B0-3C359B125F62}"/>
              </a:ext>
            </a:extLst>
          </p:cNvPr>
          <p:cNvSpPr>
            <a:spLocks noGrp="1"/>
          </p:cNvSpPr>
          <p:nvPr>
            <p:ph type="dt" sz="half" idx="10"/>
          </p:nvPr>
        </p:nvSpPr>
        <p:spPr/>
        <p:txBody>
          <a:bodyPr/>
          <a:lstStyle/>
          <a:p>
            <a:fld id="{9F7A5D4D-6049-4B4A-AC9A-1E104DF16849}" type="datetimeFigureOut">
              <a:rPr lang="en-AU" smtClean="0"/>
              <a:t>14/10/2026</a:t>
            </a:fld>
            <a:endParaRPr lang="en-AU"/>
          </a:p>
        </p:txBody>
      </p:sp>
      <p:sp>
        <p:nvSpPr>
          <p:cNvPr id="5" name="Footer Placeholder 4">
            <a:extLst>
              <a:ext uri="{FF2B5EF4-FFF2-40B4-BE49-F238E27FC236}">
                <a16:creationId xmlns:a16="http://schemas.microsoft.com/office/drawing/2014/main" id="{6C6BB362-5A23-5B68-BE51-F0911E4A9B22}"/>
              </a:ext>
            </a:extLst>
          </p:cNvPr>
          <p:cNvSpPr>
            <a:spLocks noGrp="1"/>
          </p:cNvSpPr>
          <p:nvPr>
            <p:ph type="ftr" sz="quarter" idx="11"/>
          </p:nvPr>
        </p:nvSpPr>
        <p:spPr/>
        <p:txBody>
          <a:bodyPr/>
          <a:lstStyle/>
          <a:p>
            <a:endParaRPr lang="en-AU"/>
          </a:p>
        </p:txBody>
      </p:sp>
      <p:sp>
        <p:nvSpPr>
          <p:cNvPr id="6" name="Slide Number Placeholder 5">
            <a:extLst>
              <a:ext uri="{FF2B5EF4-FFF2-40B4-BE49-F238E27FC236}">
                <a16:creationId xmlns:a16="http://schemas.microsoft.com/office/drawing/2014/main" id="{C2CC5297-93D0-8140-2ACD-F50F9574CA81}"/>
              </a:ext>
            </a:extLst>
          </p:cNvPr>
          <p:cNvSpPr>
            <a:spLocks noGrp="1"/>
          </p:cNvSpPr>
          <p:nvPr>
            <p:ph type="sldNum" sz="quarter" idx="12"/>
          </p:nvPr>
        </p:nvSpPr>
        <p:spPr/>
        <p:txBody>
          <a:bodyPr/>
          <a:lstStyle/>
          <a:p>
            <a:fld id="{666143E0-65BA-4AF4-B9F5-3A622158391E}" type="slidenum">
              <a:rPr lang="en-AU" smtClean="0"/>
              <a:t>‹#›</a:t>
            </a:fld>
            <a:endParaRPr lang="en-AU"/>
          </a:p>
        </p:txBody>
      </p:sp>
    </p:spTree>
    <p:extLst>
      <p:ext uri="{BB962C8B-B14F-4D97-AF65-F5344CB8AC3E}">
        <p14:creationId xmlns:p14="http://schemas.microsoft.com/office/powerpoint/2010/main" val="2409545670"/>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4F69449-3E44-6EA6-776C-F7F459ED8A67}"/>
              </a:ext>
            </a:extLst>
          </p:cNvPr>
          <p:cNvSpPr>
            <a:spLocks noGrp="1"/>
          </p:cNvSpPr>
          <p:nvPr>
            <p:ph type="title"/>
          </p:nvPr>
        </p:nvSpPr>
        <p:spPr/>
        <p:txBody>
          <a:bodyPr/>
          <a:lstStyle/>
          <a:p>
            <a:r>
              <a:rPr lang="en-US"/>
              <a:t>Click to edit Master title style</a:t>
            </a:r>
            <a:endParaRPr lang="en-AU"/>
          </a:p>
        </p:txBody>
      </p:sp>
      <p:sp>
        <p:nvSpPr>
          <p:cNvPr id="3" name="Content Placeholder 2">
            <a:extLst>
              <a:ext uri="{FF2B5EF4-FFF2-40B4-BE49-F238E27FC236}">
                <a16:creationId xmlns:a16="http://schemas.microsoft.com/office/drawing/2014/main" id="{82D6B937-9F21-3E4E-4E61-D5AE3E5B6614}"/>
              </a:ext>
            </a:extLst>
          </p:cNvPr>
          <p:cNvSpPr>
            <a:spLocks noGrp="1"/>
          </p:cNvSpPr>
          <p:nvPr>
            <p:ph sz="half" idx="1"/>
          </p:nvPr>
        </p:nvSpPr>
        <p:spPr>
          <a:xfrm>
            <a:off x="838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AU"/>
          </a:p>
        </p:txBody>
      </p:sp>
      <p:sp>
        <p:nvSpPr>
          <p:cNvPr id="4" name="Content Placeholder 3">
            <a:extLst>
              <a:ext uri="{FF2B5EF4-FFF2-40B4-BE49-F238E27FC236}">
                <a16:creationId xmlns:a16="http://schemas.microsoft.com/office/drawing/2014/main" id="{EC8022D0-26BA-67B5-621D-EBA2C13C8628}"/>
              </a:ext>
            </a:extLst>
          </p:cNvPr>
          <p:cNvSpPr>
            <a:spLocks noGrp="1"/>
          </p:cNvSpPr>
          <p:nvPr>
            <p:ph sz="half" idx="2"/>
          </p:nvPr>
        </p:nvSpPr>
        <p:spPr>
          <a:xfrm>
            <a:off x="6172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AU"/>
          </a:p>
        </p:txBody>
      </p:sp>
      <p:sp>
        <p:nvSpPr>
          <p:cNvPr id="5" name="Date Placeholder 4">
            <a:extLst>
              <a:ext uri="{FF2B5EF4-FFF2-40B4-BE49-F238E27FC236}">
                <a16:creationId xmlns:a16="http://schemas.microsoft.com/office/drawing/2014/main" id="{2C5D2C76-6DCC-1274-1CD9-163BE5B5D151}"/>
              </a:ext>
            </a:extLst>
          </p:cNvPr>
          <p:cNvSpPr>
            <a:spLocks noGrp="1"/>
          </p:cNvSpPr>
          <p:nvPr>
            <p:ph type="dt" sz="half" idx="10"/>
          </p:nvPr>
        </p:nvSpPr>
        <p:spPr/>
        <p:txBody>
          <a:bodyPr/>
          <a:lstStyle/>
          <a:p>
            <a:fld id="{9F7A5D4D-6049-4B4A-AC9A-1E104DF16849}" type="datetimeFigureOut">
              <a:rPr lang="en-AU" smtClean="0"/>
              <a:t>14/10/2026</a:t>
            </a:fld>
            <a:endParaRPr lang="en-AU"/>
          </a:p>
        </p:txBody>
      </p:sp>
      <p:sp>
        <p:nvSpPr>
          <p:cNvPr id="6" name="Footer Placeholder 5">
            <a:extLst>
              <a:ext uri="{FF2B5EF4-FFF2-40B4-BE49-F238E27FC236}">
                <a16:creationId xmlns:a16="http://schemas.microsoft.com/office/drawing/2014/main" id="{8395CCA0-9807-AF6E-1257-31140E40EBA2}"/>
              </a:ext>
            </a:extLst>
          </p:cNvPr>
          <p:cNvSpPr>
            <a:spLocks noGrp="1"/>
          </p:cNvSpPr>
          <p:nvPr>
            <p:ph type="ftr" sz="quarter" idx="11"/>
          </p:nvPr>
        </p:nvSpPr>
        <p:spPr/>
        <p:txBody>
          <a:bodyPr/>
          <a:lstStyle/>
          <a:p>
            <a:endParaRPr lang="en-AU"/>
          </a:p>
        </p:txBody>
      </p:sp>
      <p:sp>
        <p:nvSpPr>
          <p:cNvPr id="7" name="Slide Number Placeholder 6">
            <a:extLst>
              <a:ext uri="{FF2B5EF4-FFF2-40B4-BE49-F238E27FC236}">
                <a16:creationId xmlns:a16="http://schemas.microsoft.com/office/drawing/2014/main" id="{9E7ADBAA-34A0-299F-9CC8-4E887DC80D98}"/>
              </a:ext>
            </a:extLst>
          </p:cNvPr>
          <p:cNvSpPr>
            <a:spLocks noGrp="1"/>
          </p:cNvSpPr>
          <p:nvPr>
            <p:ph type="sldNum" sz="quarter" idx="12"/>
          </p:nvPr>
        </p:nvSpPr>
        <p:spPr/>
        <p:txBody>
          <a:bodyPr/>
          <a:lstStyle/>
          <a:p>
            <a:fld id="{666143E0-65BA-4AF4-B9F5-3A622158391E}" type="slidenum">
              <a:rPr lang="en-AU" smtClean="0"/>
              <a:t>‹#›</a:t>
            </a:fld>
            <a:endParaRPr lang="en-AU"/>
          </a:p>
        </p:txBody>
      </p:sp>
    </p:spTree>
    <p:extLst>
      <p:ext uri="{BB962C8B-B14F-4D97-AF65-F5344CB8AC3E}">
        <p14:creationId xmlns:p14="http://schemas.microsoft.com/office/powerpoint/2010/main" val="2949874830"/>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B2D3C85-D656-7770-7F02-ABA0B758BA16}"/>
              </a:ext>
            </a:extLst>
          </p:cNvPr>
          <p:cNvSpPr>
            <a:spLocks noGrp="1"/>
          </p:cNvSpPr>
          <p:nvPr>
            <p:ph type="title"/>
          </p:nvPr>
        </p:nvSpPr>
        <p:spPr>
          <a:xfrm>
            <a:off x="839788" y="365125"/>
            <a:ext cx="10515600" cy="1325563"/>
          </a:xfrm>
        </p:spPr>
        <p:txBody>
          <a:bodyPr/>
          <a:lstStyle/>
          <a:p>
            <a:r>
              <a:rPr lang="en-US"/>
              <a:t>Click to edit Master title style</a:t>
            </a:r>
            <a:endParaRPr lang="en-AU"/>
          </a:p>
        </p:txBody>
      </p:sp>
      <p:sp>
        <p:nvSpPr>
          <p:cNvPr id="3" name="Text Placeholder 2">
            <a:extLst>
              <a:ext uri="{FF2B5EF4-FFF2-40B4-BE49-F238E27FC236}">
                <a16:creationId xmlns:a16="http://schemas.microsoft.com/office/drawing/2014/main" id="{7F586C69-4818-8D27-53B3-61459A9794A9}"/>
              </a:ext>
            </a:extLst>
          </p:cNvPr>
          <p:cNvSpPr>
            <a:spLocks noGrp="1"/>
          </p:cNvSpPr>
          <p:nvPr>
            <p:ph type="body" idx="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a:extLst>
              <a:ext uri="{FF2B5EF4-FFF2-40B4-BE49-F238E27FC236}">
                <a16:creationId xmlns:a16="http://schemas.microsoft.com/office/drawing/2014/main" id="{1D0F99EB-0DDC-F689-0CAD-3B8A4EF148F2}"/>
              </a:ext>
            </a:extLst>
          </p:cNvPr>
          <p:cNvSpPr>
            <a:spLocks noGrp="1"/>
          </p:cNvSpPr>
          <p:nvPr>
            <p:ph sz="half" idx="2"/>
          </p:nvPr>
        </p:nvSpPr>
        <p:spPr>
          <a:xfrm>
            <a:off x="839788" y="2505075"/>
            <a:ext cx="5157787"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AU"/>
          </a:p>
        </p:txBody>
      </p:sp>
      <p:sp>
        <p:nvSpPr>
          <p:cNvPr id="5" name="Text Placeholder 4">
            <a:extLst>
              <a:ext uri="{FF2B5EF4-FFF2-40B4-BE49-F238E27FC236}">
                <a16:creationId xmlns:a16="http://schemas.microsoft.com/office/drawing/2014/main" id="{2D655FA0-F4BF-294D-6C91-839EC185E535}"/>
              </a:ext>
            </a:extLst>
          </p:cNvPr>
          <p:cNvSpPr>
            <a:spLocks noGrp="1"/>
          </p:cNvSpPr>
          <p:nvPr>
            <p:ph type="body" sz="quarter" idx="3"/>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a:extLst>
              <a:ext uri="{FF2B5EF4-FFF2-40B4-BE49-F238E27FC236}">
                <a16:creationId xmlns:a16="http://schemas.microsoft.com/office/drawing/2014/main" id="{F3432D8F-9E7C-BFCC-7506-42FAD0452A7D}"/>
              </a:ext>
            </a:extLst>
          </p:cNvPr>
          <p:cNvSpPr>
            <a:spLocks noGrp="1"/>
          </p:cNvSpPr>
          <p:nvPr>
            <p:ph sz="quarter" idx="4"/>
          </p:nvPr>
        </p:nvSpPr>
        <p:spPr>
          <a:xfrm>
            <a:off x="6172200" y="2505075"/>
            <a:ext cx="5183188"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AU"/>
          </a:p>
        </p:txBody>
      </p:sp>
      <p:sp>
        <p:nvSpPr>
          <p:cNvPr id="7" name="Date Placeholder 6">
            <a:extLst>
              <a:ext uri="{FF2B5EF4-FFF2-40B4-BE49-F238E27FC236}">
                <a16:creationId xmlns:a16="http://schemas.microsoft.com/office/drawing/2014/main" id="{83A9DA42-17EC-0526-9EAE-55968BE9C9C8}"/>
              </a:ext>
            </a:extLst>
          </p:cNvPr>
          <p:cNvSpPr>
            <a:spLocks noGrp="1"/>
          </p:cNvSpPr>
          <p:nvPr>
            <p:ph type="dt" sz="half" idx="10"/>
          </p:nvPr>
        </p:nvSpPr>
        <p:spPr/>
        <p:txBody>
          <a:bodyPr/>
          <a:lstStyle/>
          <a:p>
            <a:fld id="{9F7A5D4D-6049-4B4A-AC9A-1E104DF16849}" type="datetimeFigureOut">
              <a:rPr lang="en-AU" smtClean="0"/>
              <a:t>14/10/2026</a:t>
            </a:fld>
            <a:endParaRPr lang="en-AU"/>
          </a:p>
        </p:txBody>
      </p:sp>
      <p:sp>
        <p:nvSpPr>
          <p:cNvPr id="8" name="Footer Placeholder 7">
            <a:extLst>
              <a:ext uri="{FF2B5EF4-FFF2-40B4-BE49-F238E27FC236}">
                <a16:creationId xmlns:a16="http://schemas.microsoft.com/office/drawing/2014/main" id="{FFA22C3E-FF08-4F95-71B6-A3DFCB2B1F1E}"/>
              </a:ext>
            </a:extLst>
          </p:cNvPr>
          <p:cNvSpPr>
            <a:spLocks noGrp="1"/>
          </p:cNvSpPr>
          <p:nvPr>
            <p:ph type="ftr" sz="quarter" idx="11"/>
          </p:nvPr>
        </p:nvSpPr>
        <p:spPr/>
        <p:txBody>
          <a:bodyPr/>
          <a:lstStyle/>
          <a:p>
            <a:endParaRPr lang="en-AU"/>
          </a:p>
        </p:txBody>
      </p:sp>
      <p:sp>
        <p:nvSpPr>
          <p:cNvPr id="9" name="Slide Number Placeholder 8">
            <a:extLst>
              <a:ext uri="{FF2B5EF4-FFF2-40B4-BE49-F238E27FC236}">
                <a16:creationId xmlns:a16="http://schemas.microsoft.com/office/drawing/2014/main" id="{9A8EF523-A7A4-5C96-A87E-62A9FFE82A77}"/>
              </a:ext>
            </a:extLst>
          </p:cNvPr>
          <p:cNvSpPr>
            <a:spLocks noGrp="1"/>
          </p:cNvSpPr>
          <p:nvPr>
            <p:ph type="sldNum" sz="quarter" idx="12"/>
          </p:nvPr>
        </p:nvSpPr>
        <p:spPr/>
        <p:txBody>
          <a:bodyPr/>
          <a:lstStyle/>
          <a:p>
            <a:fld id="{666143E0-65BA-4AF4-B9F5-3A622158391E}" type="slidenum">
              <a:rPr lang="en-AU" smtClean="0"/>
              <a:t>‹#›</a:t>
            </a:fld>
            <a:endParaRPr lang="en-AU"/>
          </a:p>
        </p:txBody>
      </p:sp>
    </p:spTree>
    <p:extLst>
      <p:ext uri="{BB962C8B-B14F-4D97-AF65-F5344CB8AC3E}">
        <p14:creationId xmlns:p14="http://schemas.microsoft.com/office/powerpoint/2010/main" val="1206383061"/>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F202C16-082C-1C2D-2E7F-5A6EAA6DED3E}"/>
              </a:ext>
            </a:extLst>
          </p:cNvPr>
          <p:cNvSpPr>
            <a:spLocks noGrp="1"/>
          </p:cNvSpPr>
          <p:nvPr>
            <p:ph type="title"/>
          </p:nvPr>
        </p:nvSpPr>
        <p:spPr/>
        <p:txBody>
          <a:bodyPr/>
          <a:lstStyle/>
          <a:p>
            <a:r>
              <a:rPr lang="en-US"/>
              <a:t>Click to edit Master title style</a:t>
            </a:r>
            <a:endParaRPr lang="en-AU"/>
          </a:p>
        </p:txBody>
      </p:sp>
      <p:sp>
        <p:nvSpPr>
          <p:cNvPr id="3" name="Date Placeholder 2">
            <a:extLst>
              <a:ext uri="{FF2B5EF4-FFF2-40B4-BE49-F238E27FC236}">
                <a16:creationId xmlns:a16="http://schemas.microsoft.com/office/drawing/2014/main" id="{BB9E42EB-571E-35CA-2A3B-7512CBAD6A7F}"/>
              </a:ext>
            </a:extLst>
          </p:cNvPr>
          <p:cNvSpPr>
            <a:spLocks noGrp="1"/>
          </p:cNvSpPr>
          <p:nvPr>
            <p:ph type="dt" sz="half" idx="10"/>
          </p:nvPr>
        </p:nvSpPr>
        <p:spPr/>
        <p:txBody>
          <a:bodyPr/>
          <a:lstStyle/>
          <a:p>
            <a:fld id="{9F7A5D4D-6049-4B4A-AC9A-1E104DF16849}" type="datetimeFigureOut">
              <a:rPr lang="en-AU" smtClean="0"/>
              <a:t>14/10/2026</a:t>
            </a:fld>
            <a:endParaRPr lang="en-AU"/>
          </a:p>
        </p:txBody>
      </p:sp>
      <p:sp>
        <p:nvSpPr>
          <p:cNvPr id="4" name="Footer Placeholder 3">
            <a:extLst>
              <a:ext uri="{FF2B5EF4-FFF2-40B4-BE49-F238E27FC236}">
                <a16:creationId xmlns:a16="http://schemas.microsoft.com/office/drawing/2014/main" id="{A06FFC9C-6799-4836-1125-10115B307C9D}"/>
              </a:ext>
            </a:extLst>
          </p:cNvPr>
          <p:cNvSpPr>
            <a:spLocks noGrp="1"/>
          </p:cNvSpPr>
          <p:nvPr>
            <p:ph type="ftr" sz="quarter" idx="11"/>
          </p:nvPr>
        </p:nvSpPr>
        <p:spPr/>
        <p:txBody>
          <a:bodyPr/>
          <a:lstStyle/>
          <a:p>
            <a:endParaRPr lang="en-AU"/>
          </a:p>
        </p:txBody>
      </p:sp>
      <p:sp>
        <p:nvSpPr>
          <p:cNvPr id="5" name="Slide Number Placeholder 4">
            <a:extLst>
              <a:ext uri="{FF2B5EF4-FFF2-40B4-BE49-F238E27FC236}">
                <a16:creationId xmlns:a16="http://schemas.microsoft.com/office/drawing/2014/main" id="{866A684E-FF97-AD89-A309-B4EF8132F303}"/>
              </a:ext>
            </a:extLst>
          </p:cNvPr>
          <p:cNvSpPr>
            <a:spLocks noGrp="1"/>
          </p:cNvSpPr>
          <p:nvPr>
            <p:ph type="sldNum" sz="quarter" idx="12"/>
          </p:nvPr>
        </p:nvSpPr>
        <p:spPr/>
        <p:txBody>
          <a:bodyPr/>
          <a:lstStyle/>
          <a:p>
            <a:fld id="{666143E0-65BA-4AF4-B9F5-3A622158391E}" type="slidenum">
              <a:rPr lang="en-AU" smtClean="0"/>
              <a:t>‹#›</a:t>
            </a:fld>
            <a:endParaRPr lang="en-AU"/>
          </a:p>
        </p:txBody>
      </p:sp>
    </p:spTree>
    <p:extLst>
      <p:ext uri="{BB962C8B-B14F-4D97-AF65-F5344CB8AC3E}">
        <p14:creationId xmlns:p14="http://schemas.microsoft.com/office/powerpoint/2010/main" val="157908279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a:extLst>
              <a:ext uri="{FF2B5EF4-FFF2-40B4-BE49-F238E27FC236}">
                <a16:creationId xmlns:a16="http://schemas.microsoft.com/office/drawing/2014/main" id="{97A33FB7-EB70-9CAB-3760-550ED1D9537A}"/>
              </a:ext>
            </a:extLst>
          </p:cNvPr>
          <p:cNvSpPr>
            <a:spLocks noGrp="1"/>
          </p:cNvSpPr>
          <p:nvPr>
            <p:ph type="dt" sz="half" idx="10"/>
          </p:nvPr>
        </p:nvSpPr>
        <p:spPr/>
        <p:txBody>
          <a:bodyPr/>
          <a:lstStyle/>
          <a:p>
            <a:fld id="{9F7A5D4D-6049-4B4A-AC9A-1E104DF16849}" type="datetimeFigureOut">
              <a:rPr lang="en-AU" smtClean="0"/>
              <a:t>14/10/2026</a:t>
            </a:fld>
            <a:endParaRPr lang="en-AU"/>
          </a:p>
        </p:txBody>
      </p:sp>
      <p:sp>
        <p:nvSpPr>
          <p:cNvPr id="3" name="Footer Placeholder 2">
            <a:extLst>
              <a:ext uri="{FF2B5EF4-FFF2-40B4-BE49-F238E27FC236}">
                <a16:creationId xmlns:a16="http://schemas.microsoft.com/office/drawing/2014/main" id="{39E3D347-9DE0-5C07-52C1-88314FBC9826}"/>
              </a:ext>
            </a:extLst>
          </p:cNvPr>
          <p:cNvSpPr>
            <a:spLocks noGrp="1"/>
          </p:cNvSpPr>
          <p:nvPr>
            <p:ph type="ftr" sz="quarter" idx="11"/>
          </p:nvPr>
        </p:nvSpPr>
        <p:spPr/>
        <p:txBody>
          <a:bodyPr/>
          <a:lstStyle/>
          <a:p>
            <a:endParaRPr lang="en-AU"/>
          </a:p>
        </p:txBody>
      </p:sp>
      <p:sp>
        <p:nvSpPr>
          <p:cNvPr id="4" name="Slide Number Placeholder 3">
            <a:extLst>
              <a:ext uri="{FF2B5EF4-FFF2-40B4-BE49-F238E27FC236}">
                <a16:creationId xmlns:a16="http://schemas.microsoft.com/office/drawing/2014/main" id="{B4943FF2-4A69-6A74-5C0D-F878E8C96541}"/>
              </a:ext>
            </a:extLst>
          </p:cNvPr>
          <p:cNvSpPr>
            <a:spLocks noGrp="1"/>
          </p:cNvSpPr>
          <p:nvPr>
            <p:ph type="sldNum" sz="quarter" idx="12"/>
          </p:nvPr>
        </p:nvSpPr>
        <p:spPr/>
        <p:txBody>
          <a:bodyPr/>
          <a:lstStyle/>
          <a:p>
            <a:fld id="{666143E0-65BA-4AF4-B9F5-3A622158391E}" type="slidenum">
              <a:rPr lang="en-AU" smtClean="0"/>
              <a:t>‹#›</a:t>
            </a:fld>
            <a:endParaRPr lang="en-AU"/>
          </a:p>
        </p:txBody>
      </p:sp>
    </p:spTree>
    <p:extLst>
      <p:ext uri="{BB962C8B-B14F-4D97-AF65-F5344CB8AC3E}">
        <p14:creationId xmlns:p14="http://schemas.microsoft.com/office/powerpoint/2010/main" val="3812506425"/>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58A98DE-29C8-674F-C03A-256434246F48}"/>
              </a:ext>
            </a:extLst>
          </p:cNvPr>
          <p:cNvSpPr>
            <a:spLocks noGrp="1"/>
          </p:cNvSpPr>
          <p:nvPr>
            <p:ph type="title"/>
          </p:nvPr>
        </p:nvSpPr>
        <p:spPr>
          <a:xfrm>
            <a:off x="839788" y="457200"/>
            <a:ext cx="3932237" cy="1600200"/>
          </a:xfrm>
        </p:spPr>
        <p:txBody>
          <a:bodyPr anchor="b"/>
          <a:lstStyle>
            <a:lvl1pPr>
              <a:defRPr sz="3200"/>
            </a:lvl1pPr>
          </a:lstStyle>
          <a:p>
            <a:r>
              <a:rPr lang="en-US"/>
              <a:t>Click to edit Master title style</a:t>
            </a:r>
            <a:endParaRPr lang="en-AU"/>
          </a:p>
        </p:txBody>
      </p:sp>
      <p:sp>
        <p:nvSpPr>
          <p:cNvPr id="3" name="Content Placeholder 2">
            <a:extLst>
              <a:ext uri="{FF2B5EF4-FFF2-40B4-BE49-F238E27FC236}">
                <a16:creationId xmlns:a16="http://schemas.microsoft.com/office/drawing/2014/main" id="{C5E168ED-8F37-98B1-EF30-760C493A4393}"/>
              </a:ext>
            </a:extLst>
          </p:cNvPr>
          <p:cNvSpPr>
            <a:spLocks noGrp="1"/>
          </p:cNvSpPr>
          <p:nvPr>
            <p:ph idx="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AU"/>
          </a:p>
        </p:txBody>
      </p:sp>
      <p:sp>
        <p:nvSpPr>
          <p:cNvPr id="4" name="Text Placeholder 3">
            <a:extLst>
              <a:ext uri="{FF2B5EF4-FFF2-40B4-BE49-F238E27FC236}">
                <a16:creationId xmlns:a16="http://schemas.microsoft.com/office/drawing/2014/main" id="{78F23C02-58C9-E86C-64B0-548C80A60C35}"/>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a:extLst>
              <a:ext uri="{FF2B5EF4-FFF2-40B4-BE49-F238E27FC236}">
                <a16:creationId xmlns:a16="http://schemas.microsoft.com/office/drawing/2014/main" id="{2A2717D8-E341-BB22-238E-E9AFE292D73C}"/>
              </a:ext>
            </a:extLst>
          </p:cNvPr>
          <p:cNvSpPr>
            <a:spLocks noGrp="1"/>
          </p:cNvSpPr>
          <p:nvPr>
            <p:ph type="dt" sz="half" idx="10"/>
          </p:nvPr>
        </p:nvSpPr>
        <p:spPr/>
        <p:txBody>
          <a:bodyPr/>
          <a:lstStyle/>
          <a:p>
            <a:fld id="{9F7A5D4D-6049-4B4A-AC9A-1E104DF16849}" type="datetimeFigureOut">
              <a:rPr lang="en-AU" smtClean="0"/>
              <a:t>14/10/2026</a:t>
            </a:fld>
            <a:endParaRPr lang="en-AU"/>
          </a:p>
        </p:txBody>
      </p:sp>
      <p:sp>
        <p:nvSpPr>
          <p:cNvPr id="6" name="Footer Placeholder 5">
            <a:extLst>
              <a:ext uri="{FF2B5EF4-FFF2-40B4-BE49-F238E27FC236}">
                <a16:creationId xmlns:a16="http://schemas.microsoft.com/office/drawing/2014/main" id="{649953E8-4735-72DA-6B79-6867005BBF94}"/>
              </a:ext>
            </a:extLst>
          </p:cNvPr>
          <p:cNvSpPr>
            <a:spLocks noGrp="1"/>
          </p:cNvSpPr>
          <p:nvPr>
            <p:ph type="ftr" sz="quarter" idx="11"/>
          </p:nvPr>
        </p:nvSpPr>
        <p:spPr/>
        <p:txBody>
          <a:bodyPr/>
          <a:lstStyle/>
          <a:p>
            <a:endParaRPr lang="en-AU"/>
          </a:p>
        </p:txBody>
      </p:sp>
      <p:sp>
        <p:nvSpPr>
          <p:cNvPr id="7" name="Slide Number Placeholder 6">
            <a:extLst>
              <a:ext uri="{FF2B5EF4-FFF2-40B4-BE49-F238E27FC236}">
                <a16:creationId xmlns:a16="http://schemas.microsoft.com/office/drawing/2014/main" id="{27C09CD1-1C39-4510-CDA4-ED3EA9772694}"/>
              </a:ext>
            </a:extLst>
          </p:cNvPr>
          <p:cNvSpPr>
            <a:spLocks noGrp="1"/>
          </p:cNvSpPr>
          <p:nvPr>
            <p:ph type="sldNum" sz="quarter" idx="12"/>
          </p:nvPr>
        </p:nvSpPr>
        <p:spPr/>
        <p:txBody>
          <a:bodyPr/>
          <a:lstStyle/>
          <a:p>
            <a:fld id="{666143E0-65BA-4AF4-B9F5-3A622158391E}" type="slidenum">
              <a:rPr lang="en-AU" smtClean="0"/>
              <a:t>‹#›</a:t>
            </a:fld>
            <a:endParaRPr lang="en-AU"/>
          </a:p>
        </p:txBody>
      </p:sp>
    </p:spTree>
    <p:extLst>
      <p:ext uri="{BB962C8B-B14F-4D97-AF65-F5344CB8AC3E}">
        <p14:creationId xmlns:p14="http://schemas.microsoft.com/office/powerpoint/2010/main" val="2719570024"/>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34C23AD-791B-B7F3-A376-E608A61CDED7}"/>
              </a:ext>
            </a:extLst>
          </p:cNvPr>
          <p:cNvSpPr>
            <a:spLocks noGrp="1"/>
          </p:cNvSpPr>
          <p:nvPr>
            <p:ph type="title"/>
          </p:nvPr>
        </p:nvSpPr>
        <p:spPr>
          <a:xfrm>
            <a:off x="839788" y="457200"/>
            <a:ext cx="3932237" cy="1600200"/>
          </a:xfrm>
        </p:spPr>
        <p:txBody>
          <a:bodyPr anchor="b"/>
          <a:lstStyle>
            <a:lvl1pPr>
              <a:defRPr sz="3200"/>
            </a:lvl1pPr>
          </a:lstStyle>
          <a:p>
            <a:r>
              <a:rPr lang="en-US"/>
              <a:t>Click to edit Master title style</a:t>
            </a:r>
            <a:endParaRPr lang="en-AU"/>
          </a:p>
        </p:txBody>
      </p:sp>
      <p:sp>
        <p:nvSpPr>
          <p:cNvPr id="3" name="Picture Placeholder 2">
            <a:extLst>
              <a:ext uri="{FF2B5EF4-FFF2-40B4-BE49-F238E27FC236}">
                <a16:creationId xmlns:a16="http://schemas.microsoft.com/office/drawing/2014/main" id="{75BFF0F7-6039-9D71-D0F2-F020EB1BD432}"/>
              </a:ext>
            </a:extLst>
          </p:cNvPr>
          <p:cNvSpPr>
            <a:spLocks noGrp="1"/>
          </p:cNvSpPr>
          <p:nvPr>
            <p:ph type="pic" idx="1"/>
          </p:nvPr>
        </p:nvSpPr>
        <p:spPr>
          <a:xfrm>
            <a:off x="5183188" y="987425"/>
            <a:ext cx="6172200" cy="4873625"/>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AU"/>
          </a:p>
        </p:txBody>
      </p:sp>
      <p:sp>
        <p:nvSpPr>
          <p:cNvPr id="4" name="Text Placeholder 3">
            <a:extLst>
              <a:ext uri="{FF2B5EF4-FFF2-40B4-BE49-F238E27FC236}">
                <a16:creationId xmlns:a16="http://schemas.microsoft.com/office/drawing/2014/main" id="{CAE11312-EB3B-5541-AF2E-8A5A7DB73A4F}"/>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a:extLst>
              <a:ext uri="{FF2B5EF4-FFF2-40B4-BE49-F238E27FC236}">
                <a16:creationId xmlns:a16="http://schemas.microsoft.com/office/drawing/2014/main" id="{09F2DDDA-6916-3433-381F-F9E3D806F841}"/>
              </a:ext>
            </a:extLst>
          </p:cNvPr>
          <p:cNvSpPr>
            <a:spLocks noGrp="1"/>
          </p:cNvSpPr>
          <p:nvPr>
            <p:ph type="dt" sz="half" idx="10"/>
          </p:nvPr>
        </p:nvSpPr>
        <p:spPr/>
        <p:txBody>
          <a:bodyPr/>
          <a:lstStyle/>
          <a:p>
            <a:fld id="{9F7A5D4D-6049-4B4A-AC9A-1E104DF16849}" type="datetimeFigureOut">
              <a:rPr lang="en-AU" smtClean="0"/>
              <a:t>14/10/2026</a:t>
            </a:fld>
            <a:endParaRPr lang="en-AU"/>
          </a:p>
        </p:txBody>
      </p:sp>
      <p:sp>
        <p:nvSpPr>
          <p:cNvPr id="6" name="Footer Placeholder 5">
            <a:extLst>
              <a:ext uri="{FF2B5EF4-FFF2-40B4-BE49-F238E27FC236}">
                <a16:creationId xmlns:a16="http://schemas.microsoft.com/office/drawing/2014/main" id="{7561D945-48A8-8981-9F9B-8D606E9E1B9F}"/>
              </a:ext>
            </a:extLst>
          </p:cNvPr>
          <p:cNvSpPr>
            <a:spLocks noGrp="1"/>
          </p:cNvSpPr>
          <p:nvPr>
            <p:ph type="ftr" sz="quarter" idx="11"/>
          </p:nvPr>
        </p:nvSpPr>
        <p:spPr/>
        <p:txBody>
          <a:bodyPr/>
          <a:lstStyle/>
          <a:p>
            <a:endParaRPr lang="en-AU"/>
          </a:p>
        </p:txBody>
      </p:sp>
      <p:sp>
        <p:nvSpPr>
          <p:cNvPr id="7" name="Slide Number Placeholder 6">
            <a:extLst>
              <a:ext uri="{FF2B5EF4-FFF2-40B4-BE49-F238E27FC236}">
                <a16:creationId xmlns:a16="http://schemas.microsoft.com/office/drawing/2014/main" id="{CB9CBBC1-F6AE-DF73-5D10-1AFE1FE8DB97}"/>
              </a:ext>
            </a:extLst>
          </p:cNvPr>
          <p:cNvSpPr>
            <a:spLocks noGrp="1"/>
          </p:cNvSpPr>
          <p:nvPr>
            <p:ph type="sldNum" sz="quarter" idx="12"/>
          </p:nvPr>
        </p:nvSpPr>
        <p:spPr/>
        <p:txBody>
          <a:bodyPr/>
          <a:lstStyle/>
          <a:p>
            <a:fld id="{666143E0-65BA-4AF4-B9F5-3A622158391E}" type="slidenum">
              <a:rPr lang="en-AU" smtClean="0"/>
              <a:t>‹#›</a:t>
            </a:fld>
            <a:endParaRPr lang="en-AU"/>
          </a:p>
        </p:txBody>
      </p:sp>
    </p:spTree>
    <p:extLst>
      <p:ext uri="{BB962C8B-B14F-4D97-AF65-F5344CB8AC3E}">
        <p14:creationId xmlns:p14="http://schemas.microsoft.com/office/powerpoint/2010/main" val="1059685821"/>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218948F-B5F0-6E1C-9D2F-FE655DBFF4C4}"/>
              </a:ext>
            </a:extLst>
          </p:cNvPr>
          <p:cNvSpPr>
            <a:spLocks noGrp="1"/>
          </p:cNvSpPr>
          <p:nvPr>
            <p:ph type="title"/>
          </p:nvPr>
        </p:nvSpPr>
        <p:spPr/>
        <p:txBody>
          <a:bodyPr/>
          <a:lstStyle/>
          <a:p>
            <a:r>
              <a:rPr lang="en-US"/>
              <a:t>Click to edit Master title style</a:t>
            </a:r>
            <a:endParaRPr lang="en-AU"/>
          </a:p>
        </p:txBody>
      </p:sp>
      <p:sp>
        <p:nvSpPr>
          <p:cNvPr id="3" name="Vertical Text Placeholder 2">
            <a:extLst>
              <a:ext uri="{FF2B5EF4-FFF2-40B4-BE49-F238E27FC236}">
                <a16:creationId xmlns:a16="http://schemas.microsoft.com/office/drawing/2014/main" id="{E98B8EDC-C405-DDDD-C07D-E4B13418164F}"/>
              </a:ext>
            </a:extLst>
          </p:cNvPr>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AU"/>
          </a:p>
        </p:txBody>
      </p:sp>
      <p:sp>
        <p:nvSpPr>
          <p:cNvPr id="4" name="Date Placeholder 3">
            <a:extLst>
              <a:ext uri="{FF2B5EF4-FFF2-40B4-BE49-F238E27FC236}">
                <a16:creationId xmlns:a16="http://schemas.microsoft.com/office/drawing/2014/main" id="{E654D829-7E7C-76B9-31E3-3CF6DB4EB570}"/>
              </a:ext>
            </a:extLst>
          </p:cNvPr>
          <p:cNvSpPr>
            <a:spLocks noGrp="1"/>
          </p:cNvSpPr>
          <p:nvPr>
            <p:ph type="dt" sz="half" idx="10"/>
          </p:nvPr>
        </p:nvSpPr>
        <p:spPr/>
        <p:txBody>
          <a:bodyPr/>
          <a:lstStyle/>
          <a:p>
            <a:fld id="{9F7A5D4D-6049-4B4A-AC9A-1E104DF16849}" type="datetimeFigureOut">
              <a:rPr lang="en-AU" smtClean="0"/>
              <a:t>14/10/2026</a:t>
            </a:fld>
            <a:endParaRPr lang="en-AU"/>
          </a:p>
        </p:txBody>
      </p:sp>
      <p:sp>
        <p:nvSpPr>
          <p:cNvPr id="5" name="Footer Placeholder 4">
            <a:extLst>
              <a:ext uri="{FF2B5EF4-FFF2-40B4-BE49-F238E27FC236}">
                <a16:creationId xmlns:a16="http://schemas.microsoft.com/office/drawing/2014/main" id="{B599E042-4052-64D4-92D5-404003C8F3C5}"/>
              </a:ext>
            </a:extLst>
          </p:cNvPr>
          <p:cNvSpPr>
            <a:spLocks noGrp="1"/>
          </p:cNvSpPr>
          <p:nvPr>
            <p:ph type="ftr" sz="quarter" idx="11"/>
          </p:nvPr>
        </p:nvSpPr>
        <p:spPr/>
        <p:txBody>
          <a:bodyPr/>
          <a:lstStyle/>
          <a:p>
            <a:endParaRPr lang="en-AU"/>
          </a:p>
        </p:txBody>
      </p:sp>
      <p:sp>
        <p:nvSpPr>
          <p:cNvPr id="6" name="Slide Number Placeholder 5">
            <a:extLst>
              <a:ext uri="{FF2B5EF4-FFF2-40B4-BE49-F238E27FC236}">
                <a16:creationId xmlns:a16="http://schemas.microsoft.com/office/drawing/2014/main" id="{5556AAB2-7265-573F-5D26-153411B57CC5}"/>
              </a:ext>
            </a:extLst>
          </p:cNvPr>
          <p:cNvSpPr>
            <a:spLocks noGrp="1"/>
          </p:cNvSpPr>
          <p:nvPr>
            <p:ph type="sldNum" sz="quarter" idx="12"/>
          </p:nvPr>
        </p:nvSpPr>
        <p:spPr/>
        <p:txBody>
          <a:bodyPr/>
          <a:lstStyle/>
          <a:p>
            <a:fld id="{666143E0-65BA-4AF4-B9F5-3A622158391E}" type="slidenum">
              <a:rPr lang="en-AU" smtClean="0"/>
              <a:t>‹#›</a:t>
            </a:fld>
            <a:endParaRPr lang="en-AU"/>
          </a:p>
        </p:txBody>
      </p:sp>
    </p:spTree>
    <p:extLst>
      <p:ext uri="{BB962C8B-B14F-4D97-AF65-F5344CB8AC3E}">
        <p14:creationId xmlns:p14="http://schemas.microsoft.com/office/powerpoint/2010/main" val="1972465895"/>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a:extLst>
              <a:ext uri="{FF2B5EF4-FFF2-40B4-BE49-F238E27FC236}">
                <a16:creationId xmlns:a16="http://schemas.microsoft.com/office/drawing/2014/main" id="{E2CFF2DB-AAD9-5CB0-E51B-B937F5D7F49A}"/>
              </a:ext>
            </a:extLst>
          </p:cNvPr>
          <p:cNvSpPr>
            <a:spLocks noGrp="1"/>
          </p:cNvSpPr>
          <p:nvPr>
            <p:ph type="title" orient="vert"/>
          </p:nvPr>
        </p:nvSpPr>
        <p:spPr>
          <a:xfrm>
            <a:off x="8724900" y="365125"/>
            <a:ext cx="2628900" cy="5811838"/>
          </a:xfrm>
        </p:spPr>
        <p:txBody>
          <a:bodyPr vert="eaVert"/>
          <a:lstStyle/>
          <a:p>
            <a:r>
              <a:rPr lang="en-US"/>
              <a:t>Click to edit Master title style</a:t>
            </a:r>
            <a:endParaRPr lang="en-AU"/>
          </a:p>
        </p:txBody>
      </p:sp>
      <p:sp>
        <p:nvSpPr>
          <p:cNvPr id="3" name="Vertical Text Placeholder 2">
            <a:extLst>
              <a:ext uri="{FF2B5EF4-FFF2-40B4-BE49-F238E27FC236}">
                <a16:creationId xmlns:a16="http://schemas.microsoft.com/office/drawing/2014/main" id="{7D8E478B-10DD-1473-2606-A5B3834623ED}"/>
              </a:ext>
            </a:extLst>
          </p:cNvPr>
          <p:cNvSpPr>
            <a:spLocks noGrp="1"/>
          </p:cNvSpPr>
          <p:nvPr>
            <p:ph type="body" orient="vert" idx="1"/>
          </p:nvPr>
        </p:nvSpPr>
        <p:spPr>
          <a:xfrm>
            <a:off x="838200" y="365125"/>
            <a:ext cx="7734300" cy="5811838"/>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AU"/>
          </a:p>
        </p:txBody>
      </p:sp>
      <p:sp>
        <p:nvSpPr>
          <p:cNvPr id="4" name="Date Placeholder 3">
            <a:extLst>
              <a:ext uri="{FF2B5EF4-FFF2-40B4-BE49-F238E27FC236}">
                <a16:creationId xmlns:a16="http://schemas.microsoft.com/office/drawing/2014/main" id="{E553A97E-9A01-7B17-FE27-E352FCAA339F}"/>
              </a:ext>
            </a:extLst>
          </p:cNvPr>
          <p:cNvSpPr>
            <a:spLocks noGrp="1"/>
          </p:cNvSpPr>
          <p:nvPr>
            <p:ph type="dt" sz="half" idx="10"/>
          </p:nvPr>
        </p:nvSpPr>
        <p:spPr/>
        <p:txBody>
          <a:bodyPr/>
          <a:lstStyle/>
          <a:p>
            <a:fld id="{9F7A5D4D-6049-4B4A-AC9A-1E104DF16849}" type="datetimeFigureOut">
              <a:rPr lang="en-AU" smtClean="0"/>
              <a:t>14/10/2026</a:t>
            </a:fld>
            <a:endParaRPr lang="en-AU"/>
          </a:p>
        </p:txBody>
      </p:sp>
      <p:sp>
        <p:nvSpPr>
          <p:cNvPr id="5" name="Footer Placeholder 4">
            <a:extLst>
              <a:ext uri="{FF2B5EF4-FFF2-40B4-BE49-F238E27FC236}">
                <a16:creationId xmlns:a16="http://schemas.microsoft.com/office/drawing/2014/main" id="{0B722961-B1D5-80C6-4DDD-DF3201DAF972}"/>
              </a:ext>
            </a:extLst>
          </p:cNvPr>
          <p:cNvSpPr>
            <a:spLocks noGrp="1"/>
          </p:cNvSpPr>
          <p:nvPr>
            <p:ph type="ftr" sz="quarter" idx="11"/>
          </p:nvPr>
        </p:nvSpPr>
        <p:spPr/>
        <p:txBody>
          <a:bodyPr/>
          <a:lstStyle/>
          <a:p>
            <a:endParaRPr lang="en-AU"/>
          </a:p>
        </p:txBody>
      </p:sp>
      <p:sp>
        <p:nvSpPr>
          <p:cNvPr id="6" name="Slide Number Placeholder 5">
            <a:extLst>
              <a:ext uri="{FF2B5EF4-FFF2-40B4-BE49-F238E27FC236}">
                <a16:creationId xmlns:a16="http://schemas.microsoft.com/office/drawing/2014/main" id="{0EDB7E82-8EF1-B9DA-9BFB-DF20717AFEC9}"/>
              </a:ext>
            </a:extLst>
          </p:cNvPr>
          <p:cNvSpPr>
            <a:spLocks noGrp="1"/>
          </p:cNvSpPr>
          <p:nvPr>
            <p:ph type="sldNum" sz="quarter" idx="12"/>
          </p:nvPr>
        </p:nvSpPr>
        <p:spPr/>
        <p:txBody>
          <a:bodyPr/>
          <a:lstStyle/>
          <a:p>
            <a:fld id="{666143E0-65BA-4AF4-B9F5-3A622158391E}" type="slidenum">
              <a:rPr lang="en-AU" smtClean="0"/>
              <a:t>‹#›</a:t>
            </a:fld>
            <a:endParaRPr lang="en-AU"/>
          </a:p>
        </p:txBody>
      </p:sp>
    </p:spTree>
    <p:extLst>
      <p:ext uri="{BB962C8B-B14F-4D97-AF65-F5344CB8AC3E}">
        <p14:creationId xmlns:p14="http://schemas.microsoft.com/office/powerpoint/2010/main" val="2459539153"/>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a:extLst>
              <a:ext uri="{FF2B5EF4-FFF2-40B4-BE49-F238E27FC236}">
                <a16:creationId xmlns:a16="http://schemas.microsoft.com/office/drawing/2014/main" id="{64E53780-02F0-855E-B11C-90780D546638}"/>
              </a:ext>
            </a:extLst>
          </p:cNvPr>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en-US"/>
              <a:t>Click to edit Master title style</a:t>
            </a:r>
            <a:endParaRPr lang="en-AU"/>
          </a:p>
        </p:txBody>
      </p:sp>
      <p:sp>
        <p:nvSpPr>
          <p:cNvPr id="3" name="Text Placeholder 2">
            <a:extLst>
              <a:ext uri="{FF2B5EF4-FFF2-40B4-BE49-F238E27FC236}">
                <a16:creationId xmlns:a16="http://schemas.microsoft.com/office/drawing/2014/main" id="{9D8840E0-0AF6-2A1F-24E0-8970A6C9BDCE}"/>
              </a:ext>
            </a:extLst>
          </p:cNvPr>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AU"/>
          </a:p>
        </p:txBody>
      </p:sp>
      <p:sp>
        <p:nvSpPr>
          <p:cNvPr id="4" name="Date Placeholder 3">
            <a:extLst>
              <a:ext uri="{FF2B5EF4-FFF2-40B4-BE49-F238E27FC236}">
                <a16:creationId xmlns:a16="http://schemas.microsoft.com/office/drawing/2014/main" id="{6175E01E-A400-C215-C4C4-272CCB5FE915}"/>
              </a:ext>
            </a:extLst>
          </p:cNvPr>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82000"/>
                  </a:schemeClr>
                </a:solidFill>
              </a:defRPr>
            </a:lvl1pPr>
          </a:lstStyle>
          <a:p>
            <a:fld id="{9F7A5D4D-6049-4B4A-AC9A-1E104DF16849}" type="datetimeFigureOut">
              <a:rPr lang="en-AU" smtClean="0"/>
              <a:t>14/10/2026</a:t>
            </a:fld>
            <a:endParaRPr lang="en-AU"/>
          </a:p>
        </p:txBody>
      </p:sp>
      <p:sp>
        <p:nvSpPr>
          <p:cNvPr id="5" name="Footer Placeholder 4">
            <a:extLst>
              <a:ext uri="{FF2B5EF4-FFF2-40B4-BE49-F238E27FC236}">
                <a16:creationId xmlns:a16="http://schemas.microsoft.com/office/drawing/2014/main" id="{1E5BA32E-F332-6240-29D9-F2CB902BAFED}"/>
              </a:ext>
            </a:extLst>
          </p:cNvPr>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82000"/>
                  </a:schemeClr>
                </a:solidFill>
              </a:defRPr>
            </a:lvl1pPr>
          </a:lstStyle>
          <a:p>
            <a:endParaRPr lang="en-AU"/>
          </a:p>
        </p:txBody>
      </p:sp>
      <p:sp>
        <p:nvSpPr>
          <p:cNvPr id="6" name="Slide Number Placeholder 5">
            <a:extLst>
              <a:ext uri="{FF2B5EF4-FFF2-40B4-BE49-F238E27FC236}">
                <a16:creationId xmlns:a16="http://schemas.microsoft.com/office/drawing/2014/main" id="{08ACC8AC-8647-5973-91D8-83A301967F60}"/>
              </a:ext>
            </a:extLst>
          </p:cNvPr>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82000"/>
                  </a:schemeClr>
                </a:solidFill>
              </a:defRPr>
            </a:lvl1pPr>
          </a:lstStyle>
          <a:p>
            <a:fld id="{666143E0-65BA-4AF4-B9F5-3A622158391E}" type="slidenum">
              <a:rPr lang="en-AU" smtClean="0"/>
              <a:t>‹#›</a:t>
            </a:fld>
            <a:endParaRPr lang="en-AU"/>
          </a:p>
        </p:txBody>
      </p:sp>
    </p:spTree>
    <p:extLst>
      <p:ext uri="{BB962C8B-B14F-4D97-AF65-F5344CB8AC3E}">
        <p14:creationId xmlns:p14="http://schemas.microsoft.com/office/powerpoint/2010/main" val="826857422"/>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1.xml"/><Relationship Id="rId1" Type="http://schemas.openxmlformats.org/officeDocument/2006/relationships/slideLayout" Target="../slideLayouts/slideLayout1.xml"/><Relationship Id="rId5" Type="http://schemas.openxmlformats.org/officeDocument/2006/relationships/image" Target="../media/image3.png"/><Relationship Id="rId4" Type="http://schemas.openxmlformats.org/officeDocument/2006/relationships/image" Target="../media/image2.png"/></Relationships>
</file>

<file path=ppt/slides/_rels/slide2.xml.rels><?xml version="1.0" encoding="UTF-8" standalone="yes"?>
<Relationships xmlns="http://schemas.openxmlformats.org/package/2006/relationships"><Relationship Id="rId3" Type="http://schemas.openxmlformats.org/officeDocument/2006/relationships/image" Target="../media/image4.jpeg"/><Relationship Id="rId2" Type="http://schemas.openxmlformats.org/officeDocument/2006/relationships/notesSlide" Target="../notesSlides/notesSlide2.xml"/><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3" Type="http://schemas.openxmlformats.org/officeDocument/2006/relationships/image" Target="../media/image5.png"/><Relationship Id="rId2" Type="http://schemas.openxmlformats.org/officeDocument/2006/relationships/notesSlide" Target="../notesSlides/notesSlide3.xml"/><Relationship Id="rId1" Type="http://schemas.openxmlformats.org/officeDocument/2006/relationships/slideLayout" Target="../slideLayouts/slideLayout2.xml"/><Relationship Id="rId5" Type="http://schemas.openxmlformats.org/officeDocument/2006/relationships/image" Target="../media/image7.png"/><Relationship Id="rId4" Type="http://schemas.openxmlformats.org/officeDocument/2006/relationships/image" Target="../media/image6.png"/></Relationships>
</file>

<file path=ppt/slides/_rels/slide4.xml.rels><?xml version="1.0" encoding="UTF-8" standalone="yes"?>
<Relationships xmlns="http://schemas.openxmlformats.org/package/2006/relationships"><Relationship Id="rId3" Type="http://schemas.openxmlformats.org/officeDocument/2006/relationships/image" Target="../media/image8.png"/><Relationship Id="rId2" Type="http://schemas.openxmlformats.org/officeDocument/2006/relationships/notesSlide" Target="../notesSlides/notesSlide4.xml"/><Relationship Id="rId1" Type="http://schemas.openxmlformats.org/officeDocument/2006/relationships/slideLayout" Target="../slideLayouts/slideLayout2.xml"/><Relationship Id="rId4" Type="http://schemas.openxmlformats.org/officeDocument/2006/relationships/image" Target="../media/image9.png"/></Relationships>
</file>

<file path=ppt/slides/_rels/slide5.xml.rels><?xml version="1.0" encoding="UTF-8" standalone="yes"?>
<Relationships xmlns="http://schemas.openxmlformats.org/package/2006/relationships"><Relationship Id="rId3" Type="http://schemas.openxmlformats.org/officeDocument/2006/relationships/image" Target="../media/image5.png"/><Relationship Id="rId2" Type="http://schemas.openxmlformats.org/officeDocument/2006/relationships/notesSlide" Target="../notesSlides/notesSlide5.xml"/><Relationship Id="rId1" Type="http://schemas.openxmlformats.org/officeDocument/2006/relationships/slideLayout" Target="../slideLayouts/slideLayout2.xml"/><Relationship Id="rId4" Type="http://schemas.openxmlformats.org/officeDocument/2006/relationships/image" Target="../media/image10.png"/></Relationships>
</file>

<file path=ppt/slides/_rels/slide6.xml.rels><?xml version="1.0" encoding="UTF-8" standalone="yes"?>
<Relationships xmlns="http://schemas.openxmlformats.org/package/2006/relationships"><Relationship Id="rId3" Type="http://schemas.openxmlformats.org/officeDocument/2006/relationships/image" Target="../media/image11.png"/><Relationship Id="rId2" Type="http://schemas.openxmlformats.org/officeDocument/2006/relationships/notesSlide" Target="../notesSlides/notesSlide6.xml"/><Relationship Id="rId1" Type="http://schemas.openxmlformats.org/officeDocument/2006/relationships/slideLayout" Target="../slideLayouts/slideLayout7.xml"/></Relationships>
</file>

<file path=ppt/slides/_rels/slide7.xml.rels><?xml version="1.0" encoding="UTF-8" standalone="yes"?>
<Relationships xmlns="http://schemas.openxmlformats.org/package/2006/relationships"><Relationship Id="rId2" Type="http://schemas.openxmlformats.org/officeDocument/2006/relationships/notesSlide" Target="../notesSlides/notesSlide7.xml"/><Relationship Id="rId1" Type="http://schemas.openxmlformats.org/officeDocument/2006/relationships/slideLayout" Target="../slideLayouts/slideLayout7.xml"/></Relationships>
</file>

<file path=ppt/slides/_rels/slide8.xml.rels><?xml version="1.0" encoding="UTF-8" standalone="yes"?>
<Relationships xmlns="http://schemas.openxmlformats.org/package/2006/relationships"><Relationship Id="rId2" Type="http://schemas.openxmlformats.org/officeDocument/2006/relationships/notesSlide" Target="../notesSlides/notesSlide8.xml"/><Relationship Id="rId1" Type="http://schemas.openxmlformats.org/officeDocument/2006/relationships/slideLayout" Target="../slideLayouts/slideLayout7.xml"/></Relationships>
</file>

<file path=ppt/slides/_rels/slide9.xml.rels><?xml version="1.0" encoding="UTF-8" standalone="yes"?>
<Relationships xmlns="http://schemas.openxmlformats.org/package/2006/relationships"><Relationship Id="rId2" Type="http://schemas.openxmlformats.org/officeDocument/2006/relationships/notesSlide" Target="../notesSlides/notesSlide9.xml"/><Relationship Id="rId1" Type="http://schemas.openxmlformats.org/officeDocument/2006/relationships/slideLayout" Target="../slideLayouts/slideLayout7.xml"/></Relationships>
</file>

<file path=ppt/slides/_rels/slide10.xml.rels><?xml version="1.0" encoding="UTF-8" standalone="yes"?>
<Relationships xmlns="http://schemas.openxmlformats.org/package/2006/relationships"><Relationship Id="rId2" Type="http://schemas.openxmlformats.org/officeDocument/2006/relationships/notesSlide" Target="../notesSlides/notesSlide10.xml"/><Relationship Id="rId1" Type="http://schemas.openxmlformats.org/officeDocument/2006/relationships/slideLayout" Target="../slideLayouts/slideLayout7.xml"/></Relationships>
</file>

<file path=ppt/slides/_rels/slide11.xml.rels><?xml version="1.0" encoding="UTF-8" standalone="yes"?>
<Relationships xmlns="http://schemas.openxmlformats.org/package/2006/relationships"><Relationship Id="rId2" Type="http://schemas.openxmlformats.org/officeDocument/2006/relationships/notesSlide" Target="../notesSlides/notesSlide11.xml"/><Relationship Id="rId1" Type="http://schemas.openxmlformats.org/officeDocument/2006/relationships/slideLayout" Target="../slideLayouts/slideLayout7.xml"/></Relationships>
</file>

<file path=ppt/slides/_rels/slide12.xml.rels><?xml version="1.0" encoding="UTF-8" standalone="yes"?>
<Relationships xmlns="http://schemas.openxmlformats.org/package/2006/relationships"><Relationship Id="rId2" Type="http://schemas.openxmlformats.org/officeDocument/2006/relationships/notesSlide" Target="../notesSlides/notesSlide12.xml"/><Relationship Id="rId1" Type="http://schemas.openxmlformats.org/officeDocument/2006/relationships/slideLayout" Target="../slideLayouts/slideLayout7.xml"/></Relationships>
</file>

<file path=ppt/slides/_rels/slide13.xml.rels><?xml version="1.0" encoding="UTF-8" standalone="yes"?>
<Relationships xmlns="http://schemas.openxmlformats.org/package/2006/relationships"><Relationship Id="rId3" Type="http://schemas.openxmlformats.org/officeDocument/2006/relationships/image" Target="../media/image12.png"/><Relationship Id="rId2" Type="http://schemas.openxmlformats.org/officeDocument/2006/relationships/notesSlide" Target="../notesSlides/notesSlide13.xml"/><Relationship Id="rId1" Type="http://schemas.openxmlformats.org/officeDocument/2006/relationships/slideLayout" Target="../slideLayouts/slideLayout7.xml"/><Relationship Id="rId4" Type="http://schemas.openxmlformats.org/officeDocument/2006/relationships/image" Target="../media/image13.png"/></Relationships>
</file>

<file path=ppt/slides/_rels/slide14.xml.rels><?xml version="1.0" encoding="UTF-8" standalone="yes"?>
<Relationships xmlns="http://schemas.openxmlformats.org/package/2006/relationships"><Relationship Id="rId2" Type="http://schemas.openxmlformats.org/officeDocument/2006/relationships/notesSlide" Target="../notesSlides/notesSlide14.xml"/><Relationship Id="rId1" Type="http://schemas.openxmlformats.org/officeDocument/2006/relationships/slideLayout" Target="../slideLayouts/slideLayout7.xml"/></Relationships>
</file>

<file path=ppt/slides/_rels/slide15.xml.rels><?xml version="1.0" encoding="UTF-8" standalone="yes"?>
<Relationships xmlns="http://schemas.openxmlformats.org/package/2006/relationships"><Relationship Id="rId2" Type="http://schemas.openxmlformats.org/officeDocument/2006/relationships/notesSlide" Target="../notesSlides/notesSlide15.xml"/><Relationship Id="rId1" Type="http://schemas.openxmlformats.org/officeDocument/2006/relationships/slideLayout" Target="../slideLayouts/slideLayout7.xml"/></Relationships>
</file>

<file path=ppt/slides/_rels/slide16.xml.rels><?xml version="1.0" encoding="UTF-8" standalone="yes"?>
<Relationships xmlns="http://schemas.openxmlformats.org/package/2006/relationships"><Relationship Id="rId2" Type="http://schemas.openxmlformats.org/officeDocument/2006/relationships/notesSlide" Target="../notesSlides/notesSlide16.xml"/><Relationship Id="rId1" Type="http://schemas.openxmlformats.org/officeDocument/2006/relationships/slideLayout" Target="../slideLayouts/slideLayout7.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E32B536-CD70-9DE5-CFC2-48C7671739CA}"/>
              </a:ext>
            </a:extLst>
          </p:cNvPr>
          <p:cNvSpPr>
            <a:spLocks noGrp="1"/>
          </p:cNvSpPr>
          <p:nvPr>
            <p:ph type="ctrTitle"/>
          </p:nvPr>
        </p:nvSpPr>
        <p:spPr/>
        <p:txBody>
          <a:bodyPr/>
          <a:lstStyle/>
          <a:p>
            <a:endParaRPr lang="en-AU" noProof="0" dirty="0"/>
          </a:p>
        </p:txBody>
      </p:sp>
      <p:sp>
        <p:nvSpPr>
          <p:cNvPr id="3" name="Subtitle 2">
            <a:extLst>
              <a:ext uri="{FF2B5EF4-FFF2-40B4-BE49-F238E27FC236}">
                <a16:creationId xmlns:a16="http://schemas.microsoft.com/office/drawing/2014/main" id="{2ED935A8-37BF-57C3-A747-1FF6693A07D8}"/>
              </a:ext>
            </a:extLst>
          </p:cNvPr>
          <p:cNvSpPr>
            <a:spLocks noGrp="1"/>
          </p:cNvSpPr>
          <p:nvPr>
            <p:ph type="subTitle" idx="1"/>
          </p:nvPr>
        </p:nvSpPr>
        <p:spPr/>
        <p:txBody>
          <a:bodyPr/>
          <a:lstStyle/>
          <a:p>
            <a:endParaRPr lang="en-AU" noProof="0" dirty="0"/>
          </a:p>
        </p:txBody>
      </p:sp>
      <p:sp>
        <p:nvSpPr>
          <p:cNvPr id="6" name="Rectangle 5">
            <a:extLst>
              <a:ext uri="{FF2B5EF4-FFF2-40B4-BE49-F238E27FC236}">
                <a16:creationId xmlns:a16="http://schemas.microsoft.com/office/drawing/2014/main" id="{D78B6FCE-F346-304F-AA40-EB8F60801D40}"/>
              </a:ext>
            </a:extLst>
          </p:cNvPr>
          <p:cNvSpPr/>
          <p:nvPr/>
        </p:nvSpPr>
        <p:spPr>
          <a:xfrm>
            <a:off x="319872" y="291353"/>
            <a:ext cx="11552256" cy="6275294"/>
          </a:xfrm>
          <a:prstGeom prst="rect">
            <a:avLst/>
          </a:prstGeom>
          <a:solidFill>
            <a:schemeClr val="tx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AU" noProof="0" dirty="0"/>
          </a:p>
        </p:txBody>
      </p:sp>
      <p:pic>
        <p:nvPicPr>
          <p:cNvPr id="7" name="Picture 6">
            <a:extLst>
              <a:ext uri="{FF2B5EF4-FFF2-40B4-BE49-F238E27FC236}">
                <a16:creationId xmlns:a16="http://schemas.microsoft.com/office/drawing/2014/main" id="{D47208DD-28BB-3FF1-9FBB-E8C3FAEBA2C2}"/>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566164" y="5838783"/>
            <a:ext cx="2003282" cy="443724"/>
          </a:xfrm>
          <a:prstGeom prst="rect">
            <a:avLst/>
          </a:prstGeom>
        </p:spPr>
      </p:pic>
      <p:pic>
        <p:nvPicPr>
          <p:cNvPr id="8" name="Picture 7">
            <a:extLst>
              <a:ext uri="{FF2B5EF4-FFF2-40B4-BE49-F238E27FC236}">
                <a16:creationId xmlns:a16="http://schemas.microsoft.com/office/drawing/2014/main" id="{918BAAE8-9568-E670-3D2B-09E0493A6586}"/>
              </a:ext>
            </a:extLst>
          </p:cNvPr>
          <p:cNvPicPr>
            <a:picLocks noChangeAspect="1"/>
          </p:cNvPicPr>
          <p:nvPr/>
        </p:nvPicPr>
        <p:blipFill>
          <a:blip r:embed="rId4">
            <a:extLst>
              <a:ext uri="{28A0092B-C50C-407E-A947-70E740481C1C}">
                <a14:useLocalDpi xmlns:a14="http://schemas.microsoft.com/office/drawing/2010/main" val="0"/>
              </a:ext>
            </a:extLst>
          </a:blip>
          <a:stretch>
            <a:fillRect/>
          </a:stretch>
        </p:blipFill>
        <p:spPr>
          <a:xfrm>
            <a:off x="11017370" y="426737"/>
            <a:ext cx="717140" cy="717140"/>
          </a:xfrm>
          <a:prstGeom prst="rect">
            <a:avLst/>
          </a:prstGeom>
        </p:spPr>
      </p:pic>
      <p:sp>
        <p:nvSpPr>
          <p:cNvPr id="9" name="TextBox 8">
            <a:extLst>
              <a:ext uri="{FF2B5EF4-FFF2-40B4-BE49-F238E27FC236}">
                <a16:creationId xmlns:a16="http://schemas.microsoft.com/office/drawing/2014/main" id="{B6F76717-FBF4-D43F-202F-9235C7C3C349}"/>
              </a:ext>
            </a:extLst>
          </p:cNvPr>
          <p:cNvSpPr txBox="1"/>
          <p:nvPr/>
        </p:nvSpPr>
        <p:spPr>
          <a:xfrm>
            <a:off x="457490" y="761999"/>
            <a:ext cx="9760880" cy="4889500"/>
          </a:xfrm>
          <a:prstGeom prst="rect">
            <a:avLst/>
          </a:prstGeom>
          <a:noFill/>
        </p:spPr>
        <p:txBody>
          <a:bodyPr wrap="square" rtlCol="0">
            <a:noAutofit/>
          </a:bodyPr>
          <a:lstStyle/>
          <a:p>
            <a:r>
              <a:rPr lang="en-US" sz="3200" b="1" dirty="0">
                <a:solidFill>
                  <a:schemeClr val="bg1"/>
                </a:solidFill>
              </a:rPr>
              <a:t>Scheduling Algorithm Research:</a:t>
            </a:r>
          </a:p>
          <a:p>
            <a:r>
              <a:rPr lang="en-US" sz="4400" b="1" dirty="0">
                <a:solidFill>
                  <a:schemeClr val="bg1"/>
                </a:solidFill>
              </a:rPr>
              <a:t>Fleet maintenance optimisation</a:t>
            </a:r>
          </a:p>
          <a:p>
            <a:endParaRPr lang="en-US" sz="3200" b="1" dirty="0">
              <a:solidFill>
                <a:schemeClr val="bg1"/>
              </a:solidFill>
            </a:endParaRPr>
          </a:p>
          <a:p>
            <a:endParaRPr lang="en-US" sz="3200" b="1" dirty="0">
              <a:solidFill>
                <a:schemeClr val="bg1"/>
              </a:solidFill>
            </a:endParaRPr>
          </a:p>
          <a:p>
            <a:endParaRPr lang="en-US" sz="3200" b="1" dirty="0">
              <a:solidFill>
                <a:schemeClr val="bg1"/>
              </a:solidFill>
            </a:endParaRPr>
          </a:p>
          <a:p>
            <a:r>
              <a:rPr lang="en-US" sz="3200" b="1" dirty="0">
                <a:solidFill>
                  <a:schemeClr val="bg1"/>
                </a:solidFill>
              </a:rPr>
              <a:t>Data7902 Capstone Project</a:t>
            </a:r>
          </a:p>
          <a:p>
            <a:endParaRPr lang="en-US" sz="3200" b="1" dirty="0">
              <a:solidFill>
                <a:schemeClr val="bg1"/>
              </a:solidFill>
            </a:endParaRPr>
          </a:p>
          <a:p>
            <a:r>
              <a:rPr lang="en-US" sz="2400" b="1" dirty="0">
                <a:solidFill>
                  <a:schemeClr val="bg1"/>
                </a:solidFill>
              </a:rPr>
              <a:t>Presenter: David Long</a:t>
            </a:r>
            <a:endParaRPr lang="en-AU" sz="2400" b="1" noProof="0" dirty="0">
              <a:solidFill>
                <a:schemeClr val="bg1"/>
              </a:solidFill>
            </a:endParaRPr>
          </a:p>
        </p:txBody>
      </p:sp>
      <p:pic>
        <p:nvPicPr>
          <p:cNvPr id="10" name="Picture 9">
            <a:extLst>
              <a:ext uri="{FF2B5EF4-FFF2-40B4-BE49-F238E27FC236}">
                <a16:creationId xmlns:a16="http://schemas.microsoft.com/office/drawing/2014/main" id="{76A11E68-1434-FB0F-7BF1-51BB9BD25F77}"/>
              </a:ext>
            </a:extLst>
          </p:cNvPr>
          <p:cNvPicPr>
            <a:picLocks noChangeAspect="1"/>
          </p:cNvPicPr>
          <p:nvPr/>
        </p:nvPicPr>
        <p:blipFill>
          <a:blip r:embed="rId5"/>
          <a:stretch>
            <a:fillRect/>
          </a:stretch>
        </p:blipFill>
        <p:spPr>
          <a:xfrm>
            <a:off x="2792837" y="2760759"/>
            <a:ext cx="3395766" cy="1109568"/>
          </a:xfrm>
          <a:prstGeom prst="rect">
            <a:avLst/>
          </a:prstGeom>
        </p:spPr>
      </p:pic>
    </p:spTree>
    <p:extLst>
      <p:ext uri="{BB962C8B-B14F-4D97-AF65-F5344CB8AC3E}">
        <p14:creationId xmlns:p14="http://schemas.microsoft.com/office/powerpoint/2010/main" val="3230234624"/>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345AD5A-A999-31AC-C7EE-FD3C41CC11C2}"/>
              </a:ext>
            </a:extLst>
          </p:cNvPr>
          <p:cNvSpPr>
            <a:spLocks noGrp="1"/>
          </p:cNvSpPr>
          <p:nvPr>
            <p:ph type="title"/>
          </p:nvPr>
        </p:nvSpPr>
        <p:spPr>
          <a:xfrm>
            <a:off x="553459" y="330739"/>
            <a:ext cx="4646904" cy="1624520"/>
          </a:xfrm>
        </p:spPr>
        <p:txBody>
          <a:bodyPr anchor="ctr">
            <a:noAutofit/>
          </a:bodyPr>
          <a:lstStyle/>
          <a:p>
            <a:r>
              <a:rPr lang="en-US" sz="4000" b="1" dirty="0"/>
              <a:t>The aircraft maintenance scheduling problem</a:t>
            </a:r>
            <a:endParaRPr lang="en-AU" sz="4000" dirty="0"/>
          </a:p>
        </p:txBody>
      </p:sp>
      <p:sp>
        <p:nvSpPr>
          <p:cNvPr id="3" name="Content Placeholder 2">
            <a:extLst>
              <a:ext uri="{FF2B5EF4-FFF2-40B4-BE49-F238E27FC236}">
                <a16:creationId xmlns:a16="http://schemas.microsoft.com/office/drawing/2014/main" id="{DE578AE2-AAF2-7D4A-3EC2-6D7583687400}"/>
              </a:ext>
            </a:extLst>
          </p:cNvPr>
          <p:cNvSpPr>
            <a:spLocks noGrp="1"/>
          </p:cNvSpPr>
          <p:nvPr>
            <p:ph idx="1"/>
          </p:nvPr>
        </p:nvSpPr>
        <p:spPr>
          <a:xfrm>
            <a:off x="437710" y="2311400"/>
            <a:ext cx="5460170" cy="3937000"/>
          </a:xfrm>
        </p:spPr>
        <p:txBody>
          <a:bodyPr anchor="ctr">
            <a:noAutofit/>
          </a:bodyPr>
          <a:lstStyle/>
          <a:p>
            <a:pPr>
              <a:spcAft>
                <a:spcPts val="1500"/>
              </a:spcAft>
            </a:pPr>
            <a:r>
              <a:rPr lang="en-US" sz="2000" dirty="0">
                <a:latin typeface="Arial" panose="020B0604020202020204" pitchFamily="34" charset="0"/>
                <a:cs typeface="Arial" panose="020B0604020202020204" pitchFamily="34" charset="0"/>
              </a:rPr>
              <a:t>Multiple aircraft go through routine checks concurrently</a:t>
            </a:r>
          </a:p>
          <a:p>
            <a:pPr>
              <a:spcAft>
                <a:spcPts val="1500"/>
              </a:spcAft>
            </a:pPr>
            <a:r>
              <a:rPr lang="en-US" sz="2000" dirty="0">
                <a:latin typeface="Arial" panose="020B0604020202020204" pitchFamily="34" charset="0"/>
                <a:cs typeface="Arial" panose="020B0604020202020204" pitchFamily="34" charset="0"/>
              </a:rPr>
              <a:t>Concurrent maintenance creates dips in fleet availability. Staggered checks must preserve start windows and maintenance rules.</a:t>
            </a:r>
          </a:p>
          <a:p>
            <a:pPr>
              <a:spcAft>
                <a:spcPts val="1500"/>
              </a:spcAft>
            </a:pPr>
            <a:r>
              <a:rPr lang="en-US" sz="2000" dirty="0">
                <a:latin typeface="Arial" panose="020B0604020202020204" pitchFamily="34" charset="0"/>
                <a:cs typeface="Arial" panose="020B0604020202020204" pitchFamily="34" charset="0"/>
              </a:rPr>
              <a:t>Finite resources such as dock space, mechanics, and components.</a:t>
            </a:r>
          </a:p>
          <a:p>
            <a:pPr>
              <a:spcAft>
                <a:spcPts val="1500"/>
              </a:spcAft>
            </a:pPr>
            <a:r>
              <a:rPr lang="en-US" sz="2000" dirty="0">
                <a:latin typeface="Arial" panose="020B0604020202020204" pitchFamily="34" charset="0"/>
                <a:cs typeface="Arial" panose="020B0604020202020204" pitchFamily="34" charset="0"/>
              </a:rPr>
              <a:t>First: </a:t>
            </a:r>
            <a:r>
              <a:rPr lang="en-US" sz="2000" dirty="0" err="1">
                <a:latin typeface="Arial" panose="020B0604020202020204" pitchFamily="34" charset="0"/>
                <a:cs typeface="Arial" panose="020B0604020202020204" pitchFamily="34" charset="0"/>
              </a:rPr>
              <a:t>maximise</a:t>
            </a:r>
            <a:r>
              <a:rPr lang="en-US" sz="2000" dirty="0">
                <a:latin typeface="Arial" panose="020B0604020202020204" pitchFamily="34" charset="0"/>
                <a:cs typeface="Arial" panose="020B0604020202020204" pitchFamily="34" charset="0"/>
              </a:rPr>
              <a:t> worst-day availability.</a:t>
            </a:r>
          </a:p>
          <a:p>
            <a:pPr>
              <a:spcAft>
                <a:spcPts val="1500"/>
              </a:spcAft>
            </a:pPr>
            <a:r>
              <a:rPr lang="en-US" sz="2000" dirty="0">
                <a:latin typeface="Arial" panose="020B0604020202020204" pitchFamily="34" charset="0"/>
                <a:cs typeface="Arial" panose="020B0604020202020204" pitchFamily="34" charset="0"/>
              </a:rPr>
              <a:t>Then: reduce standard deviation.</a:t>
            </a:r>
          </a:p>
        </p:txBody>
      </p:sp>
      <p:pic>
        <p:nvPicPr>
          <p:cNvPr id="29" name="Picture 28" descr="Airplanes on a road">
            <a:extLst>
              <a:ext uri="{FF2B5EF4-FFF2-40B4-BE49-F238E27FC236}">
                <a16:creationId xmlns:a16="http://schemas.microsoft.com/office/drawing/2014/main" id="{3F3F97C4-1E4E-D0DA-2013-1C72D5700FB5}"/>
              </a:ext>
            </a:extLst>
          </p:cNvPr>
          <p:cNvPicPr>
            <a:picLocks noChangeAspect="1"/>
          </p:cNvPicPr>
          <p:nvPr/>
        </p:nvPicPr>
        <p:blipFill>
          <a:blip r:embed="rId3"/>
          <a:srcRect l="23740" r="17305" b="-1"/>
          <a:stretch>
            <a:fillRect/>
          </a:stretch>
        </p:blipFill>
        <p:spPr>
          <a:xfrm>
            <a:off x="6096000" y="1"/>
            <a:ext cx="6102825" cy="6858000"/>
          </a:xfrm>
          <a:prstGeom prst="rect">
            <a:avLst/>
          </a:prstGeom>
        </p:spPr>
      </p:pic>
    </p:spTree>
    <p:extLst>
      <p:ext uri="{BB962C8B-B14F-4D97-AF65-F5344CB8AC3E}">
        <p14:creationId xmlns:p14="http://schemas.microsoft.com/office/powerpoint/2010/main" val="3285733717"/>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a:extLst>
            <a:ext uri="{FF2B5EF4-FFF2-40B4-BE49-F238E27FC236}">
              <a16:creationId xmlns:a16="http://schemas.microsoft.com/office/drawing/2014/main" id="{E90F1B5D-6607-B3F3-80DB-2DF2490C44FA}"/>
            </a:ext>
          </a:extLst>
        </p:cNvPr>
        <p:cNvGrpSpPr/>
        <p:nvPr/>
      </p:nvGrpSpPr>
      <p:grpSpPr>
        <a:xfrm>
          <a:off x="0" y="0"/>
          <a:ext cx="0" cy="0"/>
          <a:chOff x="0" y="0"/>
          <a:chExt cx="0" cy="0"/>
        </a:xfrm>
      </p:grpSpPr>
      <p:sp useBgFill="1">
        <p:nvSpPr>
          <p:cNvPr id="44" name="Rectangle 43">
            <a:extLst>
              <a:ext uri="{FF2B5EF4-FFF2-40B4-BE49-F238E27FC236}">
                <a16:creationId xmlns:a16="http://schemas.microsoft.com/office/drawing/2014/main" id="{C4879EFC-8E62-4E00-973C-C45EE9EC676D}"/>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88952"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1">
            <a:extLst>
              <a:ext uri="{FF2B5EF4-FFF2-40B4-BE49-F238E27FC236}">
                <a16:creationId xmlns:a16="http://schemas.microsoft.com/office/drawing/2014/main" id="{6FD78A0E-4412-E1D8-63D2-94FC3D4AD198}"/>
              </a:ext>
            </a:extLst>
          </p:cNvPr>
          <p:cNvSpPr>
            <a:spLocks noGrp="1"/>
          </p:cNvSpPr>
          <p:nvPr>
            <p:ph type="title"/>
          </p:nvPr>
        </p:nvSpPr>
        <p:spPr>
          <a:xfrm>
            <a:off x="457200" y="393700"/>
            <a:ext cx="11277600" cy="571500"/>
          </a:xfrm>
        </p:spPr>
        <p:txBody>
          <a:bodyPr vert="horz" lIns="91440" tIns="45720" rIns="91440" bIns="45720" rtlCol="0" anchor="ctr">
            <a:noAutofit/>
          </a:bodyPr>
          <a:lstStyle/>
          <a:p>
            <a:r>
              <a:rPr lang="en-US" sz="3200" noProof="0"/>
              <a:t>Simple fleet proof of concept</a:t>
            </a:r>
            <a:endParaRPr lang="en-US" sz="3200" noProof="0" dirty="0"/>
          </a:p>
        </p:txBody>
      </p:sp>
      <p:sp>
        <p:nvSpPr>
          <p:cNvPr id="46" name="sketch line">
            <a:extLst>
              <a:ext uri="{FF2B5EF4-FFF2-40B4-BE49-F238E27FC236}">
                <a16:creationId xmlns:a16="http://schemas.microsoft.com/office/drawing/2014/main" id="{D6A9C53F-5F90-40A5-8C85-5412D39C8C68}"/>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4450080" y="1850683"/>
            <a:ext cx="3291840" cy="18288"/>
          </a:xfrm>
          <a:custGeom>
            <a:avLst/>
            <a:gdLst>
              <a:gd name="csX0" fmla="*/ 0 w 3291840"/>
              <a:gd name="csY0" fmla="*/ 0 h 18288"/>
              <a:gd name="csX1" fmla="*/ 658368 w 3291840"/>
              <a:gd name="csY1" fmla="*/ 0 h 18288"/>
              <a:gd name="csX2" fmla="*/ 1283818 w 3291840"/>
              <a:gd name="csY2" fmla="*/ 0 h 18288"/>
              <a:gd name="csX3" fmla="*/ 1909267 w 3291840"/>
              <a:gd name="csY3" fmla="*/ 0 h 18288"/>
              <a:gd name="csX4" fmla="*/ 2633472 w 3291840"/>
              <a:gd name="csY4" fmla="*/ 0 h 18288"/>
              <a:gd name="csX5" fmla="*/ 3291840 w 3291840"/>
              <a:gd name="csY5" fmla="*/ 0 h 18288"/>
              <a:gd name="csX6" fmla="*/ 3291840 w 3291840"/>
              <a:gd name="csY6" fmla="*/ 18288 h 18288"/>
              <a:gd name="csX7" fmla="*/ 2633472 w 3291840"/>
              <a:gd name="csY7" fmla="*/ 18288 h 18288"/>
              <a:gd name="csX8" fmla="*/ 2073859 w 3291840"/>
              <a:gd name="csY8" fmla="*/ 18288 h 18288"/>
              <a:gd name="csX9" fmla="*/ 1448410 w 3291840"/>
              <a:gd name="csY9" fmla="*/ 18288 h 18288"/>
              <a:gd name="csX10" fmla="*/ 822960 w 3291840"/>
              <a:gd name="csY10" fmla="*/ 18288 h 18288"/>
              <a:gd name="csX11" fmla="*/ 0 w 3291840"/>
              <a:gd name="csY11" fmla="*/ 18288 h 18288"/>
              <a:gd name="csX12" fmla="*/ 0 w 3291840"/>
              <a:gd name="csY12" fmla="*/ 0 h 18288"/>
            </a:gdLst>
            <a:ahLst/>
            <a:cxnLst>
              <a:cxn ang="0">
                <a:pos x="csX0" y="csY0"/>
              </a:cxn>
              <a:cxn ang="0">
                <a:pos x="csX1" y="csY1"/>
              </a:cxn>
              <a:cxn ang="0">
                <a:pos x="csX2" y="csY2"/>
              </a:cxn>
              <a:cxn ang="0">
                <a:pos x="csX3" y="csY3"/>
              </a:cxn>
              <a:cxn ang="0">
                <a:pos x="csX4" y="csY4"/>
              </a:cxn>
              <a:cxn ang="0">
                <a:pos x="csX5" y="csY5"/>
              </a:cxn>
              <a:cxn ang="0">
                <a:pos x="csX6" y="csY6"/>
              </a:cxn>
              <a:cxn ang="0">
                <a:pos x="csX7" y="csY7"/>
              </a:cxn>
              <a:cxn ang="0">
                <a:pos x="csX8" y="csY8"/>
              </a:cxn>
              <a:cxn ang="0">
                <a:pos x="csX9" y="csY9"/>
              </a:cxn>
              <a:cxn ang="0">
                <a:pos x="csX10" y="csY10"/>
              </a:cxn>
              <a:cxn ang="0">
                <a:pos x="csX11" y="csY11"/>
              </a:cxn>
              <a:cxn ang="0">
                <a:pos x="csX12" y="csY12"/>
              </a:cxn>
            </a:cxnLst>
            <a:rect l="l" t="t" r="r" b="b"/>
            <a:pathLst>
              <a:path w="3291840" h="18288" fill="none" extrusionOk="0">
                <a:moveTo>
                  <a:pt x="0" y="0"/>
                </a:moveTo>
                <a:cubicBezTo>
                  <a:pt x="173077" y="-20031"/>
                  <a:pt x="443104" y="6424"/>
                  <a:pt x="658368" y="0"/>
                </a:cubicBezTo>
                <a:cubicBezTo>
                  <a:pt x="873632" y="-6424"/>
                  <a:pt x="1034028" y="11764"/>
                  <a:pt x="1283818" y="0"/>
                </a:cubicBezTo>
                <a:cubicBezTo>
                  <a:pt x="1533608" y="-11764"/>
                  <a:pt x="1691227" y="-30112"/>
                  <a:pt x="1909267" y="0"/>
                </a:cubicBezTo>
                <a:cubicBezTo>
                  <a:pt x="2127307" y="30112"/>
                  <a:pt x="2272465" y="-18735"/>
                  <a:pt x="2633472" y="0"/>
                </a:cubicBezTo>
                <a:cubicBezTo>
                  <a:pt x="2994479" y="18735"/>
                  <a:pt x="3023324" y="-32030"/>
                  <a:pt x="3291840" y="0"/>
                </a:cubicBezTo>
                <a:cubicBezTo>
                  <a:pt x="3291406" y="7551"/>
                  <a:pt x="3291373" y="9822"/>
                  <a:pt x="3291840" y="18288"/>
                </a:cubicBezTo>
                <a:cubicBezTo>
                  <a:pt x="3048445" y="38989"/>
                  <a:pt x="2846548" y="-14400"/>
                  <a:pt x="2633472" y="18288"/>
                </a:cubicBezTo>
                <a:cubicBezTo>
                  <a:pt x="2420396" y="50976"/>
                  <a:pt x="2304099" y="6336"/>
                  <a:pt x="2073859" y="18288"/>
                </a:cubicBezTo>
                <a:cubicBezTo>
                  <a:pt x="1843619" y="30240"/>
                  <a:pt x="1706926" y="10778"/>
                  <a:pt x="1448410" y="18288"/>
                </a:cubicBezTo>
                <a:cubicBezTo>
                  <a:pt x="1189894" y="25798"/>
                  <a:pt x="1002278" y="8992"/>
                  <a:pt x="822960" y="18288"/>
                </a:cubicBezTo>
                <a:cubicBezTo>
                  <a:pt x="643642" y="27585"/>
                  <a:pt x="307039" y="38051"/>
                  <a:pt x="0" y="18288"/>
                </a:cubicBezTo>
                <a:cubicBezTo>
                  <a:pt x="60" y="11696"/>
                  <a:pt x="66" y="3758"/>
                  <a:pt x="0" y="0"/>
                </a:cubicBezTo>
                <a:close/>
              </a:path>
              <a:path w="3291840" h="18288" stroke="0" extrusionOk="0">
                <a:moveTo>
                  <a:pt x="0" y="0"/>
                </a:moveTo>
                <a:cubicBezTo>
                  <a:pt x="195850" y="28018"/>
                  <a:pt x="434891" y="17390"/>
                  <a:pt x="592531" y="0"/>
                </a:cubicBezTo>
                <a:cubicBezTo>
                  <a:pt x="750171" y="-17390"/>
                  <a:pt x="1018709" y="32200"/>
                  <a:pt x="1316736" y="0"/>
                </a:cubicBezTo>
                <a:cubicBezTo>
                  <a:pt x="1614763" y="-32200"/>
                  <a:pt x="1696480" y="-11367"/>
                  <a:pt x="1876349" y="0"/>
                </a:cubicBezTo>
                <a:cubicBezTo>
                  <a:pt x="2056218" y="11367"/>
                  <a:pt x="2193364" y="13433"/>
                  <a:pt x="2435962" y="0"/>
                </a:cubicBezTo>
                <a:cubicBezTo>
                  <a:pt x="2678560" y="-13433"/>
                  <a:pt x="3010901" y="-42367"/>
                  <a:pt x="3291840" y="0"/>
                </a:cubicBezTo>
                <a:cubicBezTo>
                  <a:pt x="3291758" y="4406"/>
                  <a:pt x="3291751" y="9982"/>
                  <a:pt x="3291840" y="18288"/>
                </a:cubicBezTo>
                <a:cubicBezTo>
                  <a:pt x="3108993" y="14228"/>
                  <a:pt x="2952658" y="46900"/>
                  <a:pt x="2666390" y="18288"/>
                </a:cubicBezTo>
                <a:cubicBezTo>
                  <a:pt x="2380122" y="-10324"/>
                  <a:pt x="2263855" y="41055"/>
                  <a:pt x="2040941" y="18288"/>
                </a:cubicBezTo>
                <a:cubicBezTo>
                  <a:pt x="1818027" y="-4479"/>
                  <a:pt x="1675097" y="6509"/>
                  <a:pt x="1415491" y="18288"/>
                </a:cubicBezTo>
                <a:cubicBezTo>
                  <a:pt x="1155885" y="30068"/>
                  <a:pt x="852976" y="36210"/>
                  <a:pt x="691286" y="18288"/>
                </a:cubicBezTo>
                <a:cubicBezTo>
                  <a:pt x="529596" y="366"/>
                  <a:pt x="187183" y="13912"/>
                  <a:pt x="0" y="18288"/>
                </a:cubicBezTo>
                <a:cubicBezTo>
                  <a:pt x="189" y="14288"/>
                  <a:pt x="-703" y="3747"/>
                  <a:pt x="0" y="0"/>
                </a:cubicBezTo>
                <a:close/>
              </a:path>
            </a:pathLst>
          </a:custGeom>
          <a:solidFill>
            <a:schemeClr val="accent2"/>
          </a:solidFill>
          <a:ln w="41275" cap="rnd">
            <a:solidFill>
              <a:schemeClr val="accent2"/>
            </a:solidFill>
            <a:round/>
            <a:extLst>
              <a:ext uri="{C807C97D-BFC1-408E-A445-0C87EB9F89A2}">
                <ask:lineSketchStyleProps xmlns:ask="http://schemas.microsoft.com/office/drawing/2018/sketchyshapes" sd="2863741219">
                  <a:prstGeom prst="rect">
                    <a:avLst/>
                  </a:prstGeom>
                  <ask:type>
                    <ask:lineSketchFreehand/>
                  </ask:type>
                </ask:lineSketchStyleProps>
              </a:ext>
            </a:extLst>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pic>
        <p:nvPicPr>
          <p:cNvPr id="17" name="Picture 16">
            <a:extLst>
              <a:ext uri="{FF2B5EF4-FFF2-40B4-BE49-F238E27FC236}">
                <a16:creationId xmlns:a16="http://schemas.microsoft.com/office/drawing/2014/main" id="{7BE707D9-B313-19D3-7B8A-ACCC04D0AB40}"/>
              </a:ext>
            </a:extLst>
          </p:cNvPr>
          <p:cNvPicPr>
            <a:picLocks noChangeAspect="1"/>
          </p:cNvPicPr>
          <p:nvPr/>
        </p:nvPicPr>
        <p:blipFill>
          <a:blip r:embed="rId3"/>
          <a:stretch>
            <a:fillRect/>
          </a:stretch>
        </p:blipFill>
        <p:spPr>
          <a:xfrm>
            <a:off x="278250" y="1541418"/>
            <a:ext cx="7503609" cy="4971142"/>
          </a:xfrm>
          <a:prstGeom prst="rect">
            <a:avLst/>
          </a:prstGeom>
        </p:spPr>
      </p:pic>
      <p:pic>
        <p:nvPicPr>
          <p:cNvPr id="7" name="Picture 6">
            <a:extLst>
              <a:ext uri="{FF2B5EF4-FFF2-40B4-BE49-F238E27FC236}">
                <a16:creationId xmlns:a16="http://schemas.microsoft.com/office/drawing/2014/main" id="{08F29261-A05C-A617-9507-997E370A4E6F}"/>
              </a:ext>
            </a:extLst>
          </p:cNvPr>
          <p:cNvPicPr>
            <a:picLocks noChangeAspect="1"/>
          </p:cNvPicPr>
          <p:nvPr/>
        </p:nvPicPr>
        <p:blipFill>
          <a:blip r:embed="rId4"/>
          <a:stretch>
            <a:fillRect/>
          </a:stretch>
        </p:blipFill>
        <p:spPr>
          <a:xfrm>
            <a:off x="7506042" y="4059948"/>
            <a:ext cx="4522391" cy="2385560"/>
          </a:xfrm>
          <a:prstGeom prst="rect">
            <a:avLst/>
          </a:prstGeom>
        </p:spPr>
      </p:pic>
      <p:sp>
        <p:nvSpPr>
          <p:cNvPr id="13" name="AutoShape 10" descr="Optimization algorithm workflow diagram">
            <a:extLst>
              <a:ext uri="{FF2B5EF4-FFF2-40B4-BE49-F238E27FC236}">
                <a16:creationId xmlns:a16="http://schemas.microsoft.com/office/drawing/2014/main" id="{21EBC921-E282-B19E-243B-300038ACDA82}"/>
              </a:ext>
            </a:extLst>
          </p:cNvPr>
          <p:cNvSpPr>
            <a:spLocks noChangeAspect="1" noChangeArrowheads="1"/>
          </p:cNvSpPr>
          <p:nvPr/>
        </p:nvSpPr>
        <p:spPr bwMode="auto">
          <a:xfrm>
            <a:off x="5943600" y="3276600"/>
            <a:ext cx="304800" cy="304800"/>
          </a:xfrm>
          <a:prstGeom prst="rect">
            <a:avLst/>
          </a:prstGeom>
          <a:noFill/>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prstTxWarp prst="textNoShape">
              <a:avLst/>
            </a:prstTxWarp>
          </a:bodyPr>
          <a:lstStyle/>
          <a:p>
            <a:endParaRPr lang="en-AU" noProof="0" dirty="0"/>
          </a:p>
        </p:txBody>
      </p:sp>
      <p:sp>
        <p:nvSpPr>
          <p:cNvPr id="3" name="Simple setup">
            <a:extLst>
              <a:ext uri="{FF2B5EF4-FFF2-40B4-BE49-F238E27FC236}">
                <a16:creationId xmlns:a16="http://schemas.microsoft.com/office/drawing/2014/main" id="{CCCAD1C2-1825-58A1-7ABB-CCDAB7AD881E}"/>
              </a:ext>
            </a:extLst>
          </p:cNvPr>
          <p:cNvSpPr txBox="1"/>
          <p:nvPr/>
        </p:nvSpPr>
        <p:spPr>
          <a:xfrm>
            <a:off x="609600" y="1130300"/>
            <a:ext cx="10922000" cy="246221"/>
          </a:xfrm>
          <a:prstGeom prst="rect">
            <a:avLst/>
          </a:prstGeom>
          <a:noFill/>
        </p:spPr>
        <p:txBody>
          <a:bodyPr vert="horz" lIns="0" tIns="0" rIns="0" bIns="0" rtlCol="0">
            <a:noAutofit/>
          </a:bodyPr>
          <a:lstStyle/>
          <a:p>
            <a:r>
              <a:rPr lang="en-US" sz="1600">
                <a:solidFill>
                  <a:srgbClr val="000000"/>
                </a:solidFill>
                <a:latin typeface="Calibri" panose="020F0502020204030204" pitchFamily="34" charset="0"/>
              </a:rPr>
              <a:t>10 aircraft, 80 checks. Keep the best feasible improvement at each iteration.</a:t>
            </a:r>
            <a:endParaRPr lang="en-AU" sz="1600">
              <a:solidFill>
                <a:srgbClr val="000000"/>
              </a:solidFill>
              <a:latin typeface="Calibri" panose="020F0502020204030204" pitchFamily="34" charset="0"/>
            </a:endParaRPr>
          </a:p>
        </p:txBody>
      </p:sp>
      <p:pic>
        <p:nvPicPr>
          <p:cNvPr id="5" name="Picture 4">
            <a:extLst>
              <a:ext uri="{FF2B5EF4-FFF2-40B4-BE49-F238E27FC236}">
                <a16:creationId xmlns:a16="http://schemas.microsoft.com/office/drawing/2014/main" id="{5ECA7279-AB1A-3648-2A8E-FC165FC58E53}"/>
              </a:ext>
            </a:extLst>
          </p:cNvPr>
          <p:cNvPicPr>
            <a:picLocks noChangeAspect="1"/>
          </p:cNvPicPr>
          <p:nvPr/>
        </p:nvPicPr>
        <p:blipFill>
          <a:blip r:embed="rId5"/>
          <a:stretch>
            <a:fillRect/>
          </a:stretch>
        </p:blipFill>
        <p:spPr>
          <a:xfrm>
            <a:off x="7585733" y="965200"/>
            <a:ext cx="4376143" cy="2330296"/>
          </a:xfrm>
          <a:prstGeom prst="rect">
            <a:avLst/>
          </a:prstGeom>
        </p:spPr>
      </p:pic>
    </p:spTree>
    <p:extLst>
      <p:ext uri="{BB962C8B-B14F-4D97-AF65-F5344CB8AC3E}">
        <p14:creationId xmlns:p14="http://schemas.microsoft.com/office/powerpoint/2010/main" val="606155539"/>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94E31BE-3F5B-89B5-E6DD-3C9C02762E56}"/>
              </a:ext>
            </a:extLst>
          </p:cNvPr>
          <p:cNvSpPr>
            <a:spLocks noGrp="1"/>
          </p:cNvSpPr>
          <p:nvPr>
            <p:ph type="title"/>
          </p:nvPr>
        </p:nvSpPr>
        <p:spPr>
          <a:xfrm>
            <a:off x="730761" y="0"/>
            <a:ext cx="10515600" cy="1325563"/>
          </a:xfrm>
        </p:spPr>
        <p:txBody>
          <a:bodyPr>
            <a:noAutofit/>
          </a:bodyPr>
          <a:lstStyle/>
          <a:p>
            <a:r>
              <a:rPr lang="en-AU" sz="3600" b="1" noProof="0"/>
              <a:t>The heavy maintenance forecast</a:t>
            </a:r>
            <a:endParaRPr lang="en-AU" sz="3600" b="1" noProof="0" dirty="0"/>
          </a:p>
        </p:txBody>
      </p:sp>
      <p:sp>
        <p:nvSpPr>
          <p:cNvPr id="4" name="Rectangle 1">
            <a:extLst>
              <a:ext uri="{FF2B5EF4-FFF2-40B4-BE49-F238E27FC236}">
                <a16:creationId xmlns:a16="http://schemas.microsoft.com/office/drawing/2014/main" id="{A0DADB02-035B-53CF-9962-E4276D021B31}"/>
              </a:ext>
            </a:extLst>
          </p:cNvPr>
          <p:cNvSpPr>
            <a:spLocks noGrp="1" noChangeArrowheads="1"/>
          </p:cNvSpPr>
          <p:nvPr>
            <p:ph idx="1"/>
          </p:nvPr>
        </p:nvSpPr>
        <p:spPr bwMode="auto">
          <a:xfrm>
            <a:off x="834390" y="1125220"/>
            <a:ext cx="5562600" cy="21082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noAutofit/>
          </a:bodyPr>
          <a:lstStyle/>
          <a:p>
            <a:pPr marL="0" indent="0">
              <a:spcAft>
                <a:spcPts val="900"/>
              </a:spcAft>
              <a:buNone/>
            </a:pPr>
            <a:r>
              <a:rPr lang="en-US" sz="2100" b="1" noProof="0" dirty="0"/>
              <a:t>24 aircraft and 278 checks</a:t>
            </a:r>
          </a:p>
          <a:p>
            <a:pPr marL="0" indent="0">
              <a:spcAft>
                <a:spcPts val="900"/>
              </a:spcAft>
              <a:buNone/>
            </a:pPr>
            <a:r>
              <a:rPr lang="en-US" sz="2100" b="1" noProof="0" dirty="0"/>
              <a:t>A, B, C and D maintenance checks</a:t>
            </a:r>
          </a:p>
          <a:p>
            <a:pPr marL="0" indent="0">
              <a:spcAft>
                <a:spcPts val="900"/>
              </a:spcAft>
              <a:buNone/>
            </a:pPr>
            <a:r>
              <a:rPr lang="en-US" sz="2100" b="1" noProof="0" dirty="0"/>
              <a:t>Sequence: A B A C A B A D</a:t>
            </a:r>
          </a:p>
          <a:p>
            <a:pPr marL="0" indent="0">
              <a:spcAft>
                <a:spcPts val="900"/>
              </a:spcAft>
              <a:buNone/>
            </a:pPr>
            <a:r>
              <a:rPr lang="en-US" sz="2100" b="1" noProof="0" dirty="0"/>
              <a:t>12-year forecast</a:t>
            </a:r>
            <a:endParaRPr kumimoji="0" lang="en-AU" sz="2100" b="0" i="0" u="none" strike="noStrike" cap="none" normalizeH="0" baseline="0" noProof="0" dirty="0">
              <a:ln>
                <a:noFill/>
              </a:ln>
              <a:solidFill>
                <a:schemeClr val="tx1"/>
              </a:solidFill>
              <a:effectLst/>
              <a:latin typeface="Arial" panose="020B0604020202020204" pitchFamily="34" charset="0"/>
            </a:endParaRPr>
          </a:p>
        </p:txBody>
      </p:sp>
      <p:pic>
        <p:nvPicPr>
          <p:cNvPr id="6" name="Picture 5">
            <a:extLst>
              <a:ext uri="{FF2B5EF4-FFF2-40B4-BE49-F238E27FC236}">
                <a16:creationId xmlns:a16="http://schemas.microsoft.com/office/drawing/2014/main" id="{AC493D12-EF4B-1041-B45A-3C193DD7B6E8}"/>
              </a:ext>
            </a:extLst>
          </p:cNvPr>
          <p:cNvPicPr>
            <a:picLocks noChangeAspect="1"/>
          </p:cNvPicPr>
          <p:nvPr/>
        </p:nvPicPr>
        <p:blipFill>
          <a:blip r:embed="rId3"/>
          <a:stretch>
            <a:fillRect/>
          </a:stretch>
        </p:blipFill>
        <p:spPr>
          <a:xfrm>
            <a:off x="1941574" y="3429000"/>
            <a:ext cx="8093974" cy="3226254"/>
          </a:xfrm>
          <a:prstGeom prst="rect">
            <a:avLst/>
          </a:prstGeom>
        </p:spPr>
      </p:pic>
      <p:pic>
        <p:nvPicPr>
          <p:cNvPr id="8" name="Picture 7">
            <a:extLst>
              <a:ext uri="{FF2B5EF4-FFF2-40B4-BE49-F238E27FC236}">
                <a16:creationId xmlns:a16="http://schemas.microsoft.com/office/drawing/2014/main" id="{7B7BE054-2C77-EFC1-5B63-B0D88EF391BB}"/>
              </a:ext>
            </a:extLst>
          </p:cNvPr>
          <p:cNvPicPr>
            <a:picLocks noChangeAspect="1"/>
          </p:cNvPicPr>
          <p:nvPr/>
        </p:nvPicPr>
        <p:blipFill>
          <a:blip r:embed="rId4"/>
          <a:stretch>
            <a:fillRect/>
          </a:stretch>
        </p:blipFill>
        <p:spPr>
          <a:xfrm>
            <a:off x="6151685" y="1514282"/>
            <a:ext cx="5711499" cy="1523558"/>
          </a:xfrm>
          <a:prstGeom prst="rect">
            <a:avLst/>
          </a:prstGeom>
        </p:spPr>
      </p:pic>
    </p:spTree>
    <p:extLst>
      <p:ext uri="{BB962C8B-B14F-4D97-AF65-F5344CB8AC3E}">
        <p14:creationId xmlns:p14="http://schemas.microsoft.com/office/powerpoint/2010/main" val="1800012807"/>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a:extLst>
            <a:ext uri="{FF2B5EF4-FFF2-40B4-BE49-F238E27FC236}">
              <a16:creationId xmlns:a16="http://schemas.microsoft.com/office/drawing/2014/main" id="{1D472B5A-3216-1A11-5E04-044444A72CA0}"/>
            </a:ext>
          </a:extLst>
        </p:cNvPr>
        <p:cNvGrpSpPr/>
        <p:nvPr/>
      </p:nvGrpSpPr>
      <p:grpSpPr>
        <a:xfrm>
          <a:off x="0" y="0"/>
          <a:ext cx="0" cy="0"/>
          <a:chOff x="0" y="0"/>
          <a:chExt cx="0" cy="0"/>
        </a:xfrm>
      </p:grpSpPr>
      <p:sp>
        <p:nvSpPr>
          <p:cNvPr id="36" name="Rectangle 35">
            <a:extLst>
              <a:ext uri="{FF2B5EF4-FFF2-40B4-BE49-F238E27FC236}">
                <a16:creationId xmlns:a16="http://schemas.microsoft.com/office/drawing/2014/main" id="{367D4E3B-0388-2BED-5B01-DA2A6F1A8A86}"/>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651752"/>
            <a:ext cx="12192000" cy="736551"/>
          </a:xfrm>
          <a:prstGeom prst="rect">
            <a:avLst/>
          </a:prstGeom>
          <a:solidFill>
            <a:schemeClr val="tx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AU" noProof="0" dirty="0"/>
          </a:p>
        </p:txBody>
      </p:sp>
      <p:sp>
        <p:nvSpPr>
          <p:cNvPr id="2" name="Title 1">
            <a:extLst>
              <a:ext uri="{FF2B5EF4-FFF2-40B4-BE49-F238E27FC236}">
                <a16:creationId xmlns:a16="http://schemas.microsoft.com/office/drawing/2014/main" id="{79974C51-8353-BD72-29D5-D47AC2ED92B4}"/>
              </a:ext>
            </a:extLst>
          </p:cNvPr>
          <p:cNvSpPr>
            <a:spLocks noGrp="1"/>
          </p:cNvSpPr>
          <p:nvPr>
            <p:ph type="title"/>
          </p:nvPr>
        </p:nvSpPr>
        <p:spPr>
          <a:xfrm>
            <a:off x="556532" y="643467"/>
            <a:ext cx="11210925" cy="744836"/>
          </a:xfrm>
        </p:spPr>
        <p:txBody>
          <a:bodyPr vert="horz" lIns="91440" tIns="45720" rIns="91440" bIns="45720" rtlCol="0" anchor="ctr">
            <a:noAutofit/>
          </a:bodyPr>
          <a:lstStyle/>
          <a:p>
            <a:pPr algn="ctr"/>
            <a:r>
              <a:rPr lang="en-AU" sz="3200" kern="1200" noProof="0" dirty="0">
                <a:solidFill>
                  <a:schemeClr val="bg1"/>
                </a:solidFill>
                <a:latin typeface="+mj-lt"/>
                <a:ea typeface="+mj-ea"/>
                <a:cs typeface="+mj-cs"/>
              </a:rPr>
              <a:t>Scaling the search: Random Sampling method</a:t>
            </a:r>
          </a:p>
        </p:txBody>
      </p:sp>
      <p:pic>
        <p:nvPicPr>
          <p:cNvPr id="17" name="Picture 16">
            <a:extLst>
              <a:ext uri="{FF2B5EF4-FFF2-40B4-BE49-F238E27FC236}">
                <a16:creationId xmlns:a16="http://schemas.microsoft.com/office/drawing/2014/main" id="{4E3D4C6D-5699-C424-0613-87C1939BAC52}"/>
              </a:ext>
            </a:extLst>
          </p:cNvPr>
          <p:cNvPicPr>
            <a:picLocks noChangeAspect="1"/>
          </p:cNvPicPr>
          <p:nvPr/>
        </p:nvPicPr>
        <p:blipFill>
          <a:blip r:embed="rId3"/>
          <a:stretch>
            <a:fillRect/>
          </a:stretch>
        </p:blipFill>
        <p:spPr>
          <a:xfrm>
            <a:off x="6531824" y="1443811"/>
            <a:ext cx="4947598" cy="3277784"/>
          </a:xfrm>
          <a:prstGeom prst="rect">
            <a:avLst/>
          </a:prstGeom>
        </p:spPr>
      </p:pic>
      <p:sp>
        <p:nvSpPr>
          <p:cNvPr id="13" name="AutoShape 10" descr="Optimization algorithm workflow diagram">
            <a:extLst>
              <a:ext uri="{FF2B5EF4-FFF2-40B4-BE49-F238E27FC236}">
                <a16:creationId xmlns:a16="http://schemas.microsoft.com/office/drawing/2014/main" id="{1AE887EE-4832-D343-9523-0BD8C614F8ED}"/>
              </a:ext>
            </a:extLst>
          </p:cNvPr>
          <p:cNvSpPr>
            <a:spLocks noChangeAspect="1" noChangeArrowheads="1"/>
          </p:cNvSpPr>
          <p:nvPr/>
        </p:nvSpPr>
        <p:spPr bwMode="auto">
          <a:xfrm>
            <a:off x="5943600" y="3276600"/>
            <a:ext cx="304800" cy="304800"/>
          </a:xfrm>
          <a:prstGeom prst="rect">
            <a:avLst/>
          </a:prstGeom>
          <a:noFill/>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prstTxWarp prst="textNoShape">
              <a:avLst/>
            </a:prstTxWarp>
          </a:bodyPr>
          <a:lstStyle/>
          <a:p>
            <a:endParaRPr lang="en-AU" noProof="0" dirty="0"/>
          </a:p>
        </p:txBody>
      </p:sp>
      <p:sp>
        <p:nvSpPr>
          <p:cNvPr id="3" name="Rectangle 1">
            <a:extLst>
              <a:ext uri="{FF2B5EF4-FFF2-40B4-BE49-F238E27FC236}">
                <a16:creationId xmlns:a16="http://schemas.microsoft.com/office/drawing/2014/main" id="{DE7B2555-8466-DE0B-896A-8C3D64BCFE6D}"/>
              </a:ext>
            </a:extLst>
          </p:cNvPr>
          <p:cNvSpPr>
            <a:spLocks noGrp="1" noChangeArrowheads="1"/>
          </p:cNvSpPr>
          <p:nvPr>
            <p:ph idx="1"/>
          </p:nvPr>
        </p:nvSpPr>
        <p:spPr bwMode="auto">
          <a:xfrm>
            <a:off x="302801" y="1673760"/>
            <a:ext cx="4326349" cy="41275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noAutofit/>
          </a:bodyPr>
          <a:lstStyle/>
          <a:p>
            <a:pPr marL="0" indent="0">
              <a:spcAft>
                <a:spcPts val="1500"/>
              </a:spcAft>
              <a:buNone/>
            </a:pPr>
            <a:r>
              <a:rPr lang="en-US" sz="2100" noProof="0" dirty="0"/>
              <a:t>The heavy fleet creates over 1,000 </a:t>
            </a:r>
            <a:r>
              <a:rPr lang="en-US" sz="2100" noProof="0" dirty="0" err="1"/>
              <a:t>neighbours</a:t>
            </a:r>
            <a:r>
              <a:rPr lang="en-US" sz="2100" noProof="0" dirty="0"/>
              <a:t> per iteration.</a:t>
            </a:r>
          </a:p>
          <a:p>
            <a:pPr marL="0" indent="0">
              <a:spcAft>
                <a:spcPts val="1500"/>
              </a:spcAft>
              <a:buNone/>
            </a:pPr>
            <a:r>
              <a:rPr lang="en-US" sz="2100" noProof="0" dirty="0"/>
              <a:t>Full evaluation becomes too slow.</a:t>
            </a:r>
          </a:p>
          <a:p>
            <a:pPr marL="0" indent="0">
              <a:spcAft>
                <a:spcPts val="1500"/>
              </a:spcAft>
              <a:buNone/>
            </a:pPr>
            <a:r>
              <a:rPr lang="en-US" sz="2100" noProof="0" dirty="0"/>
              <a:t>Sampling 200 </a:t>
            </a:r>
            <a:r>
              <a:rPr lang="en-US" sz="2100" noProof="0" dirty="0" err="1"/>
              <a:t>neighbours</a:t>
            </a:r>
            <a:r>
              <a:rPr lang="en-US" sz="2100" noProof="0" dirty="0"/>
              <a:t> reduces work.</a:t>
            </a:r>
          </a:p>
          <a:p>
            <a:pPr marL="0" indent="0">
              <a:spcAft>
                <a:spcPts val="1500"/>
              </a:spcAft>
              <a:buNone/>
            </a:pPr>
            <a:r>
              <a:rPr lang="en-US" sz="2100" dirty="0"/>
              <a:t>Not deterministic, only reproducible with same seed</a:t>
            </a:r>
            <a:endParaRPr lang="en-US" sz="2100" noProof="0" dirty="0"/>
          </a:p>
          <a:p>
            <a:pPr marL="0" indent="0">
              <a:spcAft>
                <a:spcPts val="1500"/>
              </a:spcAft>
              <a:buNone/>
            </a:pPr>
            <a:r>
              <a:rPr lang="en-US" sz="2100" noProof="0" dirty="0"/>
              <a:t>Random selection can miss a useful move.</a:t>
            </a:r>
          </a:p>
        </p:txBody>
      </p:sp>
      <p:pic>
        <p:nvPicPr>
          <p:cNvPr id="5" name="Picture 4">
            <a:extLst>
              <a:ext uri="{FF2B5EF4-FFF2-40B4-BE49-F238E27FC236}">
                <a16:creationId xmlns:a16="http://schemas.microsoft.com/office/drawing/2014/main" id="{456E6387-1899-EEAF-8BA1-BCA8D4DA0990}"/>
              </a:ext>
            </a:extLst>
          </p:cNvPr>
          <p:cNvPicPr>
            <a:picLocks noChangeAspect="1"/>
          </p:cNvPicPr>
          <p:nvPr/>
        </p:nvPicPr>
        <p:blipFill>
          <a:blip r:embed="rId4"/>
          <a:stretch>
            <a:fillRect/>
          </a:stretch>
        </p:blipFill>
        <p:spPr>
          <a:xfrm>
            <a:off x="6531824" y="4542035"/>
            <a:ext cx="4947598" cy="1941933"/>
          </a:xfrm>
          <a:prstGeom prst="rect">
            <a:avLst/>
          </a:prstGeom>
        </p:spPr>
      </p:pic>
    </p:spTree>
    <p:extLst>
      <p:ext uri="{BB962C8B-B14F-4D97-AF65-F5344CB8AC3E}">
        <p14:creationId xmlns:p14="http://schemas.microsoft.com/office/powerpoint/2010/main" val="1221033634"/>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0" y="0"/>
            <a:ext cx="12191695" cy="6858000"/>
          </a:xfrm>
          <a:prstGeom prst="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Rectangle 2"/>
          <p:cNvSpPr/>
          <p:nvPr/>
        </p:nvSpPr>
        <p:spPr>
          <a:xfrm>
            <a:off x="0" y="0"/>
            <a:ext cx="12191695" cy="109728"/>
          </a:xfrm>
          <a:prstGeom prst="rect">
            <a:avLst/>
          </a:prstGeom>
          <a:solidFill>
            <a:srgbClr val="00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 name="TextBox 3"/>
          <p:cNvSpPr txBox="1"/>
          <p:nvPr/>
        </p:nvSpPr>
        <p:spPr>
          <a:xfrm>
            <a:off x="457200" y="256031"/>
            <a:ext cx="11277600" cy="342900"/>
          </a:xfrm>
          <a:prstGeom prst="rect">
            <a:avLst/>
          </a:prstGeom>
          <a:noFill/>
        </p:spPr>
        <p:txBody>
          <a:bodyPr wrap="square">
            <a:spAutoFit/>
          </a:bodyPr>
          <a:lstStyle/>
          <a:p>
            <a:pPr algn="l"/>
            <a:r>
              <a:rPr lang="en-US" sz="1400" b="1">
                <a:solidFill>
                  <a:srgbClr val="000000"/>
                </a:solidFill>
                <a:latin typeface="Calibri"/>
              </a:rPr>
              <a:t>PRIORITY BASED SELECTION WITH VARIABLE NEIGHBOURHOOD SEARCH</a:t>
            </a:r>
            <a:endParaRPr sz="1400" b="1">
              <a:solidFill>
                <a:srgbClr val="000000"/>
              </a:solidFill>
              <a:latin typeface="Calibri"/>
            </a:endParaRPr>
          </a:p>
        </p:txBody>
      </p:sp>
      <p:sp>
        <p:nvSpPr>
          <p:cNvPr id="5" name="TextBox 4"/>
          <p:cNvSpPr txBox="1"/>
          <p:nvPr/>
        </p:nvSpPr>
        <p:spPr>
          <a:xfrm>
            <a:off x="502920" y="502920"/>
            <a:ext cx="11155680" cy="640080"/>
          </a:xfrm>
          <a:prstGeom prst="rect">
            <a:avLst/>
          </a:prstGeom>
          <a:noFill/>
        </p:spPr>
        <p:txBody>
          <a:bodyPr wrap="square">
            <a:spAutoFit/>
          </a:bodyPr>
          <a:lstStyle/>
          <a:p>
            <a:pPr algn="l"/>
            <a:r>
              <a:rPr sz="3000" b="1">
                <a:solidFill>
                  <a:srgbClr val="000000"/>
                </a:solidFill>
                <a:latin typeface="Calibri"/>
              </a:rPr>
              <a:t>Priority selection searches the worst availability regions first</a:t>
            </a:r>
          </a:p>
        </p:txBody>
      </p:sp>
      <p:sp>
        <p:nvSpPr>
          <p:cNvPr id="6" name="Rounded Rectangle 5"/>
          <p:cNvSpPr/>
          <p:nvPr/>
        </p:nvSpPr>
        <p:spPr>
          <a:xfrm>
            <a:off x="502921" y="1280160"/>
            <a:ext cx="4747506" cy="4892040"/>
          </a:xfrm>
          <a:prstGeom prst="roundRect">
            <a:avLst/>
          </a:prstGeom>
          <a:solidFill>
            <a:srgbClr val="FFFFFF"/>
          </a:solidFill>
          <a:ln w="12700">
            <a:solidFill>
              <a:srgbClr val="B0B0B0"/>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7" name="TextBox 6"/>
          <p:cNvSpPr txBox="1"/>
          <p:nvPr/>
        </p:nvSpPr>
        <p:spPr>
          <a:xfrm>
            <a:off x="777240" y="1508760"/>
            <a:ext cx="4542012" cy="3990836"/>
          </a:xfrm>
          <a:prstGeom prst="rect">
            <a:avLst/>
          </a:prstGeom>
          <a:noFill/>
        </p:spPr>
        <p:txBody>
          <a:bodyPr wrap="square">
            <a:spAutoFit/>
          </a:bodyPr>
          <a:lstStyle/>
          <a:p>
            <a:pPr algn="l">
              <a:spcAft>
                <a:spcPts val="800"/>
              </a:spcAft>
            </a:pPr>
            <a:r>
              <a:rPr sz="2000" b="0" dirty="0">
                <a:solidFill>
                  <a:srgbClr val="1A1A1A"/>
                </a:solidFill>
                <a:latin typeface="Calibri"/>
              </a:rPr>
              <a:t>Rank events by the worst availability during their interval.</a:t>
            </a:r>
          </a:p>
          <a:p>
            <a:pPr algn="l">
              <a:spcAft>
                <a:spcPts val="800"/>
              </a:spcAft>
            </a:pPr>
            <a:r>
              <a:rPr sz="2000" b="0" dirty="0">
                <a:solidFill>
                  <a:srgbClr val="1A1A1A"/>
                </a:solidFill>
                <a:latin typeface="Calibri"/>
              </a:rPr>
              <a:t>Search the worst priority level first</a:t>
            </a:r>
            <a:r>
              <a:rPr lang="en-AU" sz="2000" b="0" dirty="0">
                <a:solidFill>
                  <a:srgbClr val="1A1A1A"/>
                </a:solidFill>
                <a:latin typeface="Calibri"/>
              </a:rPr>
              <a:t>,</a:t>
            </a:r>
            <a:r>
              <a:rPr sz="2000" b="0" dirty="0">
                <a:solidFill>
                  <a:srgbClr val="1A1A1A"/>
                </a:solidFill>
                <a:latin typeface="Calibri"/>
              </a:rPr>
              <a:t> expand only if needed.</a:t>
            </a:r>
          </a:p>
          <a:p>
            <a:pPr algn="l">
              <a:spcAft>
                <a:spcPts val="800"/>
              </a:spcAft>
            </a:pPr>
            <a:r>
              <a:rPr sz="2000" b="0" dirty="0">
                <a:solidFill>
                  <a:srgbClr val="1A1A1A"/>
                </a:solidFill>
                <a:latin typeface="Calibri"/>
              </a:rPr>
              <a:t>Move one check, then rebuild later events using A/B/C/D rules.</a:t>
            </a:r>
            <a:endParaRPr lang="en-AU" sz="2000" b="0" dirty="0">
              <a:solidFill>
                <a:srgbClr val="1A1A1A"/>
              </a:solidFill>
              <a:latin typeface="Calibri"/>
            </a:endParaRPr>
          </a:p>
          <a:p>
            <a:pPr algn="l">
              <a:spcAft>
                <a:spcPts val="800"/>
              </a:spcAft>
            </a:pPr>
            <a:r>
              <a:rPr lang="en-AU" sz="2000" dirty="0">
                <a:solidFill>
                  <a:srgbClr val="1A1A1A"/>
                </a:solidFill>
                <a:latin typeface="Calibri"/>
              </a:rPr>
              <a:t>Update incrementally and score once.</a:t>
            </a:r>
            <a:endParaRPr sz="2000" b="0" dirty="0">
              <a:solidFill>
                <a:srgbClr val="1A1A1A"/>
              </a:solidFill>
              <a:latin typeface="Calibri"/>
            </a:endParaRPr>
          </a:p>
          <a:p>
            <a:pPr algn="l">
              <a:spcAft>
                <a:spcPts val="800"/>
              </a:spcAft>
            </a:pPr>
            <a:r>
              <a:rPr sz="2000" b="0" dirty="0">
                <a:solidFill>
                  <a:srgbClr val="1A1A1A"/>
                </a:solidFill>
                <a:latin typeface="Calibri"/>
              </a:rPr>
              <a:t>Deterministic, rule-compliant, and substantially faster.</a:t>
            </a:r>
          </a:p>
          <a:p>
            <a:pPr algn="l">
              <a:spcAft>
                <a:spcPts val="800"/>
              </a:spcAft>
            </a:pPr>
            <a:r>
              <a:rPr sz="2000" b="0" dirty="0">
                <a:solidFill>
                  <a:srgbClr val="1A1A1A"/>
                </a:solidFill>
                <a:latin typeface="Calibri"/>
              </a:rPr>
              <a:t>Measured result: min 15→18, std 1.96→1.44.</a:t>
            </a:r>
          </a:p>
        </p:txBody>
      </p:sp>
      <p:pic>
        <p:nvPicPr>
          <p:cNvPr id="8" name="Picture 7" descr="Priority Based Optimiser Flowchart.png"/>
          <p:cNvPicPr>
            <a:picLocks noChangeAspect="1"/>
          </p:cNvPicPr>
          <p:nvPr/>
        </p:nvPicPr>
        <p:blipFill>
          <a:blip r:embed="rId3"/>
          <a:stretch>
            <a:fillRect/>
          </a:stretch>
        </p:blipFill>
        <p:spPr>
          <a:xfrm>
            <a:off x="5311632" y="1142999"/>
            <a:ext cx="6677334" cy="4451555"/>
          </a:xfrm>
          <a:prstGeom prst="rect">
            <a:avLst/>
          </a:prstGeom>
        </p:spPr>
      </p:pic>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0" y="0"/>
            <a:ext cx="12191695" cy="6858000"/>
          </a:xfrm>
          <a:prstGeom prst="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Rectangle 2"/>
          <p:cNvSpPr/>
          <p:nvPr/>
        </p:nvSpPr>
        <p:spPr>
          <a:xfrm>
            <a:off x="0" y="0"/>
            <a:ext cx="12191695" cy="109728"/>
          </a:xfrm>
          <a:prstGeom prst="rect">
            <a:avLst/>
          </a:prstGeom>
          <a:solidFill>
            <a:srgbClr val="00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 name="TextBox 3"/>
          <p:cNvSpPr txBox="1"/>
          <p:nvPr/>
        </p:nvSpPr>
        <p:spPr>
          <a:xfrm>
            <a:off x="502920" y="256032"/>
            <a:ext cx="10972800" cy="274320"/>
          </a:xfrm>
          <a:prstGeom prst="rect">
            <a:avLst/>
          </a:prstGeom>
          <a:noFill/>
        </p:spPr>
        <p:txBody>
          <a:bodyPr wrap="square">
            <a:spAutoFit/>
          </a:bodyPr>
          <a:lstStyle/>
          <a:p>
            <a:pPr algn="l"/>
            <a:r>
              <a:rPr sz="1200" b="1">
                <a:solidFill>
                  <a:srgbClr val="000000"/>
                </a:solidFill>
                <a:latin typeface="Calibri"/>
              </a:rPr>
              <a:t>MILESTONE 4 · HOW PRIORITY LEVELS WORK</a:t>
            </a:r>
          </a:p>
        </p:txBody>
      </p:sp>
      <p:sp>
        <p:nvSpPr>
          <p:cNvPr id="5" name="TextBox 4"/>
          <p:cNvSpPr txBox="1"/>
          <p:nvPr/>
        </p:nvSpPr>
        <p:spPr>
          <a:xfrm>
            <a:off x="502920" y="502920"/>
            <a:ext cx="11155680" cy="553998"/>
          </a:xfrm>
          <a:prstGeom prst="rect">
            <a:avLst/>
          </a:prstGeom>
          <a:noFill/>
        </p:spPr>
        <p:txBody>
          <a:bodyPr wrap="square">
            <a:spAutoFit/>
          </a:bodyPr>
          <a:lstStyle/>
          <a:p>
            <a:pPr algn="l"/>
            <a:r>
              <a:rPr sz="3000" b="1" dirty="0">
                <a:solidFill>
                  <a:srgbClr val="000000"/>
                </a:solidFill>
                <a:latin typeface="Calibri"/>
              </a:rPr>
              <a:t>Each event gets one priority</a:t>
            </a:r>
            <a:r>
              <a:rPr lang="en-AU" sz="3000" b="1" dirty="0">
                <a:solidFill>
                  <a:srgbClr val="000000"/>
                </a:solidFill>
                <a:latin typeface="Calibri"/>
              </a:rPr>
              <a:t>: </a:t>
            </a:r>
            <a:r>
              <a:rPr sz="3000" b="1" dirty="0">
                <a:solidFill>
                  <a:srgbClr val="000000"/>
                </a:solidFill>
                <a:latin typeface="Calibri"/>
              </a:rPr>
              <a:t>the worst day it covers</a:t>
            </a:r>
          </a:p>
        </p:txBody>
      </p:sp>
      <p:sp>
        <p:nvSpPr>
          <p:cNvPr id="6" name="TextBox 5"/>
          <p:cNvSpPr txBox="1"/>
          <p:nvPr/>
        </p:nvSpPr>
        <p:spPr>
          <a:xfrm>
            <a:off x="502920" y="1143000"/>
            <a:ext cx="11155680" cy="369332"/>
          </a:xfrm>
          <a:prstGeom prst="rect">
            <a:avLst/>
          </a:prstGeom>
          <a:noFill/>
        </p:spPr>
        <p:txBody>
          <a:bodyPr wrap="square">
            <a:spAutoFit/>
          </a:bodyPr>
          <a:lstStyle/>
          <a:p>
            <a:pPr algn="l"/>
            <a:r>
              <a:rPr b="0" dirty="0">
                <a:solidFill>
                  <a:srgbClr val="555555"/>
                </a:solidFill>
                <a:latin typeface="Calibri"/>
              </a:rPr>
              <a:t>From the heavy starting schedule: global min availability = 15</a:t>
            </a:r>
            <a:r>
              <a:rPr lang="en-AU" b="0" dirty="0">
                <a:solidFill>
                  <a:srgbClr val="555555"/>
                </a:solidFill>
                <a:latin typeface="Calibri"/>
              </a:rPr>
              <a:t>,</a:t>
            </a:r>
            <a:r>
              <a:rPr b="0" dirty="0">
                <a:solidFill>
                  <a:srgbClr val="555555"/>
                </a:solidFill>
                <a:latin typeface="Calibri"/>
              </a:rPr>
              <a:t> 278 events</a:t>
            </a:r>
            <a:r>
              <a:rPr lang="en-AU" b="0" dirty="0">
                <a:solidFill>
                  <a:srgbClr val="555555"/>
                </a:solidFill>
                <a:latin typeface="Calibri"/>
              </a:rPr>
              <a:t>,</a:t>
            </a:r>
            <a:r>
              <a:rPr b="0" dirty="0">
                <a:solidFill>
                  <a:srgbClr val="555555"/>
                </a:solidFill>
                <a:latin typeface="Calibri"/>
              </a:rPr>
              <a:t> 24 aircraft</a:t>
            </a:r>
          </a:p>
        </p:txBody>
      </p:sp>
      <p:sp>
        <p:nvSpPr>
          <p:cNvPr id="7" name="Rounded Rectangle 6"/>
          <p:cNvSpPr/>
          <p:nvPr/>
        </p:nvSpPr>
        <p:spPr>
          <a:xfrm>
            <a:off x="502920" y="1600199"/>
            <a:ext cx="3657600" cy="4672781"/>
          </a:xfrm>
          <a:prstGeom prst="roundRect">
            <a:avLst/>
          </a:prstGeom>
          <a:solidFill>
            <a:srgbClr val="FFFFFF"/>
          </a:solidFill>
          <a:ln w="12700">
            <a:solidFill>
              <a:srgbClr val="B0B0B0"/>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8" name="TextBox 7"/>
          <p:cNvSpPr txBox="1"/>
          <p:nvPr/>
        </p:nvSpPr>
        <p:spPr>
          <a:xfrm>
            <a:off x="685800" y="1737360"/>
            <a:ext cx="3291840" cy="400110"/>
          </a:xfrm>
          <a:prstGeom prst="rect">
            <a:avLst/>
          </a:prstGeom>
          <a:noFill/>
        </p:spPr>
        <p:txBody>
          <a:bodyPr wrap="square">
            <a:spAutoFit/>
          </a:bodyPr>
          <a:lstStyle/>
          <a:p>
            <a:pPr algn="l"/>
            <a:r>
              <a:rPr sz="2000" b="1">
                <a:solidFill>
                  <a:srgbClr val="000000"/>
                </a:solidFill>
                <a:latin typeface="Calibri"/>
              </a:rPr>
              <a:t>1. Score every event</a:t>
            </a:r>
          </a:p>
        </p:txBody>
      </p:sp>
      <p:sp>
        <p:nvSpPr>
          <p:cNvPr id="9" name="TextBox 8"/>
          <p:cNvSpPr txBox="1"/>
          <p:nvPr/>
        </p:nvSpPr>
        <p:spPr>
          <a:xfrm>
            <a:off x="685800" y="2194560"/>
            <a:ext cx="3291840" cy="2759730"/>
          </a:xfrm>
          <a:prstGeom prst="rect">
            <a:avLst/>
          </a:prstGeom>
          <a:noFill/>
        </p:spPr>
        <p:txBody>
          <a:bodyPr wrap="square">
            <a:spAutoFit/>
          </a:bodyPr>
          <a:lstStyle/>
          <a:p>
            <a:pPr algn="l">
              <a:spcAft>
                <a:spcPts val="800"/>
              </a:spcAft>
            </a:pPr>
            <a:r>
              <a:rPr sz="2000" b="0" dirty="0">
                <a:solidFill>
                  <a:srgbClr val="1A1A1A"/>
                </a:solidFill>
                <a:latin typeface="Calibri"/>
              </a:rPr>
              <a:t>Look at fleet availability on every day that event is in the hangar.</a:t>
            </a:r>
          </a:p>
          <a:p>
            <a:pPr algn="l">
              <a:spcAft>
                <a:spcPts val="800"/>
              </a:spcAft>
            </a:pPr>
            <a:r>
              <a:rPr sz="2000" b="0" dirty="0">
                <a:solidFill>
                  <a:srgbClr val="1A1A1A"/>
                </a:solidFill>
                <a:latin typeface="Calibri"/>
              </a:rPr>
              <a:t>Priority = the minimum of those days.</a:t>
            </a:r>
          </a:p>
          <a:p>
            <a:pPr algn="l">
              <a:spcAft>
                <a:spcPts val="800"/>
              </a:spcAft>
            </a:pPr>
            <a:r>
              <a:rPr sz="2000" b="0" dirty="0">
                <a:solidFill>
                  <a:srgbClr val="1A1A1A"/>
                </a:solidFill>
                <a:latin typeface="Calibri"/>
              </a:rPr>
              <a:t>Example: </a:t>
            </a:r>
            <a:r>
              <a:rPr lang="en-AU" sz="2000" b="0" dirty="0">
                <a:solidFill>
                  <a:srgbClr val="1A1A1A"/>
                </a:solidFill>
                <a:latin typeface="Calibri"/>
              </a:rPr>
              <a:t>event </a:t>
            </a:r>
            <a:r>
              <a:rPr sz="2000" b="0" dirty="0">
                <a:solidFill>
                  <a:srgbClr val="1A1A1A"/>
                </a:solidFill>
                <a:latin typeface="Calibri"/>
              </a:rPr>
              <a:t>days with avail</a:t>
            </a:r>
            <a:r>
              <a:rPr lang="en-AU" sz="2000" dirty="0">
                <a:solidFill>
                  <a:srgbClr val="1A1A1A"/>
                </a:solidFill>
                <a:latin typeface="Calibri"/>
              </a:rPr>
              <a:t>a</a:t>
            </a:r>
            <a:r>
              <a:rPr lang="en-AU" sz="2000" b="0" dirty="0">
                <a:solidFill>
                  <a:srgbClr val="1A1A1A"/>
                </a:solidFill>
                <a:latin typeface="Calibri"/>
              </a:rPr>
              <a:t>bility:</a:t>
            </a:r>
            <a:r>
              <a:rPr sz="2000" b="0" dirty="0">
                <a:solidFill>
                  <a:srgbClr val="1A1A1A"/>
                </a:solidFill>
                <a:latin typeface="Calibri"/>
              </a:rPr>
              <a:t> [</a:t>
            </a:r>
            <a:r>
              <a:rPr lang="en-AU" sz="2000" b="0" dirty="0">
                <a:solidFill>
                  <a:srgbClr val="1A1A1A"/>
                </a:solidFill>
                <a:latin typeface="Calibri"/>
              </a:rPr>
              <a:t>18, </a:t>
            </a:r>
            <a:r>
              <a:rPr sz="2000" b="0" dirty="0">
                <a:solidFill>
                  <a:srgbClr val="1A1A1A"/>
                </a:solidFill>
                <a:latin typeface="Calibri"/>
              </a:rPr>
              <a:t>18, 1</a:t>
            </a:r>
            <a:r>
              <a:rPr lang="en-AU" sz="2000" b="0" dirty="0">
                <a:solidFill>
                  <a:srgbClr val="1A1A1A"/>
                </a:solidFill>
                <a:latin typeface="Calibri"/>
              </a:rPr>
              <a:t>6</a:t>
            </a:r>
            <a:r>
              <a:rPr sz="2000" b="0" dirty="0">
                <a:solidFill>
                  <a:srgbClr val="1A1A1A"/>
                </a:solidFill>
                <a:latin typeface="Calibri"/>
              </a:rPr>
              <a:t>, 1</a:t>
            </a:r>
            <a:r>
              <a:rPr lang="en-AU" sz="2000" b="0" dirty="0">
                <a:solidFill>
                  <a:srgbClr val="1A1A1A"/>
                </a:solidFill>
                <a:latin typeface="Calibri"/>
              </a:rPr>
              <a:t>5</a:t>
            </a:r>
            <a:r>
              <a:rPr lang="en-AU" sz="2000" dirty="0">
                <a:solidFill>
                  <a:srgbClr val="1A1A1A"/>
                </a:solidFill>
                <a:latin typeface="Calibri"/>
              </a:rPr>
              <a:t>, etc.</a:t>
            </a:r>
            <a:r>
              <a:rPr sz="2000" b="0" dirty="0">
                <a:solidFill>
                  <a:srgbClr val="1A1A1A"/>
                </a:solidFill>
                <a:latin typeface="Calibri"/>
              </a:rPr>
              <a:t>] → priority 15.</a:t>
            </a:r>
          </a:p>
        </p:txBody>
      </p:sp>
      <p:sp>
        <p:nvSpPr>
          <p:cNvPr id="10" name="Rounded Rectangle 9"/>
          <p:cNvSpPr/>
          <p:nvPr/>
        </p:nvSpPr>
        <p:spPr>
          <a:xfrm>
            <a:off x="4297680" y="1600200"/>
            <a:ext cx="3657600" cy="4754880"/>
          </a:xfrm>
          <a:prstGeom prst="roundRect">
            <a:avLst/>
          </a:prstGeom>
          <a:solidFill>
            <a:srgbClr val="FFFFFF"/>
          </a:solidFill>
          <a:ln w="12700">
            <a:solidFill>
              <a:srgbClr val="B0B0B0"/>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1" name="TextBox 10"/>
          <p:cNvSpPr txBox="1"/>
          <p:nvPr/>
        </p:nvSpPr>
        <p:spPr>
          <a:xfrm>
            <a:off x="4480560" y="1737360"/>
            <a:ext cx="3291840" cy="400110"/>
          </a:xfrm>
          <a:prstGeom prst="rect">
            <a:avLst/>
          </a:prstGeom>
          <a:noFill/>
        </p:spPr>
        <p:txBody>
          <a:bodyPr wrap="square">
            <a:spAutoFit/>
          </a:bodyPr>
          <a:lstStyle/>
          <a:p>
            <a:pPr algn="l"/>
            <a:r>
              <a:rPr sz="2000" b="1" dirty="0">
                <a:solidFill>
                  <a:srgbClr val="000000"/>
                </a:solidFill>
                <a:latin typeface="Calibri"/>
              </a:rPr>
              <a:t>2. Split into exclusive buckets</a:t>
            </a:r>
          </a:p>
        </p:txBody>
      </p:sp>
      <p:sp>
        <p:nvSpPr>
          <p:cNvPr id="12" name="TextBox 11"/>
          <p:cNvSpPr txBox="1"/>
          <p:nvPr/>
        </p:nvSpPr>
        <p:spPr>
          <a:xfrm>
            <a:off x="4480560" y="2194560"/>
            <a:ext cx="3291840" cy="2349361"/>
          </a:xfrm>
          <a:prstGeom prst="rect">
            <a:avLst/>
          </a:prstGeom>
          <a:noFill/>
        </p:spPr>
        <p:txBody>
          <a:bodyPr wrap="square">
            <a:spAutoFit/>
          </a:bodyPr>
          <a:lstStyle/>
          <a:p>
            <a:pPr algn="l">
              <a:spcAft>
                <a:spcPts val="800"/>
              </a:spcAft>
            </a:pPr>
            <a:r>
              <a:rPr sz="2000" b="0" dirty="0">
                <a:solidFill>
                  <a:srgbClr val="1A1A1A"/>
                </a:solidFill>
                <a:latin typeface="Calibri"/>
              </a:rPr>
              <a:t>Level 15 → 20 events (touch a day-15 </a:t>
            </a:r>
            <a:r>
              <a:rPr lang="en-AU" sz="2000" b="0" dirty="0">
                <a:solidFill>
                  <a:srgbClr val="1A1A1A"/>
                </a:solidFill>
                <a:latin typeface="Calibri"/>
              </a:rPr>
              <a:t>dip</a:t>
            </a:r>
            <a:r>
              <a:rPr sz="2000" b="0" dirty="0">
                <a:solidFill>
                  <a:srgbClr val="1A1A1A"/>
                </a:solidFill>
                <a:latin typeface="Calibri"/>
              </a:rPr>
              <a:t>).</a:t>
            </a:r>
          </a:p>
          <a:p>
            <a:pPr algn="l">
              <a:spcAft>
                <a:spcPts val="800"/>
              </a:spcAft>
            </a:pPr>
            <a:r>
              <a:rPr sz="2000" b="0" dirty="0">
                <a:solidFill>
                  <a:srgbClr val="1A1A1A"/>
                </a:solidFill>
                <a:latin typeface="Calibri"/>
              </a:rPr>
              <a:t>Level 16 → 10 events</a:t>
            </a:r>
            <a:r>
              <a:rPr lang="en-AU" sz="2000" b="0" dirty="0">
                <a:solidFill>
                  <a:srgbClr val="1A1A1A"/>
                </a:solidFill>
                <a:latin typeface="Calibri"/>
              </a:rPr>
              <a:t> </a:t>
            </a:r>
          </a:p>
          <a:p>
            <a:pPr algn="l">
              <a:spcAft>
                <a:spcPts val="800"/>
              </a:spcAft>
            </a:pPr>
            <a:r>
              <a:rPr lang="en-AU" sz="2000" b="0" dirty="0">
                <a:solidFill>
                  <a:srgbClr val="1A1A1A"/>
                </a:solidFill>
                <a:latin typeface="Calibri"/>
              </a:rPr>
              <a:t>Level 17 → 9 events</a:t>
            </a:r>
          </a:p>
          <a:p>
            <a:pPr>
              <a:spcAft>
                <a:spcPts val="800"/>
              </a:spcAft>
            </a:pPr>
            <a:r>
              <a:rPr lang="en-AU" sz="2000" dirty="0">
                <a:solidFill>
                  <a:srgbClr val="1A1A1A"/>
                </a:solidFill>
                <a:latin typeface="Calibri"/>
              </a:rPr>
              <a:t>Level 21 </a:t>
            </a:r>
            <a:r>
              <a:rPr lang="en-AU" sz="2000" dirty="0">
                <a:solidFill>
                  <a:srgbClr val="1A1A1A"/>
                </a:solidFill>
              </a:rPr>
              <a:t>→ 68 events</a:t>
            </a:r>
            <a:endParaRPr lang="en-AU" sz="2000" dirty="0">
              <a:solidFill>
                <a:srgbClr val="1A1A1A"/>
              </a:solidFill>
              <a:latin typeface="Calibri"/>
            </a:endParaRPr>
          </a:p>
          <a:p>
            <a:pPr algn="l">
              <a:spcAft>
                <a:spcPts val="800"/>
              </a:spcAft>
            </a:pPr>
            <a:endParaRPr lang="en-AU" sz="2000" b="0" dirty="0">
              <a:solidFill>
                <a:srgbClr val="1A1A1A"/>
              </a:solidFill>
              <a:latin typeface="Calibri"/>
            </a:endParaRPr>
          </a:p>
        </p:txBody>
      </p:sp>
      <p:sp>
        <p:nvSpPr>
          <p:cNvPr id="13" name="Rounded Rectangle 12"/>
          <p:cNvSpPr/>
          <p:nvPr/>
        </p:nvSpPr>
        <p:spPr>
          <a:xfrm>
            <a:off x="8092440" y="1600200"/>
            <a:ext cx="3657600" cy="4754880"/>
          </a:xfrm>
          <a:prstGeom prst="roundRect">
            <a:avLst/>
          </a:prstGeom>
          <a:solidFill>
            <a:srgbClr val="FFFFFF"/>
          </a:solidFill>
          <a:ln w="12700">
            <a:solidFill>
              <a:srgbClr val="B0B0B0"/>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4" name="TextBox 13"/>
          <p:cNvSpPr txBox="1"/>
          <p:nvPr/>
        </p:nvSpPr>
        <p:spPr>
          <a:xfrm>
            <a:off x="8275320" y="1737360"/>
            <a:ext cx="3291840" cy="400110"/>
          </a:xfrm>
          <a:prstGeom prst="rect">
            <a:avLst/>
          </a:prstGeom>
          <a:noFill/>
        </p:spPr>
        <p:txBody>
          <a:bodyPr wrap="square">
            <a:spAutoFit/>
          </a:bodyPr>
          <a:lstStyle/>
          <a:p>
            <a:pPr algn="l"/>
            <a:r>
              <a:rPr sz="2000" b="1" dirty="0">
                <a:solidFill>
                  <a:srgbClr val="000000"/>
                </a:solidFill>
                <a:latin typeface="Calibri"/>
              </a:rPr>
              <a:t>3. Search worst first</a:t>
            </a:r>
          </a:p>
        </p:txBody>
      </p:sp>
      <p:sp>
        <p:nvSpPr>
          <p:cNvPr id="15" name="TextBox 14"/>
          <p:cNvSpPr txBox="1"/>
          <p:nvPr/>
        </p:nvSpPr>
        <p:spPr>
          <a:xfrm>
            <a:off x="8275320" y="2194560"/>
            <a:ext cx="3291840" cy="2144177"/>
          </a:xfrm>
          <a:prstGeom prst="rect">
            <a:avLst/>
          </a:prstGeom>
          <a:noFill/>
        </p:spPr>
        <p:txBody>
          <a:bodyPr wrap="square">
            <a:spAutoFit/>
          </a:bodyPr>
          <a:lstStyle/>
          <a:p>
            <a:pPr algn="l">
              <a:spcAft>
                <a:spcPts val="800"/>
              </a:spcAft>
            </a:pPr>
            <a:r>
              <a:rPr sz="2000" b="0" dirty="0">
                <a:solidFill>
                  <a:srgbClr val="1A1A1A"/>
                </a:solidFill>
                <a:latin typeface="Calibri"/>
              </a:rPr>
              <a:t>Try only level-15 events × shifts (e.g. 20 × 2 = 40).</a:t>
            </a:r>
          </a:p>
          <a:p>
            <a:pPr algn="l">
              <a:spcAft>
                <a:spcPts val="800"/>
              </a:spcAft>
            </a:pPr>
            <a:r>
              <a:rPr sz="2000" b="0" dirty="0">
                <a:solidFill>
                  <a:srgbClr val="1A1A1A"/>
                </a:solidFill>
                <a:latin typeface="Calibri"/>
              </a:rPr>
              <a:t>If any move improves the score, stop and pick the best.</a:t>
            </a:r>
          </a:p>
          <a:p>
            <a:pPr algn="l">
              <a:spcAft>
                <a:spcPts val="800"/>
              </a:spcAft>
            </a:pPr>
            <a:r>
              <a:rPr sz="2000" b="0" dirty="0">
                <a:solidFill>
                  <a:srgbClr val="1A1A1A"/>
                </a:solidFill>
                <a:latin typeface="Calibri"/>
              </a:rPr>
              <a:t>Only then expand to 16, 17… if level 15 finds nothing.</a:t>
            </a:r>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0" y="0"/>
            <a:ext cx="12191695" cy="6858000"/>
          </a:xfrm>
          <a:prstGeom prst="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Rectangle 2"/>
          <p:cNvSpPr/>
          <p:nvPr/>
        </p:nvSpPr>
        <p:spPr>
          <a:xfrm>
            <a:off x="0" y="0"/>
            <a:ext cx="12191695" cy="109728"/>
          </a:xfrm>
          <a:prstGeom prst="rect">
            <a:avLst/>
          </a:prstGeom>
          <a:solidFill>
            <a:srgbClr val="00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 name="TextBox 3"/>
          <p:cNvSpPr txBox="1"/>
          <p:nvPr/>
        </p:nvSpPr>
        <p:spPr>
          <a:xfrm>
            <a:off x="457200" y="165100"/>
            <a:ext cx="11277600" cy="317500"/>
          </a:xfrm>
          <a:prstGeom prst="rect">
            <a:avLst/>
          </a:prstGeom>
          <a:noFill/>
        </p:spPr>
        <p:txBody>
          <a:bodyPr wrap="square">
            <a:noAutofit/>
          </a:bodyPr>
          <a:lstStyle/>
          <a:p>
            <a:pPr algn="l"/>
            <a:r>
              <a:rPr lang="en-AU" sz="1500" b="1">
                <a:solidFill>
                  <a:srgbClr val="000000"/>
                </a:solidFill>
                <a:latin typeface="Calibri"/>
              </a:rPr>
              <a:t>ITERATION 1 RESULTS</a:t>
            </a:r>
            <a:endParaRPr sz="1500" b="1">
              <a:solidFill>
                <a:srgbClr val="000000"/>
              </a:solidFill>
              <a:latin typeface="Calibri"/>
            </a:endParaRPr>
          </a:p>
        </p:txBody>
      </p:sp>
      <p:sp>
        <p:nvSpPr>
          <p:cNvPr id="5" name="TextBox 4"/>
          <p:cNvSpPr txBox="1"/>
          <p:nvPr/>
        </p:nvSpPr>
        <p:spPr>
          <a:xfrm>
            <a:off x="457200" y="533400"/>
            <a:ext cx="11277600" cy="660400"/>
          </a:xfrm>
          <a:prstGeom prst="rect">
            <a:avLst/>
          </a:prstGeom>
          <a:noFill/>
        </p:spPr>
        <p:txBody>
          <a:bodyPr wrap="square">
            <a:noAutofit/>
          </a:bodyPr>
          <a:lstStyle/>
          <a:p>
            <a:pPr algn="l"/>
            <a:r>
              <a:rPr lang="en-US" sz="3200" b="1">
                <a:solidFill>
                  <a:srgbClr val="000000"/>
                </a:solidFill>
                <a:latin typeface="Calibri"/>
              </a:rPr>
              <a:t>Priority selection made the heavy search practical</a:t>
            </a:r>
            <a:endParaRPr sz="3200" b="1">
              <a:solidFill>
                <a:srgbClr val="000000"/>
              </a:solidFill>
              <a:latin typeface="Calibri"/>
            </a:endParaRPr>
          </a:p>
        </p:txBody>
      </p:sp>
      <p:sp>
        <p:nvSpPr>
          <p:cNvPr id="6" name="Rounded Rectangle 5"/>
          <p:cNvSpPr/>
          <p:nvPr/>
        </p:nvSpPr>
        <p:spPr>
          <a:xfrm>
            <a:off x="502920" y="1371600"/>
            <a:ext cx="3657600" cy="1554480"/>
          </a:xfrm>
          <a:prstGeom prst="roundRect">
            <a:avLst/>
          </a:prstGeom>
          <a:solidFill>
            <a:srgbClr val="F0F0F0"/>
          </a:solidFill>
          <a:ln w="12700">
            <a:solidFill>
              <a:srgbClr val="000000"/>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7" name="TextBox 6"/>
          <p:cNvSpPr txBox="1"/>
          <p:nvPr/>
        </p:nvSpPr>
        <p:spPr>
          <a:xfrm>
            <a:off x="667512" y="1536192"/>
            <a:ext cx="3383280" cy="276999"/>
          </a:xfrm>
          <a:prstGeom prst="rect">
            <a:avLst/>
          </a:prstGeom>
          <a:noFill/>
        </p:spPr>
        <p:txBody>
          <a:bodyPr wrap="square">
            <a:noAutofit/>
          </a:bodyPr>
          <a:lstStyle/>
          <a:p>
            <a:pPr algn="l"/>
            <a:r>
              <a:rPr lang="en-AU" sz="1200" b="1">
                <a:solidFill>
                  <a:srgbClr val="000000"/>
                </a:solidFill>
                <a:latin typeface="Calibri"/>
              </a:rPr>
              <a:t>WORST-DAY AVAILABILITY</a:t>
            </a:r>
            <a:endParaRPr sz="1200" b="1">
              <a:solidFill>
                <a:srgbClr val="000000"/>
              </a:solidFill>
              <a:latin typeface="Calibri"/>
            </a:endParaRPr>
          </a:p>
        </p:txBody>
      </p:sp>
      <p:sp>
        <p:nvSpPr>
          <p:cNvPr id="8" name="TextBox 7"/>
          <p:cNvSpPr txBox="1"/>
          <p:nvPr/>
        </p:nvSpPr>
        <p:spPr>
          <a:xfrm>
            <a:off x="667512" y="1874520"/>
            <a:ext cx="3383280" cy="492443"/>
          </a:xfrm>
          <a:prstGeom prst="rect">
            <a:avLst/>
          </a:prstGeom>
          <a:noFill/>
        </p:spPr>
        <p:txBody>
          <a:bodyPr wrap="square">
            <a:noAutofit/>
          </a:bodyPr>
          <a:lstStyle/>
          <a:p>
            <a:pPr algn="l"/>
            <a:r>
              <a:rPr lang="en-AU" sz="2400" b="1">
                <a:solidFill>
                  <a:srgbClr val="000000"/>
                </a:solidFill>
                <a:latin typeface="Calibri"/>
              </a:rPr>
              <a:t>15 to 18</a:t>
            </a:r>
            <a:endParaRPr sz="2400" b="1">
              <a:solidFill>
                <a:srgbClr val="000000"/>
              </a:solidFill>
              <a:latin typeface="Calibri"/>
            </a:endParaRPr>
          </a:p>
        </p:txBody>
      </p:sp>
      <p:sp>
        <p:nvSpPr>
          <p:cNvPr id="9" name="Rounded Rectangle 8"/>
          <p:cNvSpPr/>
          <p:nvPr/>
        </p:nvSpPr>
        <p:spPr>
          <a:xfrm>
            <a:off x="4343400" y="1371600"/>
            <a:ext cx="3657600" cy="1554480"/>
          </a:xfrm>
          <a:prstGeom prst="roundRect">
            <a:avLst/>
          </a:prstGeom>
          <a:solidFill>
            <a:srgbClr val="F0F0F0"/>
          </a:solidFill>
          <a:ln w="12700">
            <a:solidFill>
              <a:srgbClr val="000000"/>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0" name="TextBox 9"/>
          <p:cNvSpPr txBox="1"/>
          <p:nvPr/>
        </p:nvSpPr>
        <p:spPr>
          <a:xfrm>
            <a:off x="4507992" y="1536192"/>
            <a:ext cx="3383280" cy="276999"/>
          </a:xfrm>
          <a:prstGeom prst="rect">
            <a:avLst/>
          </a:prstGeom>
          <a:noFill/>
        </p:spPr>
        <p:txBody>
          <a:bodyPr wrap="square">
            <a:noAutofit/>
          </a:bodyPr>
          <a:lstStyle/>
          <a:p>
            <a:pPr algn="l"/>
            <a:r>
              <a:rPr lang="en-AU" sz="1200" b="1">
                <a:solidFill>
                  <a:srgbClr val="000000"/>
                </a:solidFill>
                <a:latin typeface="Calibri"/>
              </a:rPr>
              <a:t>SEARCH STRATEGY</a:t>
            </a:r>
            <a:endParaRPr sz="1200" b="1">
              <a:solidFill>
                <a:srgbClr val="000000"/>
              </a:solidFill>
              <a:latin typeface="Calibri"/>
            </a:endParaRPr>
          </a:p>
        </p:txBody>
      </p:sp>
      <p:sp>
        <p:nvSpPr>
          <p:cNvPr id="11" name="TextBox 10"/>
          <p:cNvSpPr txBox="1"/>
          <p:nvPr/>
        </p:nvSpPr>
        <p:spPr>
          <a:xfrm>
            <a:off x="4507992" y="1874520"/>
            <a:ext cx="3383280" cy="492443"/>
          </a:xfrm>
          <a:prstGeom prst="rect">
            <a:avLst/>
          </a:prstGeom>
          <a:noFill/>
        </p:spPr>
        <p:txBody>
          <a:bodyPr wrap="square">
            <a:noAutofit/>
          </a:bodyPr>
          <a:lstStyle/>
          <a:p>
            <a:pPr algn="l"/>
            <a:r>
              <a:rPr lang="en-AU" sz="2400" b="1">
                <a:solidFill>
                  <a:srgbClr val="000000"/>
                </a:solidFill>
                <a:latin typeface="Calibri"/>
              </a:rPr>
              <a:t>Worst days first</a:t>
            </a:r>
            <a:endParaRPr sz="2400" b="1" dirty="0">
              <a:solidFill>
                <a:srgbClr val="000000"/>
              </a:solidFill>
              <a:latin typeface="Calibri"/>
            </a:endParaRPr>
          </a:p>
        </p:txBody>
      </p:sp>
      <p:sp>
        <p:nvSpPr>
          <p:cNvPr id="12" name="Rounded Rectangle 11"/>
          <p:cNvSpPr/>
          <p:nvPr/>
        </p:nvSpPr>
        <p:spPr>
          <a:xfrm>
            <a:off x="8183879" y="1371600"/>
            <a:ext cx="3474720" cy="1554480"/>
          </a:xfrm>
          <a:prstGeom prst="roundRect">
            <a:avLst/>
          </a:prstGeom>
          <a:solidFill>
            <a:srgbClr val="F0F0F0"/>
          </a:solidFill>
          <a:ln w="12700">
            <a:solidFill>
              <a:srgbClr val="000000"/>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3" name="TextBox 12"/>
          <p:cNvSpPr txBox="1"/>
          <p:nvPr/>
        </p:nvSpPr>
        <p:spPr>
          <a:xfrm>
            <a:off x="8348471" y="1536192"/>
            <a:ext cx="3200400" cy="276999"/>
          </a:xfrm>
          <a:prstGeom prst="rect">
            <a:avLst/>
          </a:prstGeom>
          <a:noFill/>
        </p:spPr>
        <p:txBody>
          <a:bodyPr wrap="square">
            <a:noAutofit/>
          </a:bodyPr>
          <a:lstStyle/>
          <a:p>
            <a:pPr algn="l"/>
            <a:r>
              <a:rPr lang="en-AU" sz="1200" b="1">
                <a:solidFill>
                  <a:srgbClr val="000000"/>
                </a:solidFill>
                <a:latin typeface="Calibri"/>
              </a:rPr>
              <a:t>VALIDITY</a:t>
            </a:r>
            <a:endParaRPr sz="1200" b="1">
              <a:solidFill>
                <a:srgbClr val="000000"/>
              </a:solidFill>
              <a:latin typeface="Calibri"/>
            </a:endParaRPr>
          </a:p>
        </p:txBody>
      </p:sp>
      <p:sp>
        <p:nvSpPr>
          <p:cNvPr id="14" name="TextBox 13"/>
          <p:cNvSpPr txBox="1"/>
          <p:nvPr/>
        </p:nvSpPr>
        <p:spPr>
          <a:xfrm>
            <a:off x="8348471" y="1874520"/>
            <a:ext cx="3200400" cy="492443"/>
          </a:xfrm>
          <a:prstGeom prst="rect">
            <a:avLst/>
          </a:prstGeom>
          <a:noFill/>
        </p:spPr>
        <p:txBody>
          <a:bodyPr wrap="square">
            <a:noAutofit/>
          </a:bodyPr>
          <a:lstStyle/>
          <a:p>
            <a:pPr algn="l"/>
            <a:r>
              <a:rPr lang="en-AU" sz="2400" b="1" dirty="0">
                <a:solidFill>
                  <a:srgbClr val="000000"/>
                </a:solidFill>
                <a:latin typeface="Calibri"/>
              </a:rPr>
              <a:t>Rebuilt every time we find improvement</a:t>
            </a:r>
            <a:endParaRPr sz="2400" b="1" dirty="0">
              <a:solidFill>
                <a:srgbClr val="000000"/>
              </a:solidFill>
              <a:latin typeface="Calibri"/>
            </a:endParaRPr>
          </a:p>
        </p:txBody>
      </p:sp>
      <p:sp>
        <p:nvSpPr>
          <p:cNvPr id="15" name="Rounded Rectangle 14"/>
          <p:cNvSpPr/>
          <p:nvPr/>
        </p:nvSpPr>
        <p:spPr>
          <a:xfrm>
            <a:off x="502920" y="3200400"/>
            <a:ext cx="11155680" cy="2926080"/>
          </a:xfrm>
          <a:prstGeom prst="roundRect">
            <a:avLst/>
          </a:prstGeom>
          <a:solidFill>
            <a:srgbClr val="FFFFFF"/>
          </a:solidFill>
          <a:ln w="12700">
            <a:solidFill>
              <a:srgbClr val="B0B0B0"/>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6" name="TextBox 15"/>
          <p:cNvSpPr txBox="1"/>
          <p:nvPr/>
        </p:nvSpPr>
        <p:spPr>
          <a:xfrm>
            <a:off x="777240" y="3383280"/>
            <a:ext cx="10607040" cy="338554"/>
          </a:xfrm>
          <a:prstGeom prst="rect">
            <a:avLst/>
          </a:prstGeom>
          <a:noFill/>
        </p:spPr>
        <p:txBody>
          <a:bodyPr wrap="square">
            <a:noAutofit/>
          </a:bodyPr>
          <a:lstStyle/>
          <a:p>
            <a:pPr algn="l"/>
            <a:r>
              <a:rPr lang="en-US" sz="1600" b="1">
                <a:solidFill>
                  <a:srgbClr val="000000"/>
                </a:solidFill>
                <a:latin typeface="Calibri"/>
              </a:rPr>
              <a:t>Historical runtime comparison from the Iteration 1 milestone</a:t>
            </a:r>
            <a:endParaRPr sz="1600" b="1">
              <a:solidFill>
                <a:srgbClr val="000000"/>
              </a:solidFill>
              <a:latin typeface="Calibri"/>
            </a:endParaRPr>
          </a:p>
        </p:txBody>
      </p:sp>
      <p:sp>
        <p:nvSpPr>
          <p:cNvPr id="17" name="TextBox 16"/>
          <p:cNvSpPr txBox="1"/>
          <p:nvPr/>
        </p:nvSpPr>
        <p:spPr>
          <a:xfrm>
            <a:off x="777240" y="3886200"/>
            <a:ext cx="2743200" cy="365760"/>
          </a:xfrm>
          <a:prstGeom prst="rect">
            <a:avLst/>
          </a:prstGeom>
          <a:noFill/>
        </p:spPr>
        <p:txBody>
          <a:bodyPr wrap="square">
            <a:spAutoFit/>
          </a:bodyPr>
          <a:lstStyle/>
          <a:p>
            <a:pPr algn="l"/>
            <a:r>
              <a:rPr sz="1400" b="0">
                <a:solidFill>
                  <a:srgbClr val="1A1A1A"/>
                </a:solidFill>
                <a:latin typeface="Calibri"/>
              </a:rPr>
              <a:t>Full neighbourhood</a:t>
            </a:r>
          </a:p>
        </p:txBody>
      </p:sp>
      <p:sp>
        <p:nvSpPr>
          <p:cNvPr id="18" name="Rounded Rectangle 17"/>
          <p:cNvSpPr/>
          <p:nvPr/>
        </p:nvSpPr>
        <p:spPr>
          <a:xfrm>
            <a:off x="3657600" y="3931920"/>
            <a:ext cx="5943600" cy="320040"/>
          </a:xfrm>
          <a:prstGeom prst="roundRect">
            <a:avLst/>
          </a:prstGeom>
          <a:solidFill>
            <a:srgbClr val="2B2B2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9" name="TextBox 18"/>
          <p:cNvSpPr txBox="1"/>
          <p:nvPr/>
        </p:nvSpPr>
        <p:spPr>
          <a:xfrm>
            <a:off x="9692640" y="3886200"/>
            <a:ext cx="1828800" cy="276999"/>
          </a:xfrm>
          <a:prstGeom prst="rect">
            <a:avLst/>
          </a:prstGeom>
          <a:noFill/>
        </p:spPr>
        <p:txBody>
          <a:bodyPr wrap="square">
            <a:noAutofit/>
          </a:bodyPr>
          <a:lstStyle/>
          <a:p>
            <a:pPr algn="l"/>
            <a:r>
              <a:rPr lang="en-AU" sz="1200" b="1">
                <a:solidFill>
                  <a:srgbClr val="1A1A1A"/>
                </a:solidFill>
                <a:latin typeface="Calibri"/>
              </a:rPr>
              <a:t>920 s</a:t>
            </a:r>
            <a:endParaRPr sz="1200" b="1">
              <a:solidFill>
                <a:srgbClr val="1A1A1A"/>
              </a:solidFill>
              <a:latin typeface="Calibri"/>
            </a:endParaRPr>
          </a:p>
        </p:txBody>
      </p:sp>
      <p:sp>
        <p:nvSpPr>
          <p:cNvPr id="20" name="TextBox 19"/>
          <p:cNvSpPr txBox="1"/>
          <p:nvPr/>
        </p:nvSpPr>
        <p:spPr>
          <a:xfrm>
            <a:off x="777240" y="4526280"/>
            <a:ext cx="2743200" cy="365760"/>
          </a:xfrm>
          <a:prstGeom prst="rect">
            <a:avLst/>
          </a:prstGeom>
          <a:noFill/>
        </p:spPr>
        <p:txBody>
          <a:bodyPr wrap="square">
            <a:spAutoFit/>
          </a:bodyPr>
          <a:lstStyle/>
          <a:p>
            <a:pPr algn="l"/>
            <a:r>
              <a:rPr sz="1400" b="0">
                <a:solidFill>
                  <a:srgbClr val="1A1A1A"/>
                </a:solidFill>
                <a:latin typeface="Calibri"/>
              </a:rPr>
              <a:t>200 random samples</a:t>
            </a:r>
          </a:p>
        </p:txBody>
      </p:sp>
      <p:sp>
        <p:nvSpPr>
          <p:cNvPr id="21" name="Rounded Rectangle 20"/>
          <p:cNvSpPr/>
          <p:nvPr/>
        </p:nvSpPr>
        <p:spPr>
          <a:xfrm>
            <a:off x="3657600" y="4572000"/>
            <a:ext cx="2914935" cy="320040"/>
          </a:xfrm>
          <a:prstGeom prst="roundRect">
            <a:avLst/>
          </a:prstGeom>
          <a:solidFill>
            <a:srgbClr val="4A4A4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2" name="TextBox 21"/>
          <p:cNvSpPr txBox="1"/>
          <p:nvPr/>
        </p:nvSpPr>
        <p:spPr>
          <a:xfrm>
            <a:off x="9692640" y="4526280"/>
            <a:ext cx="1828800" cy="276999"/>
          </a:xfrm>
          <a:prstGeom prst="rect">
            <a:avLst/>
          </a:prstGeom>
          <a:noFill/>
        </p:spPr>
        <p:txBody>
          <a:bodyPr wrap="square">
            <a:noAutofit/>
          </a:bodyPr>
          <a:lstStyle/>
          <a:p>
            <a:pPr algn="l"/>
            <a:r>
              <a:rPr lang="en-AU" sz="1200" b="1">
                <a:solidFill>
                  <a:srgbClr val="1A1A1A"/>
                </a:solidFill>
                <a:latin typeface="Calibri"/>
              </a:rPr>
              <a:t>451 s</a:t>
            </a:r>
            <a:endParaRPr sz="1200" b="1">
              <a:solidFill>
                <a:srgbClr val="1A1A1A"/>
              </a:solidFill>
              <a:latin typeface="Calibri"/>
            </a:endParaRPr>
          </a:p>
        </p:txBody>
      </p:sp>
      <p:sp>
        <p:nvSpPr>
          <p:cNvPr id="23" name="TextBox 22"/>
          <p:cNvSpPr txBox="1"/>
          <p:nvPr/>
        </p:nvSpPr>
        <p:spPr>
          <a:xfrm>
            <a:off x="777240" y="5166360"/>
            <a:ext cx="2743200" cy="365760"/>
          </a:xfrm>
          <a:prstGeom prst="rect">
            <a:avLst/>
          </a:prstGeom>
          <a:noFill/>
        </p:spPr>
        <p:txBody>
          <a:bodyPr wrap="square">
            <a:spAutoFit/>
          </a:bodyPr>
          <a:lstStyle/>
          <a:p>
            <a:pPr algn="l"/>
            <a:r>
              <a:rPr sz="1400" b="0">
                <a:solidFill>
                  <a:srgbClr val="1A1A1A"/>
                </a:solidFill>
                <a:latin typeface="Calibri"/>
              </a:rPr>
              <a:t>Priority selection</a:t>
            </a:r>
          </a:p>
        </p:txBody>
      </p:sp>
      <p:sp>
        <p:nvSpPr>
          <p:cNvPr id="24" name="Rounded Rectangle 23"/>
          <p:cNvSpPr/>
          <p:nvPr/>
        </p:nvSpPr>
        <p:spPr>
          <a:xfrm>
            <a:off x="3657600" y="5212080"/>
            <a:ext cx="237744" cy="320040"/>
          </a:xfrm>
          <a:prstGeom prst="roundRect">
            <a:avLst/>
          </a:prstGeom>
          <a:solidFill>
            <a:srgbClr val="00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5" name="TextBox 24"/>
          <p:cNvSpPr txBox="1"/>
          <p:nvPr/>
        </p:nvSpPr>
        <p:spPr>
          <a:xfrm>
            <a:off x="9692640" y="5166360"/>
            <a:ext cx="1828800" cy="276999"/>
          </a:xfrm>
          <a:prstGeom prst="rect">
            <a:avLst/>
          </a:prstGeom>
          <a:noFill/>
        </p:spPr>
        <p:txBody>
          <a:bodyPr wrap="square">
            <a:noAutofit/>
          </a:bodyPr>
          <a:lstStyle/>
          <a:p>
            <a:pPr algn="l"/>
            <a:r>
              <a:rPr lang="en-AU" sz="1200" b="1">
                <a:solidFill>
                  <a:srgbClr val="1A1A1A"/>
                </a:solidFill>
                <a:latin typeface="Calibri"/>
              </a:rPr>
              <a:t>15.4 s</a:t>
            </a:r>
            <a:endParaRPr sz="1200" b="1" dirty="0">
              <a:solidFill>
                <a:srgbClr val="1A1A1A"/>
              </a:solidFill>
              <a:latin typeface="Calibri"/>
            </a:endParaRPr>
          </a:p>
        </p:txBody>
      </p:sp>
    </p:spTree>
    <p:extLst>
      <p:ext uri="{BB962C8B-B14F-4D97-AF65-F5344CB8AC3E}">
        <p14:creationId xmlns:p14="http://schemas.microsoft.com/office/powerpoint/2010/main" val="2032942179"/>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0" y="0"/>
            <a:ext cx="12191695" cy="6858000"/>
          </a:xfrm>
          <a:prstGeom prst="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Rectangle 2"/>
          <p:cNvSpPr/>
          <p:nvPr/>
        </p:nvSpPr>
        <p:spPr>
          <a:xfrm>
            <a:off x="0" y="0"/>
            <a:ext cx="12191695" cy="109728"/>
          </a:xfrm>
          <a:prstGeom prst="rect">
            <a:avLst/>
          </a:prstGeom>
          <a:solidFill>
            <a:srgbClr val="00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 name="TextBox 3"/>
          <p:cNvSpPr txBox="1"/>
          <p:nvPr/>
        </p:nvSpPr>
        <p:spPr>
          <a:xfrm>
            <a:off x="457200" y="165100"/>
            <a:ext cx="11277600" cy="317500"/>
          </a:xfrm>
          <a:prstGeom prst="rect">
            <a:avLst/>
          </a:prstGeom>
          <a:noFill/>
        </p:spPr>
        <p:txBody>
          <a:bodyPr wrap="square">
            <a:noAutofit/>
          </a:bodyPr>
          <a:lstStyle/>
          <a:p>
            <a:pPr algn="l"/>
            <a:r>
              <a:rPr lang="en-AU" sz="1500" b="1">
                <a:solidFill>
                  <a:srgbClr val="000000"/>
                </a:solidFill>
                <a:latin typeface="Calibri"/>
              </a:rPr>
              <a:t>ITERATION 2</a:t>
            </a:r>
            <a:endParaRPr sz="1500" b="1">
              <a:solidFill>
                <a:srgbClr val="000000"/>
              </a:solidFill>
              <a:latin typeface="Calibri"/>
            </a:endParaRPr>
          </a:p>
        </p:txBody>
      </p:sp>
      <p:sp>
        <p:nvSpPr>
          <p:cNvPr id="5" name="TextBox 4"/>
          <p:cNvSpPr txBox="1"/>
          <p:nvPr/>
        </p:nvSpPr>
        <p:spPr>
          <a:xfrm>
            <a:off x="457200" y="533400"/>
            <a:ext cx="11277600" cy="660400"/>
          </a:xfrm>
          <a:prstGeom prst="rect">
            <a:avLst/>
          </a:prstGeom>
          <a:noFill/>
        </p:spPr>
        <p:txBody>
          <a:bodyPr wrap="square">
            <a:noAutofit/>
          </a:bodyPr>
          <a:lstStyle/>
          <a:p>
            <a:pPr algn="l"/>
            <a:r>
              <a:rPr lang="en-US" sz="3200" b="1" dirty="0">
                <a:solidFill>
                  <a:srgbClr val="000000"/>
                </a:solidFill>
                <a:latin typeface="Calibri"/>
              </a:rPr>
              <a:t>Three goals for iteration 2</a:t>
            </a:r>
            <a:endParaRPr sz="3200" b="1" dirty="0">
              <a:solidFill>
                <a:srgbClr val="000000"/>
              </a:solidFill>
              <a:latin typeface="Calibri"/>
            </a:endParaRPr>
          </a:p>
        </p:txBody>
      </p:sp>
      <p:sp>
        <p:nvSpPr>
          <p:cNvPr id="6" name="Rounded Rectangle 5"/>
          <p:cNvSpPr/>
          <p:nvPr/>
        </p:nvSpPr>
        <p:spPr>
          <a:xfrm>
            <a:off x="457200" y="1188720"/>
            <a:ext cx="7635240" cy="1417320"/>
          </a:xfrm>
          <a:prstGeom prst="roundRect">
            <a:avLst/>
          </a:prstGeom>
          <a:solidFill>
            <a:srgbClr val="F0F0F0"/>
          </a:solidFill>
          <a:ln w="12700">
            <a:solidFill>
              <a:srgbClr val="000000"/>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7" name="TextBox 6"/>
          <p:cNvSpPr txBox="1"/>
          <p:nvPr/>
        </p:nvSpPr>
        <p:spPr>
          <a:xfrm>
            <a:off x="658368" y="1389888"/>
            <a:ext cx="5074920" cy="365760"/>
          </a:xfrm>
          <a:prstGeom prst="rect">
            <a:avLst/>
          </a:prstGeom>
          <a:noFill/>
        </p:spPr>
        <p:txBody>
          <a:bodyPr wrap="square">
            <a:noAutofit/>
          </a:bodyPr>
          <a:lstStyle/>
          <a:p>
            <a:pPr algn="l"/>
            <a:r>
              <a:rPr lang="en-AU" sz="1700" b="1">
                <a:solidFill>
                  <a:srgbClr val="000000"/>
                </a:solidFill>
                <a:latin typeface="Calibri"/>
              </a:rPr>
              <a:t>METHOD</a:t>
            </a:r>
            <a:endParaRPr sz="1700" b="1">
              <a:solidFill>
                <a:srgbClr val="000000"/>
              </a:solidFill>
              <a:latin typeface="Calibri"/>
            </a:endParaRPr>
          </a:p>
        </p:txBody>
      </p:sp>
      <p:sp>
        <p:nvSpPr>
          <p:cNvPr id="8" name="TextBox 7"/>
          <p:cNvSpPr txBox="1"/>
          <p:nvPr/>
        </p:nvSpPr>
        <p:spPr>
          <a:xfrm>
            <a:off x="658368" y="1810511"/>
            <a:ext cx="7102602" cy="698500"/>
          </a:xfrm>
          <a:prstGeom prst="rect">
            <a:avLst/>
          </a:prstGeom>
          <a:noFill/>
        </p:spPr>
        <p:txBody>
          <a:bodyPr wrap="square">
            <a:noAutofit/>
          </a:bodyPr>
          <a:lstStyle/>
          <a:p>
            <a:pPr algn="l"/>
            <a:r>
              <a:rPr lang="en-AU" sz="2500" b="1" dirty="0">
                <a:solidFill>
                  <a:srgbClr val="000000"/>
                </a:solidFill>
                <a:latin typeface="Calibri"/>
              </a:rPr>
              <a:t>Escape local optima using Simulated Annealing</a:t>
            </a:r>
            <a:endParaRPr sz="2500" b="1" dirty="0">
              <a:solidFill>
                <a:srgbClr val="000000"/>
              </a:solidFill>
              <a:latin typeface="Calibri"/>
            </a:endParaRPr>
          </a:p>
        </p:txBody>
      </p:sp>
      <p:sp>
        <p:nvSpPr>
          <p:cNvPr id="12" name="Rounded Rectangle 11"/>
          <p:cNvSpPr/>
          <p:nvPr/>
        </p:nvSpPr>
        <p:spPr>
          <a:xfrm>
            <a:off x="457200" y="2834640"/>
            <a:ext cx="11247120" cy="3520440"/>
          </a:xfrm>
          <a:prstGeom prst="roundRect">
            <a:avLst/>
          </a:prstGeom>
          <a:solidFill>
            <a:srgbClr val="FFFFFF"/>
          </a:solidFill>
          <a:ln w="12700">
            <a:solidFill>
              <a:srgbClr val="B0B0B0"/>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3" name="TextBox 12"/>
          <p:cNvSpPr txBox="1"/>
          <p:nvPr/>
        </p:nvSpPr>
        <p:spPr>
          <a:xfrm>
            <a:off x="731520" y="3063240"/>
            <a:ext cx="10698480" cy="430887"/>
          </a:xfrm>
          <a:prstGeom prst="rect">
            <a:avLst/>
          </a:prstGeom>
          <a:noFill/>
        </p:spPr>
        <p:txBody>
          <a:bodyPr wrap="square">
            <a:noAutofit/>
          </a:bodyPr>
          <a:lstStyle/>
          <a:p>
            <a:pPr algn="l"/>
            <a:r>
              <a:rPr lang="en-US" sz="2200" b="1">
                <a:solidFill>
                  <a:srgbClr val="000000"/>
                </a:solidFill>
                <a:latin typeface="Calibri"/>
              </a:rPr>
              <a:t>Scope of the completed work</a:t>
            </a:r>
            <a:endParaRPr sz="2200" b="1" dirty="0">
              <a:solidFill>
                <a:srgbClr val="000000"/>
              </a:solidFill>
              <a:latin typeface="Calibri"/>
            </a:endParaRPr>
          </a:p>
        </p:txBody>
      </p:sp>
      <p:sp>
        <p:nvSpPr>
          <p:cNvPr id="14" name="TextBox 13"/>
          <p:cNvSpPr txBox="1"/>
          <p:nvPr/>
        </p:nvSpPr>
        <p:spPr>
          <a:xfrm>
            <a:off x="742950" y="3657600"/>
            <a:ext cx="10698480" cy="1938992"/>
          </a:xfrm>
          <a:prstGeom prst="rect">
            <a:avLst/>
          </a:prstGeom>
          <a:noFill/>
        </p:spPr>
        <p:txBody>
          <a:bodyPr wrap="square">
            <a:noAutofit/>
          </a:bodyPr>
          <a:lstStyle/>
          <a:p>
            <a:pPr algn="l">
              <a:spcAft>
                <a:spcPts val="1400"/>
              </a:spcAft>
            </a:pPr>
            <a:r>
              <a:rPr lang="en-US" sz="1900" b="0" dirty="0">
                <a:solidFill>
                  <a:srgbClr val="1A1A1A"/>
                </a:solidFill>
                <a:latin typeface="Calibri"/>
              </a:rPr>
              <a:t>Can Simulated Annealing improve the tuned baseline?</a:t>
            </a:r>
          </a:p>
          <a:p>
            <a:pPr algn="l">
              <a:spcAft>
                <a:spcPts val="1400"/>
              </a:spcAft>
            </a:pPr>
            <a:r>
              <a:rPr lang="en-US" sz="1900" b="0" dirty="0">
                <a:solidFill>
                  <a:srgbClr val="1A1A1A"/>
                </a:solidFill>
                <a:latin typeface="Calibri"/>
              </a:rPr>
              <a:t>How much does the starting schedule affect the result?</a:t>
            </a:r>
          </a:p>
          <a:p>
            <a:pPr algn="l">
              <a:spcAft>
                <a:spcPts val="1400"/>
              </a:spcAft>
            </a:pPr>
            <a:r>
              <a:rPr lang="en-US" sz="1900" b="0" dirty="0">
                <a:solidFill>
                  <a:srgbClr val="1A1A1A"/>
                </a:solidFill>
                <a:latin typeface="Calibri"/>
              </a:rPr>
              <a:t>Which hyperparameters were the best for the algorithm?</a:t>
            </a:r>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Rectangle 2">
            <a:extLst>
              <a:ext uri="{FF2B5EF4-FFF2-40B4-BE49-F238E27FC236}">
                <a16:creationId xmlns:a16="http://schemas.microsoft.com/office/drawing/2014/main" id="{294DC6C8-EE33-72F7-95A1-953E9046C877}"/>
              </a:ext>
            </a:extLst>
          </p:cNvPr>
          <p:cNvSpPr/>
          <p:nvPr/>
        </p:nvSpPr>
        <p:spPr>
          <a:xfrm>
            <a:off x="0" y="0"/>
            <a:ext cx="12192000" cy="114300"/>
          </a:xfrm>
          <a:prstGeom prst="rect">
            <a:avLst/>
          </a:prstGeom>
          <a:solidFill>
            <a:srgbClr val="000000"/>
          </a:solidFill>
          <a:ln w="9525" cap="flat" cmpd="sng" algn="ctr">
            <a:noFill/>
            <a:prstDash val="solid"/>
          </a:ln>
          <a:effectLst>
            <a:outerShdw blurRad="40000" dist="23000" dir="5400000" rotWithShape="0">
              <a:srgbClr val="000000">
                <a:alpha val="35000"/>
              </a:srgbClr>
            </a:outerShdw>
          </a:effectLst>
          <a:extLst>
            <a:ext uri="{91240B29-F687-4F45-9708-019B960494DF}">
              <a14:hiddenLine xmlns:a14="http://schemas.microsoft.com/office/drawing/2010/main" w="9525" cap="flat" cmpd="sng" algn="ctr">
                <a:solidFill>
                  <a:schemeClr val="accent1">
                    <a:shade val="95000"/>
                    <a:satMod val="105000"/>
                  </a:schemeClr>
                </a:solidFill>
                <a:prstDash val="solid"/>
              </a14:hiddenLine>
            </a:ext>
          </a:ex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AU"/>
          </a:p>
        </p:txBody>
      </p:sp>
      <p:sp>
        <p:nvSpPr>
          <p:cNvPr id="2" name="Rectangle 1">
            <a:extLst>
              <a:ext uri="{FF2B5EF4-FFF2-40B4-BE49-F238E27FC236}">
                <a16:creationId xmlns:a16="http://schemas.microsoft.com/office/drawing/2014/main" id="{AAF7F6B7-D9AA-1A29-39E2-1D2D3447BDFB}"/>
              </a:ext>
            </a:extLst>
          </p:cNvPr>
          <p:cNvSpPr/>
          <p:nvPr/>
        </p:nvSpPr>
        <p:spPr>
          <a:xfrm>
            <a:off x="0" y="0"/>
            <a:ext cx="12192000" cy="6858000"/>
          </a:xfrm>
          <a:prstGeom prst="rect">
            <a:avLst/>
          </a:prstGeom>
          <a:solidFill>
            <a:srgbClr val="FFFFFF"/>
          </a:solidFill>
          <a:ln w="9525" cap="flat" cmpd="sng" algn="ctr">
            <a:noFill/>
            <a:prstDash val="solid"/>
          </a:ln>
          <a:effectLst>
            <a:outerShdw blurRad="40000" dist="23000" dir="5400000" rotWithShape="0">
              <a:srgbClr val="000000">
                <a:alpha val="35000"/>
              </a:srgbClr>
            </a:outerShdw>
          </a:effectLst>
          <a:extLst>
            <a:ext uri="{91240B29-F687-4F45-9708-019B960494DF}">
              <a14:hiddenLine xmlns:a14="http://schemas.microsoft.com/office/drawing/2010/main" w="9525" cap="flat" cmpd="sng" algn="ctr">
                <a:solidFill>
                  <a:schemeClr val="accent1">
                    <a:shade val="95000"/>
                    <a:satMod val="105000"/>
                  </a:schemeClr>
                </a:solidFill>
                <a:prstDash val="solid"/>
              </a14:hiddenLine>
            </a:ext>
          </a:ex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AU"/>
          </a:p>
        </p:txBody>
      </p:sp>
      <p:sp>
        <p:nvSpPr>
          <p:cNvPr id="4" name="TextBox 3">
            <a:extLst>
              <a:ext uri="{FF2B5EF4-FFF2-40B4-BE49-F238E27FC236}">
                <a16:creationId xmlns:a16="http://schemas.microsoft.com/office/drawing/2014/main" id="{F343D42E-5AB8-5080-D935-F249DC57DC05}"/>
              </a:ext>
            </a:extLst>
          </p:cNvPr>
          <p:cNvSpPr txBox="1"/>
          <p:nvPr/>
        </p:nvSpPr>
        <p:spPr>
          <a:xfrm>
            <a:off x="457200" y="165100"/>
            <a:ext cx="11176000" cy="353943"/>
          </a:xfrm>
          <a:prstGeom prst="rect">
            <a:avLst/>
          </a:prstGeom>
          <a:noFill/>
        </p:spPr>
        <p:txBody>
          <a:bodyPr vert="horz" rtlCol="0">
            <a:spAutoFit/>
          </a:bodyPr>
          <a:lstStyle/>
          <a:p>
            <a:r>
              <a:rPr lang="en-AU" sz="1700" b="1">
                <a:solidFill>
                  <a:srgbClr val="000000"/>
                </a:solidFill>
                <a:latin typeface="Calibri" panose="020F0502020204030204" pitchFamily="34" charset="0"/>
              </a:rPr>
              <a:t>SIMULATED ANNEALING</a:t>
            </a:r>
          </a:p>
        </p:txBody>
      </p:sp>
      <p:sp>
        <p:nvSpPr>
          <p:cNvPr id="5" name="TextBox 4">
            <a:extLst>
              <a:ext uri="{FF2B5EF4-FFF2-40B4-BE49-F238E27FC236}">
                <a16:creationId xmlns:a16="http://schemas.microsoft.com/office/drawing/2014/main" id="{0608A97F-A4AD-824E-1349-58727E4A223A}"/>
              </a:ext>
            </a:extLst>
          </p:cNvPr>
          <p:cNvSpPr txBox="1"/>
          <p:nvPr/>
        </p:nvSpPr>
        <p:spPr>
          <a:xfrm>
            <a:off x="457200" y="406400"/>
            <a:ext cx="11303000" cy="646331"/>
          </a:xfrm>
          <a:prstGeom prst="rect">
            <a:avLst/>
          </a:prstGeom>
          <a:noFill/>
        </p:spPr>
        <p:txBody>
          <a:bodyPr vert="horz" rtlCol="0">
            <a:spAutoFit/>
          </a:bodyPr>
          <a:lstStyle/>
          <a:p>
            <a:r>
              <a:rPr lang="en-US" sz="3600" b="1" dirty="0">
                <a:solidFill>
                  <a:srgbClr val="000000"/>
                </a:solidFill>
                <a:latin typeface="Calibri" panose="020F0502020204030204" pitchFamily="34" charset="0"/>
              </a:rPr>
              <a:t>What simulated annealing is </a:t>
            </a:r>
            <a:endParaRPr lang="en-AU" sz="3600" b="1" dirty="0">
              <a:solidFill>
                <a:srgbClr val="000000"/>
              </a:solidFill>
              <a:latin typeface="Calibri" panose="020F0502020204030204" pitchFamily="34" charset="0"/>
            </a:endParaRPr>
          </a:p>
        </p:txBody>
      </p:sp>
      <p:sp>
        <p:nvSpPr>
          <p:cNvPr id="6" name="Rectangle: Rounded Corners 5">
            <a:extLst>
              <a:ext uri="{FF2B5EF4-FFF2-40B4-BE49-F238E27FC236}">
                <a16:creationId xmlns:a16="http://schemas.microsoft.com/office/drawing/2014/main" id="{7C218566-5204-FD9B-68B7-82FF2C629F19}"/>
              </a:ext>
            </a:extLst>
          </p:cNvPr>
          <p:cNvSpPr/>
          <p:nvPr/>
        </p:nvSpPr>
        <p:spPr>
          <a:xfrm>
            <a:off x="457200" y="1206500"/>
            <a:ext cx="3619500" cy="1905000"/>
          </a:xfrm>
          <a:prstGeom prst="roundRect">
            <a:avLst/>
          </a:prstGeom>
          <a:solidFill>
            <a:srgbClr val="F0F0F0"/>
          </a:solidFill>
          <a:ln w="12700">
            <a:solidFill>
              <a:srgbClr val="B0B0B0"/>
            </a:solidFill>
          </a:ln>
        </p:spPr>
        <p:style>
          <a:lnRef idx="1">
            <a:schemeClr val="accent1"/>
          </a:lnRef>
          <a:fillRef idx="3">
            <a:schemeClr val="accent1"/>
          </a:fillRef>
          <a:effectRef idx="2">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endParaRPr lang="en-AU"/>
          </a:p>
        </p:txBody>
      </p:sp>
      <p:sp>
        <p:nvSpPr>
          <p:cNvPr id="7" name="Rectangle: Rounded Corners 6">
            <a:extLst>
              <a:ext uri="{FF2B5EF4-FFF2-40B4-BE49-F238E27FC236}">
                <a16:creationId xmlns:a16="http://schemas.microsoft.com/office/drawing/2014/main" id="{5D730056-2EAC-D3A6-ADEB-76C560F98819}"/>
              </a:ext>
            </a:extLst>
          </p:cNvPr>
          <p:cNvSpPr/>
          <p:nvPr/>
        </p:nvSpPr>
        <p:spPr>
          <a:xfrm>
            <a:off x="4292600" y="1206500"/>
            <a:ext cx="3619500" cy="1905000"/>
          </a:xfrm>
          <a:prstGeom prst="roundRect">
            <a:avLst/>
          </a:prstGeom>
          <a:solidFill>
            <a:srgbClr val="F0F0F0"/>
          </a:solidFill>
          <a:ln w="12700">
            <a:solidFill>
              <a:srgbClr val="B0B0B0"/>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lang="en-AU"/>
          </a:p>
        </p:txBody>
      </p:sp>
      <p:sp>
        <p:nvSpPr>
          <p:cNvPr id="8" name="Rectangle: Rounded Corners 7">
            <a:extLst>
              <a:ext uri="{FF2B5EF4-FFF2-40B4-BE49-F238E27FC236}">
                <a16:creationId xmlns:a16="http://schemas.microsoft.com/office/drawing/2014/main" id="{7C77D632-801B-BCDB-30F2-DDC63601BFEB}"/>
              </a:ext>
            </a:extLst>
          </p:cNvPr>
          <p:cNvSpPr/>
          <p:nvPr/>
        </p:nvSpPr>
        <p:spPr>
          <a:xfrm>
            <a:off x="8128000" y="1206500"/>
            <a:ext cx="3619500" cy="1905000"/>
          </a:xfrm>
          <a:prstGeom prst="roundRect">
            <a:avLst/>
          </a:prstGeom>
          <a:solidFill>
            <a:srgbClr val="F0F0F0"/>
          </a:solidFill>
          <a:ln w="12700">
            <a:solidFill>
              <a:srgbClr val="B0B0B0"/>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lang="en-AU"/>
          </a:p>
        </p:txBody>
      </p:sp>
      <p:sp>
        <p:nvSpPr>
          <p:cNvPr id="9" name="TextBox 8">
            <a:extLst>
              <a:ext uri="{FF2B5EF4-FFF2-40B4-BE49-F238E27FC236}">
                <a16:creationId xmlns:a16="http://schemas.microsoft.com/office/drawing/2014/main" id="{6C3F0705-6F17-595E-C80C-D05976A44CE0}"/>
              </a:ext>
            </a:extLst>
          </p:cNvPr>
          <p:cNvSpPr txBox="1"/>
          <p:nvPr/>
        </p:nvSpPr>
        <p:spPr>
          <a:xfrm>
            <a:off x="660400" y="1397000"/>
            <a:ext cx="3238500" cy="400110"/>
          </a:xfrm>
          <a:prstGeom prst="rect">
            <a:avLst/>
          </a:prstGeom>
          <a:noFill/>
        </p:spPr>
        <p:txBody>
          <a:bodyPr vert="horz" rtlCol="0">
            <a:spAutoFit/>
          </a:bodyPr>
          <a:lstStyle/>
          <a:p>
            <a:r>
              <a:rPr lang="en-AU" sz="2000" b="1">
                <a:solidFill>
                  <a:srgbClr val="000000"/>
                </a:solidFill>
              </a:rPr>
              <a:t>1 · Search</a:t>
            </a:r>
          </a:p>
        </p:txBody>
      </p:sp>
      <p:sp>
        <p:nvSpPr>
          <p:cNvPr id="10" name="TextBox 9">
            <a:extLst>
              <a:ext uri="{FF2B5EF4-FFF2-40B4-BE49-F238E27FC236}">
                <a16:creationId xmlns:a16="http://schemas.microsoft.com/office/drawing/2014/main" id="{73CF10A2-CF9E-0A7C-E5FD-1F5527E2E124}"/>
              </a:ext>
            </a:extLst>
          </p:cNvPr>
          <p:cNvSpPr txBox="1"/>
          <p:nvPr/>
        </p:nvSpPr>
        <p:spPr>
          <a:xfrm>
            <a:off x="660400" y="1841500"/>
            <a:ext cx="3238500" cy="584775"/>
          </a:xfrm>
          <a:prstGeom prst="rect">
            <a:avLst/>
          </a:prstGeom>
          <a:noFill/>
        </p:spPr>
        <p:txBody>
          <a:bodyPr vert="horz" rtlCol="0">
            <a:spAutoFit/>
          </a:bodyPr>
          <a:lstStyle/>
          <a:p>
            <a:r>
              <a:rPr lang="en-US" sz="1600" dirty="0">
                <a:solidFill>
                  <a:srgbClr val="111111"/>
                </a:solidFill>
                <a:latin typeface="Calibri" panose="020F0502020204030204" pitchFamily="34" charset="0"/>
              </a:rPr>
              <a:t>Same priority-based selection </a:t>
            </a:r>
            <a:r>
              <a:rPr lang="en-US" sz="1600" dirty="0" err="1">
                <a:solidFill>
                  <a:srgbClr val="111111"/>
                </a:solidFill>
                <a:latin typeface="Calibri" panose="020F0502020204030204" pitchFamily="34" charset="0"/>
              </a:rPr>
              <a:t>neighbour</a:t>
            </a:r>
            <a:r>
              <a:rPr lang="en-US" sz="1600" dirty="0">
                <a:solidFill>
                  <a:srgbClr val="111111"/>
                </a:solidFill>
                <a:latin typeface="Calibri" panose="020F0502020204030204" pitchFamily="34" charset="0"/>
              </a:rPr>
              <a:t> search algorithm</a:t>
            </a:r>
            <a:endParaRPr lang="en-AU" sz="1600" dirty="0">
              <a:solidFill>
                <a:srgbClr val="111111"/>
              </a:solidFill>
              <a:latin typeface="Calibri" panose="020F0502020204030204" pitchFamily="34" charset="0"/>
            </a:endParaRPr>
          </a:p>
        </p:txBody>
      </p:sp>
      <p:sp>
        <p:nvSpPr>
          <p:cNvPr id="11" name="TextBox 10">
            <a:extLst>
              <a:ext uri="{FF2B5EF4-FFF2-40B4-BE49-F238E27FC236}">
                <a16:creationId xmlns:a16="http://schemas.microsoft.com/office/drawing/2014/main" id="{CEFAAB5C-4D53-FE1B-6D43-8EA22402B17E}"/>
              </a:ext>
            </a:extLst>
          </p:cNvPr>
          <p:cNvSpPr txBox="1"/>
          <p:nvPr/>
        </p:nvSpPr>
        <p:spPr>
          <a:xfrm>
            <a:off x="4495800" y="1397000"/>
            <a:ext cx="3238500" cy="400110"/>
          </a:xfrm>
          <a:prstGeom prst="rect">
            <a:avLst/>
          </a:prstGeom>
          <a:noFill/>
        </p:spPr>
        <p:txBody>
          <a:bodyPr vert="horz" rtlCol="0">
            <a:spAutoFit/>
          </a:bodyPr>
          <a:lstStyle/>
          <a:p>
            <a:r>
              <a:rPr lang="en-AU" sz="2000" b="1">
                <a:solidFill>
                  <a:srgbClr val="000000"/>
                </a:solidFill>
              </a:rPr>
              <a:t>2 · Accept</a:t>
            </a:r>
          </a:p>
        </p:txBody>
      </p:sp>
      <p:sp>
        <p:nvSpPr>
          <p:cNvPr id="12" name="TextBox 11">
            <a:extLst>
              <a:ext uri="{FF2B5EF4-FFF2-40B4-BE49-F238E27FC236}">
                <a16:creationId xmlns:a16="http://schemas.microsoft.com/office/drawing/2014/main" id="{3194C2E4-2FF9-3CAF-0AD9-C09BB003A385}"/>
              </a:ext>
            </a:extLst>
          </p:cNvPr>
          <p:cNvSpPr txBox="1"/>
          <p:nvPr/>
        </p:nvSpPr>
        <p:spPr>
          <a:xfrm>
            <a:off x="4495800" y="1841500"/>
            <a:ext cx="3238500" cy="830997"/>
          </a:xfrm>
          <a:prstGeom prst="rect">
            <a:avLst/>
          </a:prstGeom>
          <a:noFill/>
        </p:spPr>
        <p:txBody>
          <a:bodyPr vert="horz" rtlCol="0">
            <a:spAutoFit/>
          </a:bodyPr>
          <a:lstStyle/>
          <a:p>
            <a:r>
              <a:rPr lang="en-US" sz="1600">
                <a:solidFill>
                  <a:srgbClr val="1A1A1A"/>
                </a:solidFill>
              </a:rPr>
              <a:t>Better moves are always kept. Worse moves can still be kept early on, by chance.</a:t>
            </a:r>
            <a:endParaRPr lang="en-AU" sz="1600">
              <a:solidFill>
                <a:srgbClr val="1A1A1A"/>
              </a:solidFill>
            </a:endParaRPr>
          </a:p>
        </p:txBody>
      </p:sp>
      <p:sp>
        <p:nvSpPr>
          <p:cNvPr id="13" name="TextBox 12">
            <a:extLst>
              <a:ext uri="{FF2B5EF4-FFF2-40B4-BE49-F238E27FC236}">
                <a16:creationId xmlns:a16="http://schemas.microsoft.com/office/drawing/2014/main" id="{2C7F5FBD-3DB9-430C-0F4A-33620E8A1574}"/>
              </a:ext>
            </a:extLst>
          </p:cNvPr>
          <p:cNvSpPr txBox="1"/>
          <p:nvPr/>
        </p:nvSpPr>
        <p:spPr>
          <a:xfrm>
            <a:off x="8331200" y="1397000"/>
            <a:ext cx="3238500" cy="400110"/>
          </a:xfrm>
          <a:prstGeom prst="rect">
            <a:avLst/>
          </a:prstGeom>
          <a:noFill/>
        </p:spPr>
        <p:txBody>
          <a:bodyPr vert="horz" rtlCol="0">
            <a:spAutoFit/>
          </a:bodyPr>
          <a:lstStyle/>
          <a:p>
            <a:r>
              <a:rPr lang="en-AU" sz="2000" b="1">
                <a:solidFill>
                  <a:srgbClr val="000000"/>
                </a:solidFill>
              </a:rPr>
              <a:t>3 · Cool down</a:t>
            </a:r>
          </a:p>
        </p:txBody>
      </p:sp>
      <p:sp>
        <p:nvSpPr>
          <p:cNvPr id="14" name="TextBox 13">
            <a:extLst>
              <a:ext uri="{FF2B5EF4-FFF2-40B4-BE49-F238E27FC236}">
                <a16:creationId xmlns:a16="http://schemas.microsoft.com/office/drawing/2014/main" id="{90C7B489-F8AA-CCCA-B194-C2DE18317B9B}"/>
              </a:ext>
            </a:extLst>
          </p:cNvPr>
          <p:cNvSpPr txBox="1"/>
          <p:nvPr/>
        </p:nvSpPr>
        <p:spPr>
          <a:xfrm>
            <a:off x="8331200" y="1841500"/>
            <a:ext cx="3238500" cy="830997"/>
          </a:xfrm>
          <a:prstGeom prst="rect">
            <a:avLst/>
          </a:prstGeom>
          <a:noFill/>
        </p:spPr>
        <p:txBody>
          <a:bodyPr vert="horz" rtlCol="0">
            <a:spAutoFit/>
          </a:bodyPr>
          <a:lstStyle/>
          <a:p>
            <a:r>
              <a:rPr lang="en-US" sz="1600">
                <a:solidFill>
                  <a:srgbClr val="1A1A1A"/>
                </a:solidFill>
              </a:rPr>
              <a:t>Over time we accept fewer worse moves, so the search settles on a strong plan.</a:t>
            </a:r>
            <a:endParaRPr lang="en-AU" sz="1600">
              <a:solidFill>
                <a:srgbClr val="1A1A1A"/>
              </a:solidFill>
            </a:endParaRPr>
          </a:p>
        </p:txBody>
      </p:sp>
      <p:sp>
        <p:nvSpPr>
          <p:cNvPr id="15" name="Rectangle: Rounded Corners 14">
            <a:extLst>
              <a:ext uri="{FF2B5EF4-FFF2-40B4-BE49-F238E27FC236}">
                <a16:creationId xmlns:a16="http://schemas.microsoft.com/office/drawing/2014/main" id="{1399B483-487F-7054-3978-97E8125E47D5}"/>
              </a:ext>
            </a:extLst>
          </p:cNvPr>
          <p:cNvSpPr/>
          <p:nvPr/>
        </p:nvSpPr>
        <p:spPr>
          <a:xfrm>
            <a:off x="457200" y="3365500"/>
            <a:ext cx="11303000" cy="3048000"/>
          </a:xfrm>
          <a:prstGeom prst="roundRect">
            <a:avLst/>
          </a:prstGeom>
          <a:solidFill>
            <a:srgbClr val="FFFFFF"/>
          </a:solidFill>
          <a:ln w="12700">
            <a:solidFill>
              <a:srgbClr val="000000"/>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lang="en-AU"/>
          </a:p>
        </p:txBody>
      </p:sp>
      <p:sp>
        <p:nvSpPr>
          <p:cNvPr id="16" name="TextBox 15">
            <a:extLst>
              <a:ext uri="{FF2B5EF4-FFF2-40B4-BE49-F238E27FC236}">
                <a16:creationId xmlns:a16="http://schemas.microsoft.com/office/drawing/2014/main" id="{978452C5-DE8E-5059-B6B3-9200A878AE2C}"/>
              </a:ext>
            </a:extLst>
          </p:cNvPr>
          <p:cNvSpPr txBox="1"/>
          <p:nvPr/>
        </p:nvSpPr>
        <p:spPr>
          <a:xfrm>
            <a:off x="698500" y="3556000"/>
            <a:ext cx="10795000" cy="430887"/>
          </a:xfrm>
          <a:prstGeom prst="rect">
            <a:avLst/>
          </a:prstGeom>
          <a:noFill/>
        </p:spPr>
        <p:txBody>
          <a:bodyPr vert="horz" rtlCol="0">
            <a:spAutoFit/>
          </a:bodyPr>
          <a:lstStyle/>
          <a:p>
            <a:r>
              <a:rPr lang="en-AU" sz="2200" b="1">
                <a:solidFill>
                  <a:srgbClr val="000000"/>
                </a:solidFill>
              </a:rPr>
              <a:t>Why it helps</a:t>
            </a:r>
          </a:p>
        </p:txBody>
      </p:sp>
      <p:sp>
        <p:nvSpPr>
          <p:cNvPr id="17" name="TextBox 16">
            <a:extLst>
              <a:ext uri="{FF2B5EF4-FFF2-40B4-BE49-F238E27FC236}">
                <a16:creationId xmlns:a16="http://schemas.microsoft.com/office/drawing/2014/main" id="{1318B08F-FA4A-8008-3678-314F14A422BD}"/>
              </a:ext>
            </a:extLst>
          </p:cNvPr>
          <p:cNvSpPr txBox="1"/>
          <p:nvPr/>
        </p:nvSpPr>
        <p:spPr>
          <a:xfrm>
            <a:off x="698500" y="4064000"/>
            <a:ext cx="10795000" cy="1477328"/>
          </a:xfrm>
          <a:prstGeom prst="rect">
            <a:avLst/>
          </a:prstGeom>
          <a:noFill/>
        </p:spPr>
        <p:txBody>
          <a:bodyPr vert="horz" rtlCol="0">
            <a:spAutoFit/>
          </a:bodyPr>
          <a:lstStyle/>
          <a:p>
            <a:r>
              <a:rPr lang="en-US" dirty="0">
                <a:solidFill>
                  <a:srgbClr val="1A1A1A"/>
                </a:solidFill>
              </a:rPr>
              <a:t>Think of the search like walking over hills. Today’s method only walks uphill. That is fast and safe, but you can get stuck on a steep part of the hill when a better peak is nearby.</a:t>
            </a:r>
          </a:p>
          <a:p>
            <a:endParaRPr lang="en-US" dirty="0">
              <a:solidFill>
                <a:srgbClr val="1A1A1A"/>
              </a:solidFill>
            </a:endParaRPr>
          </a:p>
          <a:p>
            <a:r>
              <a:rPr lang="en-US" dirty="0">
                <a:solidFill>
                  <a:srgbClr val="1A1A1A"/>
                </a:solidFill>
              </a:rPr>
              <a:t>Simulated annealing sometimes takes a downhill step early, so you can leave a trap and reach a better overall schedule. As the search “cools,” those downhill steps become rare, and we settle on the best plan we found.</a:t>
            </a:r>
            <a:endParaRPr lang="en-AU" dirty="0">
              <a:solidFill>
                <a:srgbClr val="1A1A1A"/>
              </a:solidFill>
            </a:endParaRPr>
          </a:p>
        </p:txBody>
      </p:sp>
    </p:spTree>
    <p:extLst>
      <p:ext uri="{BB962C8B-B14F-4D97-AF65-F5344CB8AC3E}">
        <p14:creationId xmlns:p14="http://schemas.microsoft.com/office/powerpoint/2010/main" val="916217653"/>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Rectangle 2"/>
          <p:cNvSpPr/>
          <p:nvPr/>
        </p:nvSpPr>
        <p:spPr>
          <a:xfrm>
            <a:off x="0" y="0"/>
            <a:ext cx="12191695" cy="109728"/>
          </a:xfrm>
          <a:prstGeom prst="rect">
            <a:avLst/>
          </a:prstGeom>
          <a:solidFill>
            <a:srgbClr val="00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 name="TextBox 3"/>
          <p:cNvSpPr txBox="1"/>
          <p:nvPr/>
        </p:nvSpPr>
        <p:spPr>
          <a:xfrm>
            <a:off x="457200" y="165100"/>
            <a:ext cx="11277600" cy="317500"/>
          </a:xfrm>
          <a:prstGeom prst="rect">
            <a:avLst/>
          </a:prstGeom>
          <a:noFill/>
        </p:spPr>
        <p:txBody>
          <a:bodyPr wrap="square">
            <a:noAutofit/>
          </a:bodyPr>
          <a:lstStyle/>
          <a:p>
            <a:pPr algn="l"/>
            <a:r>
              <a:rPr lang="en-AU" sz="1500" b="1">
                <a:solidFill>
                  <a:srgbClr val="000000"/>
                </a:solidFill>
                <a:latin typeface="Calibri"/>
              </a:rPr>
              <a:t>METHOD COMPARISON</a:t>
            </a:r>
            <a:endParaRPr sz="1500" b="1">
              <a:solidFill>
                <a:srgbClr val="000000"/>
              </a:solidFill>
              <a:latin typeface="Calibri"/>
            </a:endParaRPr>
          </a:p>
        </p:txBody>
      </p:sp>
      <p:sp>
        <p:nvSpPr>
          <p:cNvPr id="5" name="TextBox 4"/>
          <p:cNvSpPr txBox="1"/>
          <p:nvPr/>
        </p:nvSpPr>
        <p:spPr>
          <a:xfrm>
            <a:off x="457200" y="533400"/>
            <a:ext cx="11277600" cy="660400"/>
          </a:xfrm>
          <a:prstGeom prst="rect">
            <a:avLst/>
          </a:prstGeom>
          <a:noFill/>
        </p:spPr>
        <p:txBody>
          <a:bodyPr wrap="square">
            <a:noAutofit/>
          </a:bodyPr>
          <a:lstStyle/>
          <a:p>
            <a:pPr algn="l"/>
            <a:r>
              <a:rPr lang="en-US" sz="3200" b="1">
                <a:solidFill>
                  <a:srgbClr val="000000"/>
                </a:solidFill>
                <a:latin typeface="Calibri"/>
              </a:rPr>
              <a:t>Simulated Annealing did not meet the keep rule</a:t>
            </a:r>
            <a:endParaRPr sz="3200" b="1">
              <a:solidFill>
                <a:srgbClr val="000000"/>
              </a:solidFill>
              <a:latin typeface="Calibri"/>
            </a:endParaRPr>
          </a:p>
        </p:txBody>
      </p:sp>
      <p:graphicFrame>
        <p:nvGraphicFramePr>
          <p:cNvPr id="15" name="Method results">
            <a:extLst>
              <a:ext uri="{FF2B5EF4-FFF2-40B4-BE49-F238E27FC236}">
                <a16:creationId xmlns:a16="http://schemas.microsoft.com/office/drawing/2014/main" id="{CD681E3F-FD85-D410-57D3-F3F256E76129}"/>
              </a:ext>
            </a:extLst>
          </p:cNvPr>
          <p:cNvGraphicFramePr>
            <a:graphicFrameLocks noGrp="1"/>
          </p:cNvGraphicFramePr>
          <p:nvPr>
            <p:extLst>
              <p:ext uri="{D42A27DB-BD31-4B8C-83A1-F6EECF244321}">
                <p14:modId xmlns:p14="http://schemas.microsoft.com/office/powerpoint/2010/main" val="4074172747"/>
              </p:ext>
            </p:extLst>
          </p:nvPr>
        </p:nvGraphicFramePr>
        <p:xfrm>
          <a:off x="457200" y="1727200"/>
          <a:ext cx="11277600" cy="2821940"/>
        </p:xfrm>
        <a:graphic>
          <a:graphicData uri="http://schemas.openxmlformats.org/drawingml/2006/table">
            <a:tbl>
              <a:tblPr firstRow="1" bandRow="1">
                <a:tableStyleId>{5C22544A-7EE6-4342-B048-85BDC9FD1C3A}</a:tableStyleId>
              </a:tblPr>
              <a:tblGrid>
                <a:gridCol w="4318000">
                  <a:extLst>
                    <a:ext uri="{9D8B030D-6E8A-4147-A177-3AD203B41FA5}">
                      <a16:colId xmlns:a16="http://schemas.microsoft.com/office/drawing/2014/main" val="3404174873"/>
                    </a:ext>
                  </a:extLst>
                </a:gridCol>
                <a:gridCol w="1778000">
                  <a:extLst>
                    <a:ext uri="{9D8B030D-6E8A-4147-A177-3AD203B41FA5}">
                      <a16:colId xmlns:a16="http://schemas.microsoft.com/office/drawing/2014/main" val="275785731"/>
                    </a:ext>
                  </a:extLst>
                </a:gridCol>
                <a:gridCol w="2590800">
                  <a:extLst>
                    <a:ext uri="{9D8B030D-6E8A-4147-A177-3AD203B41FA5}">
                      <a16:colId xmlns:a16="http://schemas.microsoft.com/office/drawing/2014/main" val="815515899"/>
                    </a:ext>
                  </a:extLst>
                </a:gridCol>
                <a:gridCol w="2590800">
                  <a:extLst>
                    <a:ext uri="{9D8B030D-6E8A-4147-A177-3AD203B41FA5}">
                      <a16:colId xmlns:a16="http://schemas.microsoft.com/office/drawing/2014/main" val="4253128408"/>
                    </a:ext>
                  </a:extLst>
                </a:gridCol>
              </a:tblGrid>
              <a:tr h="698500">
                <a:tc>
                  <a:txBody>
                    <a:bodyPr/>
                    <a:lstStyle/>
                    <a:p>
                      <a:pPr>
                        <a:buFontTx/>
                        <a:buNone/>
                      </a:pPr>
                      <a:r>
                        <a:rPr lang="en-AU" sz="1600" b="1">
                          <a:solidFill>
                            <a:srgbClr val="FFFFFF"/>
                          </a:solidFill>
                          <a:latin typeface="Calibri" panose="020F0502020204030204" pitchFamily="34" charset="0"/>
                        </a:rPr>
                        <a:t>Method</a:t>
                      </a:r>
                    </a:p>
                  </a:txBody>
                  <a:tcPr marL="127000" marR="88900" marT="88900" marB="88900" anchor="ctr">
                    <a:lnL w="6350" cmpd="sng">
                      <a:solidFill>
                        <a:srgbClr val="B0B0B0"/>
                      </a:solidFill>
                    </a:lnL>
                    <a:lnR w="6350" cmpd="sng">
                      <a:solidFill>
                        <a:srgbClr val="B0B0B0"/>
                      </a:solidFill>
                    </a:lnR>
                    <a:lnT w="6350" cmpd="sng">
                      <a:solidFill>
                        <a:srgbClr val="B0B0B0"/>
                      </a:solidFill>
                    </a:lnT>
                    <a:lnB w="6350" cmpd="sng">
                      <a:solidFill>
                        <a:srgbClr val="B0B0B0"/>
                      </a:solidFill>
                    </a:lnB>
                    <a:solidFill>
                      <a:srgbClr val="000000"/>
                    </a:solidFill>
                  </a:tcPr>
                </a:tc>
                <a:tc>
                  <a:txBody>
                    <a:bodyPr/>
                    <a:lstStyle/>
                    <a:p>
                      <a:pPr>
                        <a:buFontTx/>
                        <a:buNone/>
                      </a:pPr>
                      <a:r>
                        <a:rPr lang="en-AU" sz="1600" b="1">
                          <a:solidFill>
                            <a:srgbClr val="FFFFFF"/>
                          </a:solidFill>
                          <a:latin typeface="Calibri" panose="020F0502020204030204" pitchFamily="34" charset="0"/>
                        </a:rPr>
                        <a:t>Worst day</a:t>
                      </a:r>
                    </a:p>
                  </a:txBody>
                  <a:tcPr marL="127000" marR="88900" marT="88900" marB="88900" anchor="ctr">
                    <a:lnL w="6350" cmpd="sng">
                      <a:solidFill>
                        <a:srgbClr val="B0B0B0"/>
                      </a:solidFill>
                    </a:lnL>
                    <a:lnR w="6350" cmpd="sng">
                      <a:solidFill>
                        <a:srgbClr val="B0B0B0"/>
                      </a:solidFill>
                    </a:lnR>
                    <a:lnT w="6350" cmpd="sng">
                      <a:solidFill>
                        <a:srgbClr val="B0B0B0"/>
                      </a:solidFill>
                    </a:lnT>
                    <a:lnB w="6350" cmpd="sng">
                      <a:solidFill>
                        <a:srgbClr val="B0B0B0"/>
                      </a:solidFill>
                    </a:lnB>
                    <a:solidFill>
                      <a:srgbClr val="000000"/>
                    </a:solidFill>
                  </a:tcPr>
                </a:tc>
                <a:tc>
                  <a:txBody>
                    <a:bodyPr/>
                    <a:lstStyle/>
                    <a:p>
                      <a:pPr>
                        <a:buFontTx/>
                        <a:buNone/>
                      </a:pPr>
                      <a:r>
                        <a:rPr lang="en-AU" sz="1600" b="1">
                          <a:solidFill>
                            <a:srgbClr val="FFFFFF"/>
                          </a:solidFill>
                          <a:latin typeface="Calibri" panose="020F0502020204030204" pitchFamily="34" charset="0"/>
                        </a:rPr>
                        <a:t>Std deviation</a:t>
                      </a:r>
                    </a:p>
                  </a:txBody>
                  <a:tcPr marL="127000" marR="88900" marT="88900" marB="88900" anchor="ctr">
                    <a:lnL w="6350" cmpd="sng">
                      <a:solidFill>
                        <a:srgbClr val="B0B0B0"/>
                      </a:solidFill>
                    </a:lnL>
                    <a:lnR w="6350" cmpd="sng">
                      <a:solidFill>
                        <a:srgbClr val="B0B0B0"/>
                      </a:solidFill>
                    </a:lnR>
                    <a:lnT w="6350" cmpd="sng">
                      <a:solidFill>
                        <a:srgbClr val="B0B0B0"/>
                      </a:solidFill>
                    </a:lnT>
                    <a:lnB w="6350" cmpd="sng">
                      <a:solidFill>
                        <a:srgbClr val="B0B0B0"/>
                      </a:solidFill>
                    </a:lnB>
                    <a:solidFill>
                      <a:srgbClr val="000000"/>
                    </a:solidFill>
                  </a:tcPr>
                </a:tc>
                <a:tc>
                  <a:txBody>
                    <a:bodyPr/>
                    <a:lstStyle/>
                    <a:p>
                      <a:pPr>
                        <a:buFontTx/>
                        <a:buNone/>
                      </a:pPr>
                      <a:r>
                        <a:rPr lang="en-AU" sz="1600" b="1">
                          <a:solidFill>
                            <a:srgbClr val="FFFFFF"/>
                          </a:solidFill>
                          <a:latin typeface="Calibri" panose="020F0502020204030204" pitchFamily="34" charset="0"/>
                        </a:rPr>
                        <a:t>Runtime</a:t>
                      </a:r>
                    </a:p>
                  </a:txBody>
                  <a:tcPr marL="127000" marR="88900" marT="88900" marB="88900" anchor="ctr">
                    <a:lnL w="6350" cmpd="sng">
                      <a:solidFill>
                        <a:srgbClr val="B0B0B0"/>
                      </a:solidFill>
                    </a:lnL>
                    <a:lnR w="6350" cmpd="sng">
                      <a:solidFill>
                        <a:srgbClr val="B0B0B0"/>
                      </a:solidFill>
                    </a:lnR>
                    <a:lnT w="6350" cmpd="sng">
                      <a:solidFill>
                        <a:srgbClr val="B0B0B0"/>
                      </a:solidFill>
                    </a:lnT>
                    <a:lnB w="6350" cmpd="sng">
                      <a:solidFill>
                        <a:srgbClr val="B0B0B0"/>
                      </a:solidFill>
                    </a:lnB>
                    <a:solidFill>
                      <a:srgbClr val="000000"/>
                    </a:solidFill>
                  </a:tcPr>
                </a:tc>
                <a:extLst>
                  <a:ext uri="{0D108BD9-81ED-4DB2-BD59-A6C34878D82A}">
                    <a16:rowId xmlns:a16="http://schemas.microsoft.com/office/drawing/2014/main" val="2124153373"/>
                  </a:ext>
                </a:extLst>
              </a:tr>
              <a:tr h="698500">
                <a:tc>
                  <a:txBody>
                    <a:bodyPr/>
                    <a:lstStyle/>
                    <a:p>
                      <a:pPr>
                        <a:buFontTx/>
                        <a:buNone/>
                      </a:pPr>
                      <a:r>
                        <a:rPr lang="en-US" sz="1800" b="0" dirty="0">
                          <a:solidFill>
                            <a:srgbClr val="000000"/>
                          </a:solidFill>
                          <a:latin typeface="Calibri" panose="020F0502020204030204" pitchFamily="34" charset="0"/>
                        </a:rPr>
                        <a:t>Tuned Priority Based</a:t>
                      </a:r>
                    </a:p>
                    <a:p>
                      <a:pPr>
                        <a:buFontTx/>
                        <a:buNone/>
                      </a:pPr>
                      <a:r>
                        <a:rPr lang="en-US" sz="1800" b="0" dirty="0">
                          <a:solidFill>
                            <a:srgbClr val="000000"/>
                          </a:solidFill>
                          <a:latin typeface="Calibri" panose="020F0502020204030204" pitchFamily="34" charset="0"/>
                        </a:rPr>
                        <a:t>Selection with VNS</a:t>
                      </a:r>
                      <a:endParaRPr lang="en-AU" sz="1800" b="0" dirty="0">
                        <a:solidFill>
                          <a:srgbClr val="000000"/>
                        </a:solidFill>
                        <a:latin typeface="Calibri" panose="020F0502020204030204" pitchFamily="34" charset="0"/>
                      </a:endParaRPr>
                    </a:p>
                  </a:txBody>
                  <a:tcPr marL="127000" marR="88900" marT="88900" marB="88900" anchor="ctr">
                    <a:lnL w="6350" cmpd="sng">
                      <a:solidFill>
                        <a:srgbClr val="B0B0B0"/>
                      </a:solidFill>
                    </a:lnL>
                    <a:lnR w="6350" cmpd="sng">
                      <a:solidFill>
                        <a:srgbClr val="B0B0B0"/>
                      </a:solidFill>
                    </a:lnR>
                    <a:lnT w="6350" cmpd="sng">
                      <a:solidFill>
                        <a:srgbClr val="B0B0B0"/>
                      </a:solidFill>
                    </a:lnT>
                    <a:lnB w="6350" cmpd="sng">
                      <a:solidFill>
                        <a:srgbClr val="B0B0B0"/>
                      </a:solidFill>
                    </a:lnB>
                    <a:solidFill>
                      <a:srgbClr val="F0F0F0"/>
                    </a:solidFill>
                  </a:tcPr>
                </a:tc>
                <a:tc>
                  <a:txBody>
                    <a:bodyPr/>
                    <a:lstStyle/>
                    <a:p>
                      <a:pPr>
                        <a:buFontTx/>
                        <a:buNone/>
                      </a:pPr>
                      <a:r>
                        <a:rPr lang="en-AU" sz="2000" b="0">
                          <a:solidFill>
                            <a:srgbClr val="000000"/>
                          </a:solidFill>
                          <a:latin typeface="Calibri" panose="020F0502020204030204" pitchFamily="34" charset="0"/>
                        </a:rPr>
                        <a:t>18</a:t>
                      </a:r>
                    </a:p>
                  </a:txBody>
                  <a:tcPr marL="127000" marR="88900" marT="88900" marB="88900" anchor="ctr">
                    <a:lnL w="6350" cmpd="sng">
                      <a:solidFill>
                        <a:srgbClr val="B0B0B0"/>
                      </a:solidFill>
                    </a:lnL>
                    <a:lnR w="6350" cmpd="sng">
                      <a:solidFill>
                        <a:srgbClr val="B0B0B0"/>
                      </a:solidFill>
                    </a:lnR>
                    <a:lnT w="6350" cmpd="sng">
                      <a:solidFill>
                        <a:srgbClr val="B0B0B0"/>
                      </a:solidFill>
                    </a:lnT>
                    <a:lnB w="6350" cmpd="sng">
                      <a:solidFill>
                        <a:srgbClr val="B0B0B0"/>
                      </a:solidFill>
                    </a:lnB>
                    <a:solidFill>
                      <a:srgbClr val="F0F0F0"/>
                    </a:solidFill>
                  </a:tcPr>
                </a:tc>
                <a:tc>
                  <a:txBody>
                    <a:bodyPr/>
                    <a:lstStyle/>
                    <a:p>
                      <a:pPr>
                        <a:buFontTx/>
                        <a:buNone/>
                      </a:pPr>
                      <a:r>
                        <a:rPr lang="en-AU" sz="2000" b="0">
                          <a:solidFill>
                            <a:srgbClr val="000000"/>
                          </a:solidFill>
                          <a:latin typeface="Calibri" panose="020F0502020204030204" pitchFamily="34" charset="0"/>
                        </a:rPr>
                        <a:t>1.391860</a:t>
                      </a:r>
                    </a:p>
                  </a:txBody>
                  <a:tcPr marL="127000" marR="88900" marT="88900" marB="88900" anchor="ctr">
                    <a:lnL w="6350" cmpd="sng">
                      <a:solidFill>
                        <a:srgbClr val="B0B0B0"/>
                      </a:solidFill>
                    </a:lnL>
                    <a:lnR w="6350" cmpd="sng">
                      <a:solidFill>
                        <a:srgbClr val="B0B0B0"/>
                      </a:solidFill>
                    </a:lnR>
                    <a:lnT w="6350" cmpd="sng">
                      <a:solidFill>
                        <a:srgbClr val="B0B0B0"/>
                      </a:solidFill>
                    </a:lnT>
                    <a:lnB w="6350" cmpd="sng">
                      <a:solidFill>
                        <a:srgbClr val="B0B0B0"/>
                      </a:solidFill>
                    </a:lnB>
                    <a:solidFill>
                      <a:srgbClr val="F0F0F0"/>
                    </a:solidFill>
                  </a:tcPr>
                </a:tc>
                <a:tc>
                  <a:txBody>
                    <a:bodyPr/>
                    <a:lstStyle/>
                    <a:p>
                      <a:pPr>
                        <a:buFontTx/>
                        <a:buNone/>
                      </a:pPr>
                      <a:r>
                        <a:rPr lang="en-AU" sz="2000" b="0">
                          <a:solidFill>
                            <a:srgbClr val="000000"/>
                          </a:solidFill>
                          <a:latin typeface="Calibri" panose="020F0502020204030204" pitchFamily="34" charset="0"/>
                        </a:rPr>
                        <a:t>115.6 s</a:t>
                      </a:r>
                    </a:p>
                  </a:txBody>
                  <a:tcPr marL="127000" marR="88900" marT="88900" marB="88900" anchor="ctr">
                    <a:lnL w="6350" cmpd="sng">
                      <a:solidFill>
                        <a:srgbClr val="B0B0B0"/>
                      </a:solidFill>
                    </a:lnL>
                    <a:lnR w="6350" cmpd="sng">
                      <a:solidFill>
                        <a:srgbClr val="B0B0B0"/>
                      </a:solidFill>
                    </a:lnR>
                    <a:lnT w="6350" cmpd="sng">
                      <a:solidFill>
                        <a:srgbClr val="B0B0B0"/>
                      </a:solidFill>
                    </a:lnT>
                    <a:lnB w="6350" cmpd="sng">
                      <a:solidFill>
                        <a:srgbClr val="B0B0B0"/>
                      </a:solidFill>
                    </a:lnB>
                    <a:solidFill>
                      <a:srgbClr val="F0F0F0"/>
                    </a:solidFill>
                  </a:tcPr>
                </a:tc>
                <a:extLst>
                  <a:ext uri="{0D108BD9-81ED-4DB2-BD59-A6C34878D82A}">
                    <a16:rowId xmlns:a16="http://schemas.microsoft.com/office/drawing/2014/main" val="2458311624"/>
                  </a:ext>
                </a:extLst>
              </a:tr>
              <a:tr h="698500">
                <a:tc>
                  <a:txBody>
                    <a:bodyPr/>
                    <a:lstStyle/>
                    <a:p>
                      <a:pPr>
                        <a:buFontTx/>
                        <a:buNone/>
                      </a:pPr>
                      <a:r>
                        <a:rPr lang="en-AU" sz="1800" b="0">
                          <a:solidFill>
                            <a:srgbClr val="000000"/>
                          </a:solidFill>
                          <a:latin typeface="Calibri" panose="020F0502020204030204" pitchFamily="34" charset="0"/>
                        </a:rPr>
                        <a:t>Simulated Annealing median</a:t>
                      </a:r>
                    </a:p>
                  </a:txBody>
                  <a:tcPr marL="127000" marR="88900" marT="88900" marB="88900" anchor="ctr">
                    <a:lnL w="6350" cmpd="sng">
                      <a:solidFill>
                        <a:srgbClr val="B0B0B0"/>
                      </a:solidFill>
                    </a:lnL>
                    <a:lnR w="6350" cmpd="sng">
                      <a:solidFill>
                        <a:srgbClr val="B0B0B0"/>
                      </a:solidFill>
                    </a:lnR>
                    <a:lnT w="6350" cmpd="sng">
                      <a:solidFill>
                        <a:srgbClr val="B0B0B0"/>
                      </a:solidFill>
                    </a:lnT>
                    <a:lnB w="6350" cmpd="sng">
                      <a:solidFill>
                        <a:srgbClr val="B0B0B0"/>
                      </a:solidFill>
                    </a:lnB>
                    <a:solidFill>
                      <a:srgbClr val="FFFFFF"/>
                    </a:solidFill>
                  </a:tcPr>
                </a:tc>
                <a:tc>
                  <a:txBody>
                    <a:bodyPr/>
                    <a:lstStyle/>
                    <a:p>
                      <a:pPr>
                        <a:buFontTx/>
                        <a:buNone/>
                      </a:pPr>
                      <a:r>
                        <a:rPr lang="en-AU" sz="2000" b="0">
                          <a:solidFill>
                            <a:srgbClr val="000000"/>
                          </a:solidFill>
                          <a:latin typeface="Calibri" panose="020F0502020204030204" pitchFamily="34" charset="0"/>
                        </a:rPr>
                        <a:t>18</a:t>
                      </a:r>
                    </a:p>
                  </a:txBody>
                  <a:tcPr marL="127000" marR="88900" marT="88900" marB="88900" anchor="ctr">
                    <a:lnL w="6350" cmpd="sng">
                      <a:solidFill>
                        <a:srgbClr val="B0B0B0"/>
                      </a:solidFill>
                    </a:lnL>
                    <a:lnR w="6350" cmpd="sng">
                      <a:solidFill>
                        <a:srgbClr val="B0B0B0"/>
                      </a:solidFill>
                    </a:lnR>
                    <a:lnT w="6350" cmpd="sng">
                      <a:solidFill>
                        <a:srgbClr val="B0B0B0"/>
                      </a:solidFill>
                    </a:lnT>
                    <a:lnB w="6350" cmpd="sng">
                      <a:solidFill>
                        <a:srgbClr val="B0B0B0"/>
                      </a:solidFill>
                    </a:lnB>
                    <a:solidFill>
                      <a:srgbClr val="FFFFFF"/>
                    </a:solidFill>
                  </a:tcPr>
                </a:tc>
                <a:tc>
                  <a:txBody>
                    <a:bodyPr/>
                    <a:lstStyle/>
                    <a:p>
                      <a:pPr>
                        <a:buFontTx/>
                        <a:buNone/>
                      </a:pPr>
                      <a:r>
                        <a:rPr lang="en-AU" sz="2000" b="0">
                          <a:solidFill>
                            <a:srgbClr val="000000"/>
                          </a:solidFill>
                          <a:latin typeface="Calibri" panose="020F0502020204030204" pitchFamily="34" charset="0"/>
                        </a:rPr>
                        <a:t>1.390417</a:t>
                      </a:r>
                    </a:p>
                  </a:txBody>
                  <a:tcPr marL="127000" marR="88900" marT="88900" marB="88900" anchor="ctr">
                    <a:lnL w="6350" cmpd="sng">
                      <a:solidFill>
                        <a:srgbClr val="B0B0B0"/>
                      </a:solidFill>
                    </a:lnL>
                    <a:lnR w="6350" cmpd="sng">
                      <a:solidFill>
                        <a:srgbClr val="B0B0B0"/>
                      </a:solidFill>
                    </a:lnR>
                    <a:lnT w="6350" cmpd="sng">
                      <a:solidFill>
                        <a:srgbClr val="B0B0B0"/>
                      </a:solidFill>
                    </a:lnT>
                    <a:lnB w="6350" cmpd="sng">
                      <a:solidFill>
                        <a:srgbClr val="B0B0B0"/>
                      </a:solidFill>
                    </a:lnB>
                    <a:solidFill>
                      <a:srgbClr val="FFFFFF"/>
                    </a:solidFill>
                  </a:tcPr>
                </a:tc>
                <a:tc>
                  <a:txBody>
                    <a:bodyPr/>
                    <a:lstStyle/>
                    <a:p>
                      <a:pPr>
                        <a:buFontTx/>
                        <a:buNone/>
                      </a:pPr>
                      <a:r>
                        <a:rPr lang="en-AU" sz="2000" b="0">
                          <a:solidFill>
                            <a:srgbClr val="000000"/>
                          </a:solidFill>
                          <a:latin typeface="Calibri" panose="020F0502020204030204" pitchFamily="34" charset="0"/>
                        </a:rPr>
                        <a:t>306.3 s</a:t>
                      </a:r>
                    </a:p>
                  </a:txBody>
                  <a:tcPr marL="127000" marR="88900" marT="88900" marB="88900" anchor="ctr">
                    <a:lnL w="6350" cmpd="sng">
                      <a:solidFill>
                        <a:srgbClr val="B0B0B0"/>
                      </a:solidFill>
                    </a:lnL>
                    <a:lnR w="6350" cmpd="sng">
                      <a:solidFill>
                        <a:srgbClr val="B0B0B0"/>
                      </a:solidFill>
                    </a:lnR>
                    <a:lnT w="6350" cmpd="sng">
                      <a:solidFill>
                        <a:srgbClr val="B0B0B0"/>
                      </a:solidFill>
                    </a:lnT>
                    <a:lnB w="6350" cmpd="sng">
                      <a:solidFill>
                        <a:srgbClr val="B0B0B0"/>
                      </a:solidFill>
                    </a:lnB>
                    <a:solidFill>
                      <a:srgbClr val="FFFFFF"/>
                    </a:solidFill>
                  </a:tcPr>
                </a:tc>
                <a:extLst>
                  <a:ext uri="{0D108BD9-81ED-4DB2-BD59-A6C34878D82A}">
                    <a16:rowId xmlns:a16="http://schemas.microsoft.com/office/drawing/2014/main" val="4240172694"/>
                  </a:ext>
                </a:extLst>
              </a:tr>
              <a:tr h="698500">
                <a:tc>
                  <a:txBody>
                    <a:bodyPr/>
                    <a:lstStyle/>
                    <a:p>
                      <a:pPr>
                        <a:buFontTx/>
                        <a:buNone/>
                      </a:pPr>
                      <a:r>
                        <a:rPr lang="en-AU" sz="1800" b="0">
                          <a:solidFill>
                            <a:srgbClr val="000000"/>
                          </a:solidFill>
                          <a:latin typeface="Calibri" panose="020F0502020204030204" pitchFamily="34" charset="0"/>
                        </a:rPr>
                        <a:t>Tightened acceptance median</a:t>
                      </a:r>
                    </a:p>
                  </a:txBody>
                  <a:tcPr marL="127000" marR="88900" marT="88900" marB="88900" anchor="ctr">
                    <a:lnL w="6350" cmpd="sng">
                      <a:solidFill>
                        <a:srgbClr val="B0B0B0"/>
                      </a:solidFill>
                    </a:lnL>
                    <a:lnR w="6350" cmpd="sng">
                      <a:solidFill>
                        <a:srgbClr val="B0B0B0"/>
                      </a:solidFill>
                    </a:lnR>
                    <a:lnT w="6350" cmpd="sng">
                      <a:solidFill>
                        <a:srgbClr val="B0B0B0"/>
                      </a:solidFill>
                    </a:lnT>
                    <a:lnB w="6350" cmpd="sng">
                      <a:solidFill>
                        <a:srgbClr val="B0B0B0"/>
                      </a:solidFill>
                    </a:lnB>
                    <a:solidFill>
                      <a:srgbClr val="F0F0F0"/>
                    </a:solidFill>
                  </a:tcPr>
                </a:tc>
                <a:tc>
                  <a:txBody>
                    <a:bodyPr/>
                    <a:lstStyle/>
                    <a:p>
                      <a:pPr>
                        <a:buFontTx/>
                        <a:buNone/>
                      </a:pPr>
                      <a:r>
                        <a:rPr lang="en-AU" sz="2000" b="0">
                          <a:solidFill>
                            <a:srgbClr val="000000"/>
                          </a:solidFill>
                          <a:latin typeface="Calibri" panose="020F0502020204030204" pitchFamily="34" charset="0"/>
                        </a:rPr>
                        <a:t>18</a:t>
                      </a:r>
                    </a:p>
                  </a:txBody>
                  <a:tcPr marL="127000" marR="88900" marT="88900" marB="88900" anchor="ctr">
                    <a:lnL w="6350" cmpd="sng">
                      <a:solidFill>
                        <a:srgbClr val="B0B0B0"/>
                      </a:solidFill>
                    </a:lnL>
                    <a:lnR w="6350" cmpd="sng">
                      <a:solidFill>
                        <a:srgbClr val="B0B0B0"/>
                      </a:solidFill>
                    </a:lnR>
                    <a:lnT w="6350" cmpd="sng">
                      <a:solidFill>
                        <a:srgbClr val="B0B0B0"/>
                      </a:solidFill>
                    </a:lnT>
                    <a:lnB w="6350" cmpd="sng">
                      <a:solidFill>
                        <a:srgbClr val="B0B0B0"/>
                      </a:solidFill>
                    </a:lnB>
                    <a:solidFill>
                      <a:srgbClr val="F0F0F0"/>
                    </a:solidFill>
                  </a:tcPr>
                </a:tc>
                <a:tc>
                  <a:txBody>
                    <a:bodyPr/>
                    <a:lstStyle/>
                    <a:p>
                      <a:pPr>
                        <a:buFontTx/>
                        <a:buNone/>
                      </a:pPr>
                      <a:r>
                        <a:rPr lang="en-AU" sz="2000" b="0">
                          <a:solidFill>
                            <a:srgbClr val="000000"/>
                          </a:solidFill>
                          <a:latin typeface="Calibri" panose="020F0502020204030204" pitchFamily="34" charset="0"/>
                        </a:rPr>
                        <a:t>1.391860</a:t>
                      </a:r>
                    </a:p>
                  </a:txBody>
                  <a:tcPr marL="127000" marR="88900" marT="88900" marB="88900" anchor="ctr">
                    <a:lnL w="6350" cmpd="sng">
                      <a:solidFill>
                        <a:srgbClr val="B0B0B0"/>
                      </a:solidFill>
                    </a:lnL>
                    <a:lnR w="6350" cmpd="sng">
                      <a:solidFill>
                        <a:srgbClr val="B0B0B0"/>
                      </a:solidFill>
                    </a:lnR>
                    <a:lnT w="6350" cmpd="sng">
                      <a:solidFill>
                        <a:srgbClr val="B0B0B0"/>
                      </a:solidFill>
                    </a:lnT>
                    <a:lnB w="6350" cmpd="sng">
                      <a:solidFill>
                        <a:srgbClr val="B0B0B0"/>
                      </a:solidFill>
                    </a:lnB>
                    <a:solidFill>
                      <a:srgbClr val="F0F0F0"/>
                    </a:solidFill>
                  </a:tcPr>
                </a:tc>
                <a:tc>
                  <a:txBody>
                    <a:bodyPr/>
                    <a:lstStyle/>
                    <a:p>
                      <a:pPr>
                        <a:buFontTx/>
                        <a:buNone/>
                      </a:pPr>
                      <a:r>
                        <a:rPr lang="en-AU" sz="2000" b="0" dirty="0">
                          <a:solidFill>
                            <a:srgbClr val="000000"/>
                          </a:solidFill>
                          <a:latin typeface="Calibri" panose="020F0502020204030204" pitchFamily="34" charset="0"/>
                        </a:rPr>
                        <a:t>63.5 s</a:t>
                      </a:r>
                    </a:p>
                  </a:txBody>
                  <a:tcPr marL="127000" marR="88900" marT="88900" marB="88900" anchor="ctr">
                    <a:lnL w="6350" cmpd="sng">
                      <a:solidFill>
                        <a:srgbClr val="B0B0B0"/>
                      </a:solidFill>
                    </a:lnL>
                    <a:lnR w="6350" cmpd="sng">
                      <a:solidFill>
                        <a:srgbClr val="B0B0B0"/>
                      </a:solidFill>
                    </a:lnR>
                    <a:lnT w="6350" cmpd="sng">
                      <a:solidFill>
                        <a:srgbClr val="B0B0B0"/>
                      </a:solidFill>
                    </a:lnT>
                    <a:lnB w="6350" cmpd="sng">
                      <a:solidFill>
                        <a:srgbClr val="B0B0B0"/>
                      </a:solidFill>
                    </a:lnB>
                    <a:solidFill>
                      <a:srgbClr val="F0F0F0"/>
                    </a:solidFill>
                  </a:tcPr>
                </a:tc>
                <a:extLst>
                  <a:ext uri="{0D108BD9-81ED-4DB2-BD59-A6C34878D82A}">
                    <a16:rowId xmlns:a16="http://schemas.microsoft.com/office/drawing/2014/main" val="1615045474"/>
                  </a:ext>
                </a:extLst>
              </a:tr>
            </a:tbl>
          </a:graphicData>
        </a:graphic>
      </p:graphicFrame>
      <p:sp>
        <p:nvSpPr>
          <p:cNvPr id="16" name="Decision finding">
            <a:extLst>
              <a:ext uri="{FF2B5EF4-FFF2-40B4-BE49-F238E27FC236}">
                <a16:creationId xmlns:a16="http://schemas.microsoft.com/office/drawing/2014/main" id="{03764756-E802-0138-69BF-2D283926E903}"/>
              </a:ext>
            </a:extLst>
          </p:cNvPr>
          <p:cNvSpPr txBox="1"/>
          <p:nvPr/>
        </p:nvSpPr>
        <p:spPr>
          <a:xfrm>
            <a:off x="533400" y="4864100"/>
            <a:ext cx="11112500" cy="323165"/>
          </a:xfrm>
          <a:prstGeom prst="rect">
            <a:avLst/>
          </a:prstGeom>
          <a:noFill/>
        </p:spPr>
        <p:txBody>
          <a:bodyPr vert="horz" lIns="0" tIns="0" rIns="0" bIns="0" rtlCol="0">
            <a:noAutofit/>
          </a:bodyPr>
          <a:lstStyle/>
          <a:p>
            <a:r>
              <a:rPr lang="en-US" sz="2100" b="1">
                <a:solidFill>
                  <a:srgbClr val="000000"/>
                </a:solidFill>
                <a:latin typeface="Calibri" panose="020F0502020204030204" pitchFamily="34" charset="0"/>
              </a:rPr>
              <a:t>Smoothness gain: 0.00144 against a 0.005 threshold. Median runtime exceeded 300 s.</a:t>
            </a:r>
            <a:endParaRPr lang="en-AU" sz="2100" b="1">
              <a:solidFill>
                <a:srgbClr val="000000"/>
              </a:solidFill>
              <a:latin typeface="Calibri" panose="020F0502020204030204" pitchFamily="34" charset="0"/>
            </a:endParaRPr>
          </a:p>
        </p:txBody>
      </p:sp>
      <p:sp>
        <p:nvSpPr>
          <p:cNvPr id="17" name="Decision context">
            <a:extLst>
              <a:ext uri="{FF2B5EF4-FFF2-40B4-BE49-F238E27FC236}">
                <a16:creationId xmlns:a16="http://schemas.microsoft.com/office/drawing/2014/main" id="{2D701409-90CA-A5CD-FDBC-FDDC0A2A9CB0}"/>
              </a:ext>
            </a:extLst>
          </p:cNvPr>
          <p:cNvSpPr txBox="1"/>
          <p:nvPr/>
        </p:nvSpPr>
        <p:spPr>
          <a:xfrm>
            <a:off x="533400" y="5905500"/>
            <a:ext cx="11112500" cy="246221"/>
          </a:xfrm>
          <a:prstGeom prst="rect">
            <a:avLst/>
          </a:prstGeom>
          <a:noFill/>
        </p:spPr>
        <p:txBody>
          <a:bodyPr vert="horz" lIns="0" tIns="0" rIns="0" bIns="0" rtlCol="0">
            <a:noAutofit/>
          </a:bodyPr>
          <a:lstStyle/>
          <a:p>
            <a:r>
              <a:rPr lang="en-US" sz="1600">
                <a:solidFill>
                  <a:srgbClr val="000000"/>
                </a:solidFill>
                <a:latin typeface="Calibri" panose="020F0502020204030204" pitchFamily="34" charset="0"/>
              </a:rPr>
              <a:t>Earlier decision benchmark. Simulated Annealing seeds 1–3. Two runs reached the time budget.</a:t>
            </a:r>
            <a:endParaRPr lang="en-AU" sz="1600">
              <a:solidFill>
                <a:srgbClr val="000000"/>
              </a:solidFill>
              <a:latin typeface="Calibri" panose="020F0502020204030204" pitchFamily="34" charset="0"/>
            </a:endParaRPr>
          </a:p>
        </p:txBody>
      </p:sp>
    </p:spTree>
    <p:extLst>
      <p:ext uri="{BB962C8B-B14F-4D97-AF65-F5344CB8AC3E}">
        <p14:creationId xmlns:p14="http://schemas.microsoft.com/office/powerpoint/2010/main" val="2829286252"/>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Rectangle 2"/>
          <p:cNvSpPr/>
          <p:nvPr/>
        </p:nvSpPr>
        <p:spPr>
          <a:xfrm>
            <a:off x="0" y="0"/>
            <a:ext cx="12191695" cy="109728"/>
          </a:xfrm>
          <a:prstGeom prst="rect">
            <a:avLst/>
          </a:prstGeom>
          <a:solidFill>
            <a:srgbClr val="00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 name="TextBox 3"/>
          <p:cNvSpPr txBox="1"/>
          <p:nvPr/>
        </p:nvSpPr>
        <p:spPr>
          <a:xfrm>
            <a:off x="457200" y="165100"/>
            <a:ext cx="11277600" cy="317500"/>
          </a:xfrm>
          <a:prstGeom prst="rect">
            <a:avLst/>
          </a:prstGeom>
          <a:noFill/>
        </p:spPr>
        <p:txBody>
          <a:bodyPr wrap="square">
            <a:noAutofit/>
          </a:bodyPr>
          <a:lstStyle/>
          <a:p>
            <a:pPr algn="l"/>
            <a:r>
              <a:rPr lang="en-AU" sz="1500" b="1">
                <a:solidFill>
                  <a:srgbClr val="000000"/>
                </a:solidFill>
                <a:latin typeface="Calibri"/>
              </a:rPr>
              <a:t>CONTROLLED START SCHEDULES</a:t>
            </a:r>
            <a:endParaRPr sz="1500" b="1">
              <a:solidFill>
                <a:srgbClr val="000000"/>
              </a:solidFill>
              <a:latin typeface="Calibri"/>
            </a:endParaRPr>
          </a:p>
        </p:txBody>
      </p:sp>
      <p:sp>
        <p:nvSpPr>
          <p:cNvPr id="5" name="TextBox 4"/>
          <p:cNvSpPr txBox="1"/>
          <p:nvPr/>
        </p:nvSpPr>
        <p:spPr>
          <a:xfrm>
            <a:off x="457200" y="533400"/>
            <a:ext cx="11277600" cy="660400"/>
          </a:xfrm>
          <a:prstGeom prst="rect">
            <a:avLst/>
          </a:prstGeom>
          <a:noFill/>
        </p:spPr>
        <p:txBody>
          <a:bodyPr wrap="square">
            <a:noAutofit/>
          </a:bodyPr>
          <a:lstStyle/>
          <a:p>
            <a:pPr algn="l"/>
            <a:r>
              <a:rPr lang="en-US" sz="3200" b="1">
                <a:solidFill>
                  <a:srgbClr val="000000"/>
                </a:solidFill>
                <a:latin typeface="Calibri"/>
              </a:rPr>
              <a:t>The as-loaded start finished smoothest</a:t>
            </a:r>
            <a:endParaRPr sz="3200" b="1">
              <a:solidFill>
                <a:srgbClr val="000000"/>
              </a:solidFill>
              <a:latin typeface="Calibri"/>
            </a:endParaRPr>
          </a:p>
        </p:txBody>
      </p:sp>
      <p:graphicFrame>
        <p:nvGraphicFramePr>
          <p:cNvPr id="15" name="Start schedule results">
            <a:extLst>
              <a:ext uri="{FF2B5EF4-FFF2-40B4-BE49-F238E27FC236}">
                <a16:creationId xmlns:a16="http://schemas.microsoft.com/office/drawing/2014/main" id="{85071843-9FD9-E62E-BD68-CEB78729605C}"/>
              </a:ext>
            </a:extLst>
          </p:cNvPr>
          <p:cNvGraphicFramePr>
            <a:graphicFrameLocks noGrp="1"/>
          </p:cNvGraphicFramePr>
          <p:nvPr>
            <p:extLst>
              <p:ext uri="{D42A27DB-BD31-4B8C-83A1-F6EECF244321}">
                <p14:modId xmlns:p14="http://schemas.microsoft.com/office/powerpoint/2010/main" val="471050802"/>
              </p:ext>
            </p:extLst>
          </p:nvPr>
        </p:nvGraphicFramePr>
        <p:xfrm>
          <a:off x="457200" y="1727200"/>
          <a:ext cx="11277600" cy="2794000"/>
        </p:xfrm>
        <a:graphic>
          <a:graphicData uri="http://schemas.openxmlformats.org/drawingml/2006/table">
            <a:tbl>
              <a:tblPr firstRow="1" bandRow="1">
                <a:tableStyleId>{5C22544A-7EE6-4342-B048-85BDC9FD1C3A}</a:tableStyleId>
              </a:tblPr>
              <a:tblGrid>
                <a:gridCol w="3429000">
                  <a:extLst>
                    <a:ext uri="{9D8B030D-6E8A-4147-A177-3AD203B41FA5}">
                      <a16:colId xmlns:a16="http://schemas.microsoft.com/office/drawing/2014/main" val="1960761829"/>
                    </a:ext>
                  </a:extLst>
                </a:gridCol>
                <a:gridCol w="2413000">
                  <a:extLst>
                    <a:ext uri="{9D8B030D-6E8A-4147-A177-3AD203B41FA5}">
                      <a16:colId xmlns:a16="http://schemas.microsoft.com/office/drawing/2014/main" val="336550224"/>
                    </a:ext>
                  </a:extLst>
                </a:gridCol>
                <a:gridCol w="2413000">
                  <a:extLst>
                    <a:ext uri="{9D8B030D-6E8A-4147-A177-3AD203B41FA5}">
                      <a16:colId xmlns:a16="http://schemas.microsoft.com/office/drawing/2014/main" val="1864216480"/>
                    </a:ext>
                  </a:extLst>
                </a:gridCol>
                <a:gridCol w="3022600">
                  <a:extLst>
                    <a:ext uri="{9D8B030D-6E8A-4147-A177-3AD203B41FA5}">
                      <a16:colId xmlns:a16="http://schemas.microsoft.com/office/drawing/2014/main" val="3340908839"/>
                    </a:ext>
                  </a:extLst>
                </a:gridCol>
              </a:tblGrid>
              <a:tr h="698500">
                <a:tc>
                  <a:txBody>
                    <a:bodyPr/>
                    <a:lstStyle/>
                    <a:p>
                      <a:pPr>
                        <a:buFontTx/>
                        <a:buNone/>
                      </a:pPr>
                      <a:r>
                        <a:rPr lang="en-AU" sz="1600" b="1">
                          <a:solidFill>
                            <a:srgbClr val="FFFFFF"/>
                          </a:solidFill>
                          <a:latin typeface="Calibri" panose="020F0502020204030204" pitchFamily="34" charset="0"/>
                        </a:rPr>
                        <a:t>Start schedule</a:t>
                      </a:r>
                    </a:p>
                  </a:txBody>
                  <a:tcPr marL="127000" marR="88900" marT="88900" marB="88900" anchor="ctr">
                    <a:lnL w="6350" cmpd="sng">
                      <a:solidFill>
                        <a:srgbClr val="B0B0B0"/>
                      </a:solidFill>
                    </a:lnL>
                    <a:lnR w="6350" cmpd="sng">
                      <a:solidFill>
                        <a:srgbClr val="B0B0B0"/>
                      </a:solidFill>
                    </a:lnR>
                    <a:lnT w="6350" cmpd="sng">
                      <a:solidFill>
                        <a:srgbClr val="B0B0B0"/>
                      </a:solidFill>
                    </a:lnT>
                    <a:lnB w="6350" cmpd="sng">
                      <a:solidFill>
                        <a:srgbClr val="B0B0B0"/>
                      </a:solidFill>
                    </a:lnB>
                    <a:solidFill>
                      <a:srgbClr val="000000"/>
                    </a:solidFill>
                  </a:tcPr>
                </a:tc>
                <a:tc>
                  <a:txBody>
                    <a:bodyPr/>
                    <a:lstStyle/>
                    <a:p>
                      <a:pPr>
                        <a:buFontTx/>
                        <a:buNone/>
                      </a:pPr>
                      <a:r>
                        <a:rPr lang="en-AU" sz="1600" b="1">
                          <a:solidFill>
                            <a:srgbClr val="FFFFFF"/>
                          </a:solidFill>
                          <a:latin typeface="Calibri" panose="020F0502020204030204" pitchFamily="34" charset="0"/>
                        </a:rPr>
                        <a:t>Initial worst day</a:t>
                      </a:r>
                    </a:p>
                  </a:txBody>
                  <a:tcPr marL="127000" marR="88900" marT="88900" marB="88900" anchor="ctr">
                    <a:lnL w="6350" cmpd="sng">
                      <a:solidFill>
                        <a:srgbClr val="B0B0B0"/>
                      </a:solidFill>
                    </a:lnL>
                    <a:lnR w="6350" cmpd="sng">
                      <a:solidFill>
                        <a:srgbClr val="B0B0B0"/>
                      </a:solidFill>
                    </a:lnR>
                    <a:lnT w="6350" cmpd="sng">
                      <a:solidFill>
                        <a:srgbClr val="B0B0B0"/>
                      </a:solidFill>
                    </a:lnT>
                    <a:lnB w="6350" cmpd="sng">
                      <a:solidFill>
                        <a:srgbClr val="B0B0B0"/>
                      </a:solidFill>
                    </a:lnB>
                    <a:solidFill>
                      <a:srgbClr val="000000"/>
                    </a:solidFill>
                  </a:tcPr>
                </a:tc>
                <a:tc>
                  <a:txBody>
                    <a:bodyPr/>
                    <a:lstStyle/>
                    <a:p>
                      <a:pPr>
                        <a:buFontTx/>
                        <a:buNone/>
                      </a:pPr>
                      <a:r>
                        <a:rPr lang="en-AU" sz="1600" b="1">
                          <a:solidFill>
                            <a:srgbClr val="FFFFFF"/>
                          </a:solidFill>
                          <a:latin typeface="Calibri" panose="020F0502020204030204" pitchFamily="34" charset="0"/>
                        </a:rPr>
                        <a:t>Final worst day</a:t>
                      </a:r>
                    </a:p>
                  </a:txBody>
                  <a:tcPr marL="127000" marR="88900" marT="88900" marB="88900" anchor="ctr">
                    <a:lnL w="6350" cmpd="sng">
                      <a:solidFill>
                        <a:srgbClr val="B0B0B0"/>
                      </a:solidFill>
                    </a:lnL>
                    <a:lnR w="6350" cmpd="sng">
                      <a:solidFill>
                        <a:srgbClr val="B0B0B0"/>
                      </a:solidFill>
                    </a:lnR>
                    <a:lnT w="6350" cmpd="sng">
                      <a:solidFill>
                        <a:srgbClr val="B0B0B0"/>
                      </a:solidFill>
                    </a:lnT>
                    <a:lnB w="6350" cmpd="sng">
                      <a:solidFill>
                        <a:srgbClr val="B0B0B0"/>
                      </a:solidFill>
                    </a:lnB>
                    <a:solidFill>
                      <a:srgbClr val="000000"/>
                    </a:solidFill>
                  </a:tcPr>
                </a:tc>
                <a:tc>
                  <a:txBody>
                    <a:bodyPr/>
                    <a:lstStyle/>
                    <a:p>
                      <a:pPr>
                        <a:buFontTx/>
                        <a:buNone/>
                      </a:pPr>
                      <a:r>
                        <a:rPr lang="en-AU" sz="1600" b="1">
                          <a:solidFill>
                            <a:srgbClr val="FFFFFF"/>
                          </a:solidFill>
                          <a:latin typeface="Calibri" panose="020F0502020204030204" pitchFamily="34" charset="0"/>
                        </a:rPr>
                        <a:t>Final std deviation</a:t>
                      </a:r>
                    </a:p>
                  </a:txBody>
                  <a:tcPr marL="127000" marR="88900" marT="88900" marB="88900" anchor="ctr">
                    <a:lnL w="6350" cmpd="sng">
                      <a:solidFill>
                        <a:srgbClr val="B0B0B0"/>
                      </a:solidFill>
                    </a:lnL>
                    <a:lnR w="6350" cmpd="sng">
                      <a:solidFill>
                        <a:srgbClr val="B0B0B0"/>
                      </a:solidFill>
                    </a:lnR>
                    <a:lnT w="6350" cmpd="sng">
                      <a:solidFill>
                        <a:srgbClr val="B0B0B0"/>
                      </a:solidFill>
                    </a:lnT>
                    <a:lnB w="6350" cmpd="sng">
                      <a:solidFill>
                        <a:srgbClr val="B0B0B0"/>
                      </a:solidFill>
                    </a:lnB>
                    <a:solidFill>
                      <a:srgbClr val="000000"/>
                    </a:solidFill>
                  </a:tcPr>
                </a:tc>
                <a:extLst>
                  <a:ext uri="{0D108BD9-81ED-4DB2-BD59-A6C34878D82A}">
                    <a16:rowId xmlns:a16="http://schemas.microsoft.com/office/drawing/2014/main" val="2322045604"/>
                  </a:ext>
                </a:extLst>
              </a:tr>
              <a:tr h="698500">
                <a:tc>
                  <a:txBody>
                    <a:bodyPr/>
                    <a:lstStyle/>
                    <a:p>
                      <a:pPr>
                        <a:buFontTx/>
                        <a:buNone/>
                      </a:pPr>
                      <a:r>
                        <a:rPr lang="en-AU" sz="2000" b="0">
                          <a:solidFill>
                            <a:srgbClr val="000000"/>
                          </a:solidFill>
                          <a:latin typeface="Calibri" panose="020F0502020204030204" pitchFamily="34" charset="0"/>
                        </a:rPr>
                        <a:t>As-loaded</a:t>
                      </a:r>
                    </a:p>
                  </a:txBody>
                  <a:tcPr marL="127000" marR="88900" marT="88900" marB="88900" anchor="ctr">
                    <a:lnL w="6350" cmpd="sng">
                      <a:solidFill>
                        <a:srgbClr val="B0B0B0"/>
                      </a:solidFill>
                    </a:lnL>
                    <a:lnR w="6350" cmpd="sng">
                      <a:solidFill>
                        <a:srgbClr val="B0B0B0"/>
                      </a:solidFill>
                    </a:lnR>
                    <a:lnT w="6350" cmpd="sng">
                      <a:solidFill>
                        <a:srgbClr val="B0B0B0"/>
                      </a:solidFill>
                    </a:lnT>
                    <a:lnB w="6350" cmpd="sng">
                      <a:solidFill>
                        <a:srgbClr val="B0B0B0"/>
                      </a:solidFill>
                    </a:lnB>
                    <a:solidFill>
                      <a:srgbClr val="F0F0F0"/>
                    </a:solidFill>
                  </a:tcPr>
                </a:tc>
                <a:tc>
                  <a:txBody>
                    <a:bodyPr/>
                    <a:lstStyle/>
                    <a:p>
                      <a:pPr>
                        <a:buFontTx/>
                        <a:buNone/>
                      </a:pPr>
                      <a:r>
                        <a:rPr lang="en-AU" sz="2000" b="0">
                          <a:solidFill>
                            <a:srgbClr val="000000"/>
                          </a:solidFill>
                          <a:latin typeface="Calibri" panose="020F0502020204030204" pitchFamily="34" charset="0"/>
                        </a:rPr>
                        <a:t>15</a:t>
                      </a:r>
                    </a:p>
                  </a:txBody>
                  <a:tcPr marL="127000" marR="88900" marT="88900" marB="88900" anchor="ctr">
                    <a:lnL w="6350" cmpd="sng">
                      <a:solidFill>
                        <a:srgbClr val="B0B0B0"/>
                      </a:solidFill>
                    </a:lnL>
                    <a:lnR w="6350" cmpd="sng">
                      <a:solidFill>
                        <a:srgbClr val="B0B0B0"/>
                      </a:solidFill>
                    </a:lnR>
                    <a:lnT w="6350" cmpd="sng">
                      <a:solidFill>
                        <a:srgbClr val="B0B0B0"/>
                      </a:solidFill>
                    </a:lnT>
                    <a:lnB w="6350" cmpd="sng">
                      <a:solidFill>
                        <a:srgbClr val="B0B0B0"/>
                      </a:solidFill>
                    </a:lnB>
                    <a:solidFill>
                      <a:srgbClr val="F0F0F0"/>
                    </a:solidFill>
                  </a:tcPr>
                </a:tc>
                <a:tc>
                  <a:txBody>
                    <a:bodyPr/>
                    <a:lstStyle/>
                    <a:p>
                      <a:pPr>
                        <a:buFontTx/>
                        <a:buNone/>
                      </a:pPr>
                      <a:r>
                        <a:rPr lang="en-AU" sz="2000" b="0">
                          <a:solidFill>
                            <a:srgbClr val="000000"/>
                          </a:solidFill>
                          <a:latin typeface="Calibri" panose="020F0502020204030204" pitchFamily="34" charset="0"/>
                        </a:rPr>
                        <a:t>18</a:t>
                      </a:r>
                    </a:p>
                  </a:txBody>
                  <a:tcPr marL="127000" marR="88900" marT="88900" marB="88900" anchor="ctr">
                    <a:lnL w="6350" cmpd="sng">
                      <a:solidFill>
                        <a:srgbClr val="B0B0B0"/>
                      </a:solidFill>
                    </a:lnL>
                    <a:lnR w="6350" cmpd="sng">
                      <a:solidFill>
                        <a:srgbClr val="B0B0B0"/>
                      </a:solidFill>
                    </a:lnR>
                    <a:lnT w="6350" cmpd="sng">
                      <a:solidFill>
                        <a:srgbClr val="B0B0B0"/>
                      </a:solidFill>
                    </a:lnT>
                    <a:lnB w="6350" cmpd="sng">
                      <a:solidFill>
                        <a:srgbClr val="B0B0B0"/>
                      </a:solidFill>
                    </a:lnB>
                    <a:solidFill>
                      <a:srgbClr val="F0F0F0"/>
                    </a:solidFill>
                  </a:tcPr>
                </a:tc>
                <a:tc>
                  <a:txBody>
                    <a:bodyPr/>
                    <a:lstStyle/>
                    <a:p>
                      <a:pPr>
                        <a:buFontTx/>
                        <a:buNone/>
                      </a:pPr>
                      <a:r>
                        <a:rPr lang="en-AU" sz="2000" b="0" dirty="0">
                          <a:solidFill>
                            <a:srgbClr val="000000"/>
                          </a:solidFill>
                          <a:latin typeface="Calibri" panose="020F0502020204030204" pitchFamily="34" charset="0"/>
                        </a:rPr>
                        <a:t>1.414</a:t>
                      </a:r>
                    </a:p>
                  </a:txBody>
                  <a:tcPr marL="127000" marR="88900" marT="88900" marB="88900" anchor="ctr">
                    <a:lnL w="6350" cmpd="sng">
                      <a:solidFill>
                        <a:srgbClr val="B0B0B0"/>
                      </a:solidFill>
                    </a:lnL>
                    <a:lnR w="6350" cmpd="sng">
                      <a:solidFill>
                        <a:srgbClr val="B0B0B0"/>
                      </a:solidFill>
                    </a:lnR>
                    <a:lnT w="6350" cmpd="sng">
                      <a:solidFill>
                        <a:srgbClr val="B0B0B0"/>
                      </a:solidFill>
                    </a:lnT>
                    <a:lnB w="6350" cmpd="sng">
                      <a:solidFill>
                        <a:srgbClr val="B0B0B0"/>
                      </a:solidFill>
                    </a:lnB>
                    <a:solidFill>
                      <a:srgbClr val="F0F0F0"/>
                    </a:solidFill>
                  </a:tcPr>
                </a:tc>
                <a:extLst>
                  <a:ext uri="{0D108BD9-81ED-4DB2-BD59-A6C34878D82A}">
                    <a16:rowId xmlns:a16="http://schemas.microsoft.com/office/drawing/2014/main" val="1733797674"/>
                  </a:ext>
                </a:extLst>
              </a:tr>
              <a:tr h="698500">
                <a:tc>
                  <a:txBody>
                    <a:bodyPr/>
                    <a:lstStyle/>
                    <a:p>
                      <a:pPr>
                        <a:buFontTx/>
                        <a:buNone/>
                      </a:pPr>
                      <a:r>
                        <a:rPr lang="en-AU" sz="2000" b="0" dirty="0">
                          <a:solidFill>
                            <a:srgbClr val="000000"/>
                          </a:solidFill>
                          <a:latin typeface="Calibri" panose="020F0502020204030204" pitchFamily="34" charset="0"/>
                        </a:rPr>
                        <a:t>Moderate</a:t>
                      </a:r>
                    </a:p>
                  </a:txBody>
                  <a:tcPr marL="127000" marR="88900" marT="88900" marB="88900" anchor="ctr">
                    <a:lnL w="6350" cmpd="sng">
                      <a:solidFill>
                        <a:srgbClr val="B0B0B0"/>
                      </a:solidFill>
                    </a:lnL>
                    <a:lnR w="6350" cmpd="sng">
                      <a:solidFill>
                        <a:srgbClr val="B0B0B0"/>
                      </a:solidFill>
                    </a:lnR>
                    <a:lnT w="6350" cmpd="sng">
                      <a:solidFill>
                        <a:srgbClr val="B0B0B0"/>
                      </a:solidFill>
                    </a:lnT>
                    <a:lnB w="6350" cmpd="sng">
                      <a:solidFill>
                        <a:srgbClr val="B0B0B0"/>
                      </a:solidFill>
                    </a:lnB>
                    <a:solidFill>
                      <a:srgbClr val="FFFFFF"/>
                    </a:solidFill>
                  </a:tcPr>
                </a:tc>
                <a:tc>
                  <a:txBody>
                    <a:bodyPr/>
                    <a:lstStyle/>
                    <a:p>
                      <a:pPr>
                        <a:buFontTx/>
                        <a:buNone/>
                      </a:pPr>
                      <a:r>
                        <a:rPr lang="en-AU" sz="2000" b="0">
                          <a:solidFill>
                            <a:srgbClr val="000000"/>
                          </a:solidFill>
                          <a:latin typeface="Calibri" panose="020F0502020204030204" pitchFamily="34" charset="0"/>
                        </a:rPr>
                        <a:t>15</a:t>
                      </a:r>
                    </a:p>
                  </a:txBody>
                  <a:tcPr marL="127000" marR="88900" marT="88900" marB="88900" anchor="ctr">
                    <a:lnL w="6350" cmpd="sng">
                      <a:solidFill>
                        <a:srgbClr val="B0B0B0"/>
                      </a:solidFill>
                    </a:lnL>
                    <a:lnR w="6350" cmpd="sng">
                      <a:solidFill>
                        <a:srgbClr val="B0B0B0"/>
                      </a:solidFill>
                    </a:lnR>
                    <a:lnT w="6350" cmpd="sng">
                      <a:solidFill>
                        <a:srgbClr val="B0B0B0"/>
                      </a:solidFill>
                    </a:lnT>
                    <a:lnB w="6350" cmpd="sng">
                      <a:solidFill>
                        <a:srgbClr val="B0B0B0"/>
                      </a:solidFill>
                    </a:lnB>
                    <a:solidFill>
                      <a:srgbClr val="FFFFFF"/>
                    </a:solidFill>
                  </a:tcPr>
                </a:tc>
                <a:tc>
                  <a:txBody>
                    <a:bodyPr/>
                    <a:lstStyle/>
                    <a:p>
                      <a:pPr>
                        <a:buFontTx/>
                        <a:buNone/>
                      </a:pPr>
                      <a:r>
                        <a:rPr lang="en-AU" sz="2000" b="0" dirty="0">
                          <a:solidFill>
                            <a:srgbClr val="000000"/>
                          </a:solidFill>
                          <a:latin typeface="Calibri" panose="020F0502020204030204" pitchFamily="34" charset="0"/>
                        </a:rPr>
                        <a:t>19</a:t>
                      </a:r>
                    </a:p>
                  </a:txBody>
                  <a:tcPr marL="127000" marR="88900" marT="88900" marB="88900" anchor="ctr">
                    <a:lnL w="6350" cmpd="sng">
                      <a:solidFill>
                        <a:srgbClr val="B0B0B0"/>
                      </a:solidFill>
                    </a:lnL>
                    <a:lnR w="6350" cmpd="sng">
                      <a:solidFill>
                        <a:srgbClr val="B0B0B0"/>
                      </a:solidFill>
                    </a:lnR>
                    <a:lnT w="6350" cmpd="sng">
                      <a:solidFill>
                        <a:srgbClr val="B0B0B0"/>
                      </a:solidFill>
                    </a:lnT>
                    <a:lnB w="6350" cmpd="sng">
                      <a:solidFill>
                        <a:srgbClr val="B0B0B0"/>
                      </a:solidFill>
                    </a:lnB>
                    <a:solidFill>
                      <a:srgbClr val="FFFFFF"/>
                    </a:solidFill>
                  </a:tcPr>
                </a:tc>
                <a:tc>
                  <a:txBody>
                    <a:bodyPr/>
                    <a:lstStyle/>
                    <a:p>
                      <a:pPr>
                        <a:buFontTx/>
                        <a:buNone/>
                      </a:pPr>
                      <a:r>
                        <a:rPr lang="en-AU" sz="2000" b="0" dirty="0">
                          <a:solidFill>
                            <a:srgbClr val="000000"/>
                          </a:solidFill>
                          <a:latin typeface="Calibri" panose="020F0502020204030204" pitchFamily="34" charset="0"/>
                        </a:rPr>
                        <a:t>0.944</a:t>
                      </a:r>
                    </a:p>
                  </a:txBody>
                  <a:tcPr marL="127000" marR="88900" marT="88900" marB="88900" anchor="ctr">
                    <a:lnL w="6350" cmpd="sng">
                      <a:solidFill>
                        <a:srgbClr val="B0B0B0"/>
                      </a:solidFill>
                    </a:lnL>
                    <a:lnR w="6350" cmpd="sng">
                      <a:solidFill>
                        <a:srgbClr val="B0B0B0"/>
                      </a:solidFill>
                    </a:lnR>
                    <a:lnT w="6350" cmpd="sng">
                      <a:solidFill>
                        <a:srgbClr val="B0B0B0"/>
                      </a:solidFill>
                    </a:lnT>
                    <a:lnB w="6350" cmpd="sng">
                      <a:solidFill>
                        <a:srgbClr val="B0B0B0"/>
                      </a:solidFill>
                    </a:lnB>
                    <a:solidFill>
                      <a:srgbClr val="FFFFFF"/>
                    </a:solidFill>
                  </a:tcPr>
                </a:tc>
                <a:extLst>
                  <a:ext uri="{0D108BD9-81ED-4DB2-BD59-A6C34878D82A}">
                    <a16:rowId xmlns:a16="http://schemas.microsoft.com/office/drawing/2014/main" val="718094041"/>
                  </a:ext>
                </a:extLst>
              </a:tr>
              <a:tr h="698500">
                <a:tc>
                  <a:txBody>
                    <a:bodyPr/>
                    <a:lstStyle/>
                    <a:p>
                      <a:pPr>
                        <a:buFontTx/>
                        <a:buNone/>
                      </a:pPr>
                      <a:r>
                        <a:rPr lang="en-AU" sz="2000" b="0" dirty="0">
                          <a:solidFill>
                            <a:srgbClr val="000000"/>
                          </a:solidFill>
                          <a:latin typeface="Calibri" panose="020F0502020204030204" pitchFamily="34" charset="0"/>
                        </a:rPr>
                        <a:t>Wide</a:t>
                      </a:r>
                    </a:p>
                  </a:txBody>
                  <a:tcPr marL="127000" marR="88900" marT="88900" marB="88900" anchor="ctr">
                    <a:lnL w="6350" cmpd="sng">
                      <a:solidFill>
                        <a:srgbClr val="B0B0B0"/>
                      </a:solidFill>
                    </a:lnL>
                    <a:lnR w="6350" cmpd="sng">
                      <a:solidFill>
                        <a:srgbClr val="B0B0B0"/>
                      </a:solidFill>
                    </a:lnR>
                    <a:lnT w="6350" cmpd="sng">
                      <a:solidFill>
                        <a:srgbClr val="B0B0B0"/>
                      </a:solidFill>
                    </a:lnT>
                    <a:lnB w="6350" cmpd="sng">
                      <a:solidFill>
                        <a:srgbClr val="B0B0B0"/>
                      </a:solidFill>
                    </a:lnB>
                    <a:solidFill>
                      <a:srgbClr val="F0F0F0"/>
                    </a:solidFill>
                  </a:tcPr>
                </a:tc>
                <a:tc>
                  <a:txBody>
                    <a:bodyPr/>
                    <a:lstStyle/>
                    <a:p>
                      <a:pPr>
                        <a:buFontTx/>
                        <a:buNone/>
                      </a:pPr>
                      <a:r>
                        <a:rPr lang="en-AU" sz="2000" b="0">
                          <a:solidFill>
                            <a:srgbClr val="000000"/>
                          </a:solidFill>
                          <a:latin typeface="Calibri" panose="020F0502020204030204" pitchFamily="34" charset="0"/>
                        </a:rPr>
                        <a:t>15</a:t>
                      </a:r>
                    </a:p>
                  </a:txBody>
                  <a:tcPr marL="127000" marR="88900" marT="88900" marB="88900" anchor="ctr">
                    <a:lnL w="6350" cmpd="sng">
                      <a:solidFill>
                        <a:srgbClr val="B0B0B0"/>
                      </a:solidFill>
                    </a:lnL>
                    <a:lnR w="6350" cmpd="sng">
                      <a:solidFill>
                        <a:srgbClr val="B0B0B0"/>
                      </a:solidFill>
                    </a:lnR>
                    <a:lnT w="6350" cmpd="sng">
                      <a:solidFill>
                        <a:srgbClr val="B0B0B0"/>
                      </a:solidFill>
                    </a:lnT>
                    <a:lnB w="6350" cmpd="sng">
                      <a:solidFill>
                        <a:srgbClr val="B0B0B0"/>
                      </a:solidFill>
                    </a:lnB>
                    <a:solidFill>
                      <a:srgbClr val="F0F0F0"/>
                    </a:solidFill>
                  </a:tcPr>
                </a:tc>
                <a:tc>
                  <a:txBody>
                    <a:bodyPr/>
                    <a:lstStyle/>
                    <a:p>
                      <a:pPr>
                        <a:buFontTx/>
                        <a:buNone/>
                      </a:pPr>
                      <a:r>
                        <a:rPr lang="en-AU" sz="2000" b="0" dirty="0">
                          <a:solidFill>
                            <a:srgbClr val="000000"/>
                          </a:solidFill>
                          <a:latin typeface="Calibri" panose="020F0502020204030204" pitchFamily="34" charset="0"/>
                        </a:rPr>
                        <a:t>20</a:t>
                      </a:r>
                    </a:p>
                  </a:txBody>
                  <a:tcPr marL="127000" marR="88900" marT="88900" marB="88900" anchor="ctr">
                    <a:lnL w="6350" cmpd="sng">
                      <a:solidFill>
                        <a:srgbClr val="B0B0B0"/>
                      </a:solidFill>
                    </a:lnL>
                    <a:lnR w="6350" cmpd="sng">
                      <a:solidFill>
                        <a:srgbClr val="B0B0B0"/>
                      </a:solidFill>
                    </a:lnR>
                    <a:lnT w="6350" cmpd="sng">
                      <a:solidFill>
                        <a:srgbClr val="B0B0B0"/>
                      </a:solidFill>
                    </a:lnT>
                    <a:lnB w="6350" cmpd="sng">
                      <a:solidFill>
                        <a:srgbClr val="B0B0B0"/>
                      </a:solidFill>
                    </a:lnB>
                    <a:solidFill>
                      <a:srgbClr val="F0F0F0"/>
                    </a:solidFill>
                  </a:tcPr>
                </a:tc>
                <a:tc>
                  <a:txBody>
                    <a:bodyPr/>
                    <a:lstStyle/>
                    <a:p>
                      <a:pPr>
                        <a:buFontTx/>
                        <a:buNone/>
                      </a:pPr>
                      <a:r>
                        <a:rPr lang="en-AU" sz="2000" b="0" dirty="0">
                          <a:solidFill>
                            <a:srgbClr val="000000"/>
                          </a:solidFill>
                          <a:latin typeface="Calibri" panose="020F0502020204030204" pitchFamily="34" charset="0"/>
                        </a:rPr>
                        <a:t>0.713</a:t>
                      </a:r>
                    </a:p>
                  </a:txBody>
                  <a:tcPr marL="127000" marR="88900" marT="88900" marB="88900" anchor="ctr">
                    <a:lnL w="6350" cmpd="sng">
                      <a:solidFill>
                        <a:srgbClr val="B0B0B0"/>
                      </a:solidFill>
                    </a:lnL>
                    <a:lnR w="6350" cmpd="sng">
                      <a:solidFill>
                        <a:srgbClr val="B0B0B0"/>
                      </a:solidFill>
                    </a:lnR>
                    <a:lnT w="6350" cmpd="sng">
                      <a:solidFill>
                        <a:srgbClr val="B0B0B0"/>
                      </a:solidFill>
                    </a:lnT>
                    <a:lnB w="6350" cmpd="sng">
                      <a:solidFill>
                        <a:srgbClr val="B0B0B0"/>
                      </a:solidFill>
                    </a:lnB>
                    <a:solidFill>
                      <a:srgbClr val="F0F0F0"/>
                    </a:solidFill>
                  </a:tcPr>
                </a:tc>
                <a:extLst>
                  <a:ext uri="{0D108BD9-81ED-4DB2-BD59-A6C34878D82A}">
                    <a16:rowId xmlns:a16="http://schemas.microsoft.com/office/drawing/2014/main" val="269844776"/>
                  </a:ext>
                </a:extLst>
              </a:tr>
            </a:tbl>
          </a:graphicData>
        </a:graphic>
      </p:graphicFrame>
      <p:sp>
        <p:nvSpPr>
          <p:cNvPr id="17" name="Start distinction">
            <a:extLst>
              <a:ext uri="{FF2B5EF4-FFF2-40B4-BE49-F238E27FC236}">
                <a16:creationId xmlns:a16="http://schemas.microsoft.com/office/drawing/2014/main" id="{79EF1278-47B2-350E-7824-41D5EF7DA597}"/>
              </a:ext>
            </a:extLst>
          </p:cNvPr>
          <p:cNvSpPr txBox="1"/>
          <p:nvPr/>
        </p:nvSpPr>
        <p:spPr>
          <a:xfrm>
            <a:off x="533400" y="5588000"/>
            <a:ext cx="11112500" cy="584775"/>
          </a:xfrm>
          <a:prstGeom prst="rect">
            <a:avLst/>
          </a:prstGeom>
          <a:noFill/>
        </p:spPr>
        <p:txBody>
          <a:bodyPr vert="horz" lIns="0" tIns="0" rIns="0" bIns="0" rtlCol="0">
            <a:noAutofit/>
          </a:bodyPr>
          <a:lstStyle/>
          <a:p>
            <a:r>
              <a:rPr lang="en-AU" sz="1900" dirty="0">
                <a:solidFill>
                  <a:srgbClr val="000000"/>
                </a:solidFill>
                <a:latin typeface="Calibri" panose="020F0502020204030204" pitchFamily="34" charset="0"/>
              </a:rPr>
              <a:t>Instead of focusing on the algorithm which cannot be improved further because of constraints, I decided to focus on the initial stagger. In the normal heavy dataset, all the D checks happen at once. What if we move the D checks around? First, I did moderate spread of the D checks then widespread.</a:t>
            </a:r>
          </a:p>
        </p:txBody>
      </p:sp>
    </p:spTree>
    <p:extLst>
      <p:ext uri="{BB962C8B-B14F-4D97-AF65-F5344CB8AC3E}">
        <p14:creationId xmlns:p14="http://schemas.microsoft.com/office/powerpoint/2010/main" val="2975520988"/>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5AF57BDB-9DB9-950C-7AC5-CAA265723273}"/>
            </a:ext>
          </a:extLst>
        </p:cNvPr>
        <p:cNvGrpSpPr/>
        <p:nvPr/>
      </p:nvGrpSpPr>
      <p:grpSpPr>
        <a:xfrm>
          <a:off x="0" y="0"/>
          <a:ext cx="0" cy="0"/>
          <a:chOff x="0" y="0"/>
          <a:chExt cx="0" cy="0"/>
        </a:xfrm>
      </p:grpSpPr>
      <p:sp>
        <p:nvSpPr>
          <p:cNvPr id="3" name="Rectangle 2">
            <a:extLst>
              <a:ext uri="{FF2B5EF4-FFF2-40B4-BE49-F238E27FC236}">
                <a16:creationId xmlns:a16="http://schemas.microsoft.com/office/drawing/2014/main" id="{783C61EB-FD76-B859-E393-CE1A2EB0EF90}"/>
              </a:ext>
            </a:extLst>
          </p:cNvPr>
          <p:cNvSpPr/>
          <p:nvPr/>
        </p:nvSpPr>
        <p:spPr>
          <a:xfrm>
            <a:off x="0" y="0"/>
            <a:ext cx="12191695" cy="109728"/>
          </a:xfrm>
          <a:prstGeom prst="rect">
            <a:avLst/>
          </a:prstGeom>
          <a:solidFill>
            <a:srgbClr val="00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 name="TextBox 3">
            <a:extLst>
              <a:ext uri="{FF2B5EF4-FFF2-40B4-BE49-F238E27FC236}">
                <a16:creationId xmlns:a16="http://schemas.microsoft.com/office/drawing/2014/main" id="{731630ED-A7C9-18EB-B9DB-C1DCE8C111DE}"/>
              </a:ext>
            </a:extLst>
          </p:cNvPr>
          <p:cNvSpPr txBox="1"/>
          <p:nvPr/>
        </p:nvSpPr>
        <p:spPr>
          <a:xfrm>
            <a:off x="457200" y="165100"/>
            <a:ext cx="11277600" cy="317500"/>
          </a:xfrm>
          <a:prstGeom prst="rect">
            <a:avLst/>
          </a:prstGeom>
          <a:noFill/>
        </p:spPr>
        <p:txBody>
          <a:bodyPr wrap="square">
            <a:noAutofit/>
          </a:bodyPr>
          <a:lstStyle/>
          <a:p>
            <a:pPr algn="l"/>
            <a:r>
              <a:rPr lang="en-AU" sz="1500" b="1">
                <a:solidFill>
                  <a:srgbClr val="000000"/>
                </a:solidFill>
                <a:latin typeface="Calibri"/>
              </a:rPr>
              <a:t>CONTROLLED START SCHEDULES</a:t>
            </a:r>
            <a:endParaRPr sz="1500" b="1">
              <a:solidFill>
                <a:srgbClr val="000000"/>
              </a:solidFill>
              <a:latin typeface="Calibri"/>
            </a:endParaRPr>
          </a:p>
        </p:txBody>
      </p:sp>
      <p:sp>
        <p:nvSpPr>
          <p:cNvPr id="5" name="TextBox 4">
            <a:extLst>
              <a:ext uri="{FF2B5EF4-FFF2-40B4-BE49-F238E27FC236}">
                <a16:creationId xmlns:a16="http://schemas.microsoft.com/office/drawing/2014/main" id="{A1B5376C-8509-6CCA-08B6-EDD31F06747F}"/>
              </a:ext>
            </a:extLst>
          </p:cNvPr>
          <p:cNvSpPr txBox="1"/>
          <p:nvPr/>
        </p:nvSpPr>
        <p:spPr>
          <a:xfrm>
            <a:off x="457200" y="533400"/>
            <a:ext cx="11277600" cy="660400"/>
          </a:xfrm>
          <a:prstGeom prst="rect">
            <a:avLst/>
          </a:prstGeom>
          <a:noFill/>
        </p:spPr>
        <p:txBody>
          <a:bodyPr wrap="square">
            <a:noAutofit/>
          </a:bodyPr>
          <a:lstStyle/>
          <a:p>
            <a:pPr algn="l"/>
            <a:r>
              <a:rPr lang="en-AU" sz="3200" b="1" dirty="0">
                <a:solidFill>
                  <a:srgbClr val="000000"/>
                </a:solidFill>
                <a:latin typeface="Calibri"/>
              </a:rPr>
              <a:t>Moderate and Wide Staggers</a:t>
            </a:r>
            <a:endParaRPr sz="3200" b="1" dirty="0">
              <a:solidFill>
                <a:srgbClr val="000000"/>
              </a:solidFill>
              <a:latin typeface="Calibri"/>
            </a:endParaRPr>
          </a:p>
        </p:txBody>
      </p:sp>
      <p:pic>
        <p:nvPicPr>
          <p:cNvPr id="6" name="Picture 5">
            <a:extLst>
              <a:ext uri="{FF2B5EF4-FFF2-40B4-BE49-F238E27FC236}">
                <a16:creationId xmlns:a16="http://schemas.microsoft.com/office/drawing/2014/main" id="{7648D653-B757-0E2A-4085-61393D411A12}"/>
              </a:ext>
            </a:extLst>
          </p:cNvPr>
          <p:cNvPicPr>
            <a:picLocks noChangeAspect="1"/>
          </p:cNvPicPr>
          <p:nvPr/>
        </p:nvPicPr>
        <p:blipFill>
          <a:blip r:embed="rId3"/>
          <a:stretch>
            <a:fillRect/>
          </a:stretch>
        </p:blipFill>
        <p:spPr>
          <a:xfrm>
            <a:off x="4355179" y="1192384"/>
            <a:ext cx="6867611" cy="2729376"/>
          </a:xfrm>
          <a:prstGeom prst="rect">
            <a:avLst/>
          </a:prstGeom>
        </p:spPr>
      </p:pic>
      <p:pic>
        <p:nvPicPr>
          <p:cNvPr id="8" name="Picture 7">
            <a:extLst>
              <a:ext uri="{FF2B5EF4-FFF2-40B4-BE49-F238E27FC236}">
                <a16:creationId xmlns:a16="http://schemas.microsoft.com/office/drawing/2014/main" id="{D13795DE-FF8E-E2FC-7437-C8504988279F}"/>
              </a:ext>
            </a:extLst>
          </p:cNvPr>
          <p:cNvPicPr>
            <a:picLocks noChangeAspect="1"/>
          </p:cNvPicPr>
          <p:nvPr/>
        </p:nvPicPr>
        <p:blipFill>
          <a:blip r:embed="rId4"/>
          <a:stretch>
            <a:fillRect/>
          </a:stretch>
        </p:blipFill>
        <p:spPr>
          <a:xfrm>
            <a:off x="4355179" y="3963525"/>
            <a:ext cx="7193490" cy="2639060"/>
          </a:xfrm>
          <a:prstGeom prst="rect">
            <a:avLst/>
          </a:prstGeom>
        </p:spPr>
      </p:pic>
      <p:sp>
        <p:nvSpPr>
          <p:cNvPr id="10" name="Start distinction">
            <a:extLst>
              <a:ext uri="{FF2B5EF4-FFF2-40B4-BE49-F238E27FC236}">
                <a16:creationId xmlns:a16="http://schemas.microsoft.com/office/drawing/2014/main" id="{22C7D028-6D16-58CD-5363-9385BD6D6A74}"/>
              </a:ext>
            </a:extLst>
          </p:cNvPr>
          <p:cNvSpPr txBox="1"/>
          <p:nvPr/>
        </p:nvSpPr>
        <p:spPr>
          <a:xfrm>
            <a:off x="969210" y="2158250"/>
            <a:ext cx="4030980" cy="584775"/>
          </a:xfrm>
          <a:prstGeom prst="rect">
            <a:avLst/>
          </a:prstGeom>
          <a:noFill/>
        </p:spPr>
        <p:txBody>
          <a:bodyPr vert="horz" lIns="0" tIns="0" rIns="0" bIns="0" rtlCol="0">
            <a:noAutofit/>
          </a:bodyPr>
          <a:lstStyle/>
          <a:p>
            <a:r>
              <a:rPr lang="en-AU" sz="1900" dirty="0">
                <a:solidFill>
                  <a:srgbClr val="000000"/>
                </a:solidFill>
                <a:latin typeface="Calibri" panose="020F0502020204030204" pitchFamily="34" charset="0"/>
              </a:rPr>
              <a:t>Moderate initial stagger</a:t>
            </a:r>
          </a:p>
        </p:txBody>
      </p:sp>
      <p:sp>
        <p:nvSpPr>
          <p:cNvPr id="12" name="Start distinction">
            <a:extLst>
              <a:ext uri="{FF2B5EF4-FFF2-40B4-BE49-F238E27FC236}">
                <a16:creationId xmlns:a16="http://schemas.microsoft.com/office/drawing/2014/main" id="{261E6202-0618-936F-D861-E54B1F8E6E62}"/>
              </a:ext>
            </a:extLst>
          </p:cNvPr>
          <p:cNvSpPr txBox="1"/>
          <p:nvPr/>
        </p:nvSpPr>
        <p:spPr>
          <a:xfrm>
            <a:off x="835660" y="4927975"/>
            <a:ext cx="4030980" cy="584775"/>
          </a:xfrm>
          <a:prstGeom prst="rect">
            <a:avLst/>
          </a:prstGeom>
          <a:noFill/>
        </p:spPr>
        <p:txBody>
          <a:bodyPr vert="horz" lIns="0" tIns="0" rIns="0" bIns="0" rtlCol="0">
            <a:noAutofit/>
          </a:bodyPr>
          <a:lstStyle/>
          <a:p>
            <a:r>
              <a:rPr lang="en-AU" sz="1900" dirty="0">
                <a:solidFill>
                  <a:srgbClr val="000000"/>
                </a:solidFill>
                <a:latin typeface="Calibri" panose="020F0502020204030204" pitchFamily="34" charset="0"/>
              </a:rPr>
              <a:t>Wide initial stagger</a:t>
            </a:r>
          </a:p>
        </p:txBody>
      </p:sp>
    </p:spTree>
    <p:extLst>
      <p:ext uri="{BB962C8B-B14F-4D97-AF65-F5344CB8AC3E}">
        <p14:creationId xmlns:p14="http://schemas.microsoft.com/office/powerpoint/2010/main" val="4143879525"/>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Rectangle 2"/>
          <p:cNvSpPr/>
          <p:nvPr/>
        </p:nvSpPr>
        <p:spPr>
          <a:xfrm>
            <a:off x="0" y="0"/>
            <a:ext cx="12191695" cy="109728"/>
          </a:xfrm>
          <a:prstGeom prst="rect">
            <a:avLst/>
          </a:prstGeom>
          <a:solidFill>
            <a:srgbClr val="00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 name="TextBox 3"/>
          <p:cNvSpPr txBox="1"/>
          <p:nvPr/>
        </p:nvSpPr>
        <p:spPr>
          <a:xfrm>
            <a:off x="457200" y="165100"/>
            <a:ext cx="11277600" cy="317500"/>
          </a:xfrm>
          <a:prstGeom prst="rect">
            <a:avLst/>
          </a:prstGeom>
          <a:noFill/>
        </p:spPr>
        <p:txBody>
          <a:bodyPr wrap="square">
            <a:noAutofit/>
          </a:bodyPr>
          <a:lstStyle/>
          <a:p>
            <a:pPr algn="l"/>
            <a:r>
              <a:rPr lang="en-AU" sz="1500" b="1">
                <a:solidFill>
                  <a:srgbClr val="000000"/>
                </a:solidFill>
                <a:latin typeface="Calibri"/>
              </a:rPr>
              <a:t>HYPERPARAMETER RESULTS</a:t>
            </a:r>
            <a:endParaRPr sz="1500" b="1">
              <a:solidFill>
                <a:srgbClr val="000000"/>
              </a:solidFill>
              <a:latin typeface="Calibri"/>
            </a:endParaRPr>
          </a:p>
        </p:txBody>
      </p:sp>
      <p:sp>
        <p:nvSpPr>
          <p:cNvPr id="5" name="TextBox 4"/>
          <p:cNvSpPr txBox="1"/>
          <p:nvPr/>
        </p:nvSpPr>
        <p:spPr>
          <a:xfrm>
            <a:off x="457200" y="533400"/>
            <a:ext cx="11277600" cy="660400"/>
          </a:xfrm>
          <a:prstGeom prst="rect">
            <a:avLst/>
          </a:prstGeom>
          <a:noFill/>
        </p:spPr>
        <p:txBody>
          <a:bodyPr wrap="square">
            <a:noAutofit/>
          </a:bodyPr>
          <a:lstStyle/>
          <a:p>
            <a:pPr algn="l"/>
            <a:r>
              <a:rPr lang="en-US" sz="3200" b="1">
                <a:solidFill>
                  <a:srgbClr val="000000"/>
                </a:solidFill>
                <a:latin typeface="Calibri"/>
              </a:rPr>
              <a:t>Tuning improved smoothness on every forecast</a:t>
            </a:r>
            <a:endParaRPr sz="3200" b="1">
              <a:solidFill>
                <a:srgbClr val="000000"/>
              </a:solidFill>
              <a:latin typeface="Calibri"/>
            </a:endParaRPr>
          </a:p>
        </p:txBody>
      </p:sp>
      <p:graphicFrame>
        <p:nvGraphicFramePr>
          <p:cNvPr id="6" name="Hyperparameter results">
            <a:extLst>
              <a:ext uri="{FF2B5EF4-FFF2-40B4-BE49-F238E27FC236}">
                <a16:creationId xmlns:a16="http://schemas.microsoft.com/office/drawing/2014/main" id="{C47F4C4B-330A-CD4D-FA5F-6E5E686EC89C}"/>
              </a:ext>
            </a:extLst>
          </p:cNvPr>
          <p:cNvGraphicFramePr>
            <a:graphicFrameLocks noGrp="1"/>
          </p:cNvGraphicFramePr>
          <p:nvPr>
            <p:extLst>
              <p:ext uri="{D42A27DB-BD31-4B8C-83A1-F6EECF244321}">
                <p14:modId xmlns:p14="http://schemas.microsoft.com/office/powerpoint/2010/main" val="3909335142"/>
              </p:ext>
            </p:extLst>
          </p:nvPr>
        </p:nvGraphicFramePr>
        <p:xfrm>
          <a:off x="457200" y="1638300"/>
          <a:ext cx="11277600" cy="2895600"/>
        </p:xfrm>
        <a:graphic>
          <a:graphicData uri="http://schemas.openxmlformats.org/drawingml/2006/table">
            <a:tbl>
              <a:tblPr firstRow="1" bandRow="1">
                <a:tableStyleId>{5C22544A-7EE6-4342-B048-85BDC9FD1C3A}</a:tableStyleId>
              </a:tblPr>
              <a:tblGrid>
                <a:gridCol w="2032000">
                  <a:extLst>
                    <a:ext uri="{9D8B030D-6E8A-4147-A177-3AD203B41FA5}">
                      <a16:colId xmlns:a16="http://schemas.microsoft.com/office/drawing/2014/main" val="1996990930"/>
                    </a:ext>
                  </a:extLst>
                </a:gridCol>
                <a:gridCol w="1803400">
                  <a:extLst>
                    <a:ext uri="{9D8B030D-6E8A-4147-A177-3AD203B41FA5}">
                      <a16:colId xmlns:a16="http://schemas.microsoft.com/office/drawing/2014/main" val="3880956400"/>
                    </a:ext>
                  </a:extLst>
                </a:gridCol>
                <a:gridCol w="1803400">
                  <a:extLst>
                    <a:ext uri="{9D8B030D-6E8A-4147-A177-3AD203B41FA5}">
                      <a16:colId xmlns:a16="http://schemas.microsoft.com/office/drawing/2014/main" val="2683081926"/>
                    </a:ext>
                  </a:extLst>
                </a:gridCol>
                <a:gridCol w="1879600">
                  <a:extLst>
                    <a:ext uri="{9D8B030D-6E8A-4147-A177-3AD203B41FA5}">
                      <a16:colId xmlns:a16="http://schemas.microsoft.com/office/drawing/2014/main" val="927142470"/>
                    </a:ext>
                  </a:extLst>
                </a:gridCol>
                <a:gridCol w="1879600">
                  <a:extLst>
                    <a:ext uri="{9D8B030D-6E8A-4147-A177-3AD203B41FA5}">
                      <a16:colId xmlns:a16="http://schemas.microsoft.com/office/drawing/2014/main" val="3425995423"/>
                    </a:ext>
                  </a:extLst>
                </a:gridCol>
                <a:gridCol w="1879600">
                  <a:extLst>
                    <a:ext uri="{9D8B030D-6E8A-4147-A177-3AD203B41FA5}">
                      <a16:colId xmlns:a16="http://schemas.microsoft.com/office/drawing/2014/main" val="864458135"/>
                    </a:ext>
                  </a:extLst>
                </a:gridCol>
              </a:tblGrid>
              <a:tr h="723900">
                <a:tc>
                  <a:txBody>
                    <a:bodyPr/>
                    <a:lstStyle/>
                    <a:p>
                      <a:pPr>
                        <a:buFontTx/>
                        <a:buNone/>
                      </a:pPr>
                      <a:r>
                        <a:rPr lang="en-AU" sz="1600" b="1">
                          <a:solidFill>
                            <a:srgbClr val="FFFFFF"/>
                          </a:solidFill>
                          <a:latin typeface="Calibri" panose="020F0502020204030204" pitchFamily="34" charset="0"/>
                        </a:rPr>
                        <a:t>Dataset</a:t>
                      </a:r>
                    </a:p>
                  </a:txBody>
                  <a:tcPr marL="127000" marR="88900" marT="88900" marB="88900" anchor="ctr">
                    <a:lnL w="6350" cmpd="sng">
                      <a:solidFill>
                        <a:srgbClr val="B0B0B0"/>
                      </a:solidFill>
                    </a:lnL>
                    <a:lnR w="6350" cmpd="sng">
                      <a:solidFill>
                        <a:srgbClr val="B0B0B0"/>
                      </a:solidFill>
                    </a:lnR>
                    <a:lnT w="6350" cmpd="sng">
                      <a:solidFill>
                        <a:srgbClr val="B0B0B0"/>
                      </a:solidFill>
                    </a:lnT>
                    <a:lnB w="6350" cmpd="sng">
                      <a:solidFill>
                        <a:srgbClr val="B0B0B0"/>
                      </a:solidFill>
                    </a:lnB>
                    <a:solidFill>
                      <a:srgbClr val="000000"/>
                    </a:solidFill>
                  </a:tcPr>
                </a:tc>
                <a:tc>
                  <a:txBody>
                    <a:bodyPr/>
                    <a:lstStyle/>
                    <a:p>
                      <a:pPr>
                        <a:buFontTx/>
                        <a:buNone/>
                      </a:pPr>
                      <a:r>
                        <a:rPr lang="en-AU" sz="1600" b="1">
                          <a:solidFill>
                            <a:srgbClr val="FFFFFF"/>
                          </a:solidFill>
                          <a:latin typeface="Calibri" panose="020F0502020204030204" pitchFamily="34" charset="0"/>
                        </a:rPr>
                        <a:t>Initial worst day</a:t>
                      </a:r>
                    </a:p>
                  </a:txBody>
                  <a:tcPr marL="127000" marR="88900" marT="88900" marB="88900" anchor="ctr">
                    <a:lnL w="6350" cmpd="sng">
                      <a:solidFill>
                        <a:srgbClr val="B0B0B0"/>
                      </a:solidFill>
                    </a:lnL>
                    <a:lnR w="6350" cmpd="sng">
                      <a:solidFill>
                        <a:srgbClr val="B0B0B0"/>
                      </a:solidFill>
                    </a:lnR>
                    <a:lnT w="6350" cmpd="sng">
                      <a:solidFill>
                        <a:srgbClr val="B0B0B0"/>
                      </a:solidFill>
                    </a:lnT>
                    <a:lnB w="6350" cmpd="sng">
                      <a:solidFill>
                        <a:srgbClr val="B0B0B0"/>
                      </a:solidFill>
                    </a:lnB>
                    <a:solidFill>
                      <a:srgbClr val="000000"/>
                    </a:solidFill>
                  </a:tcPr>
                </a:tc>
                <a:tc>
                  <a:txBody>
                    <a:bodyPr/>
                    <a:lstStyle/>
                    <a:p>
                      <a:pPr>
                        <a:buFontTx/>
                        <a:buNone/>
                      </a:pPr>
                      <a:r>
                        <a:rPr lang="en-AU" sz="1600" b="1">
                          <a:solidFill>
                            <a:srgbClr val="FFFFFF"/>
                          </a:solidFill>
                          <a:latin typeface="Calibri" panose="020F0502020204030204" pitchFamily="34" charset="0"/>
                        </a:rPr>
                        <a:t>Tuned worst day</a:t>
                      </a:r>
                    </a:p>
                  </a:txBody>
                  <a:tcPr marL="127000" marR="88900" marT="88900" marB="88900" anchor="ctr">
                    <a:lnL w="6350" cmpd="sng">
                      <a:solidFill>
                        <a:srgbClr val="B0B0B0"/>
                      </a:solidFill>
                    </a:lnL>
                    <a:lnR w="6350" cmpd="sng">
                      <a:solidFill>
                        <a:srgbClr val="B0B0B0"/>
                      </a:solidFill>
                    </a:lnR>
                    <a:lnT w="6350" cmpd="sng">
                      <a:solidFill>
                        <a:srgbClr val="B0B0B0"/>
                      </a:solidFill>
                    </a:lnT>
                    <a:lnB w="6350" cmpd="sng">
                      <a:solidFill>
                        <a:srgbClr val="B0B0B0"/>
                      </a:solidFill>
                    </a:lnB>
                    <a:solidFill>
                      <a:srgbClr val="000000"/>
                    </a:solidFill>
                  </a:tcPr>
                </a:tc>
                <a:tc>
                  <a:txBody>
                    <a:bodyPr/>
                    <a:lstStyle/>
                    <a:p>
                      <a:pPr>
                        <a:buFontTx/>
                        <a:buNone/>
                      </a:pPr>
                      <a:r>
                        <a:rPr lang="en-AU" sz="1600" b="1">
                          <a:solidFill>
                            <a:srgbClr val="FFFFFF"/>
                          </a:solidFill>
                          <a:latin typeface="Calibri" panose="020F0502020204030204" pitchFamily="34" charset="0"/>
                        </a:rPr>
                        <a:t>Default std</a:t>
                      </a:r>
                    </a:p>
                  </a:txBody>
                  <a:tcPr marL="127000" marR="88900" marT="88900" marB="88900" anchor="ctr">
                    <a:lnL w="6350" cmpd="sng">
                      <a:solidFill>
                        <a:srgbClr val="B0B0B0"/>
                      </a:solidFill>
                    </a:lnL>
                    <a:lnR w="6350" cmpd="sng">
                      <a:solidFill>
                        <a:srgbClr val="B0B0B0"/>
                      </a:solidFill>
                    </a:lnR>
                    <a:lnT w="6350" cmpd="sng">
                      <a:solidFill>
                        <a:srgbClr val="B0B0B0"/>
                      </a:solidFill>
                    </a:lnT>
                    <a:lnB w="6350" cmpd="sng">
                      <a:solidFill>
                        <a:srgbClr val="B0B0B0"/>
                      </a:solidFill>
                    </a:lnB>
                    <a:solidFill>
                      <a:srgbClr val="000000"/>
                    </a:solidFill>
                  </a:tcPr>
                </a:tc>
                <a:tc>
                  <a:txBody>
                    <a:bodyPr/>
                    <a:lstStyle/>
                    <a:p>
                      <a:pPr>
                        <a:buFontTx/>
                        <a:buNone/>
                      </a:pPr>
                      <a:r>
                        <a:rPr lang="en-AU" sz="1600" b="1">
                          <a:solidFill>
                            <a:srgbClr val="FFFFFF"/>
                          </a:solidFill>
                          <a:latin typeface="Calibri" panose="020F0502020204030204" pitchFamily="34" charset="0"/>
                        </a:rPr>
                        <a:t>Tuned std</a:t>
                      </a:r>
                    </a:p>
                  </a:txBody>
                  <a:tcPr marL="127000" marR="88900" marT="88900" marB="88900" anchor="ctr">
                    <a:lnL w="6350" cmpd="sng">
                      <a:solidFill>
                        <a:srgbClr val="B0B0B0"/>
                      </a:solidFill>
                    </a:lnL>
                    <a:lnR w="6350" cmpd="sng">
                      <a:solidFill>
                        <a:srgbClr val="B0B0B0"/>
                      </a:solidFill>
                    </a:lnR>
                    <a:lnT w="6350" cmpd="sng">
                      <a:solidFill>
                        <a:srgbClr val="B0B0B0"/>
                      </a:solidFill>
                    </a:lnT>
                    <a:lnB w="6350" cmpd="sng">
                      <a:solidFill>
                        <a:srgbClr val="B0B0B0"/>
                      </a:solidFill>
                    </a:lnB>
                    <a:solidFill>
                      <a:srgbClr val="000000"/>
                    </a:solidFill>
                  </a:tcPr>
                </a:tc>
                <a:tc>
                  <a:txBody>
                    <a:bodyPr/>
                    <a:lstStyle/>
                    <a:p>
                      <a:pPr>
                        <a:buFontTx/>
                        <a:buNone/>
                      </a:pPr>
                      <a:r>
                        <a:rPr lang="en-AU" sz="1600" b="1">
                          <a:solidFill>
                            <a:srgbClr val="FFFFFF"/>
                          </a:solidFill>
                          <a:latin typeface="Calibri" panose="020F0502020204030204" pitchFamily="34" charset="0"/>
                        </a:rPr>
                        <a:t>Best setting</a:t>
                      </a:r>
                    </a:p>
                  </a:txBody>
                  <a:tcPr marL="127000" marR="88900" marT="88900" marB="88900" anchor="ctr">
                    <a:lnL w="6350" cmpd="sng">
                      <a:solidFill>
                        <a:srgbClr val="B0B0B0"/>
                      </a:solidFill>
                    </a:lnL>
                    <a:lnR w="6350" cmpd="sng">
                      <a:solidFill>
                        <a:srgbClr val="B0B0B0"/>
                      </a:solidFill>
                    </a:lnR>
                    <a:lnT w="6350" cmpd="sng">
                      <a:solidFill>
                        <a:srgbClr val="B0B0B0"/>
                      </a:solidFill>
                    </a:lnT>
                    <a:lnB w="6350" cmpd="sng">
                      <a:solidFill>
                        <a:srgbClr val="B0B0B0"/>
                      </a:solidFill>
                    </a:lnB>
                    <a:solidFill>
                      <a:srgbClr val="000000"/>
                    </a:solidFill>
                  </a:tcPr>
                </a:tc>
                <a:extLst>
                  <a:ext uri="{0D108BD9-81ED-4DB2-BD59-A6C34878D82A}">
                    <a16:rowId xmlns:a16="http://schemas.microsoft.com/office/drawing/2014/main" val="1698915676"/>
                  </a:ext>
                </a:extLst>
              </a:tr>
              <a:tr h="723900">
                <a:tc>
                  <a:txBody>
                    <a:bodyPr/>
                    <a:lstStyle/>
                    <a:p>
                      <a:pPr>
                        <a:buFontTx/>
                        <a:buNone/>
                      </a:pPr>
                      <a:r>
                        <a:rPr lang="en-AU" sz="2000" b="0">
                          <a:solidFill>
                            <a:srgbClr val="000000"/>
                          </a:solidFill>
                          <a:latin typeface="Calibri" panose="020F0502020204030204" pitchFamily="34" charset="0"/>
                        </a:rPr>
                        <a:t>Original</a:t>
                      </a:r>
                    </a:p>
                  </a:txBody>
                  <a:tcPr marL="127000" marR="88900" marT="88900" marB="88900" anchor="ctr">
                    <a:lnL w="6350" cmpd="sng">
                      <a:solidFill>
                        <a:srgbClr val="B0B0B0"/>
                      </a:solidFill>
                    </a:lnL>
                    <a:lnR w="6350" cmpd="sng">
                      <a:solidFill>
                        <a:srgbClr val="B0B0B0"/>
                      </a:solidFill>
                    </a:lnR>
                    <a:lnT w="6350" cmpd="sng">
                      <a:solidFill>
                        <a:srgbClr val="B0B0B0"/>
                      </a:solidFill>
                    </a:lnT>
                    <a:lnB w="6350" cmpd="sng">
                      <a:solidFill>
                        <a:srgbClr val="B0B0B0"/>
                      </a:solidFill>
                    </a:lnB>
                    <a:solidFill>
                      <a:srgbClr val="F0F0F0"/>
                    </a:solidFill>
                  </a:tcPr>
                </a:tc>
                <a:tc>
                  <a:txBody>
                    <a:bodyPr/>
                    <a:lstStyle/>
                    <a:p>
                      <a:pPr>
                        <a:buFontTx/>
                        <a:buNone/>
                      </a:pPr>
                      <a:r>
                        <a:rPr lang="en-AU" sz="2000" b="0">
                          <a:solidFill>
                            <a:srgbClr val="000000"/>
                          </a:solidFill>
                          <a:latin typeface="Calibri" panose="020F0502020204030204" pitchFamily="34" charset="0"/>
                        </a:rPr>
                        <a:t>15</a:t>
                      </a:r>
                    </a:p>
                  </a:txBody>
                  <a:tcPr marL="127000" marR="88900" marT="88900" marB="88900" anchor="ctr">
                    <a:lnL w="6350" cmpd="sng">
                      <a:solidFill>
                        <a:srgbClr val="B0B0B0"/>
                      </a:solidFill>
                    </a:lnL>
                    <a:lnR w="6350" cmpd="sng">
                      <a:solidFill>
                        <a:srgbClr val="B0B0B0"/>
                      </a:solidFill>
                    </a:lnR>
                    <a:lnT w="6350" cmpd="sng">
                      <a:solidFill>
                        <a:srgbClr val="B0B0B0"/>
                      </a:solidFill>
                    </a:lnT>
                    <a:lnB w="6350" cmpd="sng">
                      <a:solidFill>
                        <a:srgbClr val="B0B0B0"/>
                      </a:solidFill>
                    </a:lnB>
                    <a:solidFill>
                      <a:srgbClr val="F0F0F0"/>
                    </a:solidFill>
                  </a:tcPr>
                </a:tc>
                <a:tc>
                  <a:txBody>
                    <a:bodyPr/>
                    <a:lstStyle/>
                    <a:p>
                      <a:pPr>
                        <a:buFontTx/>
                        <a:buNone/>
                      </a:pPr>
                      <a:r>
                        <a:rPr lang="en-AU" sz="2000" b="0">
                          <a:solidFill>
                            <a:srgbClr val="000000"/>
                          </a:solidFill>
                          <a:latin typeface="Calibri" panose="020F0502020204030204" pitchFamily="34" charset="0"/>
                        </a:rPr>
                        <a:t>18</a:t>
                      </a:r>
                    </a:p>
                  </a:txBody>
                  <a:tcPr marL="127000" marR="88900" marT="88900" marB="88900" anchor="ctr">
                    <a:lnL w="6350" cmpd="sng">
                      <a:solidFill>
                        <a:srgbClr val="B0B0B0"/>
                      </a:solidFill>
                    </a:lnL>
                    <a:lnR w="6350" cmpd="sng">
                      <a:solidFill>
                        <a:srgbClr val="B0B0B0"/>
                      </a:solidFill>
                    </a:lnR>
                    <a:lnT w="6350" cmpd="sng">
                      <a:solidFill>
                        <a:srgbClr val="B0B0B0"/>
                      </a:solidFill>
                    </a:lnT>
                    <a:lnB w="6350" cmpd="sng">
                      <a:solidFill>
                        <a:srgbClr val="B0B0B0"/>
                      </a:solidFill>
                    </a:lnB>
                    <a:solidFill>
                      <a:srgbClr val="F0F0F0"/>
                    </a:solidFill>
                  </a:tcPr>
                </a:tc>
                <a:tc>
                  <a:txBody>
                    <a:bodyPr/>
                    <a:lstStyle/>
                    <a:p>
                      <a:pPr>
                        <a:buFontTx/>
                        <a:buNone/>
                      </a:pPr>
                      <a:r>
                        <a:rPr lang="en-AU" sz="2000" b="0">
                          <a:solidFill>
                            <a:srgbClr val="000000"/>
                          </a:solidFill>
                          <a:latin typeface="Calibri" panose="020F0502020204030204" pitchFamily="34" charset="0"/>
                        </a:rPr>
                        <a:t>1.4221</a:t>
                      </a:r>
                    </a:p>
                  </a:txBody>
                  <a:tcPr marL="127000" marR="88900" marT="88900" marB="88900" anchor="ctr">
                    <a:lnL w="6350" cmpd="sng">
                      <a:solidFill>
                        <a:srgbClr val="B0B0B0"/>
                      </a:solidFill>
                    </a:lnL>
                    <a:lnR w="6350" cmpd="sng">
                      <a:solidFill>
                        <a:srgbClr val="B0B0B0"/>
                      </a:solidFill>
                    </a:lnR>
                    <a:lnT w="6350" cmpd="sng">
                      <a:solidFill>
                        <a:srgbClr val="B0B0B0"/>
                      </a:solidFill>
                    </a:lnT>
                    <a:lnB w="6350" cmpd="sng">
                      <a:solidFill>
                        <a:srgbClr val="B0B0B0"/>
                      </a:solidFill>
                    </a:lnB>
                    <a:solidFill>
                      <a:srgbClr val="F0F0F0"/>
                    </a:solidFill>
                  </a:tcPr>
                </a:tc>
                <a:tc>
                  <a:txBody>
                    <a:bodyPr/>
                    <a:lstStyle/>
                    <a:p>
                      <a:pPr>
                        <a:buFontTx/>
                        <a:buNone/>
                      </a:pPr>
                      <a:r>
                        <a:rPr lang="en-AU" sz="2000" b="0">
                          <a:solidFill>
                            <a:srgbClr val="000000"/>
                          </a:solidFill>
                          <a:latin typeface="Calibri" panose="020F0502020204030204" pitchFamily="34" charset="0"/>
                        </a:rPr>
                        <a:t>1.4019</a:t>
                      </a:r>
                    </a:p>
                  </a:txBody>
                  <a:tcPr marL="127000" marR="88900" marT="88900" marB="88900" anchor="ctr">
                    <a:lnL w="6350" cmpd="sng">
                      <a:solidFill>
                        <a:srgbClr val="B0B0B0"/>
                      </a:solidFill>
                    </a:lnL>
                    <a:lnR w="6350" cmpd="sng">
                      <a:solidFill>
                        <a:srgbClr val="B0B0B0"/>
                      </a:solidFill>
                    </a:lnR>
                    <a:lnT w="6350" cmpd="sng">
                      <a:solidFill>
                        <a:srgbClr val="B0B0B0"/>
                      </a:solidFill>
                    </a:lnT>
                    <a:lnB w="6350" cmpd="sng">
                      <a:solidFill>
                        <a:srgbClr val="B0B0B0"/>
                      </a:solidFill>
                    </a:lnB>
                    <a:solidFill>
                      <a:srgbClr val="F0F0F0"/>
                    </a:solidFill>
                  </a:tcPr>
                </a:tc>
                <a:tc>
                  <a:txBody>
                    <a:bodyPr/>
                    <a:lstStyle/>
                    <a:p>
                      <a:pPr>
                        <a:buFontTx/>
                        <a:buNone/>
                      </a:pPr>
                      <a:r>
                        <a:rPr lang="en-AU" sz="2000" b="0">
                          <a:solidFill>
                            <a:srgbClr val="000000"/>
                          </a:solidFill>
                          <a:latin typeface="Calibri" panose="020F0502020204030204" pitchFamily="34" charset="0"/>
                        </a:rPr>
                        <a:t>C57</a:t>
                      </a:r>
                    </a:p>
                  </a:txBody>
                  <a:tcPr marL="127000" marR="88900" marT="88900" marB="88900" anchor="ctr">
                    <a:lnL w="6350" cmpd="sng">
                      <a:solidFill>
                        <a:srgbClr val="B0B0B0"/>
                      </a:solidFill>
                    </a:lnL>
                    <a:lnR w="6350" cmpd="sng">
                      <a:solidFill>
                        <a:srgbClr val="B0B0B0"/>
                      </a:solidFill>
                    </a:lnR>
                    <a:lnT w="6350" cmpd="sng">
                      <a:solidFill>
                        <a:srgbClr val="B0B0B0"/>
                      </a:solidFill>
                    </a:lnT>
                    <a:lnB w="6350" cmpd="sng">
                      <a:solidFill>
                        <a:srgbClr val="B0B0B0"/>
                      </a:solidFill>
                    </a:lnB>
                    <a:solidFill>
                      <a:srgbClr val="F0F0F0"/>
                    </a:solidFill>
                  </a:tcPr>
                </a:tc>
                <a:extLst>
                  <a:ext uri="{0D108BD9-81ED-4DB2-BD59-A6C34878D82A}">
                    <a16:rowId xmlns:a16="http://schemas.microsoft.com/office/drawing/2014/main" val="1483647616"/>
                  </a:ext>
                </a:extLst>
              </a:tr>
              <a:tr h="723900">
                <a:tc>
                  <a:txBody>
                    <a:bodyPr/>
                    <a:lstStyle/>
                    <a:p>
                      <a:pPr>
                        <a:buFontTx/>
                        <a:buNone/>
                      </a:pPr>
                      <a:r>
                        <a:rPr lang="en-AU" sz="2000" b="0">
                          <a:solidFill>
                            <a:srgbClr val="000000"/>
                          </a:solidFill>
                          <a:latin typeface="Calibri" panose="020F0502020204030204" pitchFamily="34" charset="0"/>
                        </a:rPr>
                        <a:t>Moderate</a:t>
                      </a:r>
                    </a:p>
                  </a:txBody>
                  <a:tcPr marL="127000" marR="88900" marT="88900" marB="88900" anchor="ctr">
                    <a:lnL w="6350" cmpd="sng">
                      <a:solidFill>
                        <a:srgbClr val="B0B0B0"/>
                      </a:solidFill>
                    </a:lnL>
                    <a:lnR w="6350" cmpd="sng">
                      <a:solidFill>
                        <a:srgbClr val="B0B0B0"/>
                      </a:solidFill>
                    </a:lnR>
                    <a:lnT w="6350" cmpd="sng">
                      <a:solidFill>
                        <a:srgbClr val="B0B0B0"/>
                      </a:solidFill>
                    </a:lnT>
                    <a:lnB w="6350" cmpd="sng">
                      <a:solidFill>
                        <a:srgbClr val="B0B0B0"/>
                      </a:solidFill>
                    </a:lnB>
                    <a:solidFill>
                      <a:srgbClr val="FFFFFF"/>
                    </a:solidFill>
                  </a:tcPr>
                </a:tc>
                <a:tc>
                  <a:txBody>
                    <a:bodyPr/>
                    <a:lstStyle/>
                    <a:p>
                      <a:pPr>
                        <a:buFontTx/>
                        <a:buNone/>
                      </a:pPr>
                      <a:r>
                        <a:rPr lang="en-AU" sz="2000" b="0">
                          <a:solidFill>
                            <a:srgbClr val="000000"/>
                          </a:solidFill>
                          <a:latin typeface="Calibri" panose="020F0502020204030204" pitchFamily="34" charset="0"/>
                        </a:rPr>
                        <a:t>16</a:t>
                      </a:r>
                    </a:p>
                  </a:txBody>
                  <a:tcPr marL="127000" marR="88900" marT="88900" marB="88900" anchor="ctr">
                    <a:lnL w="6350" cmpd="sng">
                      <a:solidFill>
                        <a:srgbClr val="B0B0B0"/>
                      </a:solidFill>
                    </a:lnL>
                    <a:lnR w="6350" cmpd="sng">
                      <a:solidFill>
                        <a:srgbClr val="B0B0B0"/>
                      </a:solidFill>
                    </a:lnR>
                    <a:lnT w="6350" cmpd="sng">
                      <a:solidFill>
                        <a:srgbClr val="B0B0B0"/>
                      </a:solidFill>
                    </a:lnT>
                    <a:lnB w="6350" cmpd="sng">
                      <a:solidFill>
                        <a:srgbClr val="B0B0B0"/>
                      </a:solidFill>
                    </a:lnB>
                    <a:solidFill>
                      <a:srgbClr val="FFFFFF"/>
                    </a:solidFill>
                  </a:tcPr>
                </a:tc>
                <a:tc>
                  <a:txBody>
                    <a:bodyPr/>
                    <a:lstStyle/>
                    <a:p>
                      <a:pPr>
                        <a:buFontTx/>
                        <a:buNone/>
                      </a:pPr>
                      <a:r>
                        <a:rPr lang="en-AU" sz="2000" b="0">
                          <a:solidFill>
                            <a:srgbClr val="000000"/>
                          </a:solidFill>
                          <a:latin typeface="Calibri" panose="020F0502020204030204" pitchFamily="34" charset="0"/>
                        </a:rPr>
                        <a:t>19</a:t>
                      </a:r>
                    </a:p>
                  </a:txBody>
                  <a:tcPr marL="127000" marR="88900" marT="88900" marB="88900" anchor="ctr">
                    <a:lnL w="6350" cmpd="sng">
                      <a:solidFill>
                        <a:srgbClr val="B0B0B0"/>
                      </a:solidFill>
                    </a:lnL>
                    <a:lnR w="6350" cmpd="sng">
                      <a:solidFill>
                        <a:srgbClr val="B0B0B0"/>
                      </a:solidFill>
                    </a:lnR>
                    <a:lnT w="6350" cmpd="sng">
                      <a:solidFill>
                        <a:srgbClr val="B0B0B0"/>
                      </a:solidFill>
                    </a:lnT>
                    <a:lnB w="6350" cmpd="sng">
                      <a:solidFill>
                        <a:srgbClr val="B0B0B0"/>
                      </a:solidFill>
                    </a:lnB>
                    <a:solidFill>
                      <a:srgbClr val="FFFFFF"/>
                    </a:solidFill>
                  </a:tcPr>
                </a:tc>
                <a:tc>
                  <a:txBody>
                    <a:bodyPr/>
                    <a:lstStyle/>
                    <a:p>
                      <a:pPr>
                        <a:buFontTx/>
                        <a:buNone/>
                      </a:pPr>
                      <a:r>
                        <a:rPr lang="en-AU" sz="2000" b="0">
                          <a:solidFill>
                            <a:srgbClr val="000000"/>
                          </a:solidFill>
                          <a:latin typeface="Calibri" panose="020F0502020204030204" pitchFamily="34" charset="0"/>
                        </a:rPr>
                        <a:t>0.9117</a:t>
                      </a:r>
                    </a:p>
                  </a:txBody>
                  <a:tcPr marL="127000" marR="88900" marT="88900" marB="88900" anchor="ctr">
                    <a:lnL w="6350" cmpd="sng">
                      <a:solidFill>
                        <a:srgbClr val="B0B0B0"/>
                      </a:solidFill>
                    </a:lnL>
                    <a:lnR w="6350" cmpd="sng">
                      <a:solidFill>
                        <a:srgbClr val="B0B0B0"/>
                      </a:solidFill>
                    </a:lnR>
                    <a:lnT w="6350" cmpd="sng">
                      <a:solidFill>
                        <a:srgbClr val="B0B0B0"/>
                      </a:solidFill>
                    </a:lnT>
                    <a:lnB w="6350" cmpd="sng">
                      <a:solidFill>
                        <a:srgbClr val="B0B0B0"/>
                      </a:solidFill>
                    </a:lnB>
                    <a:solidFill>
                      <a:srgbClr val="FFFFFF"/>
                    </a:solidFill>
                  </a:tcPr>
                </a:tc>
                <a:tc>
                  <a:txBody>
                    <a:bodyPr/>
                    <a:lstStyle/>
                    <a:p>
                      <a:pPr>
                        <a:buFontTx/>
                        <a:buNone/>
                      </a:pPr>
                      <a:r>
                        <a:rPr lang="en-AU" sz="2000" b="0">
                          <a:solidFill>
                            <a:srgbClr val="000000"/>
                          </a:solidFill>
                          <a:latin typeface="Calibri" panose="020F0502020204030204" pitchFamily="34" charset="0"/>
                        </a:rPr>
                        <a:t>0.8834</a:t>
                      </a:r>
                    </a:p>
                  </a:txBody>
                  <a:tcPr marL="127000" marR="88900" marT="88900" marB="88900" anchor="ctr">
                    <a:lnL w="6350" cmpd="sng">
                      <a:solidFill>
                        <a:srgbClr val="B0B0B0"/>
                      </a:solidFill>
                    </a:lnL>
                    <a:lnR w="6350" cmpd="sng">
                      <a:solidFill>
                        <a:srgbClr val="B0B0B0"/>
                      </a:solidFill>
                    </a:lnR>
                    <a:lnT w="6350" cmpd="sng">
                      <a:solidFill>
                        <a:srgbClr val="B0B0B0"/>
                      </a:solidFill>
                    </a:lnT>
                    <a:lnB w="6350" cmpd="sng">
                      <a:solidFill>
                        <a:srgbClr val="B0B0B0"/>
                      </a:solidFill>
                    </a:lnB>
                    <a:solidFill>
                      <a:srgbClr val="FFFFFF"/>
                    </a:solidFill>
                  </a:tcPr>
                </a:tc>
                <a:tc>
                  <a:txBody>
                    <a:bodyPr/>
                    <a:lstStyle/>
                    <a:p>
                      <a:pPr>
                        <a:buFontTx/>
                        <a:buNone/>
                      </a:pPr>
                      <a:r>
                        <a:rPr lang="en-AU" sz="2000" b="0">
                          <a:solidFill>
                            <a:srgbClr val="000000"/>
                          </a:solidFill>
                          <a:latin typeface="Calibri" panose="020F0502020204030204" pitchFamily="34" charset="0"/>
                        </a:rPr>
                        <a:t>C30</a:t>
                      </a:r>
                    </a:p>
                  </a:txBody>
                  <a:tcPr marL="127000" marR="88900" marT="88900" marB="88900" anchor="ctr">
                    <a:lnL w="6350" cmpd="sng">
                      <a:solidFill>
                        <a:srgbClr val="B0B0B0"/>
                      </a:solidFill>
                    </a:lnL>
                    <a:lnR w="6350" cmpd="sng">
                      <a:solidFill>
                        <a:srgbClr val="B0B0B0"/>
                      </a:solidFill>
                    </a:lnR>
                    <a:lnT w="6350" cmpd="sng">
                      <a:solidFill>
                        <a:srgbClr val="B0B0B0"/>
                      </a:solidFill>
                    </a:lnT>
                    <a:lnB w="6350" cmpd="sng">
                      <a:solidFill>
                        <a:srgbClr val="B0B0B0"/>
                      </a:solidFill>
                    </a:lnB>
                    <a:solidFill>
                      <a:srgbClr val="FFFFFF"/>
                    </a:solidFill>
                  </a:tcPr>
                </a:tc>
                <a:extLst>
                  <a:ext uri="{0D108BD9-81ED-4DB2-BD59-A6C34878D82A}">
                    <a16:rowId xmlns:a16="http://schemas.microsoft.com/office/drawing/2014/main" val="1424467793"/>
                  </a:ext>
                </a:extLst>
              </a:tr>
              <a:tr h="723900">
                <a:tc>
                  <a:txBody>
                    <a:bodyPr/>
                    <a:lstStyle/>
                    <a:p>
                      <a:pPr>
                        <a:buFontTx/>
                        <a:buNone/>
                      </a:pPr>
                      <a:r>
                        <a:rPr lang="en-AU" sz="2000" b="0">
                          <a:solidFill>
                            <a:srgbClr val="000000"/>
                          </a:solidFill>
                          <a:latin typeface="Calibri" panose="020F0502020204030204" pitchFamily="34" charset="0"/>
                        </a:rPr>
                        <a:t>Wide</a:t>
                      </a:r>
                    </a:p>
                  </a:txBody>
                  <a:tcPr marL="127000" marR="88900" marT="88900" marB="88900" anchor="ctr">
                    <a:lnL w="6350" cmpd="sng">
                      <a:solidFill>
                        <a:srgbClr val="B0B0B0"/>
                      </a:solidFill>
                    </a:lnL>
                    <a:lnR w="6350" cmpd="sng">
                      <a:solidFill>
                        <a:srgbClr val="B0B0B0"/>
                      </a:solidFill>
                    </a:lnR>
                    <a:lnT w="6350" cmpd="sng">
                      <a:solidFill>
                        <a:srgbClr val="B0B0B0"/>
                      </a:solidFill>
                    </a:lnT>
                    <a:lnB w="6350" cmpd="sng">
                      <a:solidFill>
                        <a:srgbClr val="B0B0B0"/>
                      </a:solidFill>
                    </a:lnB>
                    <a:solidFill>
                      <a:srgbClr val="F0F0F0"/>
                    </a:solidFill>
                  </a:tcPr>
                </a:tc>
                <a:tc>
                  <a:txBody>
                    <a:bodyPr/>
                    <a:lstStyle/>
                    <a:p>
                      <a:pPr>
                        <a:buFontTx/>
                        <a:buNone/>
                      </a:pPr>
                      <a:r>
                        <a:rPr lang="en-AU" sz="2000" b="0">
                          <a:solidFill>
                            <a:srgbClr val="000000"/>
                          </a:solidFill>
                          <a:latin typeface="Calibri" panose="020F0502020204030204" pitchFamily="34" charset="0"/>
                        </a:rPr>
                        <a:t>17</a:t>
                      </a:r>
                    </a:p>
                  </a:txBody>
                  <a:tcPr marL="127000" marR="88900" marT="88900" marB="88900" anchor="ctr">
                    <a:lnL w="6350" cmpd="sng">
                      <a:solidFill>
                        <a:srgbClr val="B0B0B0"/>
                      </a:solidFill>
                    </a:lnL>
                    <a:lnR w="6350" cmpd="sng">
                      <a:solidFill>
                        <a:srgbClr val="B0B0B0"/>
                      </a:solidFill>
                    </a:lnR>
                    <a:lnT w="6350" cmpd="sng">
                      <a:solidFill>
                        <a:srgbClr val="B0B0B0"/>
                      </a:solidFill>
                    </a:lnT>
                    <a:lnB w="6350" cmpd="sng">
                      <a:solidFill>
                        <a:srgbClr val="B0B0B0"/>
                      </a:solidFill>
                    </a:lnB>
                    <a:solidFill>
                      <a:srgbClr val="F0F0F0"/>
                    </a:solidFill>
                  </a:tcPr>
                </a:tc>
                <a:tc>
                  <a:txBody>
                    <a:bodyPr/>
                    <a:lstStyle/>
                    <a:p>
                      <a:pPr>
                        <a:buFontTx/>
                        <a:buNone/>
                      </a:pPr>
                      <a:r>
                        <a:rPr lang="en-AU" sz="2000" b="0">
                          <a:solidFill>
                            <a:srgbClr val="000000"/>
                          </a:solidFill>
                          <a:latin typeface="Calibri" panose="020F0502020204030204" pitchFamily="34" charset="0"/>
                        </a:rPr>
                        <a:t>20</a:t>
                      </a:r>
                    </a:p>
                  </a:txBody>
                  <a:tcPr marL="127000" marR="88900" marT="88900" marB="88900" anchor="ctr">
                    <a:lnL w="6350" cmpd="sng">
                      <a:solidFill>
                        <a:srgbClr val="B0B0B0"/>
                      </a:solidFill>
                    </a:lnL>
                    <a:lnR w="6350" cmpd="sng">
                      <a:solidFill>
                        <a:srgbClr val="B0B0B0"/>
                      </a:solidFill>
                    </a:lnR>
                    <a:lnT w="6350" cmpd="sng">
                      <a:solidFill>
                        <a:srgbClr val="B0B0B0"/>
                      </a:solidFill>
                    </a:lnT>
                    <a:lnB w="6350" cmpd="sng">
                      <a:solidFill>
                        <a:srgbClr val="B0B0B0"/>
                      </a:solidFill>
                    </a:lnB>
                    <a:solidFill>
                      <a:srgbClr val="F0F0F0"/>
                    </a:solidFill>
                  </a:tcPr>
                </a:tc>
                <a:tc>
                  <a:txBody>
                    <a:bodyPr/>
                    <a:lstStyle/>
                    <a:p>
                      <a:pPr>
                        <a:buFontTx/>
                        <a:buNone/>
                      </a:pPr>
                      <a:r>
                        <a:rPr lang="en-AU" sz="2000" b="0">
                          <a:solidFill>
                            <a:srgbClr val="000000"/>
                          </a:solidFill>
                          <a:latin typeface="Calibri" panose="020F0502020204030204" pitchFamily="34" charset="0"/>
                        </a:rPr>
                        <a:t>0.6167</a:t>
                      </a:r>
                    </a:p>
                  </a:txBody>
                  <a:tcPr marL="127000" marR="88900" marT="88900" marB="88900" anchor="ctr">
                    <a:lnL w="6350" cmpd="sng">
                      <a:solidFill>
                        <a:srgbClr val="B0B0B0"/>
                      </a:solidFill>
                    </a:lnL>
                    <a:lnR w="6350" cmpd="sng">
                      <a:solidFill>
                        <a:srgbClr val="B0B0B0"/>
                      </a:solidFill>
                    </a:lnR>
                    <a:lnT w="6350" cmpd="sng">
                      <a:solidFill>
                        <a:srgbClr val="B0B0B0"/>
                      </a:solidFill>
                    </a:lnT>
                    <a:lnB w="6350" cmpd="sng">
                      <a:solidFill>
                        <a:srgbClr val="B0B0B0"/>
                      </a:solidFill>
                    </a:lnB>
                    <a:solidFill>
                      <a:srgbClr val="F0F0F0"/>
                    </a:solidFill>
                  </a:tcPr>
                </a:tc>
                <a:tc>
                  <a:txBody>
                    <a:bodyPr/>
                    <a:lstStyle/>
                    <a:p>
                      <a:pPr>
                        <a:buFontTx/>
                        <a:buNone/>
                      </a:pPr>
                      <a:r>
                        <a:rPr lang="en-AU" sz="2000" b="0">
                          <a:solidFill>
                            <a:srgbClr val="000000"/>
                          </a:solidFill>
                          <a:latin typeface="Calibri" panose="020F0502020204030204" pitchFamily="34" charset="0"/>
                        </a:rPr>
                        <a:t>0.5868</a:t>
                      </a:r>
                    </a:p>
                  </a:txBody>
                  <a:tcPr marL="127000" marR="88900" marT="88900" marB="88900" anchor="ctr">
                    <a:lnL w="6350" cmpd="sng">
                      <a:solidFill>
                        <a:srgbClr val="B0B0B0"/>
                      </a:solidFill>
                    </a:lnL>
                    <a:lnR w="6350" cmpd="sng">
                      <a:solidFill>
                        <a:srgbClr val="B0B0B0"/>
                      </a:solidFill>
                    </a:lnR>
                    <a:lnT w="6350" cmpd="sng">
                      <a:solidFill>
                        <a:srgbClr val="B0B0B0"/>
                      </a:solidFill>
                    </a:lnT>
                    <a:lnB w="6350" cmpd="sng">
                      <a:solidFill>
                        <a:srgbClr val="B0B0B0"/>
                      </a:solidFill>
                    </a:lnB>
                    <a:solidFill>
                      <a:srgbClr val="F0F0F0"/>
                    </a:solidFill>
                  </a:tcPr>
                </a:tc>
                <a:tc>
                  <a:txBody>
                    <a:bodyPr/>
                    <a:lstStyle/>
                    <a:p>
                      <a:pPr>
                        <a:buFontTx/>
                        <a:buNone/>
                      </a:pPr>
                      <a:r>
                        <a:rPr lang="en-AU" sz="2000" b="0">
                          <a:solidFill>
                            <a:srgbClr val="000000"/>
                          </a:solidFill>
                          <a:latin typeface="Calibri" panose="020F0502020204030204" pitchFamily="34" charset="0"/>
                        </a:rPr>
                        <a:t>C30</a:t>
                      </a:r>
                    </a:p>
                  </a:txBody>
                  <a:tcPr marL="127000" marR="88900" marT="88900" marB="88900" anchor="ctr">
                    <a:lnL w="6350" cmpd="sng">
                      <a:solidFill>
                        <a:srgbClr val="B0B0B0"/>
                      </a:solidFill>
                    </a:lnL>
                    <a:lnR w="6350" cmpd="sng">
                      <a:solidFill>
                        <a:srgbClr val="B0B0B0"/>
                      </a:solidFill>
                    </a:lnR>
                    <a:lnT w="6350" cmpd="sng">
                      <a:solidFill>
                        <a:srgbClr val="B0B0B0"/>
                      </a:solidFill>
                    </a:lnT>
                    <a:lnB w="6350" cmpd="sng">
                      <a:solidFill>
                        <a:srgbClr val="B0B0B0"/>
                      </a:solidFill>
                    </a:lnB>
                    <a:solidFill>
                      <a:srgbClr val="F0F0F0"/>
                    </a:solidFill>
                  </a:tcPr>
                </a:tc>
                <a:extLst>
                  <a:ext uri="{0D108BD9-81ED-4DB2-BD59-A6C34878D82A}">
                    <a16:rowId xmlns:a16="http://schemas.microsoft.com/office/drawing/2014/main" val="3059096885"/>
                  </a:ext>
                </a:extLst>
              </a:tr>
            </a:tbl>
          </a:graphicData>
        </a:graphic>
      </p:graphicFrame>
      <p:sp>
        <p:nvSpPr>
          <p:cNvPr id="7" name="Quality gain">
            <a:extLst>
              <a:ext uri="{FF2B5EF4-FFF2-40B4-BE49-F238E27FC236}">
                <a16:creationId xmlns:a16="http://schemas.microsoft.com/office/drawing/2014/main" id="{91500ADB-73AE-5E36-2B31-54DE0155DC76}"/>
              </a:ext>
            </a:extLst>
          </p:cNvPr>
          <p:cNvSpPr txBox="1"/>
          <p:nvPr/>
        </p:nvSpPr>
        <p:spPr>
          <a:xfrm>
            <a:off x="533400" y="4787900"/>
            <a:ext cx="11112500" cy="338554"/>
          </a:xfrm>
          <a:prstGeom prst="rect">
            <a:avLst/>
          </a:prstGeom>
          <a:noFill/>
        </p:spPr>
        <p:txBody>
          <a:bodyPr vert="horz" lIns="0" tIns="0" rIns="0" bIns="0" rtlCol="0">
            <a:noAutofit/>
          </a:bodyPr>
          <a:lstStyle/>
          <a:p>
            <a:r>
              <a:rPr lang="en-US" sz="2200" b="1">
                <a:solidFill>
                  <a:srgbClr val="000000"/>
                </a:solidFill>
                <a:latin typeface="Calibri" panose="020F0502020204030204" pitchFamily="34" charset="0"/>
              </a:rPr>
              <a:t>Smoothness improvement at the same worst day: 1.42%, 3.10% and 4.85%</a:t>
            </a:r>
            <a:endParaRPr lang="en-AU" sz="2200" b="1">
              <a:solidFill>
                <a:srgbClr val="000000"/>
              </a:solidFill>
              <a:latin typeface="Calibri" panose="020F0502020204030204" pitchFamily="34" charset="0"/>
            </a:endParaRPr>
          </a:p>
        </p:txBody>
      </p:sp>
      <p:sp>
        <p:nvSpPr>
          <p:cNvPr id="8" name="Runtime evidence">
            <a:extLst>
              <a:ext uri="{FF2B5EF4-FFF2-40B4-BE49-F238E27FC236}">
                <a16:creationId xmlns:a16="http://schemas.microsoft.com/office/drawing/2014/main" id="{16F3D08A-B2DE-4752-24AE-A52FBA1F8891}"/>
              </a:ext>
            </a:extLst>
          </p:cNvPr>
          <p:cNvSpPr txBox="1"/>
          <p:nvPr/>
        </p:nvSpPr>
        <p:spPr>
          <a:xfrm>
            <a:off x="533400" y="5486400"/>
            <a:ext cx="11112500" cy="553998"/>
          </a:xfrm>
          <a:prstGeom prst="rect">
            <a:avLst/>
          </a:prstGeom>
          <a:noFill/>
        </p:spPr>
        <p:txBody>
          <a:bodyPr vert="horz" lIns="0" tIns="0" rIns="0" bIns="0" rtlCol="0">
            <a:noAutofit/>
          </a:bodyPr>
          <a:lstStyle/>
          <a:p>
            <a:r>
              <a:rPr lang="en-US">
                <a:solidFill>
                  <a:srgbClr val="000000"/>
                </a:solidFill>
                <a:latin typeface="Calibri" panose="020F0502020204030204" pitchFamily="34" charset="0"/>
              </a:rPr>
              <a:t>Serial median search time: C57 original 32.16 s. C30 moderate 14.69 s, wide 28.55 s. Three repeats per setting on this machine.</a:t>
            </a:r>
            <a:endParaRPr lang="en-AU">
              <a:solidFill>
                <a:srgbClr val="000000"/>
              </a:solidFill>
              <a:latin typeface="Calibri" panose="020F0502020204030204" pitchFamily="34" charset="0"/>
            </a:endParaRPr>
          </a:p>
        </p:txBody>
      </p:sp>
      <p:sp>
        <p:nvSpPr>
          <p:cNvPr id="9" name="Results boundary">
            <a:extLst>
              <a:ext uri="{FF2B5EF4-FFF2-40B4-BE49-F238E27FC236}">
                <a16:creationId xmlns:a16="http://schemas.microsoft.com/office/drawing/2014/main" id="{B0C8063E-CE5E-AE5F-7687-032056E3B4F8}"/>
              </a:ext>
            </a:extLst>
          </p:cNvPr>
          <p:cNvSpPr txBox="1"/>
          <p:nvPr/>
        </p:nvSpPr>
        <p:spPr>
          <a:xfrm>
            <a:off x="533400" y="6413500"/>
            <a:ext cx="11112500" cy="215444"/>
          </a:xfrm>
          <a:prstGeom prst="rect">
            <a:avLst/>
          </a:prstGeom>
          <a:noFill/>
        </p:spPr>
        <p:txBody>
          <a:bodyPr vert="horz" lIns="0" tIns="0" rIns="0" bIns="0" rtlCol="0">
            <a:noAutofit/>
          </a:bodyPr>
          <a:lstStyle/>
          <a:p>
            <a:r>
              <a:rPr lang="en-US" sz="1400">
                <a:solidFill>
                  <a:srgbClr val="000000"/>
                </a:solidFill>
                <a:latin typeface="Calibri" panose="020F0502020204030204" pitchFamily="34" charset="0"/>
              </a:rPr>
              <a:t>Matched scoring window. All listed winners reached local exhaustion.</a:t>
            </a:r>
            <a:endParaRPr lang="en-AU" sz="1400">
              <a:solidFill>
                <a:srgbClr val="000000"/>
              </a:solidFill>
              <a:latin typeface="Calibri" panose="020F0502020204030204" pitchFamily="34" charset="0"/>
            </a:endParaRPr>
          </a:p>
        </p:txBody>
      </p:sp>
    </p:spTree>
    <p:extLst>
      <p:ext uri="{BB962C8B-B14F-4D97-AF65-F5344CB8AC3E}">
        <p14:creationId xmlns:p14="http://schemas.microsoft.com/office/powerpoint/2010/main" val="4004988534"/>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0" y="0"/>
            <a:ext cx="12191695" cy="6858000"/>
          </a:xfrm>
          <a:prstGeom prst="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Rectangle 2"/>
          <p:cNvSpPr/>
          <p:nvPr/>
        </p:nvSpPr>
        <p:spPr>
          <a:xfrm>
            <a:off x="0" y="0"/>
            <a:ext cx="12191695" cy="109728"/>
          </a:xfrm>
          <a:prstGeom prst="rect">
            <a:avLst/>
          </a:prstGeom>
          <a:solidFill>
            <a:srgbClr val="00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 name="TextBox 3"/>
          <p:cNvSpPr txBox="1"/>
          <p:nvPr/>
        </p:nvSpPr>
        <p:spPr>
          <a:xfrm>
            <a:off x="457200" y="165100"/>
            <a:ext cx="11277600" cy="317500"/>
          </a:xfrm>
          <a:prstGeom prst="rect">
            <a:avLst/>
          </a:prstGeom>
          <a:noFill/>
        </p:spPr>
        <p:txBody>
          <a:bodyPr wrap="square">
            <a:noAutofit/>
          </a:bodyPr>
          <a:lstStyle/>
          <a:p>
            <a:pPr algn="l"/>
            <a:r>
              <a:rPr lang="en-AU" sz="1500" b="1">
                <a:solidFill>
                  <a:srgbClr val="000000"/>
                </a:solidFill>
                <a:latin typeface="Calibri"/>
              </a:rPr>
              <a:t>LIMITS AND NEXT STEPS</a:t>
            </a:r>
            <a:endParaRPr sz="1500" b="1">
              <a:solidFill>
                <a:srgbClr val="000000"/>
              </a:solidFill>
              <a:latin typeface="Calibri"/>
            </a:endParaRPr>
          </a:p>
        </p:txBody>
      </p:sp>
      <p:sp>
        <p:nvSpPr>
          <p:cNvPr id="5" name="TextBox 4"/>
          <p:cNvSpPr txBox="1"/>
          <p:nvPr/>
        </p:nvSpPr>
        <p:spPr>
          <a:xfrm>
            <a:off x="457200" y="533400"/>
            <a:ext cx="11277600" cy="660400"/>
          </a:xfrm>
          <a:prstGeom prst="rect">
            <a:avLst/>
          </a:prstGeom>
          <a:noFill/>
        </p:spPr>
        <p:txBody>
          <a:bodyPr wrap="square">
            <a:noAutofit/>
          </a:bodyPr>
          <a:lstStyle/>
          <a:p>
            <a:r>
              <a:rPr lang="en-US" sz="3200" b="1">
                <a:solidFill>
                  <a:srgbClr val="000000"/>
                </a:solidFill>
                <a:latin typeface="Calibri" panose="020F0502020204030204" pitchFamily="34" charset="0"/>
              </a:rPr>
              <a:t>The original worst-day target is already optimal</a:t>
            </a:r>
            <a:endParaRPr sz="3200" b="1" dirty="0">
              <a:solidFill>
                <a:srgbClr val="000000"/>
              </a:solidFill>
              <a:latin typeface="Calibri" panose="020F0502020204030204" pitchFamily="34" charset="0"/>
            </a:endParaRPr>
          </a:p>
        </p:txBody>
      </p:sp>
      <p:sp>
        <p:nvSpPr>
          <p:cNvPr id="9" name="Rounded Rectangle 5">
            <a:extLst>
              <a:ext uri="{FF2B5EF4-FFF2-40B4-BE49-F238E27FC236}">
                <a16:creationId xmlns:a16="http://schemas.microsoft.com/office/drawing/2014/main" id="{EB8F05B1-0C6F-85C3-09E3-DC807EA60B9F}"/>
              </a:ext>
            </a:extLst>
          </p:cNvPr>
          <p:cNvSpPr/>
          <p:nvPr/>
        </p:nvSpPr>
        <p:spPr>
          <a:xfrm>
            <a:off x="457200" y="1188720"/>
            <a:ext cx="5532120" cy="3835400"/>
          </a:xfrm>
          <a:prstGeom prst="roundRect">
            <a:avLst/>
          </a:prstGeom>
          <a:solidFill>
            <a:srgbClr val="FFFFFF"/>
          </a:solidFill>
          <a:ln w="12700">
            <a:solidFill>
              <a:srgbClr val="B0B0B0"/>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1" name="Rounded Rectangle 8">
            <a:extLst>
              <a:ext uri="{FF2B5EF4-FFF2-40B4-BE49-F238E27FC236}">
                <a16:creationId xmlns:a16="http://schemas.microsoft.com/office/drawing/2014/main" id="{CA042E39-C912-4482-5368-24E2DF631308}"/>
              </a:ext>
            </a:extLst>
          </p:cNvPr>
          <p:cNvSpPr/>
          <p:nvPr/>
        </p:nvSpPr>
        <p:spPr>
          <a:xfrm>
            <a:off x="6217920" y="1188720"/>
            <a:ext cx="5440680" cy="3835400"/>
          </a:xfrm>
          <a:prstGeom prst="roundRect">
            <a:avLst/>
          </a:prstGeom>
          <a:solidFill>
            <a:srgbClr val="F0F0F0"/>
          </a:solidFill>
          <a:ln w="12700">
            <a:solidFill>
              <a:srgbClr val="000000"/>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3" name="TextBox 12">
            <a:extLst>
              <a:ext uri="{FF2B5EF4-FFF2-40B4-BE49-F238E27FC236}">
                <a16:creationId xmlns:a16="http://schemas.microsoft.com/office/drawing/2014/main" id="{578B1173-56A7-CCBE-B621-B5F6C57B3633}"/>
              </a:ext>
            </a:extLst>
          </p:cNvPr>
          <p:cNvSpPr txBox="1"/>
          <p:nvPr/>
        </p:nvSpPr>
        <p:spPr>
          <a:xfrm>
            <a:off x="731520" y="1463040"/>
            <a:ext cx="5029200" cy="430887"/>
          </a:xfrm>
          <a:prstGeom prst="rect">
            <a:avLst/>
          </a:prstGeom>
          <a:noFill/>
        </p:spPr>
        <p:txBody>
          <a:bodyPr wrap="square">
            <a:noAutofit/>
          </a:bodyPr>
          <a:lstStyle/>
          <a:p>
            <a:r>
              <a:rPr lang="en-AU" sz="2200" b="1">
                <a:solidFill>
                  <a:srgbClr val="000000"/>
                </a:solidFill>
                <a:latin typeface="Calibri" panose="020F0502020204030204" pitchFamily="34" charset="0"/>
              </a:rPr>
              <a:t>Original forecast</a:t>
            </a:r>
            <a:endParaRPr sz="2200" b="1" dirty="0">
              <a:solidFill>
                <a:srgbClr val="000000"/>
              </a:solidFill>
              <a:latin typeface="Calibri" panose="020F0502020204030204" pitchFamily="34" charset="0"/>
            </a:endParaRPr>
          </a:p>
        </p:txBody>
      </p:sp>
      <p:sp>
        <p:nvSpPr>
          <p:cNvPr id="15" name="TextBox 14">
            <a:extLst>
              <a:ext uri="{FF2B5EF4-FFF2-40B4-BE49-F238E27FC236}">
                <a16:creationId xmlns:a16="http://schemas.microsoft.com/office/drawing/2014/main" id="{917E8644-1360-B249-7DC8-687D66DE8ACE}"/>
              </a:ext>
            </a:extLst>
          </p:cNvPr>
          <p:cNvSpPr txBox="1"/>
          <p:nvPr/>
        </p:nvSpPr>
        <p:spPr>
          <a:xfrm>
            <a:off x="731520" y="2194560"/>
            <a:ext cx="5029200" cy="2095500"/>
          </a:xfrm>
          <a:prstGeom prst="rect">
            <a:avLst/>
          </a:prstGeom>
          <a:noFill/>
        </p:spPr>
        <p:txBody>
          <a:bodyPr wrap="square">
            <a:noAutofit/>
          </a:bodyPr>
          <a:lstStyle/>
          <a:p>
            <a:pPr>
              <a:lnSpc>
                <a:spcPct val="115000"/>
              </a:lnSpc>
              <a:spcAft>
                <a:spcPts val="1200"/>
              </a:spcAft>
            </a:pPr>
            <a:r>
              <a:rPr lang="en-US" sz="2000">
                <a:solidFill>
                  <a:srgbClr val="1A1A1A"/>
                </a:solidFill>
                <a:latin typeface="Calibri" panose="020F0502020204030204" pitchFamily="34" charset="0"/>
              </a:rPr>
              <a:t>Six D checks must overlap in a fixed interval.</a:t>
            </a:r>
          </a:p>
          <a:p>
            <a:pPr>
              <a:lnSpc>
                <a:spcPct val="115000"/>
              </a:lnSpc>
              <a:spcAft>
                <a:spcPts val="1200"/>
              </a:spcAft>
            </a:pPr>
            <a:r>
              <a:rPr lang="en-US" sz="2000">
                <a:solidFill>
                  <a:srgbClr val="1A1A1A"/>
                </a:solidFill>
                <a:latin typeface="Calibri" panose="020F0502020204030204" pitchFamily="34" charset="0"/>
              </a:rPr>
              <a:t>With 24 aircraft, worst-day availability cannot exceed 18.</a:t>
            </a:r>
          </a:p>
          <a:p>
            <a:pPr>
              <a:lnSpc>
                <a:spcPct val="115000"/>
              </a:lnSpc>
              <a:spcAft>
                <a:spcPts val="1200"/>
              </a:spcAft>
            </a:pPr>
            <a:r>
              <a:rPr lang="en-US" sz="2000">
                <a:solidFill>
                  <a:srgbClr val="1A1A1A"/>
                </a:solidFill>
                <a:latin typeface="Calibri" panose="020F0502020204030204" pitchFamily="34" charset="0"/>
              </a:rPr>
              <a:t>The measured result reaches this bound.</a:t>
            </a:r>
            <a:endParaRPr sz="2000" dirty="0">
              <a:solidFill>
                <a:srgbClr val="1A1A1A"/>
              </a:solidFill>
              <a:latin typeface="Calibri" panose="020F0502020204030204" pitchFamily="34" charset="0"/>
            </a:endParaRPr>
          </a:p>
        </p:txBody>
      </p:sp>
      <p:sp>
        <p:nvSpPr>
          <p:cNvPr id="17" name="TextBox 16">
            <a:extLst>
              <a:ext uri="{FF2B5EF4-FFF2-40B4-BE49-F238E27FC236}">
                <a16:creationId xmlns:a16="http://schemas.microsoft.com/office/drawing/2014/main" id="{BBE33486-1A26-9B55-897F-E21A9D782C94}"/>
              </a:ext>
            </a:extLst>
          </p:cNvPr>
          <p:cNvSpPr txBox="1"/>
          <p:nvPr/>
        </p:nvSpPr>
        <p:spPr>
          <a:xfrm>
            <a:off x="6492240" y="1463040"/>
            <a:ext cx="4937760" cy="430887"/>
          </a:xfrm>
          <a:prstGeom prst="rect">
            <a:avLst/>
          </a:prstGeom>
          <a:noFill/>
        </p:spPr>
        <p:txBody>
          <a:bodyPr wrap="square">
            <a:noAutofit/>
          </a:bodyPr>
          <a:lstStyle/>
          <a:p>
            <a:r>
              <a:rPr lang="en-US" sz="2200" b="1">
                <a:solidFill>
                  <a:srgbClr val="000000"/>
                </a:solidFill>
                <a:latin typeface="Calibri" panose="020F0502020204030204" pitchFamily="34" charset="0"/>
              </a:rPr>
              <a:t>Stagger datasets</a:t>
            </a:r>
            <a:endParaRPr sz="2200" b="1" dirty="0">
              <a:solidFill>
                <a:srgbClr val="000000"/>
              </a:solidFill>
              <a:latin typeface="Calibri" panose="020F0502020204030204" pitchFamily="34" charset="0"/>
            </a:endParaRPr>
          </a:p>
        </p:txBody>
      </p:sp>
      <p:sp>
        <p:nvSpPr>
          <p:cNvPr id="19" name="TextBox 18">
            <a:extLst>
              <a:ext uri="{FF2B5EF4-FFF2-40B4-BE49-F238E27FC236}">
                <a16:creationId xmlns:a16="http://schemas.microsoft.com/office/drawing/2014/main" id="{8ACC2210-B02E-C807-76AC-1C2EFAEF7739}"/>
              </a:ext>
            </a:extLst>
          </p:cNvPr>
          <p:cNvSpPr txBox="1"/>
          <p:nvPr/>
        </p:nvSpPr>
        <p:spPr>
          <a:xfrm>
            <a:off x="6492240" y="2194559"/>
            <a:ext cx="4937760" cy="2095500"/>
          </a:xfrm>
          <a:prstGeom prst="rect">
            <a:avLst/>
          </a:prstGeom>
          <a:noFill/>
        </p:spPr>
        <p:txBody>
          <a:bodyPr wrap="square">
            <a:noAutofit/>
          </a:bodyPr>
          <a:lstStyle/>
          <a:p>
            <a:pPr>
              <a:lnSpc>
                <a:spcPct val="115000"/>
              </a:lnSpc>
              <a:spcAft>
                <a:spcPts val="1200"/>
              </a:spcAft>
            </a:pPr>
            <a:r>
              <a:rPr lang="en-US" sz="2000">
                <a:solidFill>
                  <a:srgbClr val="1A1A1A"/>
                </a:solidFill>
                <a:latin typeface="Calibri" panose="020F0502020204030204" pitchFamily="34" charset="0"/>
              </a:rPr>
              <a:t>The upper bound is 21 on each stagger dataset.</a:t>
            </a:r>
          </a:p>
          <a:p>
            <a:pPr>
              <a:lnSpc>
                <a:spcPct val="115000"/>
              </a:lnSpc>
              <a:spcAft>
                <a:spcPts val="1200"/>
              </a:spcAft>
            </a:pPr>
            <a:r>
              <a:rPr lang="en-US" sz="2000">
                <a:solidFill>
                  <a:srgbClr val="1A1A1A"/>
                </a:solidFill>
                <a:latin typeface="Calibri" panose="020F0502020204030204" pitchFamily="34" charset="0"/>
              </a:rPr>
              <a:t>Measured results reach 19 and 20.</a:t>
            </a:r>
          </a:p>
          <a:p>
            <a:pPr>
              <a:lnSpc>
                <a:spcPct val="115000"/>
              </a:lnSpc>
              <a:spcAft>
                <a:spcPts val="1200"/>
              </a:spcAft>
            </a:pPr>
            <a:r>
              <a:rPr lang="en-US" sz="2000">
                <a:solidFill>
                  <a:srgbClr val="1A1A1A"/>
                </a:solidFill>
                <a:latin typeface="Calibri" panose="020F0502020204030204" pitchFamily="34" charset="0"/>
              </a:rPr>
              <a:t>Those remaining gaps are unresolved.</a:t>
            </a:r>
            <a:endParaRPr lang="en-US" sz="2000" dirty="0">
              <a:solidFill>
                <a:srgbClr val="1A1A1A"/>
              </a:solidFill>
              <a:latin typeface="Calibri" panose="020F0502020204030204" pitchFamily="34" charset="0"/>
            </a:endParaRPr>
          </a:p>
        </p:txBody>
      </p:sp>
      <p:sp>
        <p:nvSpPr>
          <p:cNvPr id="6" name="Footer Card 20">
            <a:extLst>
              <a:ext uri="{FF2B5EF4-FFF2-40B4-BE49-F238E27FC236}">
                <a16:creationId xmlns:a16="http://schemas.microsoft.com/office/drawing/2014/main" id="{AB4D2C2B-97B8-3B21-388B-09229F9A3EFA}"/>
              </a:ext>
            </a:extLst>
          </p:cNvPr>
          <p:cNvSpPr/>
          <p:nvPr/>
        </p:nvSpPr>
        <p:spPr>
          <a:xfrm>
            <a:off x="457200" y="5181600"/>
            <a:ext cx="11201400" cy="1371600"/>
          </a:xfrm>
          <a:prstGeom prst="roundRect">
            <a:avLst/>
          </a:prstGeom>
          <a:solidFill>
            <a:srgbClr val="F0F0F0"/>
          </a:solidFill>
          <a:ln w="12700">
            <a:solidFill>
              <a:srgbClr val="B0B0B0"/>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lang="en-AU"/>
          </a:p>
        </p:txBody>
      </p:sp>
      <p:sp>
        <p:nvSpPr>
          <p:cNvPr id="7" name="TextBox 6">
            <a:extLst>
              <a:ext uri="{FF2B5EF4-FFF2-40B4-BE49-F238E27FC236}">
                <a16:creationId xmlns:a16="http://schemas.microsoft.com/office/drawing/2014/main" id="{023F1CF4-A312-8E8E-481A-FD6D6BB15480}"/>
              </a:ext>
            </a:extLst>
          </p:cNvPr>
          <p:cNvSpPr txBox="1"/>
          <p:nvPr/>
        </p:nvSpPr>
        <p:spPr>
          <a:xfrm>
            <a:off x="731520" y="5334000"/>
            <a:ext cx="10668000" cy="400110"/>
          </a:xfrm>
          <a:prstGeom prst="rect">
            <a:avLst/>
          </a:prstGeom>
          <a:noFill/>
        </p:spPr>
        <p:txBody>
          <a:bodyPr vert="horz" rtlCol="0">
            <a:noAutofit/>
          </a:bodyPr>
          <a:lstStyle/>
          <a:p>
            <a:r>
              <a:rPr lang="en-US" sz="2000" b="1">
                <a:solidFill>
                  <a:srgbClr val="000000"/>
                </a:solidFill>
                <a:latin typeface="Calibri" panose="020F0502020204030204" pitchFamily="34" charset="0"/>
              </a:rPr>
              <a:t>Evidence boundary</a:t>
            </a:r>
            <a:endParaRPr lang="en-AU" sz="2000" b="1" dirty="0">
              <a:solidFill>
                <a:srgbClr val="000000"/>
              </a:solidFill>
              <a:latin typeface="Calibri" panose="020F0502020204030204" pitchFamily="34" charset="0"/>
            </a:endParaRPr>
          </a:p>
        </p:txBody>
      </p:sp>
      <p:sp>
        <p:nvSpPr>
          <p:cNvPr id="8" name="TextBox 7">
            <a:extLst>
              <a:ext uri="{FF2B5EF4-FFF2-40B4-BE49-F238E27FC236}">
                <a16:creationId xmlns:a16="http://schemas.microsoft.com/office/drawing/2014/main" id="{F0AE5DB2-73E5-8FE9-FE51-45675AE50032}"/>
              </a:ext>
            </a:extLst>
          </p:cNvPr>
          <p:cNvSpPr txBox="1"/>
          <p:nvPr/>
        </p:nvSpPr>
        <p:spPr>
          <a:xfrm>
            <a:off x="731520" y="5715000"/>
            <a:ext cx="10668000" cy="584775"/>
          </a:xfrm>
          <a:prstGeom prst="rect">
            <a:avLst/>
          </a:prstGeom>
          <a:noFill/>
        </p:spPr>
        <p:txBody>
          <a:bodyPr vert="horz" rtlCol="0">
            <a:noAutofit/>
          </a:bodyPr>
          <a:lstStyle/>
          <a:p>
            <a:r>
              <a:rPr lang="en-US" sz="1700">
                <a:solidFill>
                  <a:srgbClr val="1A1A1A"/>
                </a:solidFill>
                <a:latin typeface="+mj-lt"/>
              </a:rPr>
              <a:t>Smoothness is locally optimal only. These are synthetic, maintenance-only benchmarks. A new fleet, regenerated check list, or changed rules needs a fresh study.</a:t>
            </a:r>
            <a:endParaRPr lang="en-AU" sz="1700" dirty="0">
              <a:solidFill>
                <a:srgbClr val="1A1A1A"/>
              </a:solidFill>
              <a:latin typeface="+mj-lt"/>
            </a:endParaRPr>
          </a:p>
        </p:txBody>
      </p:sp>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0" y="0"/>
            <a:ext cx="12191695" cy="6858000"/>
          </a:xfrm>
          <a:prstGeom prst="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Rectangle 2"/>
          <p:cNvSpPr/>
          <p:nvPr/>
        </p:nvSpPr>
        <p:spPr>
          <a:xfrm>
            <a:off x="0" y="0"/>
            <a:ext cx="12191695" cy="109728"/>
          </a:xfrm>
          <a:prstGeom prst="rect">
            <a:avLst/>
          </a:prstGeom>
          <a:solidFill>
            <a:srgbClr val="00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 name="TextBox 3"/>
          <p:cNvSpPr txBox="1"/>
          <p:nvPr/>
        </p:nvSpPr>
        <p:spPr>
          <a:xfrm>
            <a:off x="457200" y="165100"/>
            <a:ext cx="11277600" cy="317500"/>
          </a:xfrm>
          <a:prstGeom prst="rect">
            <a:avLst/>
          </a:prstGeom>
          <a:noFill/>
        </p:spPr>
        <p:txBody>
          <a:bodyPr wrap="square">
            <a:noAutofit/>
          </a:bodyPr>
          <a:lstStyle/>
          <a:p>
            <a:pPr algn="l"/>
            <a:r>
              <a:rPr lang="en-AU" sz="1500" b="1">
                <a:solidFill>
                  <a:srgbClr val="000000"/>
                </a:solidFill>
                <a:latin typeface="Calibri"/>
              </a:rPr>
              <a:t>FINAL RECOMMENDATION</a:t>
            </a:r>
            <a:endParaRPr sz="1500" b="1">
              <a:solidFill>
                <a:srgbClr val="000000"/>
              </a:solidFill>
              <a:latin typeface="Calibri"/>
            </a:endParaRPr>
          </a:p>
        </p:txBody>
      </p:sp>
      <p:sp>
        <p:nvSpPr>
          <p:cNvPr id="5" name="TextBox 4"/>
          <p:cNvSpPr txBox="1"/>
          <p:nvPr/>
        </p:nvSpPr>
        <p:spPr>
          <a:xfrm>
            <a:off x="457200" y="533400"/>
            <a:ext cx="11277600" cy="660400"/>
          </a:xfrm>
          <a:prstGeom prst="rect">
            <a:avLst/>
          </a:prstGeom>
          <a:noFill/>
        </p:spPr>
        <p:txBody>
          <a:bodyPr wrap="square">
            <a:noAutofit/>
          </a:bodyPr>
          <a:lstStyle/>
          <a:p>
            <a:pPr algn="l"/>
            <a:r>
              <a:rPr lang="en-US" sz="3100" b="1">
                <a:solidFill>
                  <a:srgbClr val="000000"/>
                </a:solidFill>
                <a:latin typeface="Calibri"/>
              </a:rPr>
              <a:t>Final method: Priority Based Selection with VNS</a:t>
            </a:r>
            <a:endParaRPr sz="3100" b="1">
              <a:solidFill>
                <a:srgbClr val="000000"/>
              </a:solidFill>
              <a:latin typeface="Calibri"/>
            </a:endParaRPr>
          </a:p>
        </p:txBody>
      </p:sp>
      <p:sp>
        <p:nvSpPr>
          <p:cNvPr id="6" name="Rounded Rectangle 5"/>
          <p:cNvSpPr/>
          <p:nvPr/>
        </p:nvSpPr>
        <p:spPr>
          <a:xfrm>
            <a:off x="457200" y="1188720"/>
            <a:ext cx="5440680" cy="1417320"/>
          </a:xfrm>
          <a:prstGeom prst="roundRect">
            <a:avLst/>
          </a:prstGeom>
          <a:solidFill>
            <a:srgbClr val="F0F0F0"/>
          </a:solidFill>
          <a:ln w="12700">
            <a:solidFill>
              <a:srgbClr val="000000"/>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7" name="TextBox 6"/>
          <p:cNvSpPr txBox="1"/>
          <p:nvPr/>
        </p:nvSpPr>
        <p:spPr>
          <a:xfrm>
            <a:off x="658368" y="1389888"/>
            <a:ext cx="5074920" cy="365760"/>
          </a:xfrm>
          <a:prstGeom prst="rect">
            <a:avLst/>
          </a:prstGeom>
          <a:noFill/>
        </p:spPr>
        <p:txBody>
          <a:bodyPr wrap="square">
            <a:noAutofit/>
          </a:bodyPr>
          <a:lstStyle/>
          <a:p>
            <a:pPr algn="l"/>
            <a:r>
              <a:rPr lang="en-AU" sz="1700" b="1">
                <a:solidFill>
                  <a:srgbClr val="000000"/>
                </a:solidFill>
                <a:latin typeface="Calibri"/>
              </a:rPr>
              <a:t>METHOD</a:t>
            </a:r>
            <a:endParaRPr sz="1700" b="1">
              <a:solidFill>
                <a:srgbClr val="000000"/>
              </a:solidFill>
              <a:latin typeface="Calibri"/>
            </a:endParaRPr>
          </a:p>
        </p:txBody>
      </p:sp>
      <p:sp>
        <p:nvSpPr>
          <p:cNvPr id="8" name="TextBox 7"/>
          <p:cNvSpPr txBox="1"/>
          <p:nvPr/>
        </p:nvSpPr>
        <p:spPr>
          <a:xfrm>
            <a:off x="658368" y="1810511"/>
            <a:ext cx="5074920" cy="787400"/>
          </a:xfrm>
          <a:prstGeom prst="rect">
            <a:avLst/>
          </a:prstGeom>
          <a:noFill/>
        </p:spPr>
        <p:txBody>
          <a:bodyPr wrap="square">
            <a:noAutofit/>
          </a:bodyPr>
          <a:lstStyle/>
          <a:p>
            <a:pPr algn="l"/>
            <a:r>
              <a:rPr lang="en-US" sz="2300" b="1">
                <a:solidFill>
                  <a:srgbClr val="000000"/>
                </a:solidFill>
                <a:latin typeface="Calibri"/>
              </a:rPr>
              <a:t>Priority Based Selection</a:t>
            </a:r>
          </a:p>
          <a:p>
            <a:pPr algn="l"/>
            <a:r>
              <a:rPr lang="en-US" sz="2300" b="1">
                <a:solidFill>
                  <a:srgbClr val="000000"/>
                </a:solidFill>
                <a:latin typeface="Calibri"/>
              </a:rPr>
              <a:t>with VNS</a:t>
            </a:r>
            <a:endParaRPr sz="2300" b="1">
              <a:solidFill>
                <a:srgbClr val="000000"/>
              </a:solidFill>
              <a:latin typeface="Calibri"/>
            </a:endParaRPr>
          </a:p>
        </p:txBody>
      </p:sp>
      <p:sp>
        <p:nvSpPr>
          <p:cNvPr id="9" name="Rounded Rectangle 8"/>
          <p:cNvSpPr/>
          <p:nvPr/>
        </p:nvSpPr>
        <p:spPr>
          <a:xfrm>
            <a:off x="6172200" y="1188720"/>
            <a:ext cx="5440680" cy="1417320"/>
          </a:xfrm>
          <a:prstGeom prst="roundRect">
            <a:avLst/>
          </a:prstGeom>
          <a:solidFill>
            <a:srgbClr val="F0F0F0"/>
          </a:solidFill>
          <a:ln w="12700">
            <a:solidFill>
              <a:srgbClr val="000000"/>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0" name="TextBox 9"/>
          <p:cNvSpPr txBox="1"/>
          <p:nvPr/>
        </p:nvSpPr>
        <p:spPr>
          <a:xfrm>
            <a:off x="6373368" y="1389888"/>
            <a:ext cx="5074920" cy="365760"/>
          </a:xfrm>
          <a:prstGeom prst="rect">
            <a:avLst/>
          </a:prstGeom>
          <a:noFill/>
        </p:spPr>
        <p:txBody>
          <a:bodyPr wrap="square">
            <a:noAutofit/>
          </a:bodyPr>
          <a:lstStyle/>
          <a:p>
            <a:pPr algn="l"/>
            <a:r>
              <a:rPr lang="en-AU" sz="1700" b="1">
                <a:solidFill>
                  <a:srgbClr val="000000"/>
                </a:solidFill>
                <a:latin typeface="Calibri"/>
              </a:rPr>
              <a:t>SHARED SETTINGS</a:t>
            </a:r>
            <a:endParaRPr sz="1700" b="1">
              <a:solidFill>
                <a:srgbClr val="000000"/>
              </a:solidFill>
              <a:latin typeface="Calibri"/>
            </a:endParaRPr>
          </a:p>
        </p:txBody>
      </p:sp>
      <p:sp>
        <p:nvSpPr>
          <p:cNvPr id="11" name="TextBox 10"/>
          <p:cNvSpPr txBox="1"/>
          <p:nvPr/>
        </p:nvSpPr>
        <p:spPr>
          <a:xfrm>
            <a:off x="6373368" y="1810511"/>
            <a:ext cx="5074920" cy="698500"/>
          </a:xfrm>
          <a:prstGeom prst="rect">
            <a:avLst/>
          </a:prstGeom>
          <a:noFill/>
        </p:spPr>
        <p:txBody>
          <a:bodyPr wrap="square">
            <a:noAutofit/>
          </a:bodyPr>
          <a:lstStyle/>
          <a:p>
            <a:pPr algn="l"/>
            <a:r>
              <a:rPr lang="en-US" sz="2700" b="1">
                <a:solidFill>
                  <a:srgbClr val="000000"/>
                </a:solidFill>
                <a:latin typeface="Calibri"/>
              </a:rPr>
              <a:t>C30, cap 400</a:t>
            </a:r>
            <a:endParaRPr sz="2700" b="1">
              <a:solidFill>
                <a:srgbClr val="000000"/>
              </a:solidFill>
              <a:latin typeface="Calibri"/>
            </a:endParaRPr>
          </a:p>
        </p:txBody>
      </p:sp>
      <p:sp>
        <p:nvSpPr>
          <p:cNvPr id="12" name="Rounded Rectangle 11"/>
          <p:cNvSpPr/>
          <p:nvPr/>
        </p:nvSpPr>
        <p:spPr>
          <a:xfrm>
            <a:off x="457200" y="2834640"/>
            <a:ext cx="11247120" cy="3520440"/>
          </a:xfrm>
          <a:prstGeom prst="roundRect">
            <a:avLst/>
          </a:prstGeom>
          <a:solidFill>
            <a:srgbClr val="FFFFFF"/>
          </a:solidFill>
          <a:ln w="12700">
            <a:solidFill>
              <a:srgbClr val="B0B0B0"/>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3" name="TextBox 12"/>
          <p:cNvSpPr txBox="1"/>
          <p:nvPr/>
        </p:nvSpPr>
        <p:spPr>
          <a:xfrm>
            <a:off x="731520" y="3063240"/>
            <a:ext cx="10698480" cy="430887"/>
          </a:xfrm>
          <a:prstGeom prst="rect">
            <a:avLst/>
          </a:prstGeom>
          <a:noFill/>
        </p:spPr>
        <p:txBody>
          <a:bodyPr wrap="square">
            <a:noAutofit/>
          </a:bodyPr>
          <a:lstStyle/>
          <a:p>
            <a:pPr algn="l"/>
            <a:r>
              <a:rPr lang="en-US" sz="2200" b="1">
                <a:solidFill>
                  <a:srgbClr val="000000"/>
                </a:solidFill>
                <a:latin typeface="Calibri"/>
              </a:rPr>
              <a:t>Project outcome</a:t>
            </a:r>
            <a:endParaRPr sz="2200" b="1" dirty="0">
              <a:solidFill>
                <a:srgbClr val="000000"/>
              </a:solidFill>
              <a:latin typeface="Calibri"/>
            </a:endParaRPr>
          </a:p>
        </p:txBody>
      </p:sp>
      <p:sp>
        <p:nvSpPr>
          <p:cNvPr id="14" name="TextBox 13"/>
          <p:cNvSpPr txBox="1"/>
          <p:nvPr/>
        </p:nvSpPr>
        <p:spPr>
          <a:xfrm>
            <a:off x="731520" y="3657600"/>
            <a:ext cx="10698480" cy="1938992"/>
          </a:xfrm>
          <a:prstGeom prst="rect">
            <a:avLst/>
          </a:prstGeom>
          <a:noFill/>
        </p:spPr>
        <p:txBody>
          <a:bodyPr wrap="square">
            <a:noAutofit/>
          </a:bodyPr>
          <a:lstStyle/>
          <a:p>
            <a:pPr algn="l">
              <a:spcAft>
                <a:spcPts val="1400"/>
              </a:spcAft>
            </a:pPr>
            <a:r>
              <a:rPr lang="en-US" sz="2000" b="0">
                <a:solidFill>
                  <a:srgbClr val="1A1A1A"/>
                </a:solidFill>
                <a:latin typeface="Calibri"/>
              </a:rPr>
              <a:t>Iteration 1 raised original worst-day availability from 15 to 18.</a:t>
            </a:r>
          </a:p>
          <a:p>
            <a:pPr algn="l">
              <a:spcAft>
                <a:spcPts val="1400"/>
              </a:spcAft>
            </a:pPr>
            <a:r>
              <a:rPr lang="en-US" sz="2000" b="0">
                <a:solidFill>
                  <a:srgbClr val="1A1A1A"/>
                </a:solidFill>
                <a:latin typeface="Calibri"/>
              </a:rPr>
              <a:t>Simulated Annealing offered too little smoothness gain for its runtime.</a:t>
            </a:r>
          </a:p>
          <a:p>
            <a:pPr algn="l">
              <a:spcAft>
                <a:spcPts val="1400"/>
              </a:spcAft>
            </a:pPr>
            <a:r>
              <a:rPr lang="en-US" sz="2000" b="0">
                <a:solidFill>
                  <a:srgbClr val="1A1A1A"/>
                </a:solidFill>
                <a:latin typeface="Calibri"/>
              </a:rPr>
              <a:t>Three-dataset tuning supports C30 as the shared setting.</a:t>
            </a:r>
          </a:p>
          <a:p>
            <a:pPr algn="l">
              <a:spcAft>
                <a:spcPts val="1400"/>
              </a:spcAft>
            </a:pPr>
            <a:r>
              <a:rPr lang="en-US" sz="2000" b="0">
                <a:solidFill>
                  <a:srgbClr val="1A1A1A"/>
                </a:solidFill>
                <a:latin typeface="Calibri"/>
              </a:rPr>
              <a:t>Use C57 when the original forecast needs the best measured smoothness.</a:t>
            </a:r>
            <a:endParaRPr sz="2000" b="0" dirty="0">
              <a:solidFill>
                <a:srgbClr val="1A1A1A"/>
              </a:solidFill>
              <a:latin typeface="Calibri"/>
            </a:endParaRPr>
          </a:p>
        </p:txBody>
      </p:sp>
    </p:spTree>
    <p:extLst>
      <p:ext uri="{BB962C8B-B14F-4D97-AF65-F5344CB8AC3E}">
        <p14:creationId xmlns:p14="http://schemas.microsoft.com/office/powerpoint/2010/main" val="119599713"/>
      </p:ext>
    </p:extLst>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docProps/app.xml><?xml version="1.0" encoding="utf-8"?>
<Properties xmlns="http://schemas.openxmlformats.org/officeDocument/2006/extended-properties" xmlns:vt="http://schemas.openxmlformats.org/officeDocument/2006/docPropsVTypes">
  <TotalTime>2529</TotalTime>
  <Words>3699</Words>
  <Application>Microsoft Office PowerPoint</Application>
  <PresentationFormat>Widescreen</PresentationFormat>
  <Paragraphs>204</Paragraphs>
  <Slides>16</Slides>
  <Notes>16</Notes>
  <HiddenSlides>0</HiddenSlides>
  <MMClips>0</MMClips>
  <ScaleCrop>false</ScaleCrop>
  <HeadingPairs>
    <vt:vector size="6" baseType="variant">
      <vt:variant>
        <vt:lpstr>Fonts Used</vt:lpstr>
      </vt:variant>
      <vt:variant>
        <vt:i4>4</vt:i4>
      </vt:variant>
      <vt:variant>
        <vt:lpstr>Theme</vt:lpstr>
      </vt:variant>
      <vt:variant>
        <vt:i4>1</vt:i4>
      </vt:variant>
      <vt:variant>
        <vt:lpstr>Slide Titles</vt:lpstr>
      </vt:variant>
      <vt:variant>
        <vt:i4>16</vt:i4>
      </vt:variant>
    </vt:vector>
  </HeadingPairs>
  <TitlesOfParts>
    <vt:vector size="21" baseType="lpstr">
      <vt:lpstr>Aptos</vt:lpstr>
      <vt:lpstr>Aptos Display</vt:lpstr>
      <vt:lpstr>Arial</vt:lpstr>
      <vt:lpstr>Calibri</vt:lpstr>
      <vt:lpstr>Office Theme</vt:lpstr>
      <vt:lpstr>PowerPoint Presentation</vt:lpstr>
      <vt:lpstr>The aircraft maintenance scheduling problem</vt:lpstr>
      <vt:lpstr>Simple fleet proof of concept</vt:lpstr>
      <vt:lpstr>The heavy maintenance forecast</vt:lpstr>
      <vt:lpstr>Scaling the search: Random Sampling method</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creator>David Long</dc:creator>
  <cp:lastModifiedBy>David Long</cp:lastModifiedBy>
  <cp:revision>1</cp:revision>
  <dcterms:created xsi:type="dcterms:W3CDTF">2026-03-18T14:25:52Z</dcterms:created>
  <dcterms:modified xsi:type="dcterms:W3CDTF">2026-10-14T01:08:27Z</dcterms:modified>
</cp:coreProperties>
</file>