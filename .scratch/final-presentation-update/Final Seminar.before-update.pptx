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1" r:id="rId3"/>
    <p:sldId id="258" r:id="rId4"/>
    <p:sldId id="275" r:id="rId5"/>
    <p:sldId id="267" r:id="rId6"/>
    <p:sldId id="266" r:id="rId7"/>
    <p:sldId id="269" r:id="rId8"/>
    <p:sldId id="268" r:id="rId9"/>
    <p:sldId id="276" r:id="rId10"/>
    <p:sldId id="270" r:id="rId11"/>
    <p:sldId id="277" r:id="rId12"/>
    <p:sldId id="274" r:id="rId13"/>
    <p:sldId id="257" r:id="rId14"/>
    <p:sldId id="278" r:id="rId15"/>
    <p:sldId id="259" r:id="rId16"/>
    <p:sldId id="260" r:id="rId17"/>
    <p:sldId id="279" r:id="rId18"/>
    <p:sldId id="263" r:id="rId19"/>
    <p:sldId id="280" r:id="rId20"/>
    <p:sldId id="265" r:id="rId21"/>
    <p:sldId id="281" r:id="rId22"/>
    <p:sldId id="282"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F5219-141B-4B15-B12B-FD9888D4FAD0}" v="39" dt="2026-10-13T22:46:30.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07" autoAdjust="0"/>
  </p:normalViewPr>
  <p:slideViewPr>
    <p:cSldViewPr snapToGrid="0">
      <p:cViewPr varScale="1">
        <p:scale>
          <a:sx n="67" d="100"/>
          <a:sy n="67" d="100"/>
        </p:scale>
        <p:origin x="1267" y="5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10-13T22:46:30.720" v="10060"/>
      <pc:docMkLst>
        <pc:docMk/>
      </pc:docMkLst>
      <pc:sldChg chg="modSp mod">
        <pc:chgData name="David Long" userId="f0dab1f4b2f59987" providerId="LiveId" clId="{BD423006-59C5-4E11-8B6B-507DC77F169F}" dt="2026-10-13T22:44:54.485" v="9963" actId="20577"/>
        <pc:sldMkLst>
          <pc:docMk/>
          <pc:sldMk cId="3230234624" sldId="256"/>
        </pc:sldMkLst>
        <pc:spChg chg="mod">
          <ac:chgData name="David Long" userId="f0dab1f4b2f59987" providerId="LiveId" clId="{BD423006-59C5-4E11-8B6B-507DC77F169F}" dt="2026-10-13T22:44:54.485" v="9963" actId="20577"/>
          <ac:spMkLst>
            <pc:docMk/>
            <pc:sldMk cId="3230234624" sldId="256"/>
            <ac:spMk id="9" creationId="{B6F76717-FBF4-D43F-202F-9235C7C3C349}"/>
          </ac:spMkLst>
        </pc:spChg>
      </pc:sldChg>
      <pc:sldChg chg="add ord">
        <pc:chgData name="David Long" userId="f0dab1f4b2f59987" providerId="LiveId" clId="{BD423006-59C5-4E11-8B6B-507DC77F169F}" dt="2026-10-13T22:44:58.616" v="10004"/>
        <pc:sldMkLst>
          <pc:docMk/>
          <pc:sldMk cId="0" sldId="257"/>
        </pc:sldMkLst>
      </pc:sldChg>
      <pc:sldChg chg="delSp add setBg delDesignElem">
        <pc:chgData name="David Long" userId="f0dab1f4b2f59987" providerId="LiveId" clId="{BD423006-59C5-4E11-8B6B-507DC77F169F}" dt="2026-10-13T22:44:53.720" v="9956"/>
        <pc:sldMkLst>
          <pc:docMk/>
          <pc:sldMk cId="3285733717" sldId="258"/>
        </pc:sldMkLst>
        <pc:spChg chg="del">
          <ac:chgData name="David Long" userId="f0dab1f4b2f59987" providerId="LiveId" clId="{BD423006-59C5-4E11-8B6B-507DC77F169F}" dt="2026-10-13T22:44:53.720" v="9956"/>
          <ac:spMkLst>
            <pc:docMk/>
            <pc:sldMk cId="3285733717" sldId="258"/>
            <ac:spMk id="33" creationId="{C0763A76-9F1C-4FC5-82B7-DD475DA461B2}"/>
          </ac:spMkLst>
        </pc:spChg>
        <pc:spChg chg="del">
          <ac:chgData name="David Long" userId="f0dab1f4b2f59987" providerId="LiveId" clId="{BD423006-59C5-4E11-8B6B-507DC77F169F}" dt="2026-10-13T22:44:53.720" v="9956"/>
          <ac:spMkLst>
            <pc:docMk/>
            <pc:sldMk cId="3285733717" sldId="258"/>
            <ac:spMk id="35" creationId="{E81BF4F6-F2CF-4984-9D14-D6966D92F99F}"/>
          </ac:spMkLst>
        </pc:spChg>
      </pc:sldChg>
      <pc:sldChg chg="add ord">
        <pc:chgData name="David Long" userId="f0dab1f4b2f59987" providerId="LiveId" clId="{BD423006-59C5-4E11-8B6B-507DC77F169F}" dt="2026-10-13T22:44:59.547" v="10006"/>
        <pc:sldMkLst>
          <pc:docMk/>
          <pc:sldMk cId="0" sldId="259"/>
        </pc:sldMkLst>
      </pc:sldChg>
      <pc:sldChg chg="add ord">
        <pc:chgData name="David Long" userId="f0dab1f4b2f59987" providerId="LiveId" clId="{BD423006-59C5-4E11-8B6B-507DC77F169F}" dt="2026-10-13T22:45:00.061" v="10007"/>
        <pc:sldMkLst>
          <pc:docMk/>
          <pc:sldMk cId="0" sldId="260"/>
        </pc:sldMkLst>
      </pc:sldChg>
      <pc:sldChg chg="add ord">
        <pc:chgData name="David Long" userId="f0dab1f4b2f59987" providerId="LiveId" clId="{BD423006-59C5-4E11-8B6B-507DC77F169F}" dt="2026-10-13T22:45:01.403" v="10009"/>
        <pc:sldMkLst>
          <pc:docMk/>
          <pc:sldMk cId="0" sldId="263"/>
        </pc:sldMkLst>
      </pc:sldChg>
      <pc:sldChg chg="add ord">
        <pc:chgData name="David Long" userId="f0dab1f4b2f59987" providerId="LiveId" clId="{BD423006-59C5-4E11-8B6B-507DC77F169F}" dt="2026-10-13T22:45:03.178" v="10011"/>
        <pc:sldMkLst>
          <pc:docMk/>
          <pc:sldMk cId="0" sldId="265"/>
        </pc:sldMkLst>
      </pc:sldChg>
      <pc:sldChg chg="delSp add setBg delDesignElem">
        <pc:chgData name="David Long" userId="f0dab1f4b2f59987" providerId="LiveId" clId="{BD423006-59C5-4E11-8B6B-507DC77F169F}" dt="2026-10-13T22:44:53.568" v="9954"/>
        <pc:sldMkLst>
          <pc:docMk/>
          <pc:sldMk cId="3435028032" sldId="271"/>
        </pc:sldMkLst>
        <pc:spChg chg="del">
          <ac:chgData name="David Long" userId="f0dab1f4b2f59987" providerId="LiveId" clId="{BD423006-59C5-4E11-8B6B-507DC77F169F}" dt="2026-10-13T22:44:53.568" v="9954"/>
          <ac:spMkLst>
            <pc:docMk/>
            <pc:sldMk cId="3435028032" sldId="271"/>
            <ac:spMk id="1038" creationId="{04812C46-200A-4DEB-A05E-3ED6C68C2387}"/>
          </ac:spMkLst>
        </pc:spChg>
        <pc:spChg chg="del">
          <ac:chgData name="David Long" userId="f0dab1f4b2f59987" providerId="LiveId" clId="{BD423006-59C5-4E11-8B6B-507DC77F169F}" dt="2026-10-13T22:44:53.568" v="9954"/>
          <ac:spMkLst>
            <pc:docMk/>
            <pc:sldMk cId="3435028032" sldId="271"/>
            <ac:spMk id="1040" creationId="{D1EA859B-E555-4109-94F3-6700E046E008}"/>
          </ac:spMkLst>
        </pc:spChg>
      </pc:sldChg>
      <pc:sldChg chg="add ord">
        <pc:chgData name="David Long" userId="f0dab1f4b2f59987" providerId="LiveId" clId="{BD423006-59C5-4E11-8B6B-507DC77F169F}" dt="2026-10-13T22:44:59.065" v="10005"/>
        <pc:sldMkLst>
          <pc:docMk/>
          <pc:sldMk cId="3658503222" sldId="278"/>
        </pc:sldMkLst>
      </pc:sldChg>
      <pc:sldChg chg="modSp add mod ord">
        <pc:chgData name="David Long" userId="f0dab1f4b2f59987" providerId="LiveId" clId="{BD423006-59C5-4E11-8B6B-507DC77F169F}" dt="2026-10-13T22:45:00.586" v="10008"/>
        <pc:sldMkLst>
          <pc:docMk/>
          <pc:sldMk cId="2829286252" sldId="279"/>
        </pc:sldMkLst>
        <pc:spChg chg="mod">
          <ac:chgData name="David Long" userId="f0dab1f4b2f59987" providerId="LiveId" clId="{BD423006-59C5-4E11-8B6B-507DC77F169F}" dt="2026-10-13T22:44:55.045" v="9972" actId="20577"/>
          <ac:spMkLst>
            <pc:docMk/>
            <pc:sldMk cId="2829286252" sldId="279"/>
            <ac:spMk id="4" creationId="{00000000-0000-0000-0000-000000000000}"/>
          </ac:spMkLst>
        </pc:spChg>
        <pc:spChg chg="mod">
          <ac:chgData name="David Long" userId="f0dab1f4b2f59987" providerId="LiveId" clId="{BD423006-59C5-4E11-8B6B-507DC77F169F}" dt="2026-10-13T22:44:55.071" v="9973" actId="20577"/>
          <ac:spMkLst>
            <pc:docMk/>
            <pc:sldMk cId="2829286252" sldId="279"/>
            <ac:spMk id="5" creationId="{00000000-0000-0000-0000-000000000000}"/>
          </ac:spMkLst>
        </pc:spChg>
        <pc:spChg chg="mod">
          <ac:chgData name="David Long" userId="f0dab1f4b2f59987" providerId="LiveId" clId="{BD423006-59C5-4E11-8B6B-507DC77F169F}" dt="2026-10-13T22:44:55.107" v="9974" actId="20577"/>
          <ac:spMkLst>
            <pc:docMk/>
            <pc:sldMk cId="2829286252" sldId="279"/>
            <ac:spMk id="7" creationId="{00000000-0000-0000-0000-000000000000}"/>
          </ac:spMkLst>
        </pc:spChg>
        <pc:spChg chg="mod">
          <ac:chgData name="David Long" userId="f0dab1f4b2f59987" providerId="LiveId" clId="{BD423006-59C5-4E11-8B6B-507DC77F169F}" dt="2026-10-13T22:44:55.141" v="9975" actId="20577"/>
          <ac:spMkLst>
            <pc:docMk/>
            <pc:sldMk cId="2829286252" sldId="279"/>
            <ac:spMk id="8" creationId="{00000000-0000-0000-0000-000000000000}"/>
          </ac:spMkLst>
        </pc:spChg>
        <pc:spChg chg="mod">
          <ac:chgData name="David Long" userId="f0dab1f4b2f59987" providerId="LiveId" clId="{BD423006-59C5-4E11-8B6B-507DC77F169F}" dt="2026-10-13T22:44:55.181" v="9976" actId="20577"/>
          <ac:spMkLst>
            <pc:docMk/>
            <pc:sldMk cId="2829286252" sldId="279"/>
            <ac:spMk id="10" creationId="{00000000-0000-0000-0000-000000000000}"/>
          </ac:spMkLst>
        </pc:spChg>
        <pc:spChg chg="mod">
          <ac:chgData name="David Long" userId="f0dab1f4b2f59987" providerId="LiveId" clId="{BD423006-59C5-4E11-8B6B-507DC77F169F}" dt="2026-10-13T22:44:55.228" v="9977" actId="20577"/>
          <ac:spMkLst>
            <pc:docMk/>
            <pc:sldMk cId="2829286252" sldId="279"/>
            <ac:spMk id="11" creationId="{00000000-0000-0000-0000-000000000000}"/>
          </ac:spMkLst>
        </pc:spChg>
        <pc:spChg chg="mod">
          <ac:chgData name="David Long" userId="f0dab1f4b2f59987" providerId="LiveId" clId="{BD423006-59C5-4E11-8B6B-507DC77F169F}" dt="2026-10-13T22:44:55.314" v="9978" actId="20577"/>
          <ac:spMkLst>
            <pc:docMk/>
            <pc:sldMk cId="2829286252" sldId="279"/>
            <ac:spMk id="13" creationId="{00000000-0000-0000-0000-000000000000}"/>
          </ac:spMkLst>
        </pc:spChg>
        <pc:spChg chg="mod">
          <ac:chgData name="David Long" userId="f0dab1f4b2f59987" providerId="LiveId" clId="{BD423006-59C5-4E11-8B6B-507DC77F169F}" dt="2026-10-13T22:44:55.502" v="9979" actId="20577"/>
          <ac:spMkLst>
            <pc:docMk/>
            <pc:sldMk cId="2829286252" sldId="279"/>
            <ac:spMk id="14" creationId="{00000000-0000-0000-0000-000000000000}"/>
          </ac:spMkLst>
        </pc:spChg>
      </pc:sldChg>
      <pc:sldChg chg="modSp add mod ord">
        <pc:chgData name="David Long" userId="f0dab1f4b2f59987" providerId="LiveId" clId="{BD423006-59C5-4E11-8B6B-507DC77F169F}" dt="2026-10-13T22:45:02.216" v="10010"/>
        <pc:sldMkLst>
          <pc:docMk/>
          <pc:sldMk cId="2975520988" sldId="280"/>
        </pc:sldMkLst>
        <pc:spChg chg="mod">
          <ac:chgData name="David Long" userId="f0dab1f4b2f59987" providerId="LiveId" clId="{BD423006-59C5-4E11-8B6B-507DC77F169F}" dt="2026-10-13T22:44:55.527" v="9980" actId="20577"/>
          <ac:spMkLst>
            <pc:docMk/>
            <pc:sldMk cId="2975520988" sldId="280"/>
            <ac:spMk id="4" creationId="{00000000-0000-0000-0000-000000000000}"/>
          </ac:spMkLst>
        </pc:spChg>
        <pc:spChg chg="mod">
          <ac:chgData name="David Long" userId="f0dab1f4b2f59987" providerId="LiveId" clId="{BD423006-59C5-4E11-8B6B-507DC77F169F}" dt="2026-10-13T22:44:55.556" v="9981" actId="20577"/>
          <ac:spMkLst>
            <pc:docMk/>
            <pc:sldMk cId="2975520988" sldId="280"/>
            <ac:spMk id="5" creationId="{00000000-0000-0000-0000-000000000000}"/>
          </ac:spMkLst>
        </pc:spChg>
        <pc:spChg chg="mod">
          <ac:chgData name="David Long" userId="f0dab1f4b2f59987" providerId="LiveId" clId="{BD423006-59C5-4E11-8B6B-507DC77F169F}" dt="2026-10-13T22:44:55.583" v="9982" actId="20577"/>
          <ac:spMkLst>
            <pc:docMk/>
            <pc:sldMk cId="2975520988" sldId="280"/>
            <ac:spMk id="7" creationId="{00000000-0000-0000-0000-000000000000}"/>
          </ac:spMkLst>
        </pc:spChg>
        <pc:spChg chg="mod">
          <ac:chgData name="David Long" userId="f0dab1f4b2f59987" providerId="LiveId" clId="{BD423006-59C5-4E11-8B6B-507DC77F169F}" dt="2026-10-13T22:44:55.613" v="9983" actId="20577"/>
          <ac:spMkLst>
            <pc:docMk/>
            <pc:sldMk cId="2975520988" sldId="280"/>
            <ac:spMk id="8" creationId="{00000000-0000-0000-0000-000000000000}"/>
          </ac:spMkLst>
        </pc:spChg>
        <pc:spChg chg="mod">
          <ac:chgData name="David Long" userId="f0dab1f4b2f59987" providerId="LiveId" clId="{BD423006-59C5-4E11-8B6B-507DC77F169F}" dt="2026-10-13T22:44:55.647" v="9984" actId="20577"/>
          <ac:spMkLst>
            <pc:docMk/>
            <pc:sldMk cId="2975520988" sldId="280"/>
            <ac:spMk id="10" creationId="{00000000-0000-0000-0000-000000000000}"/>
          </ac:spMkLst>
        </pc:spChg>
        <pc:spChg chg="mod">
          <ac:chgData name="David Long" userId="f0dab1f4b2f59987" providerId="LiveId" clId="{BD423006-59C5-4E11-8B6B-507DC77F169F}" dt="2026-10-13T22:44:55.691" v="9985" actId="20577"/>
          <ac:spMkLst>
            <pc:docMk/>
            <pc:sldMk cId="2975520988" sldId="280"/>
            <ac:spMk id="11" creationId="{00000000-0000-0000-0000-000000000000}"/>
          </ac:spMkLst>
        </pc:spChg>
        <pc:spChg chg="mod">
          <ac:chgData name="David Long" userId="f0dab1f4b2f59987" providerId="LiveId" clId="{BD423006-59C5-4E11-8B6B-507DC77F169F}" dt="2026-10-13T22:44:55.740" v="9986" actId="20577"/>
          <ac:spMkLst>
            <pc:docMk/>
            <pc:sldMk cId="2975520988" sldId="280"/>
            <ac:spMk id="13" creationId="{00000000-0000-0000-0000-000000000000}"/>
          </ac:spMkLst>
        </pc:spChg>
        <pc:spChg chg="mod">
          <ac:chgData name="David Long" userId="f0dab1f4b2f59987" providerId="LiveId" clId="{BD423006-59C5-4E11-8B6B-507DC77F169F}" dt="2026-10-13T22:44:55.792" v="9987" actId="20577"/>
          <ac:spMkLst>
            <pc:docMk/>
            <pc:sldMk cId="2975520988" sldId="280"/>
            <ac:spMk id="14" creationId="{00000000-0000-0000-0000-000000000000}"/>
          </ac:spMkLst>
        </pc:spChg>
      </pc:sldChg>
      <pc:sldChg chg="modSp add mod ord">
        <pc:chgData name="David Long" userId="f0dab1f4b2f59987" providerId="LiveId" clId="{BD423006-59C5-4E11-8B6B-507DC77F169F}" dt="2026-10-13T22:46:20.470" v="10041"/>
        <pc:sldMkLst>
          <pc:docMk/>
          <pc:sldMk cId="119599713" sldId="281"/>
        </pc:sldMkLst>
        <pc:spChg chg="mod">
          <ac:chgData name="David Long" userId="f0dab1f4b2f59987" providerId="LiveId" clId="{BD423006-59C5-4E11-8B6B-507DC77F169F}" dt="2026-10-13T22:44:55.822" v="9988" actId="20577"/>
          <ac:spMkLst>
            <pc:docMk/>
            <pc:sldMk cId="119599713" sldId="281"/>
            <ac:spMk id="4" creationId="{00000000-0000-0000-0000-000000000000}"/>
          </ac:spMkLst>
        </pc:spChg>
        <pc:spChg chg="mod">
          <ac:chgData name="David Long" userId="f0dab1f4b2f59987" providerId="LiveId" clId="{BD423006-59C5-4E11-8B6B-507DC77F169F}" dt="2026-10-13T22:44:55.870" v="9989" actId="20577"/>
          <ac:spMkLst>
            <pc:docMk/>
            <pc:sldMk cId="119599713" sldId="281"/>
            <ac:spMk id="5" creationId="{00000000-0000-0000-0000-000000000000}"/>
          </ac:spMkLst>
        </pc:spChg>
        <pc:spChg chg="mod">
          <ac:chgData name="David Long" userId="f0dab1f4b2f59987" providerId="LiveId" clId="{BD423006-59C5-4E11-8B6B-507DC77F169F}" dt="2026-10-13T22:44:55.915" v="9990" actId="20577"/>
          <ac:spMkLst>
            <pc:docMk/>
            <pc:sldMk cId="119599713" sldId="281"/>
            <ac:spMk id="7" creationId="{00000000-0000-0000-0000-000000000000}"/>
          </ac:spMkLst>
        </pc:spChg>
        <pc:spChg chg="mod">
          <ac:chgData name="David Long" userId="f0dab1f4b2f59987" providerId="LiveId" clId="{BD423006-59C5-4E11-8B6B-507DC77F169F}" dt="2026-10-13T22:46:20.015" v="10033"/>
          <ac:spMkLst>
            <pc:docMk/>
            <pc:sldMk cId="119599713" sldId="281"/>
            <ac:spMk id="8" creationId="{00000000-0000-0000-0000-000000000000}"/>
          </ac:spMkLst>
        </pc:spChg>
        <pc:spChg chg="mod">
          <ac:chgData name="David Long" userId="f0dab1f4b2f59987" providerId="LiveId" clId="{BD423006-59C5-4E11-8B6B-507DC77F169F}" dt="2026-10-13T22:44:55.997" v="9992" actId="20577"/>
          <ac:spMkLst>
            <pc:docMk/>
            <pc:sldMk cId="119599713" sldId="281"/>
            <ac:spMk id="10" creationId="{00000000-0000-0000-0000-000000000000}"/>
          </ac:spMkLst>
        </pc:spChg>
        <pc:spChg chg="mod">
          <ac:chgData name="David Long" userId="f0dab1f4b2f59987" providerId="LiveId" clId="{BD423006-59C5-4E11-8B6B-507DC77F169F}" dt="2026-10-13T22:46:19.994" v="10025"/>
          <ac:spMkLst>
            <pc:docMk/>
            <pc:sldMk cId="119599713" sldId="281"/>
            <ac:spMk id="11" creationId="{00000000-0000-0000-0000-000000000000}"/>
          </ac:spMkLst>
        </pc:spChg>
        <pc:spChg chg="mod">
          <ac:chgData name="David Long" userId="f0dab1f4b2f59987" providerId="LiveId" clId="{BD423006-59C5-4E11-8B6B-507DC77F169F}" dt="2026-10-13T22:46:16.405" v="10016" actId="20577"/>
          <ac:spMkLst>
            <pc:docMk/>
            <pc:sldMk cId="119599713" sldId="281"/>
            <ac:spMk id="13" creationId="{00000000-0000-0000-0000-000000000000}"/>
          </ac:spMkLst>
        </pc:spChg>
        <pc:spChg chg="mod">
          <ac:chgData name="David Long" userId="f0dab1f4b2f59987" providerId="LiveId" clId="{BD423006-59C5-4E11-8B6B-507DC77F169F}" dt="2026-10-13T22:46:20.470" v="10041"/>
          <ac:spMkLst>
            <pc:docMk/>
            <pc:sldMk cId="119599713" sldId="281"/>
            <ac:spMk id="14" creationId="{00000000-0000-0000-0000-000000000000}"/>
          </ac:spMkLst>
        </pc:spChg>
      </pc:sldChg>
      <pc:sldChg chg="delSp modSp add mod ord">
        <pc:chgData name="David Long" userId="f0dab1f4b2f59987" providerId="LiveId" clId="{BD423006-59C5-4E11-8B6B-507DC77F169F}" dt="2026-10-13T22:46:30.720" v="10060"/>
        <pc:sldMkLst>
          <pc:docMk/>
          <pc:sldMk cId="1860422736" sldId="282"/>
        </pc:sldMkLst>
        <pc:spChg chg="mod">
          <ac:chgData name="David Long" userId="f0dab1f4b2f59987" providerId="LiveId" clId="{BD423006-59C5-4E11-8B6B-507DC77F169F}" dt="2026-10-13T22:44:56.169" v="9996" actId="20577"/>
          <ac:spMkLst>
            <pc:docMk/>
            <pc:sldMk cId="1860422736" sldId="282"/>
            <ac:spMk id="4" creationId="{00000000-0000-0000-0000-000000000000}"/>
          </ac:spMkLst>
        </pc:spChg>
        <pc:spChg chg="mod">
          <ac:chgData name="David Long" userId="f0dab1f4b2f59987" providerId="LiveId" clId="{BD423006-59C5-4E11-8B6B-507DC77F169F}" dt="2026-10-13T22:46:20.691" v="10042" actId="20577"/>
          <ac:spMkLst>
            <pc:docMk/>
            <pc:sldMk cId="1860422736" sldId="282"/>
            <ac:spMk id="5" creationId="{00000000-0000-0000-0000-000000000000}"/>
          </ac:spMkLst>
        </pc:spChg>
        <pc:spChg chg="del">
          <ac:chgData name="David Long" userId="f0dab1f4b2f59987" providerId="LiveId" clId="{BD423006-59C5-4E11-8B6B-507DC77F169F}" dt="2026-10-13T22:46:25.544" v="10044"/>
          <ac:spMkLst>
            <pc:docMk/>
            <pc:sldMk cId="1860422736" sldId="282"/>
            <ac:spMk id="6" creationId="{00000000-0000-0000-0000-000000000000}"/>
          </ac:spMkLst>
        </pc:spChg>
        <pc:spChg chg="del mod">
          <ac:chgData name="David Long" userId="f0dab1f4b2f59987" providerId="LiveId" clId="{BD423006-59C5-4E11-8B6B-507DC77F169F}" dt="2026-10-13T22:46:28.915" v="10046"/>
          <ac:spMkLst>
            <pc:docMk/>
            <pc:sldMk cId="1860422736" sldId="282"/>
            <ac:spMk id="7" creationId="{00000000-0000-0000-0000-000000000000}"/>
          </ac:spMkLst>
        </pc:spChg>
        <pc:spChg chg="del mod">
          <ac:chgData name="David Long" userId="f0dab1f4b2f59987" providerId="LiveId" clId="{BD423006-59C5-4E11-8B6B-507DC77F169F}" dt="2026-10-13T22:46:28.945" v="10048"/>
          <ac:spMkLst>
            <pc:docMk/>
            <pc:sldMk cId="1860422736" sldId="282"/>
            <ac:spMk id="8" creationId="{00000000-0000-0000-0000-000000000000}"/>
          </ac:spMkLst>
        </pc:spChg>
        <pc:spChg chg="del">
          <ac:chgData name="David Long" userId="f0dab1f4b2f59987" providerId="LiveId" clId="{BD423006-59C5-4E11-8B6B-507DC77F169F}" dt="2026-10-13T22:46:29.006" v="10050"/>
          <ac:spMkLst>
            <pc:docMk/>
            <pc:sldMk cId="1860422736" sldId="282"/>
            <ac:spMk id="9" creationId="{00000000-0000-0000-0000-000000000000}"/>
          </ac:spMkLst>
        </pc:spChg>
        <pc:spChg chg="del mod">
          <ac:chgData name="David Long" userId="f0dab1f4b2f59987" providerId="LiveId" clId="{BD423006-59C5-4E11-8B6B-507DC77F169F}" dt="2026-10-13T22:46:29.292" v="10052"/>
          <ac:spMkLst>
            <pc:docMk/>
            <pc:sldMk cId="1860422736" sldId="282"/>
            <ac:spMk id="10" creationId="{00000000-0000-0000-0000-000000000000}"/>
          </ac:spMkLst>
        </pc:spChg>
        <pc:spChg chg="del mod">
          <ac:chgData name="David Long" userId="f0dab1f4b2f59987" providerId="LiveId" clId="{BD423006-59C5-4E11-8B6B-507DC77F169F}" dt="2026-10-13T22:46:29.696" v="10054"/>
          <ac:spMkLst>
            <pc:docMk/>
            <pc:sldMk cId="1860422736" sldId="282"/>
            <ac:spMk id="11" creationId="{00000000-0000-0000-0000-000000000000}"/>
          </ac:spMkLst>
        </pc:spChg>
        <pc:spChg chg="del">
          <ac:chgData name="David Long" userId="f0dab1f4b2f59987" providerId="LiveId" clId="{BD423006-59C5-4E11-8B6B-507DC77F169F}" dt="2026-10-13T22:46:30.043" v="10056"/>
          <ac:spMkLst>
            <pc:docMk/>
            <pc:sldMk cId="1860422736" sldId="282"/>
            <ac:spMk id="12" creationId="{00000000-0000-0000-0000-000000000000}"/>
          </ac:spMkLst>
        </pc:spChg>
        <pc:spChg chg="del mod">
          <ac:chgData name="David Long" userId="f0dab1f4b2f59987" providerId="LiveId" clId="{BD423006-59C5-4E11-8B6B-507DC77F169F}" dt="2026-10-13T22:46:30.670" v="10058"/>
          <ac:spMkLst>
            <pc:docMk/>
            <pc:sldMk cId="1860422736" sldId="282"/>
            <ac:spMk id="13" creationId="{00000000-0000-0000-0000-000000000000}"/>
          </ac:spMkLst>
        </pc:spChg>
        <pc:spChg chg="del mod">
          <ac:chgData name="David Long" userId="f0dab1f4b2f59987" providerId="LiveId" clId="{BD423006-59C5-4E11-8B6B-507DC77F169F}" dt="2026-10-13T22:46:30.720" v="10060"/>
          <ac:spMkLst>
            <pc:docMk/>
            <pc:sldMk cId="1860422736" sldId="282"/>
            <ac:spMk id="14"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020111-FDA8-471F-8A04-87B4295C3DE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6E8230-0EFD-4DCF-9003-D075E39E1B97}">
      <dgm:prSet/>
      <dgm:spPr/>
      <dgm:t>
        <a:bodyPr/>
        <a:lstStyle/>
        <a:p>
          <a:r>
            <a:rPr lang="en-AU" noProof="0" dirty="0"/>
            <a:t>Mathematical Programming </a:t>
          </a:r>
        </a:p>
      </dgm:t>
    </dgm:pt>
    <dgm:pt modelId="{93465BAB-01A9-467B-8A3B-247DED3252A8}" type="parTrans" cxnId="{07728A55-F61D-4615-82B0-55A9753209B8}">
      <dgm:prSet/>
      <dgm:spPr/>
      <dgm:t>
        <a:bodyPr/>
        <a:lstStyle/>
        <a:p>
          <a:endParaRPr lang="en-US"/>
        </a:p>
      </dgm:t>
    </dgm:pt>
    <dgm:pt modelId="{2FEC4603-ECFE-4504-A03B-B787D6A6610A}" type="sibTrans" cxnId="{07728A55-F61D-4615-82B0-55A9753209B8}">
      <dgm:prSet/>
      <dgm:spPr/>
      <dgm:t>
        <a:bodyPr/>
        <a:lstStyle/>
        <a:p>
          <a:endParaRPr lang="en-US"/>
        </a:p>
      </dgm:t>
    </dgm:pt>
    <dgm:pt modelId="{18E1B4C1-77E8-4EE6-A766-09B72D6F956D}">
      <dgm:prSet/>
      <dgm:spPr/>
      <dgm:t>
        <a:bodyPr/>
        <a:lstStyle/>
        <a:p>
          <a:r>
            <a:rPr lang="en-AU" noProof="0" dirty="0"/>
            <a:t>Stochastic Simulation </a:t>
          </a:r>
        </a:p>
      </dgm:t>
    </dgm:pt>
    <dgm:pt modelId="{BD18C9E6-A686-416E-80F9-9677C9163D83}" type="parTrans" cxnId="{5A6DECC1-A1B5-406B-A60E-F8BEAFF942C8}">
      <dgm:prSet/>
      <dgm:spPr/>
      <dgm:t>
        <a:bodyPr/>
        <a:lstStyle/>
        <a:p>
          <a:endParaRPr lang="en-US"/>
        </a:p>
      </dgm:t>
    </dgm:pt>
    <dgm:pt modelId="{8B7B73AA-96D4-4D15-9623-D10D0EECF0E6}" type="sibTrans" cxnId="{5A6DECC1-A1B5-406B-A60E-F8BEAFF942C8}">
      <dgm:prSet/>
      <dgm:spPr/>
      <dgm:t>
        <a:bodyPr/>
        <a:lstStyle/>
        <a:p>
          <a:endParaRPr lang="en-US"/>
        </a:p>
      </dgm:t>
    </dgm:pt>
    <dgm:pt modelId="{57D70619-EB1D-4C46-9EF8-D0365F4CCE16}">
      <dgm:prSet/>
      <dgm:spPr/>
      <dgm:t>
        <a:bodyPr/>
        <a:lstStyle/>
        <a:p>
          <a:r>
            <a:rPr lang="en-AU" noProof="0" dirty="0"/>
            <a:t>Metaheuristic Algorithms</a:t>
          </a:r>
        </a:p>
      </dgm:t>
    </dgm:pt>
    <dgm:pt modelId="{C6E8FEB6-CDBB-431B-BE3A-37E2377A61B5}" type="parTrans" cxnId="{ECC50F5B-5AA4-4A9E-A6D3-057EAFD8E87C}">
      <dgm:prSet/>
      <dgm:spPr/>
      <dgm:t>
        <a:bodyPr/>
        <a:lstStyle/>
        <a:p>
          <a:endParaRPr lang="en-US"/>
        </a:p>
      </dgm:t>
    </dgm:pt>
    <dgm:pt modelId="{CC0D0DA3-A622-4E39-B952-6832E22BD89C}" type="sibTrans" cxnId="{ECC50F5B-5AA4-4A9E-A6D3-057EAFD8E87C}">
      <dgm:prSet/>
      <dgm:spPr/>
      <dgm:t>
        <a:bodyPr/>
        <a:lstStyle/>
        <a:p>
          <a:endParaRPr lang="en-US"/>
        </a:p>
      </dgm:t>
    </dgm:pt>
    <dgm:pt modelId="{EE4D7001-52A1-446A-9B96-2FA2619BD2CB}">
      <dgm:prSet/>
      <dgm:spPr/>
      <dgm:t>
        <a:bodyPr/>
        <a:lstStyle/>
        <a:p>
          <a:r>
            <a:rPr lang="en-AU" noProof="0" dirty="0"/>
            <a:t>Selected approach: Simulated Annealing with Variable Neighbourhood Search (SAVNS) (Winata, 2011)</a:t>
          </a:r>
        </a:p>
      </dgm:t>
    </dgm:pt>
    <dgm:pt modelId="{E6C4F9D0-51FE-462D-9FC0-A3963E5FCF51}" type="parTrans" cxnId="{759B8031-C19B-4C32-9C28-8546E356F31E}">
      <dgm:prSet/>
      <dgm:spPr/>
      <dgm:t>
        <a:bodyPr/>
        <a:lstStyle/>
        <a:p>
          <a:endParaRPr lang="en-US"/>
        </a:p>
      </dgm:t>
    </dgm:pt>
    <dgm:pt modelId="{6B4ADE1B-BBFE-4976-8A09-D720F0F32F3C}" type="sibTrans" cxnId="{759B8031-C19B-4C32-9C28-8546E356F31E}">
      <dgm:prSet/>
      <dgm:spPr/>
      <dgm:t>
        <a:bodyPr/>
        <a:lstStyle/>
        <a:p>
          <a:endParaRPr lang="en-US"/>
        </a:p>
      </dgm:t>
    </dgm:pt>
    <dgm:pt modelId="{647E6C37-04C9-47E5-8346-E3CF4DF51787}" type="pres">
      <dgm:prSet presAssocID="{8C020111-FDA8-471F-8A04-87B4295C3DE6}" presName="root" presStyleCnt="0">
        <dgm:presLayoutVars>
          <dgm:dir/>
          <dgm:resizeHandles val="exact"/>
        </dgm:presLayoutVars>
      </dgm:prSet>
      <dgm:spPr/>
    </dgm:pt>
    <dgm:pt modelId="{A3F972F1-8DE7-48FE-90DC-EE0476016952}" type="pres">
      <dgm:prSet presAssocID="{2A6E8230-0EFD-4DCF-9003-D075E39E1B97}" presName="compNode" presStyleCnt="0"/>
      <dgm:spPr/>
    </dgm:pt>
    <dgm:pt modelId="{CA11AC62-8C08-469B-BBFE-8CEB1119DA44}" type="pres">
      <dgm:prSet presAssocID="{2A6E8230-0EFD-4DCF-9003-D075E39E1B97}" presName="bgRect" presStyleLbl="bgShp" presStyleIdx="0" presStyleCnt="4"/>
      <dgm:spPr/>
    </dgm:pt>
    <dgm:pt modelId="{0B79494C-B303-4764-966E-66EED8E8E923}" type="pres">
      <dgm:prSet presAssocID="{2A6E8230-0EFD-4DCF-9003-D075E39E1B9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lculator"/>
        </a:ext>
      </dgm:extLst>
    </dgm:pt>
    <dgm:pt modelId="{D711803C-7EAC-4C27-AB9C-1DAF3A0EFFAB}" type="pres">
      <dgm:prSet presAssocID="{2A6E8230-0EFD-4DCF-9003-D075E39E1B97}" presName="spaceRect" presStyleCnt="0"/>
      <dgm:spPr/>
    </dgm:pt>
    <dgm:pt modelId="{B106C89A-B853-43B1-8FB5-8F98095059F8}" type="pres">
      <dgm:prSet presAssocID="{2A6E8230-0EFD-4DCF-9003-D075E39E1B97}" presName="parTx" presStyleLbl="revTx" presStyleIdx="0" presStyleCnt="4">
        <dgm:presLayoutVars>
          <dgm:chMax val="0"/>
          <dgm:chPref val="0"/>
        </dgm:presLayoutVars>
      </dgm:prSet>
      <dgm:spPr/>
    </dgm:pt>
    <dgm:pt modelId="{9942D025-30D8-4547-A683-4BADDDFB48AC}" type="pres">
      <dgm:prSet presAssocID="{2FEC4603-ECFE-4504-A03B-B787D6A6610A}" presName="sibTrans" presStyleCnt="0"/>
      <dgm:spPr/>
    </dgm:pt>
    <dgm:pt modelId="{BE9CEFEB-2E9C-4411-B9CD-426A69399425}" type="pres">
      <dgm:prSet presAssocID="{18E1B4C1-77E8-4EE6-A766-09B72D6F956D}" presName="compNode" presStyleCnt="0"/>
      <dgm:spPr/>
    </dgm:pt>
    <dgm:pt modelId="{6E0C00B1-F5CD-44D2-B354-C747E0DC6853}" type="pres">
      <dgm:prSet presAssocID="{18E1B4C1-77E8-4EE6-A766-09B72D6F956D}" presName="bgRect" presStyleLbl="bgShp" presStyleIdx="1" presStyleCnt="4"/>
      <dgm:spPr/>
    </dgm:pt>
    <dgm:pt modelId="{06046487-05EB-4B59-98ED-54A9438334B1}" type="pres">
      <dgm:prSet presAssocID="{18E1B4C1-77E8-4EE6-A766-09B72D6F956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8FA7B2DD-8B93-4989-BA81-51F9AD675F99}" type="pres">
      <dgm:prSet presAssocID="{18E1B4C1-77E8-4EE6-A766-09B72D6F956D}" presName="spaceRect" presStyleCnt="0"/>
      <dgm:spPr/>
    </dgm:pt>
    <dgm:pt modelId="{B0E5C977-70F8-40C4-B8FF-8C3324F4859D}" type="pres">
      <dgm:prSet presAssocID="{18E1B4C1-77E8-4EE6-A766-09B72D6F956D}" presName="parTx" presStyleLbl="revTx" presStyleIdx="1" presStyleCnt="4">
        <dgm:presLayoutVars>
          <dgm:chMax val="0"/>
          <dgm:chPref val="0"/>
        </dgm:presLayoutVars>
      </dgm:prSet>
      <dgm:spPr/>
    </dgm:pt>
    <dgm:pt modelId="{CBA347B5-25C4-49C5-9D07-4C720D6A8051}" type="pres">
      <dgm:prSet presAssocID="{8B7B73AA-96D4-4D15-9623-D10D0EECF0E6}" presName="sibTrans" presStyleCnt="0"/>
      <dgm:spPr/>
    </dgm:pt>
    <dgm:pt modelId="{A4B4D2F3-D8C2-45D6-B27E-47E79E6AA313}" type="pres">
      <dgm:prSet presAssocID="{57D70619-EB1D-4C46-9EF8-D0365F4CCE16}" presName="compNode" presStyleCnt="0"/>
      <dgm:spPr/>
    </dgm:pt>
    <dgm:pt modelId="{BB825BDD-11F9-46A4-B6C2-49D3C9B95BBE}" type="pres">
      <dgm:prSet presAssocID="{57D70619-EB1D-4C46-9EF8-D0365F4CCE16}" presName="bgRect" presStyleLbl="bgShp" presStyleIdx="2" presStyleCnt="4"/>
      <dgm:spPr/>
    </dgm:pt>
    <dgm:pt modelId="{AF1A9200-852C-4045-8734-1DD99B021296}" type="pres">
      <dgm:prSet presAssocID="{57D70619-EB1D-4C46-9EF8-D0365F4CCE1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BAE76408-D7FD-487F-9BE8-E42C2D8BC49C}" type="pres">
      <dgm:prSet presAssocID="{57D70619-EB1D-4C46-9EF8-D0365F4CCE16}" presName="spaceRect" presStyleCnt="0"/>
      <dgm:spPr/>
    </dgm:pt>
    <dgm:pt modelId="{18C26B40-30A8-4F29-842C-97EBF614EB76}" type="pres">
      <dgm:prSet presAssocID="{57D70619-EB1D-4C46-9EF8-D0365F4CCE16}" presName="parTx" presStyleLbl="revTx" presStyleIdx="2" presStyleCnt="4">
        <dgm:presLayoutVars>
          <dgm:chMax val="0"/>
          <dgm:chPref val="0"/>
        </dgm:presLayoutVars>
      </dgm:prSet>
      <dgm:spPr/>
    </dgm:pt>
    <dgm:pt modelId="{F6FA0B16-81E7-44CA-B578-64BF08383799}" type="pres">
      <dgm:prSet presAssocID="{CC0D0DA3-A622-4E39-B952-6832E22BD89C}" presName="sibTrans" presStyleCnt="0"/>
      <dgm:spPr/>
    </dgm:pt>
    <dgm:pt modelId="{34E4FEAB-8DA6-488F-841C-4A51FABB3FA6}" type="pres">
      <dgm:prSet presAssocID="{EE4D7001-52A1-446A-9B96-2FA2619BD2CB}" presName="compNode" presStyleCnt="0"/>
      <dgm:spPr/>
    </dgm:pt>
    <dgm:pt modelId="{FF5A1AE2-A900-4BE0-A321-43A699C73F2D}" type="pres">
      <dgm:prSet presAssocID="{EE4D7001-52A1-446A-9B96-2FA2619BD2CB}" presName="bgRect" presStyleLbl="bgShp" presStyleIdx="3" presStyleCnt="4"/>
      <dgm:spPr/>
    </dgm:pt>
    <dgm:pt modelId="{7D78BE65-957E-4DC7-BC8A-BFBE881F594D}" type="pres">
      <dgm:prSet presAssocID="{EE4D7001-52A1-446A-9B96-2FA2619BD2C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1C187485-DCB8-4D9D-9E42-39545C102F6D}" type="pres">
      <dgm:prSet presAssocID="{EE4D7001-52A1-446A-9B96-2FA2619BD2CB}" presName="spaceRect" presStyleCnt="0"/>
      <dgm:spPr/>
    </dgm:pt>
    <dgm:pt modelId="{215AC3C7-EE2C-4525-AF5B-A893C9ACCE3D}" type="pres">
      <dgm:prSet presAssocID="{EE4D7001-52A1-446A-9B96-2FA2619BD2CB}" presName="parTx" presStyleLbl="revTx" presStyleIdx="3" presStyleCnt="4">
        <dgm:presLayoutVars>
          <dgm:chMax val="0"/>
          <dgm:chPref val="0"/>
        </dgm:presLayoutVars>
      </dgm:prSet>
      <dgm:spPr/>
    </dgm:pt>
  </dgm:ptLst>
  <dgm:cxnLst>
    <dgm:cxn modelId="{759B8031-C19B-4C32-9C28-8546E356F31E}" srcId="{8C020111-FDA8-471F-8A04-87B4295C3DE6}" destId="{EE4D7001-52A1-446A-9B96-2FA2619BD2CB}" srcOrd="3" destOrd="0" parTransId="{E6C4F9D0-51FE-462D-9FC0-A3963E5FCF51}" sibTransId="{6B4ADE1B-BBFE-4976-8A09-D720F0F32F3C}"/>
    <dgm:cxn modelId="{ECC50F5B-5AA4-4A9E-A6D3-057EAFD8E87C}" srcId="{8C020111-FDA8-471F-8A04-87B4295C3DE6}" destId="{57D70619-EB1D-4C46-9EF8-D0365F4CCE16}" srcOrd="2" destOrd="0" parTransId="{C6E8FEB6-CDBB-431B-BE3A-37E2377A61B5}" sibTransId="{CC0D0DA3-A622-4E39-B952-6832E22BD89C}"/>
    <dgm:cxn modelId="{7D407263-3D58-48EF-BE7E-8D5DA45A52F0}" type="presOf" srcId="{8C020111-FDA8-471F-8A04-87B4295C3DE6}" destId="{647E6C37-04C9-47E5-8346-E3CF4DF51787}" srcOrd="0" destOrd="0" presId="urn:microsoft.com/office/officeart/2018/2/layout/IconVerticalSolidList"/>
    <dgm:cxn modelId="{277E734E-6C9E-4249-A4F4-2594ECD2EA27}" type="presOf" srcId="{18E1B4C1-77E8-4EE6-A766-09B72D6F956D}" destId="{B0E5C977-70F8-40C4-B8FF-8C3324F4859D}" srcOrd="0" destOrd="0" presId="urn:microsoft.com/office/officeart/2018/2/layout/IconVerticalSolidList"/>
    <dgm:cxn modelId="{07728A55-F61D-4615-82B0-55A9753209B8}" srcId="{8C020111-FDA8-471F-8A04-87B4295C3DE6}" destId="{2A6E8230-0EFD-4DCF-9003-D075E39E1B97}" srcOrd="0" destOrd="0" parTransId="{93465BAB-01A9-467B-8A3B-247DED3252A8}" sibTransId="{2FEC4603-ECFE-4504-A03B-B787D6A6610A}"/>
    <dgm:cxn modelId="{2F108E7E-CAAC-408E-A354-9A680FBD3728}" type="presOf" srcId="{2A6E8230-0EFD-4DCF-9003-D075E39E1B97}" destId="{B106C89A-B853-43B1-8FB5-8F98095059F8}" srcOrd="0" destOrd="0" presId="urn:microsoft.com/office/officeart/2018/2/layout/IconVerticalSolidList"/>
    <dgm:cxn modelId="{54FC4FA4-A96E-4E88-8DD3-F6940E430D45}" type="presOf" srcId="{EE4D7001-52A1-446A-9B96-2FA2619BD2CB}" destId="{215AC3C7-EE2C-4525-AF5B-A893C9ACCE3D}" srcOrd="0" destOrd="0" presId="urn:microsoft.com/office/officeart/2018/2/layout/IconVerticalSolidList"/>
    <dgm:cxn modelId="{5A6DECC1-A1B5-406B-A60E-F8BEAFF942C8}" srcId="{8C020111-FDA8-471F-8A04-87B4295C3DE6}" destId="{18E1B4C1-77E8-4EE6-A766-09B72D6F956D}" srcOrd="1" destOrd="0" parTransId="{BD18C9E6-A686-416E-80F9-9677C9163D83}" sibTransId="{8B7B73AA-96D4-4D15-9623-D10D0EECF0E6}"/>
    <dgm:cxn modelId="{A0770BED-7645-4E4B-AC6E-CD554324D878}" type="presOf" srcId="{57D70619-EB1D-4C46-9EF8-D0365F4CCE16}" destId="{18C26B40-30A8-4F29-842C-97EBF614EB76}" srcOrd="0" destOrd="0" presId="urn:microsoft.com/office/officeart/2018/2/layout/IconVerticalSolidList"/>
    <dgm:cxn modelId="{56F6C1CC-3EA3-4C7F-B53A-CD938100079F}" type="presParOf" srcId="{647E6C37-04C9-47E5-8346-E3CF4DF51787}" destId="{A3F972F1-8DE7-48FE-90DC-EE0476016952}" srcOrd="0" destOrd="0" presId="urn:microsoft.com/office/officeart/2018/2/layout/IconVerticalSolidList"/>
    <dgm:cxn modelId="{0AE948C6-1755-413A-8F1C-DE297C4D1BF3}" type="presParOf" srcId="{A3F972F1-8DE7-48FE-90DC-EE0476016952}" destId="{CA11AC62-8C08-469B-BBFE-8CEB1119DA44}" srcOrd="0" destOrd="0" presId="urn:microsoft.com/office/officeart/2018/2/layout/IconVerticalSolidList"/>
    <dgm:cxn modelId="{ED89BD07-70FD-492D-B533-E0860981E1EF}" type="presParOf" srcId="{A3F972F1-8DE7-48FE-90DC-EE0476016952}" destId="{0B79494C-B303-4764-966E-66EED8E8E923}" srcOrd="1" destOrd="0" presId="urn:microsoft.com/office/officeart/2018/2/layout/IconVerticalSolidList"/>
    <dgm:cxn modelId="{4B75EB95-9894-4989-A5A8-B229DF2F8597}" type="presParOf" srcId="{A3F972F1-8DE7-48FE-90DC-EE0476016952}" destId="{D711803C-7EAC-4C27-AB9C-1DAF3A0EFFAB}" srcOrd="2" destOrd="0" presId="urn:microsoft.com/office/officeart/2018/2/layout/IconVerticalSolidList"/>
    <dgm:cxn modelId="{28D1B75D-BE53-4CCD-9952-FFD9076989A0}" type="presParOf" srcId="{A3F972F1-8DE7-48FE-90DC-EE0476016952}" destId="{B106C89A-B853-43B1-8FB5-8F98095059F8}" srcOrd="3" destOrd="0" presId="urn:microsoft.com/office/officeart/2018/2/layout/IconVerticalSolidList"/>
    <dgm:cxn modelId="{8E356E51-550E-40A0-8749-7BABCE80E587}" type="presParOf" srcId="{647E6C37-04C9-47E5-8346-E3CF4DF51787}" destId="{9942D025-30D8-4547-A683-4BADDDFB48AC}" srcOrd="1" destOrd="0" presId="urn:microsoft.com/office/officeart/2018/2/layout/IconVerticalSolidList"/>
    <dgm:cxn modelId="{D35421AD-1875-480D-8475-FFF1A6151BAC}" type="presParOf" srcId="{647E6C37-04C9-47E5-8346-E3CF4DF51787}" destId="{BE9CEFEB-2E9C-4411-B9CD-426A69399425}" srcOrd="2" destOrd="0" presId="urn:microsoft.com/office/officeart/2018/2/layout/IconVerticalSolidList"/>
    <dgm:cxn modelId="{607E68D0-CCB2-4566-8853-F8121F9A954A}" type="presParOf" srcId="{BE9CEFEB-2E9C-4411-B9CD-426A69399425}" destId="{6E0C00B1-F5CD-44D2-B354-C747E0DC6853}" srcOrd="0" destOrd="0" presId="urn:microsoft.com/office/officeart/2018/2/layout/IconVerticalSolidList"/>
    <dgm:cxn modelId="{C54F1ED3-49E4-48D9-96B9-FFA13C015020}" type="presParOf" srcId="{BE9CEFEB-2E9C-4411-B9CD-426A69399425}" destId="{06046487-05EB-4B59-98ED-54A9438334B1}" srcOrd="1" destOrd="0" presId="urn:microsoft.com/office/officeart/2018/2/layout/IconVerticalSolidList"/>
    <dgm:cxn modelId="{1735EE4B-7D9B-4CCC-9650-923B93160EF3}" type="presParOf" srcId="{BE9CEFEB-2E9C-4411-B9CD-426A69399425}" destId="{8FA7B2DD-8B93-4989-BA81-51F9AD675F99}" srcOrd="2" destOrd="0" presId="urn:microsoft.com/office/officeart/2018/2/layout/IconVerticalSolidList"/>
    <dgm:cxn modelId="{4E90E175-5B9E-459B-81A4-1ADBDD30B1B9}" type="presParOf" srcId="{BE9CEFEB-2E9C-4411-B9CD-426A69399425}" destId="{B0E5C977-70F8-40C4-B8FF-8C3324F4859D}" srcOrd="3" destOrd="0" presId="urn:microsoft.com/office/officeart/2018/2/layout/IconVerticalSolidList"/>
    <dgm:cxn modelId="{67DF9910-77A9-4BC1-A65E-D0A5A35CED1A}" type="presParOf" srcId="{647E6C37-04C9-47E5-8346-E3CF4DF51787}" destId="{CBA347B5-25C4-49C5-9D07-4C720D6A8051}" srcOrd="3" destOrd="0" presId="urn:microsoft.com/office/officeart/2018/2/layout/IconVerticalSolidList"/>
    <dgm:cxn modelId="{945F9517-C7E7-4D0F-9DF5-958F4C35D5ED}" type="presParOf" srcId="{647E6C37-04C9-47E5-8346-E3CF4DF51787}" destId="{A4B4D2F3-D8C2-45D6-B27E-47E79E6AA313}" srcOrd="4" destOrd="0" presId="urn:microsoft.com/office/officeart/2018/2/layout/IconVerticalSolidList"/>
    <dgm:cxn modelId="{D730537F-30C7-40B0-A982-EAC8F267E18D}" type="presParOf" srcId="{A4B4D2F3-D8C2-45D6-B27E-47E79E6AA313}" destId="{BB825BDD-11F9-46A4-B6C2-49D3C9B95BBE}" srcOrd="0" destOrd="0" presId="urn:microsoft.com/office/officeart/2018/2/layout/IconVerticalSolidList"/>
    <dgm:cxn modelId="{7C54343B-09D3-4BE6-BFDF-01EF5E23A68B}" type="presParOf" srcId="{A4B4D2F3-D8C2-45D6-B27E-47E79E6AA313}" destId="{AF1A9200-852C-4045-8734-1DD99B021296}" srcOrd="1" destOrd="0" presId="urn:microsoft.com/office/officeart/2018/2/layout/IconVerticalSolidList"/>
    <dgm:cxn modelId="{03A70AF8-8FCA-4F65-9A16-DB7DDF436C65}" type="presParOf" srcId="{A4B4D2F3-D8C2-45D6-B27E-47E79E6AA313}" destId="{BAE76408-D7FD-487F-9BE8-E42C2D8BC49C}" srcOrd="2" destOrd="0" presId="urn:microsoft.com/office/officeart/2018/2/layout/IconVerticalSolidList"/>
    <dgm:cxn modelId="{5577FE80-A058-4DE1-B11C-8F9005486F52}" type="presParOf" srcId="{A4B4D2F3-D8C2-45D6-B27E-47E79E6AA313}" destId="{18C26B40-30A8-4F29-842C-97EBF614EB76}" srcOrd="3" destOrd="0" presId="urn:microsoft.com/office/officeart/2018/2/layout/IconVerticalSolidList"/>
    <dgm:cxn modelId="{E150E383-B85B-492D-B2B6-77320C3A2D48}" type="presParOf" srcId="{647E6C37-04C9-47E5-8346-E3CF4DF51787}" destId="{F6FA0B16-81E7-44CA-B578-64BF08383799}" srcOrd="5" destOrd="0" presId="urn:microsoft.com/office/officeart/2018/2/layout/IconVerticalSolidList"/>
    <dgm:cxn modelId="{88A564F2-6FAD-4B21-A02B-E062F57751A8}" type="presParOf" srcId="{647E6C37-04C9-47E5-8346-E3CF4DF51787}" destId="{34E4FEAB-8DA6-488F-841C-4A51FABB3FA6}" srcOrd="6" destOrd="0" presId="urn:microsoft.com/office/officeart/2018/2/layout/IconVerticalSolidList"/>
    <dgm:cxn modelId="{9388B9EF-4B29-4E99-AF67-AB76C737F283}" type="presParOf" srcId="{34E4FEAB-8DA6-488F-841C-4A51FABB3FA6}" destId="{FF5A1AE2-A900-4BE0-A321-43A699C73F2D}" srcOrd="0" destOrd="0" presId="urn:microsoft.com/office/officeart/2018/2/layout/IconVerticalSolidList"/>
    <dgm:cxn modelId="{32C93F22-C8FB-4983-A291-640465AE77C1}" type="presParOf" srcId="{34E4FEAB-8DA6-488F-841C-4A51FABB3FA6}" destId="{7D78BE65-957E-4DC7-BC8A-BFBE881F594D}" srcOrd="1" destOrd="0" presId="urn:microsoft.com/office/officeart/2018/2/layout/IconVerticalSolidList"/>
    <dgm:cxn modelId="{D2DB75D6-5CD5-4AEF-AA14-677F90E66818}" type="presParOf" srcId="{34E4FEAB-8DA6-488F-841C-4A51FABB3FA6}" destId="{1C187485-DCB8-4D9D-9E42-39545C102F6D}" srcOrd="2" destOrd="0" presId="urn:microsoft.com/office/officeart/2018/2/layout/IconVerticalSolidList"/>
    <dgm:cxn modelId="{DB92D1D9-1C58-4A0E-8579-31BE0132EA4B}" type="presParOf" srcId="{34E4FEAB-8DA6-488F-841C-4A51FABB3FA6}" destId="{215AC3C7-EE2C-4525-AF5B-A893C9ACCE3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1AC62-8C08-469B-BBFE-8CEB1119DA44}">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79494C-B303-4764-966E-66EED8E8E923}">
      <dsp:nvSpPr>
        <dsp:cNvPr id="0" name=""/>
        <dsp:cNvSpPr/>
      </dsp:nvSpPr>
      <dsp:spPr>
        <a:xfrm>
          <a:off x="374076" y="280678"/>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06C89A-B853-43B1-8FB5-8F98095059F8}">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AU" sz="2100" kern="1200" noProof="0" dirty="0"/>
            <a:t>Mathematical Programming </a:t>
          </a:r>
        </a:p>
      </dsp:txBody>
      <dsp:txXfrm>
        <a:off x="1428292" y="2439"/>
        <a:ext cx="4873308" cy="1236616"/>
      </dsp:txXfrm>
    </dsp:sp>
    <dsp:sp modelId="{6E0C00B1-F5CD-44D2-B354-C747E0DC6853}">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46487-05EB-4B59-98ED-54A9438334B1}">
      <dsp:nvSpPr>
        <dsp:cNvPr id="0" name=""/>
        <dsp:cNvSpPr/>
      </dsp:nvSpPr>
      <dsp:spPr>
        <a:xfrm>
          <a:off x="374076" y="1826449"/>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E5C977-70F8-40C4-B8FF-8C3324F4859D}">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AU" sz="2100" kern="1200" noProof="0" dirty="0"/>
            <a:t>Stochastic Simulation </a:t>
          </a:r>
        </a:p>
      </dsp:txBody>
      <dsp:txXfrm>
        <a:off x="1428292" y="1548210"/>
        <a:ext cx="4873308" cy="1236616"/>
      </dsp:txXfrm>
    </dsp:sp>
    <dsp:sp modelId="{BB825BDD-11F9-46A4-B6C2-49D3C9B95BBE}">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1A9200-852C-4045-8734-1DD99B021296}">
      <dsp:nvSpPr>
        <dsp:cNvPr id="0" name=""/>
        <dsp:cNvSpPr/>
      </dsp:nvSpPr>
      <dsp:spPr>
        <a:xfrm>
          <a:off x="374076" y="3372220"/>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C26B40-30A8-4F29-842C-97EBF614EB76}">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AU" sz="2100" kern="1200" noProof="0" dirty="0"/>
            <a:t>Metaheuristic Algorithms</a:t>
          </a:r>
        </a:p>
      </dsp:txBody>
      <dsp:txXfrm>
        <a:off x="1428292" y="3093981"/>
        <a:ext cx="4873308" cy="1236616"/>
      </dsp:txXfrm>
    </dsp:sp>
    <dsp:sp modelId="{FF5A1AE2-A900-4BE0-A321-43A699C73F2D}">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78BE65-957E-4DC7-BC8A-BFBE881F594D}">
      <dsp:nvSpPr>
        <dsp:cNvPr id="0" name=""/>
        <dsp:cNvSpPr/>
      </dsp:nvSpPr>
      <dsp:spPr>
        <a:xfrm>
          <a:off x="374076" y="4917991"/>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5AC3C7-EE2C-4525-AF5B-A893C9ACCE3D}">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33450">
            <a:lnSpc>
              <a:spcPct val="90000"/>
            </a:lnSpc>
            <a:spcBef>
              <a:spcPct val="0"/>
            </a:spcBef>
            <a:spcAft>
              <a:spcPct val="35000"/>
            </a:spcAft>
            <a:buNone/>
          </a:pPr>
          <a:r>
            <a:rPr lang="en-AU" sz="2100" kern="1200" noProof="0" dirty="0"/>
            <a:t>Selected approach: Simulated Annealing with Variable Neighbourhood Search (SAVNS) (Winata, 2011)</a:t>
          </a:r>
        </a:p>
      </dsp:txBody>
      <dsp:txXfrm>
        <a:off x="1428292" y="4639752"/>
        <a:ext cx="4873308" cy="12366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0086F-6501-442A-B5F5-9D09605BDEE0}"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084F6-DEB1-46CA-8A6A-74785726ECE7}" type="slidenum">
              <a:rPr lang="en-AU" smtClean="0"/>
              <a:t>‹#›</a:t>
            </a:fld>
            <a:endParaRPr lang="en-AU"/>
          </a:p>
        </p:txBody>
      </p:sp>
    </p:spTree>
    <p:extLst>
      <p:ext uri="{BB962C8B-B14F-4D97-AF65-F5344CB8AC3E}">
        <p14:creationId xmlns:p14="http://schemas.microsoft.com/office/powerpoint/2010/main" val="209146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introducing the technical side of the project, I want to begin with a real historical example that demonstrates why maintenance scheduling is so important.</a:t>
            </a:r>
          </a:p>
          <a:p>
            <a:r>
              <a:rPr lang="en-US" dirty="0"/>
              <a:t>During the 1995 United States Army Blackhawk deployment to Bosnia, a battalion reported an overall readiness level of 89 percent.</a:t>
            </a:r>
          </a:p>
          <a:p>
            <a:r>
              <a:rPr lang="en-US" dirty="0"/>
              <a:t>However, when deployment orders were issued, the commander required each aircraft to have at least 75 residual flight hours remaining before deployment.</a:t>
            </a:r>
          </a:p>
          <a:p>
            <a:r>
              <a:rPr lang="en-US" dirty="0"/>
              <a:t>Because the battalion had not properly staggered its aircraft maintenance cycles, nine out of the 24 helicopters were instantly deemed non-deployable.</a:t>
            </a:r>
          </a:p>
          <a:p>
            <a:r>
              <a:rPr lang="en-US" dirty="0"/>
              <a:t>As a result, the battalion experienced a major reduction in combat power despite appearing ready on paper.</a:t>
            </a:r>
          </a:p>
          <a:p>
            <a:r>
              <a:rPr lang="en-US" dirty="0"/>
              <a:t>This example highlights a key issue in fleet maintenance scheduling: high average readiness does not necessarily translate into operational readiness if maintenance events are poorly distributed.</a:t>
            </a:r>
          </a:p>
          <a:p>
            <a:r>
              <a:rPr lang="en-US" dirty="0"/>
              <a:t>This is the main motivation behind my project, developing </a:t>
            </a:r>
            <a:r>
              <a:rPr lang="en-US" dirty="0" err="1"/>
              <a:t>optimisation</a:t>
            </a:r>
            <a:r>
              <a:rPr lang="en-US" dirty="0"/>
              <a:t> algorithms that create smoother and more balanced maintenance schedules to </a:t>
            </a:r>
            <a:r>
              <a:rPr lang="en-US" dirty="0" err="1"/>
              <a:t>maximise</a:t>
            </a:r>
            <a:r>
              <a:rPr lang="en-US" dirty="0"/>
              <a:t> long-term fleet availability.</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2</a:t>
            </a:fld>
            <a:endParaRPr lang="en-AU"/>
          </a:p>
        </p:txBody>
      </p:sp>
    </p:spTree>
    <p:extLst>
      <p:ext uri="{BB962C8B-B14F-4D97-AF65-F5344CB8AC3E}">
        <p14:creationId xmlns:p14="http://schemas.microsoft.com/office/powerpoint/2010/main" val="2281051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High variance in availability happens when short term flight allocation causes multiple aircraft to exhaust their Residual Flight Time concurrently. If they all suddenly fail, there will not be enough resources such as dock space, mechanics and components to fix them all. This is why we need to stagger and space the maintenance checks out.</a:t>
            </a:r>
          </a:p>
          <a:p>
            <a:r>
              <a:rPr lang="en-US" dirty="0"/>
              <a:t>However, even if we manage to space the schedules out, random failures can also happen which causes disruptions in whole schedule, leading to a cascading effect.</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3</a:t>
            </a:fld>
            <a:endParaRPr lang="en-AU"/>
          </a:p>
        </p:txBody>
      </p:sp>
    </p:spTree>
    <p:extLst>
      <p:ext uri="{BB962C8B-B14F-4D97-AF65-F5344CB8AC3E}">
        <p14:creationId xmlns:p14="http://schemas.microsoft.com/office/powerpoint/2010/main" val="3758253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5</a:t>
            </a:fld>
            <a:endParaRPr lang="en-AU"/>
          </a:p>
        </p:txBody>
      </p:sp>
    </p:spTree>
    <p:extLst>
      <p:ext uri="{BB962C8B-B14F-4D97-AF65-F5344CB8AC3E}">
        <p14:creationId xmlns:p14="http://schemas.microsoft.com/office/powerpoint/2010/main" val="1885118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2E8C-64BE-4DD3-5F27-DA27B3D0B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07124-BE03-37E4-0D10-B2DB4625FFB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5052DF3-2D5E-8272-88B1-31CAEEDB23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6EECAF-192A-6798-9F62-1296C944EAA8}"/>
              </a:ext>
            </a:extLst>
          </p:cNvPr>
          <p:cNvSpPr>
            <a:spLocks noGrp="1"/>
          </p:cNvSpPr>
          <p:nvPr>
            <p:ph type="sldNum" sz="quarter" idx="5"/>
          </p:nvPr>
        </p:nvSpPr>
        <p:spPr/>
        <p:txBody>
          <a:bodyPr/>
          <a:lstStyle/>
          <a:p>
            <a:fld id="{81A084F6-DEB1-46CA-8A6A-74785726ECE7}" type="slidenum">
              <a:rPr lang="en-AU" smtClean="0"/>
              <a:t>6</a:t>
            </a:fld>
            <a:endParaRPr lang="en-AU"/>
          </a:p>
        </p:txBody>
      </p:sp>
    </p:spTree>
    <p:extLst>
      <p:ext uri="{BB962C8B-B14F-4D97-AF65-F5344CB8AC3E}">
        <p14:creationId xmlns:p14="http://schemas.microsoft.com/office/powerpoint/2010/main" val="1899823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A084F6-DEB1-46CA-8A6A-74785726ECE7}" type="slidenum">
              <a:rPr lang="en-AU" smtClean="0"/>
              <a:t>7</a:t>
            </a:fld>
            <a:endParaRPr lang="en-AU"/>
          </a:p>
        </p:txBody>
      </p:sp>
    </p:spTree>
    <p:extLst>
      <p:ext uri="{BB962C8B-B14F-4D97-AF65-F5344CB8AC3E}">
        <p14:creationId xmlns:p14="http://schemas.microsoft.com/office/powerpoint/2010/main" val="2193473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8</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59F1-A0E3-C8D8-2304-B07ADAE00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9E565-BC4E-5CC4-A1D2-4628A881D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FAB18-7B0E-E825-351F-1141FACEC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528F73-DBEA-CA63-193B-43E3DC8CFA23}"/>
              </a:ext>
            </a:extLst>
          </p:cNvPr>
          <p:cNvSpPr>
            <a:spLocks noGrp="1"/>
          </p:cNvSpPr>
          <p:nvPr>
            <p:ph type="sldNum" sz="quarter" idx="5"/>
          </p:nvPr>
        </p:nvSpPr>
        <p:spPr/>
        <p:txBody>
          <a:bodyPr/>
          <a:lstStyle/>
          <a:p>
            <a:fld id="{81A084F6-DEB1-46CA-8A6A-74785726ECE7}" type="slidenum">
              <a:rPr lang="en-AU" smtClean="0"/>
              <a:t>9</a:t>
            </a:fld>
            <a:endParaRPr lang="en-AU"/>
          </a:p>
        </p:txBody>
      </p:sp>
    </p:spTree>
    <p:extLst>
      <p:ext uri="{BB962C8B-B14F-4D97-AF65-F5344CB8AC3E}">
        <p14:creationId xmlns:p14="http://schemas.microsoft.com/office/powerpoint/2010/main" val="1408259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34573-8912-13B1-45A0-60D5537CF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FFDE2-3DAA-F09B-1411-CAB7AFDF6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6D9C9-7D2A-0148-BDA5-A0E1F4ECC7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BF1379-8678-C3EB-6EDE-19A8BCB946C2}"/>
              </a:ext>
            </a:extLst>
          </p:cNvPr>
          <p:cNvSpPr>
            <a:spLocks noGrp="1"/>
          </p:cNvSpPr>
          <p:nvPr>
            <p:ph type="sldNum" sz="quarter" idx="5"/>
          </p:nvPr>
        </p:nvSpPr>
        <p:spPr/>
        <p:txBody>
          <a:bodyPr/>
          <a:lstStyle/>
          <a:p>
            <a:fld id="{81A084F6-DEB1-46CA-8A6A-74785726ECE7}" type="slidenum">
              <a:rPr lang="en-AU" smtClean="0"/>
              <a:t>10</a:t>
            </a:fld>
            <a:endParaRPr lang="en-AU"/>
          </a:p>
        </p:txBody>
      </p:sp>
    </p:spTree>
    <p:extLst>
      <p:ext uri="{BB962C8B-B14F-4D97-AF65-F5344CB8AC3E}">
        <p14:creationId xmlns:p14="http://schemas.microsoft.com/office/powerpoint/2010/main" val="2947785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So what is simulated annealing.
Simulated annealing is a search method. The idea comes from metalworking: heating metal allows it to bend, then cool it slowly so it settles into a strong structure. In optimisation, “heat” means we are more willing to try unusual moves. “Cooling” means we become stricter over time.
There are three simple steps.
First, search. We propose a change to the maintenance schedule — for example, shift a check a few days earlier or later — then evaluate the new plan with the same availability score we already use: minimum availability first, then smoothness, then average. We are not inventing a new scoring system here.
Second, accept. If the new plan is better, we keep it. That part is familiar. The difference is early in the search we may also keep a slightly worse plan, by chance. That sounds odd, but it is deliberate. A temporary worse move can get us out of a local minima.
Third, cool down. As the search continues, we accept fewer and fewer worse moves. Near the end, we mostly behave like today’s method: keep improvements, reject clear steps backwards.
So if we were walking up a hill, sometimes we might need to take a step downhill just to find a better path rather than constantly going up a hill that might be steep. If we accept worse moves temporarily, we might find an easier path.
What annealing does need later is a fair acceptance rule for those temporary worse moves — because our score is a ranked tuple, not one number. That is an acceptance detail, not a new objective. Next I will show how this idea maps onto the </a:t>
            </a:r>
            <a:r>
              <a:rPr lang="en-US" dirty="0" err="1"/>
              <a:t>optimiser</a:t>
            </a:r>
            <a:r>
              <a:rPr lang="en-US" dirty="0"/>
              <a:t> we already built.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So how does annealing fit our design?
We will keep how we still focus on the worst availability days first. We still rebuild an aircraft’s schedule after a move, so the A, B, C, D rules stay valid. We still update availability cheaply instead of recalculating everything. We still try larger timing shifts, then smaller ones. And we still remember the best schedule we have seen so far.
On the change side: currently we only keep improving moves. That is classic hill-climbing. The new method is annealing acceptance — better moves always; worse moves sometimes, more early, less later. We also drop the improve-only early-exit so worse candidates can actually be tried.
So the fit is clean if we think in layers. Annealing does not replace how we find candidate moves. It replaces how we decide whether to accept them. Keep the smart search. Change the acceptance rule.
Next I will show the hybrid design in one line.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slide covers two things: how we treat a worse move, and how we know which plan to keep.
Checklist. If the new schedule improves the worst day, keep it. If it makes the worst day worse, reject it. If the worst day stays the same but the plan is bumpier, annealing may accept that sometimes early, less often later.
We keep two plans. Current can go downhill so we can keep searching from it. Best-so-far only updates when something beats it — that is what we report.
Because annealing is random, we run the full search three to five times. We report the typical result, not the lucky best. Today’s method is deterministic, so one run is enough. Do not compare best-of-five annealing with one baseline run.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Fourth: the starting schedule.
Our method starts from the loaded plan and only makes local changes. A well-staggered start can make the final result look better than the algorithm alone deserves. A bunched start can make a good method look weak. A “win” might just be a luckier start.
Priority-based selection does not make that start irrelevant. It only chooses which events to try first — those sitting on the worst availability days. If a worst-day event has an improving move, other events are not even considered that iteration. So non-bottleneck stagger is mostly inherited from the loaded plan. That is a reason to test controlled starts, not a reason to skip them.
So we will build a few controlled starting plans — bunched, as-loaded, and more spread out — and run the same search from each.
Today’s method and annealing get those same starts. We only call annealing better if it wins from the same starting plans. That keeps the comparison honest.</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What we will keep, and when we stop.
Keep annealing if the worst-day availability is at least as good as today, and it is not much slower. New operational rules still have to produce legal, usable schedules. And the gain has to come from the method — not a luckier start or a luckier random seed.
If annealing does not beat today’s method, we keep today’s method. If worse moves start hurting the worst day, we tighten the acceptance rule. If new constraints break feasibility, we do not ship them.
We only keep what the evidence supports.
Happy to take questions.</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AC29-5489-7E59-EAC9-D647FB484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2501C13-E0B2-D076-7CD7-A6AC33D13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AABFF5-6218-2733-F7D7-DD43FF3EAF2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E33C09D1-4BB8-DFBC-BBAA-CF2404718D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124C5-CBB2-6745-3685-4BA6A7EDC06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5966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5595-0FC8-A071-C6A1-FD736E6572D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5C650A-169D-8AE2-1DCA-D4E4EDE6F5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B2D135-BC8E-4B1F-B311-615BDA2B09D9}"/>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288E205C-2CDA-B38C-FCDF-0583627C1F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BE7FF6-BD67-1FA2-6C13-761141E5CCDC}"/>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403226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7FDA-BC2B-2887-C4A9-7B9ED0445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7202086-03F0-09BB-A77A-4FB4C29E2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266CE-BB85-0270-43B0-3C359B125F6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6C6BB362-5A23-5B68-BE51-F0911E4A9B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CC5297-93D0-8140-2ACD-F50F9574CA8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0954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449-3E44-6EA6-776C-F7F459ED8A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2D6B937-9F21-3E4E-4E61-D5AE3E5B6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C8022D0-26BA-67B5-621D-EBA2C13C8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C5D2C76-6DCC-1274-1CD9-163BE5B5D15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8395CCA0-9807-AF6E-1257-31140E40EB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E7ADBAA-34A0-299F-9CC8-4E887DC80D98}"/>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94987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3C85-D656-7770-7F02-ABA0B758BA1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86C69-4818-8D27-53B3-61459A979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0F99EB-0DDC-F689-0CAD-3B8A4EF148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D655FA0-F4BF-294D-6C91-839EC185E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2D8F-9E7C-BFCC-7506-42FAD0452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A9DA42-17EC-0526-9EAE-55968BE9C9C8}"/>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8" name="Footer Placeholder 7">
            <a:extLst>
              <a:ext uri="{FF2B5EF4-FFF2-40B4-BE49-F238E27FC236}">
                <a16:creationId xmlns:a16="http://schemas.microsoft.com/office/drawing/2014/main" id="{FFA22C3E-FF08-4F95-71B6-A3DFCB2B1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A8EF523-A7A4-5C96-A87E-62A9FFE82A7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20638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2C16-082C-1C2D-2E7F-5A6EAA6DED3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9E42EB-571E-35CA-2A3B-7512CBAD6A7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4" name="Footer Placeholder 3">
            <a:extLst>
              <a:ext uri="{FF2B5EF4-FFF2-40B4-BE49-F238E27FC236}">
                <a16:creationId xmlns:a16="http://schemas.microsoft.com/office/drawing/2014/main" id="{A06FFC9C-6799-4836-1125-10115B307C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6A684E-FF97-AD89-A309-B4EF8132F303}"/>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57908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33FB7-EB70-9CAB-3760-550ED1D9537A}"/>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3" name="Footer Placeholder 2">
            <a:extLst>
              <a:ext uri="{FF2B5EF4-FFF2-40B4-BE49-F238E27FC236}">
                <a16:creationId xmlns:a16="http://schemas.microsoft.com/office/drawing/2014/main" id="{39E3D347-9DE0-5C07-52C1-88314FBC982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943FF2-4A69-6A74-5C0D-F878E8C9654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381250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8DE-29C8-674F-C03A-25643424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5E168ED-8F37-98B1-EF30-760C493A4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8F23C02-58C9-E86C-64B0-548C80A60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717D8-E341-BB22-238E-E9AFE292D73C}"/>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649953E8-4735-72DA-6B79-6867005BBF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C09CD1-1C39-4510-CDA4-ED3EA977269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71957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23AD-791B-B7F3-A376-E608A61CD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BFF0F7-6039-9D71-D0F2-F020EB1BD4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AE11312-EB3B-5541-AF2E-8A5A7DB73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2DDDA-6916-3433-381F-F9E3D806F84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7561D945-48A8-8981-9F9B-8D606E9E1B9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9CBBC1-F6AE-DF73-5D10-1AFE1FE8DB9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05968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948F-B5F0-6E1C-9D2F-FE655DBFF4C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8B8EDC-C405-DDDD-C07D-E4B134181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54D829-7E7C-76B9-31E3-3CF6DB4EB570}"/>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B599E042-4052-64D4-92D5-404003C8F3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56AAB2-7265-573F-5D26-153411B57CC5}"/>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7246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FF2DB-AAD9-5CB0-E51B-B937F5D7F4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8E478B-10DD-1473-2606-A5B3834623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53A97E-9A01-7B17-FE27-E352FCAA339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0B722961-B1D5-80C6-4DDD-DF3201DAF9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DB7E82-8EF1-B9DA-9BFB-DF20717AFEC9}"/>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595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53780-02F0-855E-B11C-90780D546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8840E0-0AF6-2A1F-24E0-8970A6C9B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75E01E-A400-C215-C4C4-272CCB5FE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1E5BA32E-F332-6240-29D9-F2CB902BA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8ACC8AC-8647-5973-91D8-83A3019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6143E0-65BA-4AF4-B9F5-3A622158391E}" type="slidenum">
              <a:rPr lang="en-AU" smtClean="0"/>
              <a:t>‹#›</a:t>
            </a:fld>
            <a:endParaRPr lang="en-AU"/>
          </a:p>
        </p:txBody>
      </p:sp>
    </p:spTree>
    <p:extLst>
      <p:ext uri="{BB962C8B-B14F-4D97-AF65-F5344CB8AC3E}">
        <p14:creationId xmlns:p14="http://schemas.microsoft.com/office/powerpoint/2010/main" val="826857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85307"/>
            <a:ext cx="9760880" cy="5078313"/>
          </a:xfrm>
          <a:prstGeom prst="rect">
            <a:avLst/>
          </a:prstGeom>
          <a:noFill/>
        </p:spPr>
        <p:txBody>
          <a:bodyPr wrap="square" rtlCol="0">
            <a:spAutoFit/>
          </a:bodyPr>
          <a:lstStyle/>
          <a:p>
            <a:r>
              <a:rPr lang="en-US" sz="3600" b="1">
                <a:solidFill>
                  <a:schemeClr val="bg1"/>
                </a:solidFill>
              </a:rPr>
              <a:t>Scheduling Algorithm Research.</a:t>
            </a:r>
          </a:p>
          <a:p>
            <a:r>
              <a:rPr lang="en-US" sz="3600" b="1">
                <a:solidFill>
                  <a:schemeClr val="bg1"/>
                </a:solidFill>
              </a:rPr>
              <a:t>Prototype a range of proposed scheduling algorithm improvements with dummy data</a:t>
            </a:r>
          </a:p>
          <a:p>
            <a:endParaRPr lang="en-US" sz="3600" b="1">
              <a:solidFill>
                <a:schemeClr val="bg1"/>
              </a:solidFill>
            </a:endParaRPr>
          </a:p>
          <a:p>
            <a:r>
              <a:rPr lang="en-US" sz="3600" b="1">
                <a:solidFill>
                  <a:schemeClr val="bg1"/>
                </a:solidFill>
              </a:rPr>
              <a:t>Final seminar</a:t>
            </a:r>
          </a:p>
          <a:p>
            <a:endParaRPr lang="en-US" sz="3600" b="1">
              <a:solidFill>
                <a:schemeClr val="bg1"/>
              </a:solidFill>
            </a:endParaRPr>
          </a:p>
          <a:p>
            <a:endParaRPr lang="en-US" sz="3600" b="1">
              <a:solidFill>
                <a:schemeClr val="bg1"/>
              </a:solidFill>
            </a:endParaRPr>
          </a:p>
          <a:p>
            <a:endParaRPr lang="en-US" sz="3600" b="1">
              <a:solidFill>
                <a:schemeClr val="bg1"/>
              </a:solidFill>
            </a:endParaRPr>
          </a:p>
          <a:p>
            <a:r>
              <a:rPr lang="en-US" sz="3600" b="1">
                <a:solidFill>
                  <a:schemeClr val="bg1"/>
                </a:solidFill>
              </a:rPr>
              <a:t>Presenter: David Long</a:t>
            </a:r>
            <a:endParaRPr lang="en-AU" sz="35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4398117" y="2874216"/>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lack Hawk Helicopter celebrates 40 years of aviation service with the Army  | Article | The United States Army">
            <a:extLst>
              <a:ext uri="{FF2B5EF4-FFF2-40B4-BE49-F238E27FC236}">
                <a16:creationId xmlns:a16="http://schemas.microsoft.com/office/drawing/2014/main" id="{7FF001BC-162E-89C1-E021-C8A51ED03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31" r="2" b="2"/>
          <a:stretch>
            <a:fillRect/>
          </a:stretch>
        </p:blipFill>
        <p:spPr bwMode="auto">
          <a:xfrm>
            <a:off x="3482606" y="10"/>
            <a:ext cx="8709392" cy="61769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DDF69EB-F8A5-0712-6D73-5D3D469C41A1}"/>
              </a:ext>
            </a:extLst>
          </p:cNvPr>
          <p:cNvSpPr>
            <a:spLocks noGrp="1"/>
          </p:cNvSpPr>
          <p:nvPr>
            <p:ph type="title"/>
          </p:nvPr>
        </p:nvSpPr>
        <p:spPr>
          <a:xfrm>
            <a:off x="838200" y="365125"/>
            <a:ext cx="3822189" cy="1899912"/>
          </a:xfrm>
        </p:spPr>
        <p:txBody>
          <a:bodyPr>
            <a:normAutofit/>
          </a:bodyPr>
          <a:lstStyle/>
          <a:p>
            <a:r>
              <a:rPr lang="en-AU" sz="3700" dirty="0"/>
              <a:t>Why Maintenance Scheduling Matters</a:t>
            </a:r>
          </a:p>
        </p:txBody>
      </p:sp>
      <p:sp>
        <p:nvSpPr>
          <p:cNvPr id="3" name="Content Placeholder 2">
            <a:extLst>
              <a:ext uri="{FF2B5EF4-FFF2-40B4-BE49-F238E27FC236}">
                <a16:creationId xmlns:a16="http://schemas.microsoft.com/office/drawing/2014/main" id="{F2E8E325-8B04-C877-5359-82A3CC5E15C3}"/>
              </a:ext>
            </a:extLst>
          </p:cNvPr>
          <p:cNvSpPr>
            <a:spLocks noGrp="1"/>
          </p:cNvSpPr>
          <p:nvPr>
            <p:ph idx="1"/>
          </p:nvPr>
        </p:nvSpPr>
        <p:spPr>
          <a:xfrm>
            <a:off x="613458" y="2434201"/>
            <a:ext cx="4613635" cy="3742762"/>
          </a:xfrm>
        </p:spPr>
        <p:txBody>
          <a:bodyPr>
            <a:normAutofit/>
          </a:bodyPr>
          <a:lstStyle/>
          <a:p>
            <a:r>
              <a:rPr lang="en-US" sz="2000" dirty="0">
                <a:latin typeface="Arial" panose="020B0604020202020204" pitchFamily="34" charset="0"/>
                <a:cs typeface="Arial" panose="020B0604020202020204" pitchFamily="34" charset="0"/>
              </a:rPr>
              <a:t>In 1995, a US Army Blackhawk battalion reported 89% readiness. </a:t>
            </a:r>
            <a:r>
              <a:rPr lang="en-AU" sz="2000" dirty="0">
                <a:latin typeface="Arial" panose="020B0604020202020204" pitchFamily="34" charset="0"/>
                <a:cs typeface="Arial" panose="020B0604020202020204" pitchFamily="34" charset="0"/>
              </a:rPr>
              <a:t>But when ordered to deploy, the commander mandated that no aircraft could deploy if it had less than 75 hours remaining until its next phase maintenance (Pippin, 1998).</a:t>
            </a:r>
          </a:p>
          <a:p>
            <a:r>
              <a:rPr lang="en-US" sz="2000" dirty="0">
                <a:latin typeface="Arial" panose="020B0604020202020204" pitchFamily="34" charset="0"/>
                <a:cs typeface="Arial" panose="020B0604020202020204" pitchFamily="34" charset="0"/>
              </a:rPr>
              <a:t>9 of 24 helicopters were immediately non-deployable due to poor maintenance staggering.</a:t>
            </a:r>
          </a:p>
          <a:p>
            <a:r>
              <a:rPr lang="en-AU" sz="2000" dirty="0">
                <a:latin typeface="Arial" panose="020B0604020202020204" pitchFamily="34" charset="0"/>
                <a:cs typeface="Arial" panose="020B0604020202020204" pitchFamily="34" charset="0"/>
              </a:rPr>
              <a:t>This represented a massive loss of power. </a:t>
            </a:r>
            <a:endParaRPr lang="en-US" sz="2000" dirty="0">
              <a:latin typeface="Arial" panose="020B0604020202020204" pitchFamily="34" charset="0"/>
              <a:cs typeface="Arial" panose="020B0604020202020204" pitchFamily="34" charset="0"/>
            </a:endParaRPr>
          </a:p>
          <a:p>
            <a:endParaRPr lang="en-AU" sz="2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62BD853-0779-D5F9-D884-F092D4DB9F7D}"/>
              </a:ext>
            </a:extLst>
          </p:cNvPr>
          <p:cNvSpPr txBox="1"/>
          <p:nvPr/>
        </p:nvSpPr>
        <p:spPr>
          <a:xfrm>
            <a:off x="10150997" y="5451676"/>
            <a:ext cx="2037954" cy="369332"/>
          </a:xfrm>
          <a:prstGeom prst="rect">
            <a:avLst/>
          </a:prstGeom>
          <a:noFill/>
        </p:spPr>
        <p:txBody>
          <a:bodyPr wrap="square" rtlCol="0">
            <a:spAutoFit/>
          </a:bodyPr>
          <a:lstStyle/>
          <a:p>
            <a:r>
              <a:rPr lang="en-AU" dirty="0">
                <a:solidFill>
                  <a:schemeClr val="bg2">
                    <a:lumMod val="25000"/>
                  </a:schemeClr>
                </a:solidFill>
              </a:rPr>
              <a:t>(U.S. Army, 2018)</a:t>
            </a:r>
          </a:p>
        </p:txBody>
      </p:sp>
    </p:spTree>
    <p:extLst>
      <p:ext uri="{BB962C8B-B14F-4D97-AF65-F5344CB8AC3E}">
        <p14:creationId xmlns:p14="http://schemas.microsoft.com/office/powerpoint/2010/main" val="343502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AD5A-A999-31AC-C7EE-FD3C41CC11C2}"/>
              </a:ext>
            </a:extLst>
          </p:cNvPr>
          <p:cNvSpPr>
            <a:spLocks noGrp="1"/>
          </p:cNvSpPr>
          <p:nvPr>
            <p:ph type="title"/>
          </p:nvPr>
        </p:nvSpPr>
        <p:spPr>
          <a:xfrm>
            <a:off x="553459" y="330739"/>
            <a:ext cx="4646904" cy="1624520"/>
          </a:xfrm>
        </p:spPr>
        <p:txBody>
          <a:bodyPr anchor="ctr">
            <a:normAutofit/>
          </a:bodyPr>
          <a:lstStyle/>
          <a:p>
            <a:r>
              <a:rPr lang="en-US" sz="4000" b="1" dirty="0"/>
              <a:t>The Problem and Bottlenecks</a:t>
            </a:r>
            <a:endParaRPr lang="en-AU" sz="4000" dirty="0"/>
          </a:p>
        </p:txBody>
      </p:sp>
      <p:sp>
        <p:nvSpPr>
          <p:cNvPr id="3" name="Content Placeholder 2">
            <a:extLst>
              <a:ext uri="{FF2B5EF4-FFF2-40B4-BE49-F238E27FC236}">
                <a16:creationId xmlns:a16="http://schemas.microsoft.com/office/drawing/2014/main" id="{DE578AE2-AAF2-7D4A-3EC2-6D7583687400}"/>
              </a:ext>
            </a:extLst>
          </p:cNvPr>
          <p:cNvSpPr>
            <a:spLocks noGrp="1"/>
          </p:cNvSpPr>
          <p:nvPr>
            <p:ph idx="1"/>
          </p:nvPr>
        </p:nvSpPr>
        <p:spPr>
          <a:xfrm>
            <a:off x="437710" y="2479813"/>
            <a:ext cx="5291757" cy="4378187"/>
          </a:xfrm>
        </p:spPr>
        <p:txBody>
          <a:bodyPr anchor="ctr">
            <a:normAutofit/>
          </a:bodyPr>
          <a:lstStyle/>
          <a:p>
            <a:r>
              <a:rPr lang="en-US" sz="2200" dirty="0">
                <a:latin typeface="Arial" panose="020B0604020202020204" pitchFamily="34" charset="0"/>
                <a:cs typeface="Arial" panose="020B0604020202020204" pitchFamily="34" charset="0"/>
              </a:rPr>
              <a:t>Multiple aircraft exhaust their Residual Flight Time concurrently.</a:t>
            </a:r>
          </a:p>
          <a:p>
            <a:r>
              <a:rPr lang="en-US" sz="2200" dirty="0">
                <a:latin typeface="Arial" panose="020B0604020202020204" pitchFamily="34" charset="0"/>
                <a:cs typeface="Arial" panose="020B0604020202020204" pitchFamily="34" charset="0"/>
              </a:rPr>
              <a:t>Finite resources such as dock space, mechanics, and components.</a:t>
            </a:r>
          </a:p>
          <a:p>
            <a:r>
              <a:rPr lang="en-US" altLang="en-US" sz="2200" dirty="0">
                <a:latin typeface="Arial" panose="020B0604020202020204" pitchFamily="34" charset="0"/>
                <a:ea typeface="Calibri" panose="020F0502020204030204" pitchFamily="34" charset="0"/>
                <a:cs typeface="Arial" panose="020B0604020202020204" pitchFamily="34" charset="0"/>
              </a:rPr>
              <a:t> Aircraft undergo scheduled maintenance events</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Random Failures can also happen.</a:t>
            </a:r>
          </a:p>
          <a:p>
            <a:r>
              <a:rPr lang="en-US" sz="2200" dirty="0">
                <a:latin typeface="Arial" panose="020B0604020202020204" pitchFamily="34" charset="0"/>
                <a:cs typeface="Arial" panose="020B0604020202020204" pitchFamily="34" charset="0"/>
              </a:rPr>
              <a:t>This will cause volatility in availability of aircraft.</a:t>
            </a:r>
          </a:p>
          <a:p>
            <a:endParaRPr lang="en-AU" sz="2200" dirty="0">
              <a:latin typeface="Arial" panose="020B0604020202020204" pitchFamily="34" charset="0"/>
              <a:cs typeface="Arial" panose="020B0604020202020204" pitchFamily="34" charset="0"/>
            </a:endParaRPr>
          </a:p>
        </p:txBody>
      </p:sp>
      <p:pic>
        <p:nvPicPr>
          <p:cNvPr id="29" name="Picture 28" descr="Airplanes on a road">
            <a:extLst>
              <a:ext uri="{FF2B5EF4-FFF2-40B4-BE49-F238E27FC236}">
                <a16:creationId xmlns:a16="http://schemas.microsoft.com/office/drawing/2014/main" id="{3F3F97C4-1E4E-D0DA-2013-1C72D5700FB5}"/>
              </a:ext>
            </a:extLst>
          </p:cNvPr>
          <p:cNvPicPr>
            <a:picLocks noChangeAspect="1"/>
          </p:cNvPicPr>
          <p:nvPr/>
        </p:nvPicPr>
        <p:blipFill>
          <a:blip r:embed="rId3"/>
          <a:srcRect l="23740" r="1730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8573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29D2-68F3-0A4A-23D3-3B9151B37B0B}"/>
              </a:ext>
            </a:extLst>
          </p:cNvPr>
          <p:cNvSpPr>
            <a:spLocks noGrp="1"/>
          </p:cNvSpPr>
          <p:nvPr>
            <p:ph type="title"/>
          </p:nvPr>
        </p:nvSpPr>
        <p:spPr/>
        <p:txBody>
          <a:bodyPr/>
          <a:lstStyle/>
          <a:p>
            <a:r>
              <a:rPr lang="en-AU" dirty="0"/>
              <a:t>Overview</a:t>
            </a:r>
          </a:p>
        </p:txBody>
      </p:sp>
      <p:sp>
        <p:nvSpPr>
          <p:cNvPr id="3" name="Content Placeholder 2">
            <a:extLst>
              <a:ext uri="{FF2B5EF4-FFF2-40B4-BE49-F238E27FC236}">
                <a16:creationId xmlns:a16="http://schemas.microsoft.com/office/drawing/2014/main" id="{AFA5A31B-B3BC-96F9-681C-5F5EFC6B7051}"/>
              </a:ext>
            </a:extLst>
          </p:cNvPr>
          <p:cNvSpPr>
            <a:spLocks noGrp="1"/>
          </p:cNvSpPr>
          <p:nvPr>
            <p:ph idx="1"/>
          </p:nvPr>
        </p:nvSpPr>
        <p:spPr/>
        <p:txBody>
          <a:bodyPr/>
          <a:lstStyle/>
          <a:p>
            <a:r>
              <a:rPr lang="en-AU" dirty="0"/>
              <a:t>Literature Review and Method Selection</a:t>
            </a:r>
          </a:p>
          <a:p>
            <a:r>
              <a:rPr lang="en-AU" dirty="0"/>
              <a:t>Initial Simple Dataset</a:t>
            </a:r>
          </a:p>
          <a:p>
            <a:r>
              <a:rPr lang="en-AU" dirty="0"/>
              <a:t>Best Improvement Neighbourhood Search</a:t>
            </a:r>
          </a:p>
          <a:p>
            <a:r>
              <a:rPr lang="en-AU" dirty="0"/>
              <a:t>Extended Heavy Maintenance Dataset</a:t>
            </a:r>
          </a:p>
          <a:p>
            <a:r>
              <a:rPr lang="en-AU" dirty="0"/>
              <a:t>Introducing Random Sampling </a:t>
            </a:r>
            <a:r>
              <a:rPr lang="en-AU"/>
              <a:t>Method for Heavy Dataset</a:t>
            </a:r>
            <a:endParaRPr lang="en-AU" dirty="0"/>
          </a:p>
          <a:p>
            <a:r>
              <a:rPr lang="en-AU" dirty="0"/>
              <a:t>Behaviour of Algorithm</a:t>
            </a:r>
          </a:p>
          <a:p>
            <a:r>
              <a:rPr lang="en-AU" dirty="0"/>
              <a:t>Future Works</a:t>
            </a:r>
          </a:p>
          <a:p>
            <a:endParaRPr lang="en-AU" dirty="0"/>
          </a:p>
        </p:txBody>
      </p:sp>
    </p:spTree>
    <p:extLst>
      <p:ext uri="{BB962C8B-B14F-4D97-AF65-F5344CB8AC3E}">
        <p14:creationId xmlns:p14="http://schemas.microsoft.com/office/powerpoint/2010/main" val="137853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8" name="Rectangle 1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8D3C119C-6C5B-0770-1E12-2081CC78CE77}"/>
              </a:ext>
            </a:extLst>
          </p:cNvPr>
          <p:cNvSpPr>
            <a:spLocks noGrp="1"/>
          </p:cNvSpPr>
          <p:nvPr>
            <p:ph type="title"/>
          </p:nvPr>
        </p:nvSpPr>
        <p:spPr>
          <a:xfrm>
            <a:off x="838200" y="1195697"/>
            <a:ext cx="3200400" cy="4238118"/>
          </a:xfrm>
        </p:spPr>
        <p:txBody>
          <a:bodyPr>
            <a:normAutofit/>
          </a:bodyPr>
          <a:lstStyle/>
          <a:p>
            <a:r>
              <a:rPr lang="en-AU" noProof="0" dirty="0">
                <a:solidFill>
                  <a:schemeClr val="bg1"/>
                </a:solidFill>
              </a:rPr>
              <a:t>Literature Review and Method Selection</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AU" noProof="0"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AU" noProof="0" dirty="0"/>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noProof="0" dirty="0"/>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noProof="0" dirty="0"/>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AU" noProof="0" dirty="0"/>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AU" noProof="0" dirty="0"/>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AU" noProof="0" dirty="0"/>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AU" noProof="0" dirty="0"/>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AU" noProof="0" dirty="0"/>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AU" noProof="0" dirty="0"/>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AU" noProof="0" dirty="0"/>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AU" noProof="0" dirty="0"/>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AU" noProof="0" dirty="0"/>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AU" noProof="0" dirty="0"/>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AU" noProof="0" dirty="0"/>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AU" noProof="0" dirty="0"/>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AU" noProof="0" dirty="0"/>
            </a:p>
          </p:txBody>
        </p:sp>
      </p:grpSp>
      <p:graphicFrame>
        <p:nvGraphicFramePr>
          <p:cNvPr id="20" name="Content Placeholder 2">
            <a:extLst>
              <a:ext uri="{FF2B5EF4-FFF2-40B4-BE49-F238E27FC236}">
                <a16:creationId xmlns:a16="http://schemas.microsoft.com/office/drawing/2014/main" id="{25B04361-4C3D-6D2C-28A4-8ABF6472C38B}"/>
              </a:ext>
            </a:extLst>
          </p:cNvPr>
          <p:cNvGraphicFramePr>
            <a:graphicFrameLocks noGrp="1"/>
          </p:cNvGraphicFramePr>
          <p:nvPr>
            <p:ph idx="1"/>
            <p:extLst>
              <p:ext uri="{D42A27DB-BD31-4B8C-83A1-F6EECF244321}">
                <p14:modId xmlns:p14="http://schemas.microsoft.com/office/powerpoint/2010/main" val="429333803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6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E17583-7247-D2B9-C13F-B371424FC561}"/>
            </a:ext>
          </a:extLst>
        </p:cNvPr>
        <p:cNvGrpSpPr/>
        <p:nvPr/>
      </p:nvGrpSpPr>
      <p:grpSpPr>
        <a:xfrm>
          <a:off x="0" y="0"/>
          <a:ext cx="0" cy="0"/>
          <a:chOff x="0" y="0"/>
          <a:chExt cx="0" cy="0"/>
        </a:xfrm>
      </p:grpSpPr>
      <p:sp useBgFill="1">
        <p:nvSpPr>
          <p:cNvPr id="31"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noProof="0" dirty="0"/>
          </a:p>
        </p:txBody>
      </p:sp>
      <p:sp>
        <p:nvSpPr>
          <p:cNvPr id="2" name="Title 1">
            <a:extLst>
              <a:ext uri="{FF2B5EF4-FFF2-40B4-BE49-F238E27FC236}">
                <a16:creationId xmlns:a16="http://schemas.microsoft.com/office/drawing/2014/main" id="{2A7D94F0-52A1-115F-023D-9DC071C5AD47}"/>
              </a:ext>
            </a:extLst>
          </p:cNvPr>
          <p:cNvSpPr>
            <a:spLocks noGrp="1"/>
          </p:cNvSpPr>
          <p:nvPr>
            <p:ph type="title"/>
          </p:nvPr>
        </p:nvSpPr>
        <p:spPr>
          <a:xfrm>
            <a:off x="324091" y="0"/>
            <a:ext cx="4080362" cy="1708242"/>
          </a:xfrm>
        </p:spPr>
        <p:txBody>
          <a:bodyPr anchor="ctr">
            <a:normAutofit/>
          </a:bodyPr>
          <a:lstStyle/>
          <a:p>
            <a:r>
              <a:rPr lang="en-AU" sz="4000" b="1" noProof="0" dirty="0"/>
              <a:t>Initial Dataset</a:t>
            </a:r>
          </a:p>
        </p:txBody>
      </p:sp>
      <p:sp>
        <p:nvSpPr>
          <p:cNvPr id="9" name="Rectangle 5">
            <a:extLst>
              <a:ext uri="{FF2B5EF4-FFF2-40B4-BE49-F238E27FC236}">
                <a16:creationId xmlns:a16="http://schemas.microsoft.com/office/drawing/2014/main" id="{B78D83E5-E1DF-1F06-8A2A-658630B39817}"/>
              </a:ext>
            </a:extLst>
          </p:cNvPr>
          <p:cNvSpPr>
            <a:spLocks noGrp="1" noChangeArrowheads="1"/>
          </p:cNvSpPr>
          <p:nvPr>
            <p:ph idx="1"/>
          </p:nvPr>
        </p:nvSpPr>
        <p:spPr bwMode="auto">
          <a:xfrm>
            <a:off x="324092" y="1088020"/>
            <a:ext cx="5010108" cy="5613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0" i="0" u="none" strike="noStrike" cap="none" normalizeH="0" baseline="0" noProof="0" dirty="0">
                <a:ln>
                  <a:noFill/>
                </a:ln>
                <a:effectLst/>
                <a:latin typeface="Arial" panose="020B0604020202020204" pitchFamily="34" charset="0"/>
              </a:rPr>
              <a:t>Simple Dataset provided by Tim</a:t>
            </a:r>
          </a:p>
          <a:p>
            <a:pPr marL="0" marR="0" lvl="0" indent="0" defTabSz="914400" rtl="0" eaLnBrk="0" fontAlgn="base" latinLnBrk="0" hangingPunct="0">
              <a:spcBef>
                <a:spcPct val="0"/>
              </a:spcBef>
              <a:spcAft>
                <a:spcPts val="600"/>
              </a:spcAft>
              <a:buClrTx/>
              <a:buSzTx/>
              <a:buFontTx/>
              <a:buChar char="•"/>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0" i="0" u="none" strike="noStrike" cap="none" normalizeH="0" baseline="0" noProof="0" dirty="0">
                <a:ln>
                  <a:noFill/>
                </a:ln>
                <a:effectLst/>
                <a:latin typeface="Arial" panose="020B0604020202020204" pitchFamily="34" charset="0"/>
              </a:rPr>
              <a:t>10-aircraft fleet maintenance schedule </a:t>
            </a:r>
          </a:p>
          <a:p>
            <a:pPr marL="0" marR="0" lvl="0" indent="0" defTabSz="914400" rtl="0" eaLnBrk="0" fontAlgn="base" latinLnBrk="0" hangingPunct="0">
              <a:spcBef>
                <a:spcPct val="0"/>
              </a:spcBef>
              <a:spcAft>
                <a:spcPts val="600"/>
              </a:spcAft>
              <a:buClrTx/>
              <a:buSzTx/>
              <a:buFontTx/>
              <a:buChar char="•"/>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0" i="0" u="none" strike="noStrike" cap="none" normalizeH="0" baseline="0" noProof="0" dirty="0">
                <a:ln>
                  <a:noFill/>
                </a:ln>
                <a:effectLst/>
                <a:latin typeface="Arial" panose="020B0604020202020204" pitchFamily="34" charset="0"/>
              </a:rPr>
              <a:t>8 maintenance event with </a:t>
            </a:r>
            <a:r>
              <a:rPr lang="en-AU" sz="2000" noProof="0" dirty="0">
                <a:latin typeface="Arial" panose="020B0604020202020204" pitchFamily="34" charset="0"/>
              </a:rPr>
              <a:t>e</a:t>
            </a:r>
            <a:r>
              <a:rPr kumimoji="0" lang="en-AU" sz="2000" b="0" i="0" u="none" strike="noStrike" cap="none" normalizeH="0" baseline="0" noProof="0" dirty="0">
                <a:ln>
                  <a:noFill/>
                </a:ln>
                <a:effectLst/>
                <a:latin typeface="Arial" panose="020B0604020202020204" pitchFamily="34" charset="0"/>
              </a:rPr>
              <a:t>ach even lasting 60 days </a:t>
            </a:r>
          </a:p>
          <a:p>
            <a:pPr marL="0" marR="0" lvl="0" indent="0" defTabSz="914400" rtl="0" eaLnBrk="0" fontAlgn="base" latinLnBrk="0" hangingPunct="0">
              <a:spcBef>
                <a:spcPct val="0"/>
              </a:spcBef>
              <a:spcAft>
                <a:spcPts val="600"/>
              </a:spcAft>
              <a:buClrTx/>
              <a:buSzTx/>
              <a:buFontTx/>
              <a:buChar char="•"/>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0" i="0" u="none" strike="noStrike" cap="none" normalizeH="0" baseline="0" noProof="0" dirty="0">
                <a:ln>
                  <a:noFill/>
                </a:ln>
                <a:effectLst/>
                <a:latin typeface="Arial" panose="020B0604020202020204" pitchFamily="34" charset="0"/>
              </a:rPr>
              <a:t>Maintenance windows constrained to 320–380 days </a:t>
            </a:r>
          </a:p>
          <a:p>
            <a:pPr marL="0" marR="0" lvl="0" indent="0" defTabSz="914400" rtl="0" eaLnBrk="0" fontAlgn="base" latinLnBrk="0" hangingPunct="0">
              <a:spcBef>
                <a:spcPct val="0"/>
              </a:spcBef>
              <a:spcAft>
                <a:spcPts val="600"/>
              </a:spcAft>
              <a:buClrTx/>
              <a:buSzTx/>
              <a:buFontTx/>
              <a:buChar char="•"/>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0" i="0" u="none" strike="noStrike" cap="none" normalizeH="0" baseline="0" noProof="0" dirty="0">
                <a:ln>
                  <a:noFill/>
                </a:ln>
                <a:effectLst/>
                <a:latin typeface="Arial" panose="020B0604020202020204" pitchFamily="34" charset="0"/>
              </a:rPr>
              <a:t> Initial random schedule caused heavy maintenance overlap </a:t>
            </a:r>
          </a:p>
          <a:p>
            <a:pPr marL="0" marR="0" lvl="0" indent="0" defTabSz="914400" rtl="0" eaLnBrk="0" fontAlgn="base" latinLnBrk="0" hangingPunct="0">
              <a:spcBef>
                <a:spcPct val="0"/>
              </a:spcBef>
              <a:spcAft>
                <a:spcPts val="600"/>
              </a:spcAft>
              <a:buClrTx/>
              <a:buSzTx/>
              <a:buNone/>
              <a:tabLst/>
            </a:pPr>
            <a:endParaRPr kumimoji="0" lang="en-AU" sz="2000" b="0" i="0" u="none" strike="noStrike" cap="none" normalizeH="0" baseline="0" noProof="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AU" sz="2000" b="1" i="0" u="none" strike="noStrike" cap="none" normalizeH="0" baseline="0" noProof="0" dirty="0">
                <a:ln>
                  <a:noFill/>
                </a:ln>
                <a:effectLst/>
                <a:latin typeface="Arial" panose="020B0604020202020204" pitchFamily="34" charset="0"/>
              </a:rPr>
              <a:t>Goal</a:t>
            </a:r>
            <a:r>
              <a:rPr kumimoji="0" lang="en-AU" sz="2000" b="0" i="0" u="none" strike="noStrike" cap="none" normalizeH="0" baseline="0" noProof="0" dirty="0">
                <a:ln>
                  <a:noFill/>
                </a:ln>
                <a:effectLst/>
                <a:latin typeface="Arial" panose="020B0604020202020204" pitchFamily="34" charset="0"/>
              </a:rPr>
              <a:t>: stagger maintenance checks to maximum of 2 aircraft offline </a:t>
            </a:r>
          </a:p>
        </p:txBody>
      </p:sp>
      <p:sp>
        <p:nvSpPr>
          <p:cNvPr id="32" name="Rectangle 31">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11" name="Picture 10">
            <a:extLst>
              <a:ext uri="{FF2B5EF4-FFF2-40B4-BE49-F238E27FC236}">
                <a16:creationId xmlns:a16="http://schemas.microsoft.com/office/drawing/2014/main" id="{B096626D-A8A2-4179-7C98-3F853F6F2463}"/>
              </a:ext>
            </a:extLst>
          </p:cNvPr>
          <p:cNvPicPr>
            <a:picLocks noChangeAspect="1"/>
          </p:cNvPicPr>
          <p:nvPr/>
        </p:nvPicPr>
        <p:blipFill>
          <a:blip r:embed="rId3"/>
          <a:stretch>
            <a:fillRect/>
          </a:stretch>
        </p:blipFill>
        <p:spPr>
          <a:xfrm>
            <a:off x="5192847" y="1565476"/>
            <a:ext cx="6999151" cy="3727048"/>
          </a:xfrm>
          <a:prstGeom prst="rect">
            <a:avLst/>
          </a:prstGeom>
        </p:spPr>
      </p:pic>
    </p:spTree>
    <p:extLst>
      <p:ext uri="{BB962C8B-B14F-4D97-AF65-F5344CB8AC3E}">
        <p14:creationId xmlns:p14="http://schemas.microsoft.com/office/powerpoint/2010/main" val="3586451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F1B5D-6607-B3F3-80DB-2DF2490C44FA}"/>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8A0E-4412-E1D8-63D2-94FC3D4AD19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noProof="0" dirty="0"/>
              <a:t>Best-Improvement Neighbourhood Search	</a:t>
            </a:r>
          </a:p>
        </p:txBody>
      </p:sp>
      <p:sp>
        <p:nvSpPr>
          <p:cNvPr id="4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BE707D9-B313-19D3-7B8A-ACCC04D0AB40}"/>
              </a:ext>
            </a:extLst>
          </p:cNvPr>
          <p:cNvPicPr>
            <a:picLocks noChangeAspect="1"/>
          </p:cNvPicPr>
          <p:nvPr/>
        </p:nvPicPr>
        <p:blipFill>
          <a:blip r:embed="rId3"/>
          <a:stretch>
            <a:fillRect/>
          </a:stretch>
        </p:blipFill>
        <p:spPr>
          <a:xfrm>
            <a:off x="278250" y="1541418"/>
            <a:ext cx="7503609" cy="4971142"/>
          </a:xfrm>
          <a:prstGeom prst="rect">
            <a:avLst/>
          </a:prstGeom>
        </p:spPr>
      </p:pic>
      <p:pic>
        <p:nvPicPr>
          <p:cNvPr id="7" name="Picture 6">
            <a:extLst>
              <a:ext uri="{FF2B5EF4-FFF2-40B4-BE49-F238E27FC236}">
                <a16:creationId xmlns:a16="http://schemas.microsoft.com/office/drawing/2014/main" id="{08F29261-A05C-A617-9507-997E370A4E6F}"/>
              </a:ext>
            </a:extLst>
          </p:cNvPr>
          <p:cNvPicPr>
            <a:picLocks noChangeAspect="1"/>
          </p:cNvPicPr>
          <p:nvPr/>
        </p:nvPicPr>
        <p:blipFill>
          <a:blip r:embed="rId4"/>
          <a:stretch>
            <a:fillRect/>
          </a:stretch>
        </p:blipFill>
        <p:spPr>
          <a:xfrm>
            <a:off x="7608912" y="2481080"/>
            <a:ext cx="4522391" cy="2385560"/>
          </a:xfrm>
          <a:prstGeom prst="rect">
            <a:avLst/>
          </a:prstGeom>
        </p:spPr>
      </p:pic>
      <p:sp>
        <p:nvSpPr>
          <p:cNvPr id="13" name="AutoShape 10" descr="Optimization algorithm workflow diagram">
            <a:extLst>
              <a:ext uri="{FF2B5EF4-FFF2-40B4-BE49-F238E27FC236}">
                <a16:creationId xmlns:a16="http://schemas.microsoft.com/office/drawing/2014/main" id="{21EBC921-E282-B19E-243B-300038ACDA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Tree>
    <p:extLst>
      <p:ext uri="{BB962C8B-B14F-4D97-AF65-F5344CB8AC3E}">
        <p14:creationId xmlns:p14="http://schemas.microsoft.com/office/powerpoint/2010/main" val="60615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730761" y="0"/>
            <a:ext cx="10515600" cy="1325563"/>
          </a:xfrm>
        </p:spPr>
        <p:txBody>
          <a:bodyPr/>
          <a:lstStyle/>
          <a:p>
            <a:r>
              <a:rPr lang="en-AU" b="1" noProof="0" dirty="0"/>
              <a:t>Extended Heavy maintenance dataset	</a:t>
            </a:r>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513136" y="918778"/>
            <a:ext cx="5748703" cy="3301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400" b="1" noProof="0" dirty="0"/>
              <a:t>Maintenance Cycle: </a:t>
            </a:r>
            <a:r>
              <a:rPr lang="en-AU" sz="2400" noProof="0" dirty="0"/>
              <a:t>A → B → A → C → A → B → A → D</a:t>
            </a:r>
            <a:endParaRPr lang="en-AU" sz="2400" b="1" noProof="0" dirty="0"/>
          </a:p>
          <a:p>
            <a:r>
              <a:rPr lang="en-AU" sz="2400" noProof="0" dirty="0"/>
              <a:t>Minimum forecast length: 12 years </a:t>
            </a:r>
          </a:p>
          <a:p>
            <a:r>
              <a:rPr lang="en-AU" sz="2400" noProof="0" dirty="0"/>
              <a:t>Represents 1.5 maintenance cycles</a:t>
            </a:r>
          </a:p>
          <a:p>
            <a:r>
              <a:rPr lang="en-AU" sz="2400" noProof="0" dirty="0"/>
              <a:t>24 Aircraft having 11-12 maintenance events per forecast</a:t>
            </a:r>
          </a:p>
          <a:p>
            <a:endParaRPr lang="en-AU" sz="2400" noProof="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noProof="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941574" y="3429000"/>
            <a:ext cx="8093974" cy="3226254"/>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151685" y="1514282"/>
            <a:ext cx="5711499" cy="1523558"/>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72B5A-3216-1A11-5E04-044444A72C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367D4E3B-0388-2BED-5B01-DA2A6F1A8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79974C51-8353-BD72-29D5-D47AC2ED92B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AU" sz="3200" kern="1200" noProof="0" dirty="0">
                <a:solidFill>
                  <a:schemeClr val="bg1"/>
                </a:solidFill>
                <a:latin typeface="+mj-lt"/>
                <a:ea typeface="+mj-ea"/>
                <a:cs typeface="+mj-cs"/>
              </a:rPr>
              <a:t>Optimised Heavy dataset using Random Sampling	</a:t>
            </a:r>
          </a:p>
        </p:txBody>
      </p:sp>
      <p:pic>
        <p:nvPicPr>
          <p:cNvPr id="17" name="Picture 16">
            <a:extLst>
              <a:ext uri="{FF2B5EF4-FFF2-40B4-BE49-F238E27FC236}">
                <a16:creationId xmlns:a16="http://schemas.microsoft.com/office/drawing/2014/main" id="{4E3D4C6D-5699-C424-0613-87C1939BAC52}"/>
              </a:ext>
            </a:extLst>
          </p:cNvPr>
          <p:cNvPicPr>
            <a:picLocks noChangeAspect="1"/>
          </p:cNvPicPr>
          <p:nvPr/>
        </p:nvPicPr>
        <p:blipFill>
          <a:blip r:embed="rId3"/>
          <a:stretch>
            <a:fillRect/>
          </a:stretch>
        </p:blipFill>
        <p:spPr>
          <a:xfrm>
            <a:off x="4377690" y="1542844"/>
            <a:ext cx="7711332" cy="5108758"/>
          </a:xfrm>
          <a:prstGeom prst="rect">
            <a:avLst/>
          </a:prstGeom>
        </p:spPr>
      </p:pic>
      <p:sp>
        <p:nvSpPr>
          <p:cNvPr id="13" name="AutoShape 10" descr="Optimization algorithm workflow diagram">
            <a:extLst>
              <a:ext uri="{FF2B5EF4-FFF2-40B4-BE49-F238E27FC236}">
                <a16:creationId xmlns:a16="http://schemas.microsoft.com/office/drawing/2014/main" id="{1AE887EE-4832-D343-9523-0BD8C614F8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Rectangle 1">
            <a:extLst>
              <a:ext uri="{FF2B5EF4-FFF2-40B4-BE49-F238E27FC236}">
                <a16:creationId xmlns:a16="http://schemas.microsoft.com/office/drawing/2014/main" id="{DE7B2555-8466-DE0B-896A-8C3D64BCFE6D}"/>
              </a:ext>
            </a:extLst>
          </p:cNvPr>
          <p:cNvSpPr>
            <a:spLocks noGrp="1" noChangeArrowheads="1"/>
          </p:cNvSpPr>
          <p:nvPr>
            <p:ph idx="1"/>
          </p:nvPr>
        </p:nvSpPr>
        <p:spPr bwMode="auto">
          <a:xfrm>
            <a:off x="291371" y="1927334"/>
            <a:ext cx="4326349" cy="423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000" noProof="0" dirty="0"/>
              <a:t>Initial neighbour</a:t>
            </a:r>
            <a:r>
              <a:rPr lang="en-AU" sz="2000" dirty="0"/>
              <a:t>hood search worked on smaller dataset but too slow for heavy dataset</a:t>
            </a:r>
          </a:p>
          <a:p>
            <a:r>
              <a:rPr lang="en-AU" sz="2000" noProof="0" dirty="0"/>
              <a:t>Scaling to 24 aircraft made the search generate over 1000 schedules per iteration</a:t>
            </a:r>
          </a:p>
          <a:p>
            <a:r>
              <a:rPr lang="en-AU" sz="2000" dirty="0"/>
              <a:t>Random sampling strategy introduced </a:t>
            </a:r>
          </a:p>
          <a:p>
            <a:r>
              <a:rPr lang="en-AU" sz="2000" noProof="0" dirty="0"/>
              <a:t>Only 200 neighbouring schedules are evaluated which is </a:t>
            </a:r>
            <a:r>
              <a:rPr lang="en-US" sz="2000" noProof="0" dirty="0"/>
              <a:t>s</a:t>
            </a:r>
            <a:r>
              <a:rPr lang="en-US" sz="2000" dirty="0" err="1"/>
              <a:t>ufficient</a:t>
            </a:r>
            <a:r>
              <a:rPr lang="en-US" sz="2000" dirty="0"/>
              <a:t> to identify better local solutions.</a:t>
            </a:r>
          </a:p>
          <a:p>
            <a:pPr marL="0" indent="0">
              <a:buNone/>
            </a:pPr>
            <a:endParaRPr lang="en-AU" sz="2000" noProof="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20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1033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418882-17B0-915B-638B-C4C536C466C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B7E68EBB-78B6-E914-90C1-6CC53B736A8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AU" sz="3200" kern="1200" noProof="0" dirty="0">
                <a:solidFill>
                  <a:schemeClr val="bg1"/>
                </a:solidFill>
                <a:latin typeface="+mj-lt"/>
                <a:ea typeface="+mj-ea"/>
                <a:cs typeface="+mj-cs"/>
              </a:rPr>
              <a:t>Optimised Heavy maintenance dataset	</a:t>
            </a:r>
          </a:p>
        </p:txBody>
      </p:sp>
      <p:pic>
        <p:nvPicPr>
          <p:cNvPr id="5" name="Picture 4">
            <a:extLst>
              <a:ext uri="{FF2B5EF4-FFF2-40B4-BE49-F238E27FC236}">
                <a16:creationId xmlns:a16="http://schemas.microsoft.com/office/drawing/2014/main" id="{BC81579A-8727-45A4-0C5E-8AF40B12CC1A}"/>
              </a:ext>
            </a:extLst>
          </p:cNvPr>
          <p:cNvPicPr>
            <a:picLocks noChangeAspect="1"/>
          </p:cNvPicPr>
          <p:nvPr/>
        </p:nvPicPr>
        <p:blipFill>
          <a:blip r:embed="rId3"/>
          <a:stretch>
            <a:fillRect/>
          </a:stretch>
        </p:blipFill>
        <p:spPr>
          <a:xfrm>
            <a:off x="3416391" y="2113281"/>
            <a:ext cx="8645706" cy="3393440"/>
          </a:xfrm>
          <a:prstGeom prst="rect">
            <a:avLst/>
          </a:prstGeom>
        </p:spPr>
      </p:pic>
      <p:sp>
        <p:nvSpPr>
          <p:cNvPr id="13" name="AutoShape 10" descr="Optimization algorithm workflow diagram">
            <a:extLst>
              <a:ext uri="{FF2B5EF4-FFF2-40B4-BE49-F238E27FC236}">
                <a16:creationId xmlns:a16="http://schemas.microsoft.com/office/drawing/2014/main" id="{B968A629-87FD-BE29-B42B-137ACE7B7D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TextBox 2">
            <a:extLst>
              <a:ext uri="{FF2B5EF4-FFF2-40B4-BE49-F238E27FC236}">
                <a16:creationId xmlns:a16="http://schemas.microsoft.com/office/drawing/2014/main" id="{72A31813-CDCF-7253-FD64-AEABA5EAF128}"/>
              </a:ext>
            </a:extLst>
          </p:cNvPr>
          <p:cNvSpPr txBox="1"/>
          <p:nvPr/>
        </p:nvSpPr>
        <p:spPr>
          <a:xfrm>
            <a:off x="345439" y="2113281"/>
            <a:ext cx="3330615" cy="2862322"/>
          </a:xfrm>
          <a:prstGeom prst="rect">
            <a:avLst/>
          </a:prstGeom>
          <a:noFill/>
        </p:spPr>
        <p:txBody>
          <a:bodyPr wrap="square" rtlCol="0">
            <a:spAutoFit/>
          </a:bodyPr>
          <a:lstStyle/>
          <a:p>
            <a:r>
              <a:rPr lang="en-AU" b="1" dirty="0"/>
              <a:t>Original</a:t>
            </a:r>
            <a:r>
              <a:rPr lang="en-AU" dirty="0"/>
              <a:t> </a:t>
            </a:r>
          </a:p>
          <a:p>
            <a:r>
              <a:rPr lang="en-AU" dirty="0"/>
              <a:t>Min Availability: 15</a:t>
            </a:r>
          </a:p>
          <a:p>
            <a:r>
              <a:rPr lang="en-AU" dirty="0"/>
              <a:t>Availability S.D.: 1.947</a:t>
            </a:r>
          </a:p>
          <a:p>
            <a:r>
              <a:rPr lang="en-AU" dirty="0"/>
              <a:t>Average Availability:  21.694</a:t>
            </a:r>
          </a:p>
          <a:p>
            <a:endParaRPr lang="en-AU" dirty="0"/>
          </a:p>
          <a:p>
            <a:r>
              <a:rPr lang="en-AU" b="1" dirty="0"/>
              <a:t>Optimised</a:t>
            </a:r>
          </a:p>
          <a:p>
            <a:r>
              <a:rPr lang="en-AU" dirty="0"/>
              <a:t>Min Availability: 18</a:t>
            </a:r>
          </a:p>
          <a:p>
            <a:r>
              <a:rPr lang="en-AU" dirty="0"/>
              <a:t>Availability S.D.: 1.433</a:t>
            </a:r>
          </a:p>
          <a:p>
            <a:r>
              <a:rPr lang="en-AU" dirty="0"/>
              <a:t>Average Availability:  21.712</a:t>
            </a:r>
          </a:p>
          <a:p>
            <a:endParaRPr lang="en-AU" dirty="0"/>
          </a:p>
        </p:txBody>
      </p:sp>
    </p:spTree>
    <p:extLst>
      <p:ext uri="{BB962C8B-B14F-4D97-AF65-F5344CB8AC3E}">
        <p14:creationId xmlns:p14="http://schemas.microsoft.com/office/powerpoint/2010/main" val="2706135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4BC9-2E00-9F71-0C2C-94D78668E2F0}"/>
              </a:ext>
            </a:extLst>
          </p:cNvPr>
          <p:cNvSpPr>
            <a:spLocks noGrp="1"/>
          </p:cNvSpPr>
          <p:nvPr>
            <p:ph type="title"/>
          </p:nvPr>
        </p:nvSpPr>
        <p:spPr>
          <a:xfrm>
            <a:off x="876692" y="301553"/>
            <a:ext cx="4597747" cy="1616203"/>
          </a:xfrm>
        </p:spPr>
        <p:txBody>
          <a:bodyPr anchor="b">
            <a:normAutofit/>
          </a:bodyPr>
          <a:lstStyle/>
          <a:p>
            <a:r>
              <a:rPr lang="en-AU" sz="3200" dirty="0"/>
              <a:t>Convergence Behaviour of Variable Neighbourhood Search</a:t>
            </a:r>
          </a:p>
        </p:txBody>
      </p:sp>
      <p:sp>
        <p:nvSpPr>
          <p:cNvPr id="3" name="Content Placeholder 2">
            <a:extLst>
              <a:ext uri="{FF2B5EF4-FFF2-40B4-BE49-F238E27FC236}">
                <a16:creationId xmlns:a16="http://schemas.microsoft.com/office/drawing/2014/main" id="{FAC3E21C-F6EE-9CED-EACA-8C3B522E5D8E}"/>
              </a:ext>
            </a:extLst>
          </p:cNvPr>
          <p:cNvSpPr>
            <a:spLocks noGrp="1"/>
          </p:cNvSpPr>
          <p:nvPr>
            <p:ph idx="1"/>
          </p:nvPr>
        </p:nvSpPr>
        <p:spPr>
          <a:xfrm>
            <a:off x="876692" y="2116787"/>
            <a:ext cx="5319061" cy="4439659"/>
          </a:xfrm>
        </p:spPr>
        <p:txBody>
          <a:bodyPr anchor="t">
            <a:normAutofit/>
          </a:bodyPr>
          <a:lstStyle/>
          <a:p>
            <a:r>
              <a:rPr lang="en-AU" sz="2000" dirty="0"/>
              <a:t>Standard Deviation of fleet availability decreases over iterations</a:t>
            </a:r>
          </a:p>
          <a:p>
            <a:r>
              <a:rPr lang="en-AU" sz="2000" dirty="0"/>
              <a:t>Final value converges to ~1.40</a:t>
            </a:r>
          </a:p>
          <a:p>
            <a:r>
              <a:rPr lang="en-AU" sz="2000" dirty="0"/>
              <a:t>Around iteration ~100, the algorithm transitions between shift sizes</a:t>
            </a:r>
          </a:p>
          <a:p>
            <a:r>
              <a:rPr lang="en-AU" sz="2000" dirty="0"/>
              <a:t>Earlier iterations relied on large shift sizes (±28)</a:t>
            </a:r>
          </a:p>
          <a:p>
            <a:r>
              <a:rPr lang="en-AU" sz="2000" dirty="0"/>
              <a:t>Later iterations focused on local optimisation (±14, ±7, ±3)</a:t>
            </a:r>
          </a:p>
          <a:p>
            <a:r>
              <a:rPr lang="en-AU" sz="2000" dirty="0"/>
              <a:t>Algorithm terminated at iteration 311 (no improvement found)</a:t>
            </a:r>
          </a:p>
        </p:txBody>
      </p:sp>
      <p:pic>
        <p:nvPicPr>
          <p:cNvPr id="5" name="Picture 4">
            <a:extLst>
              <a:ext uri="{FF2B5EF4-FFF2-40B4-BE49-F238E27FC236}">
                <a16:creationId xmlns:a16="http://schemas.microsoft.com/office/drawing/2014/main" id="{C8478B23-3F2B-9BE4-9D82-80F360769BAE}"/>
              </a:ext>
            </a:extLst>
          </p:cNvPr>
          <p:cNvPicPr>
            <a:picLocks noChangeAspect="1"/>
          </p:cNvPicPr>
          <p:nvPr/>
        </p:nvPicPr>
        <p:blipFill>
          <a:blip r:embed="rId2"/>
          <a:stretch>
            <a:fillRect/>
          </a:stretch>
        </p:blipFill>
        <p:spPr>
          <a:xfrm>
            <a:off x="5988806" y="1773442"/>
            <a:ext cx="5908812" cy="3678234"/>
          </a:xfrm>
          <a:prstGeom prst="rect">
            <a:avLst/>
          </a:prstGeom>
        </p:spPr>
      </p:pic>
      <p:grpSp>
        <p:nvGrpSpPr>
          <p:cNvPr id="10" name="Group 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9435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09E4-D676-312A-2925-0C2CD7BD82FD}"/>
              </a:ext>
            </a:extLst>
          </p:cNvPr>
          <p:cNvSpPr>
            <a:spLocks noGrp="1"/>
          </p:cNvSpPr>
          <p:nvPr>
            <p:ph type="title"/>
          </p:nvPr>
        </p:nvSpPr>
        <p:spPr>
          <a:xfrm>
            <a:off x="365760" y="197499"/>
            <a:ext cx="3455821" cy="1168874"/>
          </a:xfrm>
        </p:spPr>
        <p:txBody>
          <a:bodyPr anchor="b">
            <a:normAutofit/>
          </a:bodyPr>
          <a:lstStyle/>
          <a:p>
            <a:r>
              <a:rPr lang="en-AU" sz="3200" noProof="0" dirty="0"/>
              <a:t>Future Work and Research Direction</a:t>
            </a:r>
          </a:p>
        </p:txBody>
      </p:sp>
      <p:sp>
        <p:nvSpPr>
          <p:cNvPr id="4" name="Rectangle 1">
            <a:extLst>
              <a:ext uri="{FF2B5EF4-FFF2-40B4-BE49-F238E27FC236}">
                <a16:creationId xmlns:a16="http://schemas.microsoft.com/office/drawing/2014/main" id="{954CBAB1-6598-9422-700E-18DF863746B5}"/>
              </a:ext>
            </a:extLst>
          </p:cNvPr>
          <p:cNvSpPr>
            <a:spLocks noGrp="1" noChangeArrowheads="1"/>
          </p:cNvSpPr>
          <p:nvPr>
            <p:ph idx="1"/>
          </p:nvPr>
        </p:nvSpPr>
        <p:spPr bwMode="auto">
          <a:xfrm>
            <a:off x="365760" y="1377214"/>
            <a:ext cx="6019716" cy="52832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AU" sz="2400" b="0" i="0" u="none" strike="noStrike" cap="none" normalizeH="0" baseline="0" noProof="0" dirty="0">
                <a:ln>
                  <a:noFill/>
                </a:ln>
                <a:effectLst/>
                <a:latin typeface="Arial" panose="020B0604020202020204" pitchFamily="34" charset="0"/>
              </a:rPr>
              <a:t>Semester 2 (Iteration 2)</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Investigate Simulated Annealing + VNS hybrid optimisation </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Include additional operational and logistic constraints (in these 3 months, maximise availability, can change surrounding) (standard deviation inside the window)</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Improve computational efficiency </a:t>
            </a:r>
          </a:p>
          <a:p>
            <a:pPr marL="0" marR="0" lvl="0" indent="0" defTabSz="914400" rtl="0" eaLnBrk="0" fontAlgn="base" latinLnBrk="0" hangingPunct="0">
              <a:spcBef>
                <a:spcPct val="0"/>
              </a:spcBef>
              <a:spcAft>
                <a:spcPts val="600"/>
              </a:spcAft>
              <a:buClrTx/>
              <a:buSzTx/>
              <a:buFontTx/>
              <a:buChar char="•"/>
              <a:tabLst/>
            </a:pPr>
            <a:r>
              <a:rPr lang="en-AU" sz="2400" dirty="0">
                <a:latin typeface="Arial" panose="020B0604020202020204" pitchFamily="34" charset="0"/>
              </a:rPr>
              <a:t>Analysis of Hyperparameters</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Look at the start to see if initial stagger changes outcome	</a:t>
            </a:r>
          </a:p>
          <a:p>
            <a:pPr marL="0" marR="0" lvl="0" indent="0" defTabSz="914400" rtl="0" eaLnBrk="0" fontAlgn="base" latinLnBrk="0" hangingPunct="0">
              <a:spcBef>
                <a:spcPct val="0"/>
              </a:spcBef>
              <a:spcAft>
                <a:spcPts val="600"/>
              </a:spcAft>
              <a:buClrTx/>
              <a:buSzTx/>
              <a:buFontTx/>
              <a:buChar char="•"/>
              <a:tabLst/>
            </a:pPr>
            <a:r>
              <a:rPr lang="en-AU" sz="2400" dirty="0">
                <a:latin typeface="Arial" panose="020B0604020202020204" pitchFamily="34" charset="0"/>
              </a:rPr>
              <a:t>Exploit left to right nature of timeline (start from left)</a:t>
            </a:r>
            <a:endParaRPr kumimoji="0" lang="en-AU" sz="2400" b="0" i="0" u="none" strike="noStrike" cap="none" normalizeH="0" baseline="0" noProof="0" dirty="0">
              <a:ln>
                <a:noFill/>
              </a:ln>
              <a:effectLst/>
              <a:latin typeface="Arial" panose="020B0604020202020204" pitchFamily="34" charset="0"/>
            </a:endParaRPr>
          </a:p>
        </p:txBody>
      </p:sp>
      <p:pic>
        <p:nvPicPr>
          <p:cNvPr id="5" name="Picture 4">
            <a:extLst>
              <a:ext uri="{FF2B5EF4-FFF2-40B4-BE49-F238E27FC236}">
                <a16:creationId xmlns:a16="http://schemas.microsoft.com/office/drawing/2014/main" id="{11FEE290-E7ED-EE14-0AA0-E526D2BEA4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85476" y="917831"/>
            <a:ext cx="5570492" cy="4122163"/>
          </a:xfrm>
          <a:prstGeom prst="rect">
            <a:avLst/>
          </a:prstGeom>
        </p:spPr>
      </p:pic>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sp>
        <p:nvSpPr>
          <p:cNvPr id="6" name="Rectangle 5">
            <a:extLst>
              <a:ext uri="{FF2B5EF4-FFF2-40B4-BE49-F238E27FC236}">
                <a16:creationId xmlns:a16="http://schemas.microsoft.com/office/drawing/2014/main" id="{1F24DC49-3623-2953-21F6-1E12696BF941}"/>
              </a:ext>
            </a:extLst>
          </p:cNvPr>
          <p:cNvSpPr/>
          <p:nvPr/>
        </p:nvSpPr>
        <p:spPr>
          <a:xfrm>
            <a:off x="8684260" y="3738880"/>
            <a:ext cx="635000" cy="1295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05916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ITERATION 1 RECAP</a:t>
            </a:r>
          </a:p>
        </p:txBody>
      </p:sp>
      <p:sp>
        <p:nvSpPr>
          <p:cNvPr id="5" name="TextBox 4"/>
          <p:cNvSpPr txBox="1"/>
          <p:nvPr/>
        </p:nvSpPr>
        <p:spPr>
          <a:xfrm>
            <a:off x="457200" y="411480"/>
            <a:ext cx="11247120" cy="640080"/>
          </a:xfrm>
          <a:prstGeom prst="rect">
            <a:avLst/>
          </a:prstGeom>
          <a:noFill/>
        </p:spPr>
        <p:txBody>
          <a:bodyPr wrap="square">
            <a:spAutoFit/>
          </a:bodyPr>
          <a:lstStyle/>
          <a:p>
            <a:pPr algn="l"/>
            <a:r>
              <a:rPr sz="4000" b="1">
                <a:solidFill>
                  <a:srgbClr val="000000"/>
                </a:solidFill>
                <a:latin typeface="Calibri"/>
              </a:rPr>
              <a:t>Priority VNS delivered a practical baseline</a:t>
            </a: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sz="1700" b="1">
                <a:solidFill>
                  <a:srgbClr val="000000"/>
                </a:solidFill>
                <a:latin typeface="Calibri"/>
              </a:rPr>
              <a:t>MINIMUM AVAILABILITY</a:t>
            </a:r>
          </a:p>
        </p:txBody>
      </p:sp>
      <p:sp>
        <p:nvSpPr>
          <p:cNvPr id="8" name="TextBox 7"/>
          <p:cNvSpPr txBox="1"/>
          <p:nvPr/>
        </p:nvSpPr>
        <p:spPr>
          <a:xfrm>
            <a:off x="658368" y="1810512"/>
            <a:ext cx="5074920" cy="868680"/>
          </a:xfrm>
          <a:prstGeom prst="rect">
            <a:avLst/>
          </a:prstGeom>
          <a:noFill/>
        </p:spPr>
        <p:txBody>
          <a:bodyPr wrap="square">
            <a:spAutoFit/>
          </a:bodyPr>
          <a:lstStyle/>
          <a:p>
            <a:pPr algn="l"/>
            <a:r>
              <a:rPr sz="3200" b="1">
                <a:solidFill>
                  <a:srgbClr val="000000"/>
                </a:solidFill>
                <a:latin typeface="Calibri"/>
              </a:rPr>
              <a:t>15 → 18 aircraft</a:t>
            </a: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sz="1700" b="1">
                <a:solidFill>
                  <a:srgbClr val="000000"/>
                </a:solidFill>
                <a:latin typeface="Calibri"/>
              </a:rPr>
              <a:t>RUNTIME</a:t>
            </a:r>
          </a:p>
        </p:txBody>
      </p:sp>
      <p:sp>
        <p:nvSpPr>
          <p:cNvPr id="11" name="TextBox 10"/>
          <p:cNvSpPr txBox="1"/>
          <p:nvPr/>
        </p:nvSpPr>
        <p:spPr>
          <a:xfrm>
            <a:off x="6373368" y="1810512"/>
            <a:ext cx="5074920" cy="868680"/>
          </a:xfrm>
          <a:prstGeom prst="rect">
            <a:avLst/>
          </a:prstGeom>
          <a:noFill/>
        </p:spPr>
        <p:txBody>
          <a:bodyPr wrap="square">
            <a:spAutoFit/>
          </a:bodyPr>
          <a:lstStyle/>
          <a:p>
            <a:pPr algn="l"/>
            <a:r>
              <a:rPr sz="3200" b="1">
                <a:solidFill>
                  <a:srgbClr val="000000"/>
                </a:solidFill>
                <a:latin typeface="Calibri"/>
              </a:rPr>
              <a:t>~15.4 seconds</a:t>
            </a: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dirty="0">
                <a:solidFill>
                  <a:srgbClr val="000000"/>
                </a:solidFill>
                <a:latin typeface="Calibri"/>
              </a:rPr>
              <a:t>What works well and what is still limited</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spAutoFit/>
          </a:bodyPr>
          <a:lstStyle/>
          <a:p>
            <a:pPr algn="l">
              <a:spcAft>
                <a:spcPts val="1600"/>
              </a:spcAft>
            </a:pPr>
            <a:r>
              <a:rPr lang="en-US" sz="2000" b="0" dirty="0">
                <a:solidFill>
                  <a:srgbClr val="1A1A1A"/>
                </a:solidFill>
                <a:latin typeface="Calibri"/>
              </a:rPr>
              <a:t>• We focus first on maintenance that hits the worst availability days.</a:t>
            </a:r>
          </a:p>
          <a:p>
            <a:pPr algn="l">
              <a:spcAft>
                <a:spcPts val="1600"/>
              </a:spcAft>
            </a:pPr>
            <a:r>
              <a:rPr lang="en-US" sz="2000" b="0" dirty="0">
                <a:solidFill>
                  <a:srgbClr val="1A1A1A"/>
                </a:solidFill>
                <a:latin typeface="Calibri"/>
              </a:rPr>
              <a:t>• When we move a check, we rebuild that aircraft’s later schedule so rules stay valid.</a:t>
            </a:r>
          </a:p>
          <a:p>
            <a:pPr algn="l">
              <a:spcAft>
                <a:spcPts val="1600"/>
              </a:spcAft>
            </a:pPr>
            <a:r>
              <a:rPr lang="en-US" sz="2000" b="0" dirty="0">
                <a:solidFill>
                  <a:srgbClr val="1A1A1A"/>
                </a:solidFill>
                <a:latin typeface="Calibri"/>
              </a:rPr>
              <a:t>• We update availability cheaply instead of recalculating from scratch.</a:t>
            </a:r>
          </a:p>
          <a:p>
            <a:pPr algn="l">
              <a:spcAft>
                <a:spcPts val="1600"/>
              </a:spcAft>
            </a:pPr>
            <a:r>
              <a:rPr lang="en-US" sz="2000" b="0" dirty="0">
                <a:solidFill>
                  <a:srgbClr val="1A1A1A"/>
                </a:solidFill>
                <a:latin typeface="Calibri"/>
              </a:rPr>
              <a:t>• Currently we only accept better moves and we stop when nothing improves.</a:t>
            </a:r>
            <a:endParaRPr sz="2000" b="0" dirty="0">
              <a:solidFill>
                <a:srgbClr val="1A1A1A"/>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17600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406400"/>
            <a:ext cx="11303000" cy="646331"/>
          </a:xfrm>
          <a:prstGeom prst="rect">
            <a:avLst/>
          </a:prstGeom>
          <a:noFill/>
        </p:spPr>
        <p:txBody>
          <a:bodyPr vert="horz" rtlCol="0">
            <a:spAutoFit/>
          </a:bodyPr>
          <a:lstStyle/>
          <a:p>
            <a:r>
              <a:rPr lang="en-US" sz="3600" b="1" dirty="0">
                <a:solidFill>
                  <a:srgbClr val="000000"/>
                </a:solidFill>
                <a:latin typeface="Calibri" panose="020F0502020204030204" pitchFamily="34" charset="0"/>
              </a:rPr>
              <a:t>What simulated annealing is </a:t>
            </a:r>
            <a:endParaRPr lang="en-AU" sz="36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spAutoFit/>
          </a:bodyPr>
          <a:lstStyle/>
          <a:p>
            <a:r>
              <a:rPr lang="en-AU" sz="2000" b="1">
                <a:solidFill>
                  <a:srgbClr val="000000"/>
                </a:solidFill>
              </a:rPr>
              <a:t>1 ·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spAutoFit/>
          </a:bodyPr>
          <a:lstStyle/>
          <a:p>
            <a:r>
              <a:rPr lang="en-AU" sz="2000" b="1">
                <a:solidFill>
                  <a:srgbClr val="000000"/>
                </a:solidFill>
              </a:rPr>
              <a:t>2 ·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spAutoFit/>
          </a:bodyPr>
          <a:lstStyle/>
          <a:p>
            <a:r>
              <a:rPr lang="en-AU" sz="2000" b="1">
                <a:solidFill>
                  <a:srgbClr val="000000"/>
                </a:solidFill>
              </a:rPr>
              <a:t>3 ·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477328"/>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3658503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HOW IT FITS</a:t>
            </a:r>
            <a:endParaRPr sz="1700" b="1">
              <a:solidFill>
                <a:srgbClr val="000000"/>
              </a:solidFill>
              <a:latin typeface="Calibri"/>
            </a:endParaRPr>
          </a:p>
        </p:txBody>
      </p:sp>
      <p:sp>
        <p:nvSpPr>
          <p:cNvPr id="5" name="TextBox 4"/>
          <p:cNvSpPr txBox="1"/>
          <p:nvPr/>
        </p:nvSpPr>
        <p:spPr>
          <a:xfrm>
            <a:off x="457200" y="411480"/>
            <a:ext cx="11247120" cy="646331"/>
          </a:xfrm>
          <a:prstGeom prst="rect">
            <a:avLst/>
          </a:prstGeom>
          <a:noFill/>
        </p:spPr>
        <p:txBody>
          <a:bodyPr wrap="square">
            <a:spAutoFit/>
          </a:bodyPr>
          <a:lstStyle/>
          <a:p>
            <a:pPr algn="l"/>
            <a:r>
              <a:rPr lang="en-US" sz="3600" b="1">
                <a:solidFill>
                  <a:srgbClr val="000000"/>
                </a:solidFill>
                <a:latin typeface="Calibri"/>
              </a:rPr>
              <a:t>How annealing fits into our design</a:t>
            </a:r>
            <a:endParaRPr sz="3600" b="1">
              <a:solidFill>
                <a:srgbClr val="000000"/>
              </a:solidFill>
              <a:latin typeface="Calibri"/>
            </a:endParaRPr>
          </a:p>
        </p:txBody>
      </p:sp>
      <p:sp>
        <p:nvSpPr>
          <p:cNvPr id="6" name="Rounded Rectangle 5"/>
          <p:cNvSpPr/>
          <p:nvPr/>
        </p:nvSpPr>
        <p:spPr>
          <a:xfrm>
            <a:off x="457200" y="1188720"/>
            <a:ext cx="5486400" cy="379476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71600"/>
            <a:ext cx="5029200" cy="369332"/>
          </a:xfrm>
          <a:prstGeom prst="rect">
            <a:avLst/>
          </a:prstGeom>
          <a:noFill/>
        </p:spPr>
        <p:txBody>
          <a:bodyPr wrap="square">
            <a:spAutoFit/>
          </a:bodyPr>
          <a:lstStyle/>
          <a:p>
            <a:pPr algn="l"/>
            <a:r>
              <a:rPr lang="en-US" sz="1800" b="1">
                <a:solidFill>
                  <a:srgbClr val="000000"/>
                </a:solidFill>
                <a:latin typeface="Calibri"/>
              </a:rPr>
              <a:t>KEEP · How we search today</a:t>
            </a:r>
            <a:endParaRPr sz="1800" b="1">
              <a:solidFill>
                <a:srgbClr val="000000"/>
              </a:solidFill>
              <a:latin typeface="Calibri"/>
            </a:endParaRPr>
          </a:p>
        </p:txBody>
      </p:sp>
      <p:sp>
        <p:nvSpPr>
          <p:cNvPr id="8" name="TextBox 7"/>
          <p:cNvSpPr txBox="1"/>
          <p:nvPr/>
        </p:nvSpPr>
        <p:spPr>
          <a:xfrm>
            <a:off x="685800" y="1920240"/>
            <a:ext cx="5029200" cy="1677382"/>
          </a:xfrm>
          <a:prstGeom prst="rect">
            <a:avLst/>
          </a:prstGeom>
          <a:noFill/>
        </p:spPr>
        <p:txBody>
          <a:bodyPr wrap="square">
            <a:spAutoFit/>
          </a:bodyPr>
          <a:lstStyle/>
          <a:p>
            <a:pPr>
              <a:spcAft>
                <a:spcPts val="1400"/>
              </a:spcAft>
            </a:pPr>
            <a:r>
              <a:rPr lang="en-US" sz="1700" b="0" dirty="0">
                <a:solidFill>
                  <a:srgbClr val="111111"/>
                </a:solidFill>
                <a:latin typeface="Calibri"/>
              </a:rPr>
              <a:t>• Focus on the worst availability days first</a:t>
            </a:r>
          </a:p>
          <a:p>
            <a:pPr indent="-285750">
              <a:spcAft>
                <a:spcPts val="1400"/>
              </a:spcAft>
              <a:buChar char="•"/>
            </a:pPr>
            <a:r>
              <a:rPr lang="en-US" sz="1700" b="0" dirty="0">
                <a:solidFill>
                  <a:srgbClr val="111111"/>
                </a:solidFill>
                <a:latin typeface="Calibri"/>
              </a:rPr>
              <a:t>Rebuild the aircraft schedule after each move</a:t>
            </a:r>
          </a:p>
          <a:p>
            <a:pPr indent="-285750">
              <a:spcAft>
                <a:spcPts val="1400"/>
              </a:spcAft>
              <a:buChar char="•"/>
            </a:pPr>
            <a:r>
              <a:rPr lang="en-US" sz="1700" b="0" dirty="0">
                <a:solidFill>
                  <a:srgbClr val="111111"/>
                </a:solidFill>
                <a:latin typeface="Calibri"/>
              </a:rPr>
              <a:t>Update availability without recalculating everything</a:t>
            </a:r>
          </a:p>
          <a:p>
            <a:pPr indent="-285750">
              <a:spcAft>
                <a:spcPts val="1400"/>
              </a:spcAft>
              <a:buChar char="•"/>
            </a:pPr>
            <a:r>
              <a:rPr lang="en-US" sz="1700" b="0" dirty="0">
                <a:solidFill>
                  <a:srgbClr val="111111"/>
                </a:solidFill>
                <a:latin typeface="Calibri"/>
              </a:rPr>
              <a:t>Try larger timing shifts, then smaller ones</a:t>
            </a:r>
          </a:p>
        </p:txBody>
      </p:sp>
      <p:sp>
        <p:nvSpPr>
          <p:cNvPr id="9" name="Rounded Rectangle 8"/>
          <p:cNvSpPr/>
          <p:nvPr/>
        </p:nvSpPr>
        <p:spPr>
          <a:xfrm>
            <a:off x="6172200" y="1188720"/>
            <a:ext cx="5486400" cy="37947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71600"/>
            <a:ext cx="5029200" cy="369332"/>
          </a:xfrm>
          <a:prstGeom prst="rect">
            <a:avLst/>
          </a:prstGeom>
          <a:noFill/>
        </p:spPr>
        <p:txBody>
          <a:bodyPr wrap="square">
            <a:spAutoFit/>
          </a:bodyPr>
          <a:lstStyle/>
          <a:p>
            <a:pPr algn="l"/>
            <a:r>
              <a:rPr lang="en-US" sz="1800" b="1">
                <a:solidFill>
                  <a:srgbClr val="000000"/>
                </a:solidFill>
                <a:latin typeface="Calibri"/>
              </a:rPr>
              <a:t>CHANGE · How we accept moves</a:t>
            </a:r>
            <a:endParaRPr sz="1800" b="1">
              <a:solidFill>
                <a:srgbClr val="000000"/>
              </a:solidFill>
              <a:latin typeface="Calibri"/>
            </a:endParaRPr>
          </a:p>
        </p:txBody>
      </p:sp>
      <p:sp>
        <p:nvSpPr>
          <p:cNvPr id="11" name="TextBox 10"/>
          <p:cNvSpPr txBox="1"/>
          <p:nvPr/>
        </p:nvSpPr>
        <p:spPr>
          <a:xfrm>
            <a:off x="6400800" y="1920240"/>
            <a:ext cx="5029200" cy="2072362"/>
          </a:xfrm>
          <a:prstGeom prst="rect">
            <a:avLst/>
          </a:prstGeom>
          <a:noFill/>
        </p:spPr>
        <p:txBody>
          <a:bodyPr wrap="square">
            <a:spAutoFit/>
          </a:bodyPr>
          <a:lstStyle/>
          <a:p>
            <a:pPr indent="-285750">
              <a:spcAft>
                <a:spcPts val="1600"/>
              </a:spcAft>
              <a:buChar char="•"/>
            </a:pPr>
            <a:r>
              <a:rPr lang="en-US" sz="1700" dirty="0">
                <a:solidFill>
                  <a:srgbClr val="111111"/>
                </a:solidFill>
                <a:latin typeface="Calibri" panose="020F0502020204030204" pitchFamily="34" charset="0"/>
              </a:rPr>
              <a:t>Currently: only keep the improving moves</a:t>
            </a:r>
          </a:p>
          <a:p>
            <a:pPr indent="-285750">
              <a:spcAft>
                <a:spcPts val="1600"/>
              </a:spcAft>
              <a:buChar char="•"/>
            </a:pPr>
            <a:r>
              <a:rPr lang="en-US" sz="1700" dirty="0">
                <a:solidFill>
                  <a:srgbClr val="111111"/>
                </a:solidFill>
                <a:latin typeface="Calibri" panose="020F0502020204030204" pitchFamily="34" charset="0"/>
              </a:rPr>
              <a:t>New method: annealing accept better moves always, worse moves sometimes, depending how early and late</a:t>
            </a:r>
          </a:p>
          <a:p>
            <a:pPr indent="-285750">
              <a:spcAft>
                <a:spcPts val="1600"/>
              </a:spcAft>
              <a:buChar char="•"/>
            </a:pPr>
            <a:r>
              <a:rPr lang="en-US" sz="1700" dirty="0">
                <a:solidFill>
                  <a:srgbClr val="111111"/>
                </a:solidFill>
                <a:latin typeface="Calibri" panose="020F0502020204030204" pitchFamily="34" charset="0"/>
              </a:rPr>
              <a:t>Drop best improvement strategy so worse candidates can be tried</a:t>
            </a:r>
            <a:endParaRPr sz="1700" dirty="0">
              <a:solidFill>
                <a:srgbClr val="111111"/>
              </a:solidFill>
              <a:latin typeface="Calibri" panose="020F0502020204030204" pitchFamily="34" charset="0"/>
            </a:endParaRPr>
          </a:p>
        </p:txBody>
      </p:sp>
      <p:sp>
        <p:nvSpPr>
          <p:cNvPr id="12" name="Rounded Rectangle 11"/>
          <p:cNvSpPr/>
          <p:nvPr/>
        </p:nvSpPr>
        <p:spPr>
          <a:xfrm>
            <a:off x="457200" y="5166360"/>
            <a:ext cx="11247120" cy="1188720"/>
          </a:xfrm>
          <a:prstGeom prst="round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440680"/>
            <a:ext cx="10698480" cy="384721"/>
          </a:xfrm>
          <a:prstGeom prst="rect">
            <a:avLst/>
          </a:prstGeom>
          <a:noFill/>
        </p:spPr>
        <p:txBody>
          <a:bodyPr wrap="square">
            <a:spAutoFit/>
          </a:bodyPr>
          <a:lstStyle/>
          <a:p>
            <a:pPr algn="l"/>
            <a:r>
              <a:rPr lang="en-US" sz="1900" b="1">
                <a:solidFill>
                  <a:srgbClr val="000000"/>
                </a:solidFill>
                <a:latin typeface="Calibri"/>
              </a:rPr>
              <a:t>Verdict: Keep how we find candidate moves. Change how we decide which moves to accept.</a:t>
            </a:r>
            <a:endParaRPr sz="1900" b="1">
              <a:solidFill>
                <a:srgbClr val="000000"/>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07777"/>
          </a:xfrm>
          <a:prstGeom prst="rect">
            <a:avLst/>
          </a:prstGeom>
          <a:noFill/>
        </p:spPr>
        <p:txBody>
          <a:bodyPr wrap="square">
            <a:spAutoFit/>
          </a:bodyPr>
          <a:lstStyle/>
          <a:p>
            <a:pPr algn="l"/>
            <a:r>
              <a:rPr lang="en-AU" sz="1400" b="1">
                <a:solidFill>
                  <a:srgbClr val="000000"/>
                </a:solidFill>
                <a:latin typeface="Calibri" panose="020F0502020204030204" pitchFamily="34" charset="0"/>
              </a:rPr>
              <a:t>FAIR ACCEPTANCE</a:t>
            </a:r>
            <a:endParaRPr sz="1400" b="1">
              <a:solidFill>
                <a:srgbClr val="000000"/>
              </a:solidFill>
              <a:latin typeface="Calibri" panose="020F0502020204030204" pitchFamily="34" charset="0"/>
            </a:endParaRP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dirty="0">
                <a:solidFill>
                  <a:srgbClr val="000000"/>
                </a:solidFill>
                <a:latin typeface="Calibri" panose="020F0502020204030204" pitchFamily="34" charset="0"/>
              </a:rPr>
              <a:t>Fair testing</a:t>
            </a:r>
            <a:endParaRPr sz="2600" b="1" dirty="0">
              <a:solidFill>
                <a:srgbClr val="000000"/>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BF15418F-2D42-2747-DE78-55CDE53325C2}"/>
              </a:ext>
            </a:extLst>
          </p:cNvPr>
          <p:cNvSpPr/>
          <p:nvPr/>
        </p:nvSpPr>
        <p:spPr>
          <a:xfrm>
            <a:off x="4572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5" name="Rectangle: Rounded Corners 24">
            <a:extLst>
              <a:ext uri="{FF2B5EF4-FFF2-40B4-BE49-F238E27FC236}">
                <a16:creationId xmlns:a16="http://schemas.microsoft.com/office/drawing/2014/main" id="{4EC31053-EEC7-68A6-5E82-6989DEF74D08}"/>
              </a:ext>
            </a:extLst>
          </p:cNvPr>
          <p:cNvSpPr/>
          <p:nvPr/>
        </p:nvSpPr>
        <p:spPr>
          <a:xfrm>
            <a:off x="42926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6" name="Rectangle: Rounded Corners 25">
            <a:extLst>
              <a:ext uri="{FF2B5EF4-FFF2-40B4-BE49-F238E27FC236}">
                <a16:creationId xmlns:a16="http://schemas.microsoft.com/office/drawing/2014/main" id="{165BF4D5-F018-F1F2-FED1-776688D106F4}"/>
              </a:ext>
            </a:extLst>
          </p:cNvPr>
          <p:cNvSpPr/>
          <p:nvPr/>
        </p:nvSpPr>
        <p:spPr>
          <a:xfrm>
            <a:off x="81280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7" name="Rectangle: Rounded Corners 26">
            <a:extLst>
              <a:ext uri="{FF2B5EF4-FFF2-40B4-BE49-F238E27FC236}">
                <a16:creationId xmlns:a16="http://schemas.microsoft.com/office/drawing/2014/main" id="{87B15491-75D8-05EF-CF63-0A9C894FF1BC}"/>
              </a:ext>
            </a:extLst>
          </p:cNvPr>
          <p:cNvSpPr/>
          <p:nvPr/>
        </p:nvSpPr>
        <p:spPr>
          <a:xfrm>
            <a:off x="457200" y="4127500"/>
            <a:ext cx="11303000" cy="2222500"/>
          </a:xfrm>
          <a:prstGeom prst="roundRect">
            <a:avLst/>
          </a:prstGeom>
          <a:solidFill>
            <a:srgbClr val="FFFFFF"/>
          </a:solidFill>
          <a:ln w="12700">
            <a:solidFill>
              <a:srgbClr val="0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8" name="TextBox 27">
            <a:extLst>
              <a:ext uri="{FF2B5EF4-FFF2-40B4-BE49-F238E27FC236}">
                <a16:creationId xmlns:a16="http://schemas.microsoft.com/office/drawing/2014/main" id="{0DC6CFA9-0344-FB40-2334-7CF54CCFE2A2}"/>
              </a:ext>
            </a:extLst>
          </p:cNvPr>
          <p:cNvSpPr txBox="1"/>
          <p:nvPr/>
        </p:nvSpPr>
        <p:spPr>
          <a:xfrm>
            <a:off x="6604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1 · Better plan?</a:t>
            </a:r>
          </a:p>
        </p:txBody>
      </p:sp>
      <p:sp>
        <p:nvSpPr>
          <p:cNvPr id="29" name="TextBox 28">
            <a:extLst>
              <a:ext uri="{FF2B5EF4-FFF2-40B4-BE49-F238E27FC236}">
                <a16:creationId xmlns:a16="http://schemas.microsoft.com/office/drawing/2014/main" id="{72713E3B-DE73-3B19-9B0C-92EAF6752314}"/>
              </a:ext>
            </a:extLst>
          </p:cNvPr>
          <p:cNvSpPr txBox="1"/>
          <p:nvPr/>
        </p:nvSpPr>
        <p:spPr>
          <a:xfrm>
            <a:off x="660400" y="1752599"/>
            <a:ext cx="3238500" cy="784830"/>
          </a:xfrm>
          <a:prstGeom prst="rect">
            <a:avLst/>
          </a:prstGeom>
          <a:noFill/>
        </p:spPr>
        <p:txBody>
          <a:bodyPr vert="horz" rtlCol="0">
            <a:spAutoFit/>
          </a:bodyPr>
          <a:lstStyle/>
          <a:p>
            <a:r>
              <a:rPr lang="en-US" sz="1500">
                <a:solidFill>
                  <a:srgbClr val="1A1A1A"/>
                </a:solidFill>
                <a:latin typeface="Calibri" panose="020F0502020204030204" pitchFamily="34" charset="0"/>
              </a:rPr>
              <a:t>If the new schedule improves worst-day availability, keep it. That always comes first.</a:t>
            </a:r>
            <a:endParaRPr lang="en-AU" sz="1500">
              <a:solidFill>
                <a:srgbClr val="1A1A1A"/>
              </a:solidFill>
              <a:latin typeface="Calibri" panose="020F0502020204030204" pitchFamily="34" charset="0"/>
            </a:endParaRPr>
          </a:p>
        </p:txBody>
      </p:sp>
      <p:sp>
        <p:nvSpPr>
          <p:cNvPr id="30" name="TextBox 29">
            <a:extLst>
              <a:ext uri="{FF2B5EF4-FFF2-40B4-BE49-F238E27FC236}">
                <a16:creationId xmlns:a16="http://schemas.microsoft.com/office/drawing/2014/main" id="{A8447509-304A-2E89-073C-5DF9C6190F67}"/>
              </a:ext>
            </a:extLst>
          </p:cNvPr>
          <p:cNvSpPr txBox="1"/>
          <p:nvPr/>
        </p:nvSpPr>
        <p:spPr>
          <a:xfrm>
            <a:off x="44958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2 · Worse worst-day?</a:t>
            </a:r>
          </a:p>
        </p:txBody>
      </p:sp>
      <p:sp>
        <p:nvSpPr>
          <p:cNvPr id="31" name="TextBox 30">
            <a:extLst>
              <a:ext uri="{FF2B5EF4-FFF2-40B4-BE49-F238E27FC236}">
                <a16:creationId xmlns:a16="http://schemas.microsoft.com/office/drawing/2014/main" id="{63502A3C-4E28-97BB-30C1-1BE281D678A4}"/>
              </a:ext>
            </a:extLst>
          </p:cNvPr>
          <p:cNvSpPr txBox="1"/>
          <p:nvPr/>
        </p:nvSpPr>
        <p:spPr>
          <a:xfrm>
            <a:off x="4495800" y="1752599"/>
            <a:ext cx="3238500" cy="784830"/>
          </a:xfrm>
          <a:prstGeom prst="rect">
            <a:avLst/>
          </a:prstGeom>
          <a:noFill/>
        </p:spPr>
        <p:txBody>
          <a:bodyPr vert="horz" rtlCol="0">
            <a:spAutoFit/>
          </a:bodyPr>
          <a:lstStyle/>
          <a:p>
            <a:r>
              <a:rPr lang="en-US" sz="1500" dirty="0">
                <a:solidFill>
                  <a:srgbClr val="1A1A1A"/>
                </a:solidFill>
                <a:latin typeface="Calibri" panose="020F0502020204030204" pitchFamily="34" charset="0"/>
              </a:rPr>
              <a:t>If it lowers the minimum availability, reject it. Do not accept a “smoother” plan that makes the busiest day worse.</a:t>
            </a:r>
            <a:endParaRPr lang="en-AU" sz="1500" dirty="0">
              <a:solidFill>
                <a:srgbClr val="1A1A1A"/>
              </a:solidFill>
              <a:latin typeface="Calibri" panose="020F0502020204030204" pitchFamily="34" charset="0"/>
            </a:endParaRPr>
          </a:p>
        </p:txBody>
      </p:sp>
      <p:sp>
        <p:nvSpPr>
          <p:cNvPr id="32" name="TextBox 31">
            <a:extLst>
              <a:ext uri="{FF2B5EF4-FFF2-40B4-BE49-F238E27FC236}">
                <a16:creationId xmlns:a16="http://schemas.microsoft.com/office/drawing/2014/main" id="{D0FA4110-8A91-FE3B-1AC9-B9F49D2EC052}"/>
              </a:ext>
            </a:extLst>
          </p:cNvPr>
          <p:cNvSpPr txBox="1"/>
          <p:nvPr/>
        </p:nvSpPr>
        <p:spPr>
          <a:xfrm>
            <a:off x="8331200" y="1295400"/>
            <a:ext cx="3238500" cy="369332"/>
          </a:xfrm>
          <a:prstGeom prst="rect">
            <a:avLst/>
          </a:prstGeom>
          <a:noFill/>
        </p:spPr>
        <p:txBody>
          <a:bodyPr vert="horz" rtlCol="0">
            <a:spAutoFit/>
          </a:bodyPr>
          <a:lstStyle/>
          <a:p>
            <a:r>
              <a:rPr lang="en-AU" b="1" dirty="0">
                <a:solidFill>
                  <a:srgbClr val="000000"/>
                </a:solidFill>
                <a:latin typeface="Calibri" panose="020F0502020204030204" pitchFamily="34" charset="0"/>
              </a:rPr>
              <a:t>3 · Same floor?</a:t>
            </a:r>
          </a:p>
        </p:txBody>
      </p:sp>
      <p:sp>
        <p:nvSpPr>
          <p:cNvPr id="33" name="TextBox 32">
            <a:extLst>
              <a:ext uri="{FF2B5EF4-FFF2-40B4-BE49-F238E27FC236}">
                <a16:creationId xmlns:a16="http://schemas.microsoft.com/office/drawing/2014/main" id="{4DE97C71-71AF-5B1C-3687-833E5F5AACDD}"/>
              </a:ext>
            </a:extLst>
          </p:cNvPr>
          <p:cNvSpPr txBox="1"/>
          <p:nvPr/>
        </p:nvSpPr>
        <p:spPr>
          <a:xfrm>
            <a:off x="8331200" y="1752600"/>
            <a:ext cx="3238500" cy="1015663"/>
          </a:xfrm>
          <a:prstGeom prst="rect">
            <a:avLst/>
          </a:prstGeom>
          <a:noFill/>
        </p:spPr>
        <p:txBody>
          <a:bodyPr vert="horz" rtlCol="0">
            <a:spAutoFit/>
          </a:bodyPr>
          <a:lstStyle/>
          <a:p>
            <a:r>
              <a:rPr lang="en-US" sz="1500" dirty="0">
                <a:solidFill>
                  <a:srgbClr val="1A1A1A"/>
                </a:solidFill>
                <a:latin typeface="Calibri" panose="020F0502020204030204" pitchFamily="34" charset="0"/>
              </a:rPr>
              <a:t>If the worst day is unchanged, but the plan is bumpier or lower on average, allow it sometimes early, less often as the search cools.</a:t>
            </a:r>
            <a:endParaRPr lang="en-AU" sz="1500" dirty="0">
              <a:solidFill>
                <a:srgbClr val="1A1A1A"/>
              </a:solidFill>
              <a:latin typeface="Calibri" panose="020F0502020204030204" pitchFamily="34" charset="0"/>
            </a:endParaRPr>
          </a:p>
        </p:txBody>
      </p:sp>
      <p:sp>
        <p:nvSpPr>
          <p:cNvPr id="34" name="TextBox 33">
            <a:extLst>
              <a:ext uri="{FF2B5EF4-FFF2-40B4-BE49-F238E27FC236}">
                <a16:creationId xmlns:a16="http://schemas.microsoft.com/office/drawing/2014/main" id="{F0CD6319-A1F3-3BBF-0E99-55774EAFF1EC}"/>
              </a:ext>
            </a:extLst>
          </p:cNvPr>
          <p:cNvSpPr txBox="1"/>
          <p:nvPr/>
        </p:nvSpPr>
        <p:spPr>
          <a:xfrm>
            <a:off x="698500" y="4292600"/>
            <a:ext cx="10795000" cy="369332"/>
          </a:xfrm>
          <a:prstGeom prst="rect">
            <a:avLst/>
          </a:prstGeom>
          <a:noFill/>
        </p:spPr>
        <p:txBody>
          <a:bodyPr vert="horz" rtlCol="0">
            <a:spAutoFit/>
          </a:bodyPr>
          <a:lstStyle/>
          <a:p>
            <a:r>
              <a:rPr lang="en-US" b="1">
                <a:solidFill>
                  <a:srgbClr val="000000"/>
                </a:solidFill>
                <a:latin typeface="Calibri" panose="020F0502020204030204" pitchFamily="34" charset="0"/>
              </a:rPr>
              <a:t>What we report, and how we test</a:t>
            </a:r>
            <a:endParaRPr lang="en-AU" b="1">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AFFC559B-5CFD-2504-02D3-C586E044DEB6}"/>
              </a:ext>
            </a:extLst>
          </p:cNvPr>
          <p:cNvSpPr txBox="1"/>
          <p:nvPr/>
        </p:nvSpPr>
        <p:spPr>
          <a:xfrm>
            <a:off x="698500" y="4724399"/>
            <a:ext cx="10795000" cy="584775"/>
          </a:xfrm>
          <a:prstGeom prst="rect">
            <a:avLst/>
          </a:prstGeom>
          <a:noFill/>
        </p:spPr>
        <p:txBody>
          <a:bodyPr vert="horz" rtlCol="0">
            <a:spAutoFit/>
          </a:bodyPr>
          <a:lstStyle/>
          <a:p>
            <a:r>
              <a:rPr lang="en-US" sz="1600" dirty="0">
                <a:solidFill>
                  <a:srgbClr val="1A1A1A"/>
                </a:solidFill>
                <a:latin typeface="Calibri" panose="020F0502020204030204" pitchFamily="34" charset="0"/>
              </a:rPr>
              <a:t>Because annealing is random, run the full search 3 times and report the typical result. Current priority selection NS method needs one run, do not compare the best of three with one baseline run.</a:t>
            </a:r>
            <a:endParaRPr lang="en-AU" sz="1600" dirty="0">
              <a:solidFill>
                <a:srgbClr val="1A1A1A"/>
              </a:solidFill>
              <a:latin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COMPARISON</a:t>
            </a:r>
            <a:endParaRPr sz="1700" b="1">
              <a:solidFill>
                <a:srgbClr val="000000"/>
              </a:solidFill>
              <a:latin typeface="Calibri"/>
            </a:endParaRP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US" sz="4000" b="1">
                <a:solidFill>
                  <a:srgbClr val="000000"/>
                </a:solidFill>
                <a:latin typeface="Calibri"/>
              </a:rPr>
              <a:t>Basin-hopping did not clear the keep rule</a:t>
            </a:r>
            <a:endParaRPr sz="40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lang="en-AU" sz="1700" b="1">
                <a:solidFill>
                  <a:srgbClr val="000000"/>
                </a:solidFill>
                <a:latin typeface="Calibri"/>
              </a:rPr>
              <a:t>WORST DAY</a:t>
            </a:r>
            <a:endParaRPr sz="1700" b="1">
              <a:solidFill>
                <a:srgbClr val="000000"/>
              </a:solidFill>
              <a:latin typeface="Calibri"/>
            </a:endParaRPr>
          </a:p>
        </p:txBody>
      </p:sp>
      <p:sp>
        <p:nvSpPr>
          <p:cNvPr id="8" name="TextBox 7"/>
          <p:cNvSpPr txBox="1"/>
          <p:nvPr/>
        </p:nvSpPr>
        <p:spPr>
          <a:xfrm>
            <a:off x="658368" y="1810512"/>
            <a:ext cx="5074920" cy="1077218"/>
          </a:xfrm>
          <a:prstGeom prst="rect">
            <a:avLst/>
          </a:prstGeom>
          <a:noFill/>
        </p:spPr>
        <p:txBody>
          <a:bodyPr wrap="square">
            <a:spAutoFit/>
          </a:bodyPr>
          <a:lstStyle/>
          <a:p>
            <a:pPr algn="l"/>
            <a:r>
              <a:rPr lang="en-US" sz="3200" b="1">
                <a:solidFill>
                  <a:srgbClr val="000000"/>
                </a:solidFill>
                <a:latin typeface="Calibri"/>
              </a:rPr>
              <a:t>18 aircraft</a:t>
            </a:r>
          </a:p>
          <a:p>
            <a:pPr algn="l"/>
            <a:r>
              <a:rPr lang="en-US" sz="3200" b="1">
                <a:solidFill>
                  <a:srgbClr val="000000"/>
                </a:solidFill>
                <a:latin typeface="Calibri"/>
              </a:rPr>
              <a:t>for every method</a:t>
            </a:r>
            <a:endParaRPr sz="32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lang="en-AU" sz="1700" b="1">
                <a:solidFill>
                  <a:srgbClr val="000000"/>
                </a:solidFill>
                <a:latin typeface="Calibri"/>
              </a:rPr>
              <a:t>SPREAD</a:t>
            </a:r>
            <a:endParaRPr sz="1700" b="1">
              <a:solidFill>
                <a:srgbClr val="000000"/>
              </a:solidFill>
              <a:latin typeface="Calibri"/>
            </a:endParaRPr>
          </a:p>
        </p:txBody>
      </p:sp>
      <p:sp>
        <p:nvSpPr>
          <p:cNvPr id="11" name="TextBox 10"/>
          <p:cNvSpPr txBox="1"/>
          <p:nvPr/>
        </p:nvSpPr>
        <p:spPr>
          <a:xfrm>
            <a:off x="6373368" y="1810512"/>
            <a:ext cx="5074920" cy="1077218"/>
          </a:xfrm>
          <a:prstGeom prst="rect">
            <a:avLst/>
          </a:prstGeom>
          <a:noFill/>
        </p:spPr>
        <p:txBody>
          <a:bodyPr wrap="square">
            <a:spAutoFit/>
          </a:bodyPr>
          <a:lstStyle/>
          <a:p>
            <a:pPr algn="l"/>
            <a:r>
              <a:rPr lang="en-AU" sz="3200" b="1">
                <a:solidFill>
                  <a:srgbClr val="000000"/>
                </a:solidFill>
                <a:latin typeface="Calibri"/>
              </a:rPr>
              <a:t>1.390 vs 1.392</a:t>
            </a:r>
          </a:p>
          <a:p>
            <a:pPr algn="l"/>
            <a:r>
              <a:rPr lang="en-AU" sz="3200" b="1">
                <a:solidFill>
                  <a:srgbClr val="000000"/>
                </a:solidFill>
                <a:latin typeface="Calibri"/>
              </a:rPr>
              <a:t>bar was 0.005</a:t>
            </a:r>
            <a:endParaRPr sz="32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a:solidFill>
                  <a:srgbClr val="000000"/>
                </a:solidFill>
                <a:latin typeface="Calibri"/>
              </a:rPr>
              <a:t>Same heavy forecast. Lower spread is the smoother plan.</a:t>
            </a:r>
            <a:endParaRPr sz="2200" b="1" dirty="0">
              <a:solidFill>
                <a:srgbClr val="000000"/>
              </a:solidFill>
              <a:latin typeface="Calibri"/>
            </a:endParaRPr>
          </a:p>
        </p:txBody>
      </p:sp>
      <p:sp>
        <p:nvSpPr>
          <p:cNvPr id="14" name="TextBox 13"/>
          <p:cNvSpPr txBox="1"/>
          <p:nvPr/>
        </p:nvSpPr>
        <p:spPr>
          <a:xfrm>
            <a:off x="731520" y="3657600"/>
            <a:ext cx="10698480" cy="2554545"/>
          </a:xfrm>
          <a:prstGeom prst="rect">
            <a:avLst/>
          </a:prstGeom>
          <a:noFill/>
        </p:spPr>
        <p:txBody>
          <a:bodyPr wrap="square">
            <a:spAutoFit/>
          </a:bodyPr>
          <a:lstStyle/>
          <a:p>
            <a:pPr algn="l">
              <a:spcAft>
                <a:spcPts val="1600"/>
              </a:spcAft>
            </a:pPr>
            <a:r>
              <a:rPr lang="en-US" sz="2000" b="0">
                <a:solidFill>
                  <a:srgbClr val="1A1A1A"/>
                </a:solidFill>
                <a:latin typeface="Calibri"/>
              </a:rPr>
              <a:t>• Tuned hill-climb, one run: spread 1.392, about 116 seconds.</a:t>
            </a:r>
          </a:p>
          <a:p>
            <a:pPr algn="l">
              <a:spcAft>
                <a:spcPts val="1600"/>
              </a:spcAft>
            </a:pPr>
            <a:r>
              <a:rPr lang="en-US" sz="2000" b="0">
                <a:solidFill>
                  <a:srgbClr val="1A1A1A"/>
                </a:solidFill>
                <a:latin typeface="Calibri"/>
              </a:rPr>
              <a:t>• Basin-hopping, median of seeds 1–3: spread 1.390, about 306 seconds. Two seeds ran past five minutes.</a:t>
            </a:r>
          </a:p>
          <a:p>
            <a:pPr algn="l">
              <a:spcAft>
                <a:spcPts val="1600"/>
              </a:spcAft>
            </a:pPr>
            <a:r>
              <a:rPr lang="en-US" sz="2000" b="0">
                <a:solidFill>
                  <a:srgbClr val="1A1A1A"/>
                </a:solidFill>
                <a:latin typeface="Calibri"/>
              </a:rPr>
              <a:t>• Tightened acceptance, which keeps the worst day from falling, matched the hill-climb at 1.392.</a:t>
            </a:r>
          </a:p>
          <a:p>
            <a:pPr algn="l">
              <a:spcAft>
                <a:spcPts val="1600"/>
              </a:spcAft>
            </a:pPr>
            <a:r>
              <a:rPr lang="en-US" sz="2000" b="0">
                <a:solidFill>
                  <a:srgbClr val="1A1A1A"/>
                </a:solidFill>
                <a:latin typeface="Calibri"/>
              </a:rPr>
              <a:t>• The keep rule asked for a 0.005 smoother plan, worst day still 18, and a typical run within five minutes.</a:t>
            </a:r>
            <a:endParaRPr sz="2000" b="0" dirty="0">
              <a:solidFill>
                <a:srgbClr val="1A1A1A"/>
              </a:solidFill>
              <a:latin typeface="Calibri"/>
            </a:endParaRPr>
          </a:p>
        </p:txBody>
      </p:sp>
    </p:spTree>
    <p:extLst>
      <p:ext uri="{BB962C8B-B14F-4D97-AF65-F5344CB8AC3E}">
        <p14:creationId xmlns:p14="http://schemas.microsoft.com/office/powerpoint/2010/main" val="282928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STARTING POINT</a:t>
            </a:r>
          </a:p>
        </p:txBody>
      </p:sp>
      <p:sp>
        <p:nvSpPr>
          <p:cNvPr id="5" name="TextBox 4"/>
          <p:cNvSpPr txBox="1"/>
          <p:nvPr/>
        </p:nvSpPr>
        <p:spPr>
          <a:xfrm>
            <a:off x="457200" y="411480"/>
            <a:ext cx="11247120" cy="707886"/>
          </a:xfrm>
          <a:prstGeom prst="rect">
            <a:avLst/>
          </a:prstGeom>
          <a:noFill/>
        </p:spPr>
        <p:txBody>
          <a:bodyPr wrap="square">
            <a:spAutoFit/>
          </a:bodyPr>
          <a:lstStyle/>
          <a:p>
            <a:r>
              <a:rPr lang="en-US" sz="4000" b="1">
                <a:solidFill>
                  <a:srgbClr val="000000"/>
                </a:solidFill>
                <a:latin typeface="Calibri" panose="020F0502020204030204" pitchFamily="34" charset="0"/>
              </a:rPr>
              <a:t>Separate start effect from algorithm gain</a:t>
            </a:r>
            <a:endParaRPr sz="40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spAutoFit/>
          </a:bodyPr>
          <a:lstStyle/>
          <a:p>
            <a:r>
              <a:rPr lang="en-AU" sz="2200" b="1">
                <a:solidFill>
                  <a:srgbClr val="000000"/>
                </a:solidFill>
                <a:latin typeface="Calibri" panose="020F0502020204030204" pitchFamily="34" charset="0"/>
              </a:rPr>
              <a:t>Why the start matters</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94560"/>
            <a:ext cx="5029200" cy="1232902"/>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The search only makes local moves from the original plan.</a:t>
            </a:r>
          </a:p>
          <a:p>
            <a:pPr>
              <a:lnSpc>
                <a:spcPct val="115000"/>
              </a:lnSpc>
              <a:spcAft>
                <a:spcPts val="1200"/>
              </a:spcAft>
            </a:pPr>
            <a:r>
              <a:rPr lang="en-US" sz="1600" dirty="0">
                <a:solidFill>
                  <a:srgbClr val="1A1A1A"/>
                </a:solidFill>
                <a:latin typeface="Calibri" panose="020F0502020204030204" pitchFamily="34" charset="0"/>
              </a:rPr>
              <a:t>A well-staggered start can look like a better algorithm.</a:t>
            </a:r>
          </a:p>
          <a:p>
            <a:pPr>
              <a:lnSpc>
                <a:spcPct val="115000"/>
              </a:lnSpc>
              <a:spcAft>
                <a:spcPts val="1200"/>
              </a:spcAft>
            </a:pPr>
            <a:r>
              <a:rPr lang="en-US" sz="1600" dirty="0">
                <a:solidFill>
                  <a:srgbClr val="1A1A1A"/>
                </a:solidFill>
                <a:latin typeface="Calibri" panose="020F0502020204030204" pitchFamily="34" charset="0"/>
              </a:rPr>
              <a:t>A bunched start can make a good method look weaker.</a:t>
            </a:r>
            <a:endParaRPr sz="16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spAutoFit/>
          </a:bodyPr>
          <a:lstStyle/>
          <a:p>
            <a:r>
              <a:rPr lang="en-US" sz="2200" b="1">
                <a:solidFill>
                  <a:srgbClr val="000000"/>
                </a:solidFill>
                <a:latin typeface="Calibri" panose="020F0502020204030204" pitchFamily="34" charset="0"/>
              </a:rPr>
              <a:t>What we will do</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94559"/>
            <a:ext cx="4937760" cy="2082365"/>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Build a few controlled starts: bunched, as-loaded, and more spread out.</a:t>
            </a:r>
          </a:p>
          <a:p>
            <a:pPr>
              <a:lnSpc>
                <a:spcPct val="115000"/>
              </a:lnSpc>
              <a:spcAft>
                <a:spcPts val="1200"/>
              </a:spcAft>
            </a:pPr>
            <a:r>
              <a:rPr lang="en-US" sz="1600" dirty="0">
                <a:solidFill>
                  <a:srgbClr val="1A1A1A"/>
                </a:solidFill>
                <a:latin typeface="Calibri" panose="020F0502020204030204" pitchFamily="34" charset="0"/>
              </a:rPr>
              <a:t>Run current method and annealing from each of those same starts.</a:t>
            </a:r>
          </a:p>
          <a:p>
            <a:pPr>
              <a:lnSpc>
                <a:spcPct val="115000"/>
              </a:lnSpc>
              <a:spcAft>
                <a:spcPts val="1200"/>
              </a:spcAft>
            </a:pPr>
            <a:r>
              <a:rPr lang="en-US" sz="1600" dirty="0">
                <a:solidFill>
                  <a:srgbClr val="1A1A1A"/>
                </a:solidFill>
                <a:latin typeface="Calibri" panose="020F0502020204030204" pitchFamily="34" charset="0"/>
              </a:rPr>
              <a:t>Document how much the initial stagger impacts the optimisation.</a:t>
            </a: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spAutoFit/>
          </a:bodyPr>
          <a:lstStyle/>
          <a:p>
            <a:r>
              <a:rPr lang="en-US" sz="2000" b="1" dirty="0">
                <a:solidFill>
                  <a:srgbClr val="000000"/>
                </a:solidFill>
                <a:latin typeface="Calibri" panose="020F0502020204030204" pitchFamily="34" charset="0"/>
              </a:rPr>
              <a:t>Priority targeting does not cancel this.</a:t>
            </a:r>
            <a:endParaRPr lang="en-AU" sz="2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15000"/>
            <a:ext cx="10668000" cy="584775"/>
          </a:xfrm>
          <a:prstGeom prst="rect">
            <a:avLst/>
          </a:prstGeom>
          <a:noFill/>
        </p:spPr>
        <p:txBody>
          <a:bodyPr vert="horz" rtlCol="0">
            <a:spAutoFit/>
          </a:bodyPr>
          <a:lstStyle/>
          <a:p>
            <a:r>
              <a:rPr lang="en-US" sz="1600" dirty="0">
                <a:solidFill>
                  <a:srgbClr val="1A1A1A"/>
                </a:solidFill>
                <a:latin typeface="+mj-lt"/>
              </a:rPr>
              <a:t>It only chooses which events to try first. </a:t>
            </a:r>
            <a:r>
              <a:rPr lang="en-AU" sz="1600" dirty="0">
                <a:latin typeface="+mj-lt"/>
              </a:rPr>
              <a:t>Days that are not the current worst days keep the original stagger, so a good start can still do some of the work.</a:t>
            </a:r>
            <a:endParaRPr lang="en-AU" sz="1600" dirty="0">
              <a:solidFill>
                <a:srgbClr val="1A1A1A"/>
              </a:solidFill>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OPENING STAGGER</a:t>
            </a:r>
            <a:endParaRPr sz="1700" b="1">
              <a:solidFill>
                <a:srgbClr val="000000"/>
              </a:solidFill>
              <a:latin typeface="Calibri"/>
            </a:endParaRP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US" sz="4000" b="1">
                <a:solidFill>
                  <a:srgbClr val="000000"/>
                </a:solidFill>
                <a:latin typeface="Calibri"/>
              </a:rPr>
              <a:t>The as-loaded opening still finishes smoothest</a:t>
            </a:r>
            <a:endParaRPr sz="40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lang="en-AU" sz="1700" b="1">
                <a:solidFill>
                  <a:srgbClr val="000000"/>
                </a:solidFill>
                <a:latin typeface="Calibri"/>
              </a:rPr>
              <a:t>AS LOADED</a:t>
            </a:r>
            <a:endParaRPr sz="1700" b="1">
              <a:solidFill>
                <a:srgbClr val="000000"/>
              </a:solidFill>
              <a:latin typeface="Calibri"/>
            </a:endParaRPr>
          </a:p>
        </p:txBody>
      </p:sp>
      <p:sp>
        <p:nvSpPr>
          <p:cNvPr id="8" name="TextBox 7"/>
          <p:cNvSpPr txBox="1"/>
          <p:nvPr/>
        </p:nvSpPr>
        <p:spPr>
          <a:xfrm>
            <a:off x="658368" y="1810512"/>
            <a:ext cx="5074920" cy="1077218"/>
          </a:xfrm>
          <a:prstGeom prst="rect">
            <a:avLst/>
          </a:prstGeom>
          <a:noFill/>
        </p:spPr>
        <p:txBody>
          <a:bodyPr wrap="square">
            <a:spAutoFit/>
          </a:bodyPr>
          <a:lstStyle/>
          <a:p>
            <a:pPr algn="l"/>
            <a:r>
              <a:rPr lang="en-US" sz="3200" b="1">
                <a:solidFill>
                  <a:srgbClr val="000000"/>
                </a:solidFill>
                <a:latin typeface="Calibri"/>
              </a:rPr>
              <a:t>Spread 1.392</a:t>
            </a:r>
          </a:p>
          <a:p>
            <a:pPr algn="l"/>
            <a:r>
              <a:rPr lang="en-US" sz="3200" b="1">
                <a:solidFill>
                  <a:srgbClr val="000000"/>
                </a:solidFill>
                <a:latin typeface="Calibri"/>
              </a:rPr>
              <a:t>in 63 seconds</a:t>
            </a:r>
            <a:endParaRPr sz="32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lang="en-AU" sz="1700" b="1">
                <a:solidFill>
                  <a:srgbClr val="000000"/>
                </a:solidFill>
                <a:latin typeface="Calibri"/>
              </a:rPr>
              <a:t>BUNCHED</a:t>
            </a:r>
            <a:endParaRPr sz="1700" b="1">
              <a:solidFill>
                <a:srgbClr val="000000"/>
              </a:solidFill>
              <a:latin typeface="Calibri"/>
            </a:endParaRPr>
          </a:p>
        </p:txBody>
      </p:sp>
      <p:sp>
        <p:nvSpPr>
          <p:cNvPr id="11" name="TextBox 10"/>
          <p:cNvSpPr txBox="1"/>
          <p:nvPr/>
        </p:nvSpPr>
        <p:spPr>
          <a:xfrm>
            <a:off x="6373368" y="1810512"/>
            <a:ext cx="5074920" cy="1077218"/>
          </a:xfrm>
          <a:prstGeom prst="rect">
            <a:avLst/>
          </a:prstGeom>
          <a:noFill/>
        </p:spPr>
        <p:txBody>
          <a:bodyPr wrap="square">
            <a:spAutoFit/>
          </a:bodyPr>
          <a:lstStyle/>
          <a:p>
            <a:pPr algn="l"/>
            <a:r>
              <a:rPr lang="en-US" sz="3200" b="1">
                <a:solidFill>
                  <a:srgbClr val="000000"/>
                </a:solidFill>
                <a:latin typeface="Calibri"/>
              </a:rPr>
              <a:t>Spread 1.405</a:t>
            </a:r>
          </a:p>
          <a:p>
            <a:pPr algn="l"/>
            <a:r>
              <a:rPr lang="en-US" sz="3200" b="1">
                <a:solidFill>
                  <a:srgbClr val="000000"/>
                </a:solidFill>
                <a:latin typeface="Calibri"/>
              </a:rPr>
              <a:t>in 48 seconds</a:t>
            </a:r>
            <a:endParaRPr sz="32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a:solidFill>
                  <a:srgbClr val="000000"/>
                </a:solidFill>
                <a:latin typeface="Calibri"/>
              </a:rPr>
              <a:t>Every opening starts at a worst day of 15 and finishes at 18</a:t>
            </a:r>
            <a:endParaRPr sz="2200" b="1" dirty="0">
              <a:solidFill>
                <a:srgbClr val="000000"/>
              </a:solidFill>
              <a:latin typeface="Calibri"/>
            </a:endParaRPr>
          </a:p>
        </p:txBody>
      </p:sp>
      <p:sp>
        <p:nvSpPr>
          <p:cNvPr id="14" name="TextBox 13"/>
          <p:cNvSpPr txBox="1"/>
          <p:nvPr/>
        </p:nvSpPr>
        <p:spPr>
          <a:xfrm>
            <a:off x="731520" y="3657600"/>
            <a:ext cx="10698480" cy="2246769"/>
          </a:xfrm>
          <a:prstGeom prst="rect">
            <a:avLst/>
          </a:prstGeom>
          <a:noFill/>
        </p:spPr>
        <p:txBody>
          <a:bodyPr wrap="square">
            <a:spAutoFit/>
          </a:bodyPr>
          <a:lstStyle/>
          <a:p>
            <a:pPr algn="l">
              <a:spcAft>
                <a:spcPts val="1600"/>
              </a:spcAft>
            </a:pPr>
            <a:r>
              <a:rPr lang="en-US" sz="2000" b="0">
                <a:solidFill>
                  <a:srgbClr val="1A1A1A"/>
                </a:solidFill>
                <a:latin typeface="Calibri"/>
              </a:rPr>
              <a:t>• Spread opening: finished spread 1.417, in 93 seconds.</a:t>
            </a:r>
          </a:p>
          <a:p>
            <a:pPr algn="l">
              <a:spcAft>
                <a:spcPts val="1600"/>
              </a:spcAft>
            </a:pPr>
            <a:r>
              <a:rPr lang="en-US" sz="2000" b="0">
                <a:solidFill>
                  <a:srgbClr val="1A1A1A"/>
                </a:solidFill>
                <a:latin typeface="Calibri"/>
              </a:rPr>
              <a:t>• Figures are the tuned hill-climb. Basin-hopping was about 0.001 to 0.003 smoother on each opening, and slower.</a:t>
            </a:r>
          </a:p>
          <a:p>
            <a:pPr algn="l">
              <a:spcAft>
                <a:spcPts val="1600"/>
              </a:spcAft>
            </a:pPr>
            <a:r>
              <a:rPr lang="en-US" sz="2000" b="0">
                <a:solidFill>
                  <a:srgbClr val="1A1A1A"/>
                </a:solidFill>
                <a:latin typeface="Calibri"/>
              </a:rPr>
              <a:t>• Bunching or spreading the first checks leaves a bumpier finished plan.</a:t>
            </a:r>
          </a:p>
          <a:p>
            <a:pPr algn="l">
              <a:spcAft>
                <a:spcPts val="1600"/>
              </a:spcAft>
            </a:pPr>
            <a:r>
              <a:rPr lang="en-US" sz="2000" b="0">
                <a:solidFill>
                  <a:srgbClr val="1A1A1A"/>
                </a:solidFill>
                <a:latin typeface="Calibri"/>
              </a:rPr>
              <a:t>• The as-loaded forecast remains the start we keep.</a:t>
            </a:r>
            <a:endParaRPr sz="2000" b="0" dirty="0">
              <a:solidFill>
                <a:srgbClr val="1A1A1A"/>
              </a:solidFill>
              <a:latin typeface="Calibri"/>
            </a:endParaRPr>
          </a:p>
        </p:txBody>
      </p:sp>
    </p:spTree>
    <p:extLst>
      <p:ext uri="{BB962C8B-B14F-4D97-AF65-F5344CB8AC3E}">
        <p14:creationId xmlns:p14="http://schemas.microsoft.com/office/powerpoint/2010/main" val="2975520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DECISION CRITERIA</a:t>
            </a: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a:solidFill>
                  <a:srgbClr val="000000"/>
                </a:solidFill>
                <a:latin typeface="Calibri" panose="020F0502020204030204" pitchFamily="34" charset="0"/>
              </a:rPr>
              <a:t>What we will keep, and when we stop</a:t>
            </a:r>
            <a:endParaRPr sz="26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Keep it if:</a:t>
            </a:r>
            <a:endParaRPr sz="2200" b="1" dirty="0">
              <a:solidFill>
                <a:srgbClr val="000000"/>
              </a:solidFill>
              <a:latin typeface="Calibri" panose="020F0502020204030204" pitchFamily="34" charset="0"/>
            </a:endParaRPr>
          </a:p>
        </p:txBody>
      </p:sp>
      <p:sp>
        <p:nvSpPr>
          <p:cNvPr id="8" name="TextBox 7"/>
          <p:cNvSpPr txBox="1"/>
          <p:nvPr/>
        </p:nvSpPr>
        <p:spPr>
          <a:xfrm>
            <a:off x="731520" y="2194559"/>
            <a:ext cx="5029200" cy="3046988"/>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Worst-day availability must be as good as current algorithm.</a:t>
            </a:r>
          </a:p>
          <a:p>
            <a:pPr algn="l">
              <a:spcAft>
                <a:spcPts val="3200"/>
              </a:spcAft>
            </a:pPr>
            <a:r>
              <a:rPr lang="en-US" sz="1600" dirty="0">
                <a:solidFill>
                  <a:srgbClr val="1A1A1A"/>
                </a:solidFill>
                <a:latin typeface="Calibri" panose="020F0502020204030204" pitchFamily="34" charset="0"/>
              </a:rPr>
              <a:t>Runtime does not increase too much.</a:t>
            </a:r>
          </a:p>
          <a:p>
            <a:pPr algn="l">
              <a:spcAft>
                <a:spcPts val="3200"/>
              </a:spcAft>
            </a:pPr>
            <a:r>
              <a:rPr lang="en-US" sz="1600" dirty="0">
                <a:solidFill>
                  <a:srgbClr val="1A1A1A"/>
                </a:solidFill>
                <a:latin typeface="Calibri" panose="020F0502020204030204" pitchFamily="34" charset="0"/>
              </a:rPr>
              <a:t>New operational rules still produce legal, usable schedules.</a:t>
            </a:r>
          </a:p>
          <a:p>
            <a:pPr algn="l">
              <a:spcAft>
                <a:spcPts val="3200"/>
              </a:spcAft>
            </a:pPr>
            <a:r>
              <a:rPr lang="en-US" sz="1600" dirty="0">
                <a:solidFill>
                  <a:srgbClr val="1A1A1A"/>
                </a:solidFill>
                <a:latin typeface="Calibri" panose="020F0502020204030204" pitchFamily="34" charset="0"/>
              </a:rPr>
              <a:t>The gain is from the method, not a luckier start or a luckier seed.</a:t>
            </a:r>
            <a:endParaRPr sz="16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Drop it if:</a:t>
            </a:r>
            <a:endParaRPr sz="2200" b="1" dirty="0">
              <a:solidFill>
                <a:srgbClr val="000000"/>
              </a:solidFill>
              <a:latin typeface="Calibri" panose="020F0502020204030204" pitchFamily="34" charset="0"/>
            </a:endParaRPr>
          </a:p>
        </p:txBody>
      </p:sp>
      <p:sp>
        <p:nvSpPr>
          <p:cNvPr id="11" name="TextBox 10"/>
          <p:cNvSpPr txBox="1"/>
          <p:nvPr/>
        </p:nvSpPr>
        <p:spPr>
          <a:xfrm>
            <a:off x="6492240" y="2194559"/>
            <a:ext cx="4937760" cy="2144177"/>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Annealing does not beat the current method, and we  will keep the current method.</a:t>
            </a:r>
          </a:p>
          <a:p>
            <a:pPr algn="l">
              <a:spcAft>
                <a:spcPts val="3200"/>
              </a:spcAft>
            </a:pPr>
            <a:r>
              <a:rPr lang="en-US" sz="1600" dirty="0">
                <a:solidFill>
                  <a:srgbClr val="1A1A1A"/>
                </a:solidFill>
                <a:latin typeface="Calibri" panose="020F0502020204030204" pitchFamily="34" charset="0"/>
              </a:rPr>
              <a:t>Worse moves start hurting the minimum availability,  we tighten the acceptance rule.</a:t>
            </a:r>
          </a:p>
          <a:p>
            <a:pPr algn="l">
              <a:spcAft>
                <a:spcPts val="3200"/>
              </a:spcAft>
            </a:pPr>
            <a:r>
              <a:rPr lang="en-US" sz="1600" dirty="0">
                <a:solidFill>
                  <a:srgbClr val="1A1A1A"/>
                </a:solidFill>
                <a:latin typeface="Calibri" panose="020F0502020204030204" pitchFamily="34" charset="0"/>
              </a:rPr>
              <a:t>New constraints break feasibility.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WHAT WE KEEP</a:t>
            </a:r>
            <a:endParaRPr sz="1700" b="1">
              <a:solidFill>
                <a:srgbClr val="000000"/>
              </a:solidFill>
              <a:latin typeface="Calibri"/>
            </a:endParaRP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US" sz="4000" b="1">
                <a:solidFill>
                  <a:srgbClr val="000000"/>
                </a:solidFill>
                <a:latin typeface="Calibri"/>
              </a:rPr>
              <a:t>The tuned hill-climb is the method we take forward</a:t>
            </a:r>
            <a:endParaRPr sz="40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lang="en-AU" sz="1700" b="1">
                <a:solidFill>
                  <a:srgbClr val="000000"/>
                </a:solidFill>
                <a:latin typeface="Calibri"/>
              </a:rPr>
              <a:t>KEEP</a:t>
            </a:r>
            <a:endParaRPr sz="1700" b="1">
              <a:solidFill>
                <a:srgbClr val="000000"/>
              </a:solidFill>
              <a:latin typeface="Calibri"/>
            </a:endParaRPr>
          </a:p>
        </p:txBody>
      </p:sp>
      <p:sp>
        <p:nvSpPr>
          <p:cNvPr id="8" name="TextBox 7"/>
          <p:cNvSpPr txBox="1"/>
          <p:nvPr/>
        </p:nvSpPr>
        <p:spPr>
          <a:xfrm>
            <a:off x="658368" y="1810512"/>
            <a:ext cx="5074920" cy="863600"/>
          </a:xfrm>
          <a:prstGeom prst="rect">
            <a:avLst/>
          </a:prstGeom>
          <a:noFill/>
        </p:spPr>
        <p:txBody>
          <a:bodyPr wrap="square">
            <a:spAutoFit/>
          </a:bodyPr>
          <a:lstStyle/>
          <a:p>
            <a:pPr algn="l"/>
            <a:r>
              <a:rPr lang="en-US" sz="3200" b="1">
                <a:solidFill>
                  <a:srgbClr val="000000"/>
                </a:solidFill>
                <a:latin typeface="Calibri"/>
              </a:rPr>
              <a:t>Hill-climb</a:t>
            </a:r>
          </a:p>
          <a:p>
            <a:pPr algn="l"/>
            <a:r>
              <a:rPr lang="en-US" sz="3200" b="1">
                <a:solidFill>
                  <a:srgbClr val="000000"/>
                </a:solidFill>
                <a:latin typeface="Calibri"/>
              </a:rPr>
              <a:t>As-loaded start</a:t>
            </a:r>
            <a:endParaRPr sz="32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lang="en-AU" sz="1700" b="1">
                <a:solidFill>
                  <a:srgbClr val="000000"/>
                </a:solidFill>
                <a:latin typeface="Calibri"/>
              </a:rPr>
              <a:t>SET ASIDE</a:t>
            </a:r>
            <a:endParaRPr sz="1700" b="1">
              <a:solidFill>
                <a:srgbClr val="000000"/>
              </a:solidFill>
              <a:latin typeface="Calibri"/>
            </a:endParaRPr>
          </a:p>
        </p:txBody>
      </p:sp>
      <p:sp>
        <p:nvSpPr>
          <p:cNvPr id="11" name="TextBox 10"/>
          <p:cNvSpPr txBox="1"/>
          <p:nvPr/>
        </p:nvSpPr>
        <p:spPr>
          <a:xfrm>
            <a:off x="6373368" y="1810512"/>
            <a:ext cx="5074920" cy="863600"/>
          </a:xfrm>
          <a:prstGeom prst="rect">
            <a:avLst/>
          </a:prstGeom>
          <a:noFill/>
        </p:spPr>
        <p:txBody>
          <a:bodyPr wrap="square">
            <a:spAutoFit/>
          </a:bodyPr>
          <a:lstStyle/>
          <a:p>
            <a:pPr algn="l"/>
            <a:r>
              <a:rPr lang="en-US" sz="3200" b="1">
                <a:solidFill>
                  <a:srgbClr val="000000"/>
                </a:solidFill>
                <a:latin typeface="Calibri"/>
              </a:rPr>
              <a:t>Basin-hopping</a:t>
            </a:r>
          </a:p>
          <a:p>
            <a:pPr algn="l"/>
            <a:r>
              <a:rPr lang="en-US" sz="3200" b="1">
                <a:solidFill>
                  <a:srgbClr val="000000"/>
                </a:solidFill>
                <a:latin typeface="Calibri"/>
              </a:rPr>
              <a:t>Gain of 0.001</a:t>
            </a:r>
            <a:endParaRPr sz="32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a:solidFill>
                  <a:srgbClr val="000000"/>
                </a:solidFill>
                <a:latin typeface="Calibri"/>
              </a:rPr>
              <a:t>In short</a:t>
            </a:r>
            <a:endParaRPr sz="2200" b="1" dirty="0">
              <a:solidFill>
                <a:srgbClr val="000000"/>
              </a:solidFill>
              <a:latin typeface="Calibri"/>
            </a:endParaRPr>
          </a:p>
        </p:txBody>
      </p:sp>
      <p:sp>
        <p:nvSpPr>
          <p:cNvPr id="14" name="TextBox 13"/>
          <p:cNvSpPr txBox="1"/>
          <p:nvPr/>
        </p:nvSpPr>
        <p:spPr>
          <a:xfrm>
            <a:off x="731520" y="3657600"/>
            <a:ext cx="10698480" cy="2032000"/>
          </a:xfrm>
          <a:prstGeom prst="rect">
            <a:avLst/>
          </a:prstGeom>
          <a:noFill/>
        </p:spPr>
        <p:txBody>
          <a:bodyPr wrap="square">
            <a:spAutoFit/>
          </a:bodyPr>
          <a:lstStyle/>
          <a:p>
            <a:pPr algn="l">
              <a:spcAft>
                <a:spcPts val="1600"/>
              </a:spcAft>
            </a:pPr>
            <a:r>
              <a:rPr lang="en-US" sz="2000" b="0">
                <a:solidFill>
                  <a:srgbClr val="1A1A1A"/>
                </a:solidFill>
                <a:latin typeface="Calibri"/>
              </a:rPr>
              <a:t>• Priority search, rebuild after each move, and accept an improving plan only.</a:t>
            </a:r>
          </a:p>
          <a:p>
            <a:pPr algn="l">
              <a:spcAft>
                <a:spcPts val="1600"/>
              </a:spcAft>
            </a:pPr>
            <a:r>
              <a:rPr lang="en-US" sz="2000" b="0">
                <a:solidFill>
                  <a:srgbClr val="1A1A1A"/>
                </a:solidFill>
                <a:latin typeface="Calibri"/>
              </a:rPr>
              <a:t>• Half-step shifts are passed in. The published Iteration 1 defaults stay as they were.</a:t>
            </a:r>
          </a:p>
          <a:p>
            <a:pPr algn="l">
              <a:spcAft>
                <a:spcPts val="1600"/>
              </a:spcAft>
            </a:pPr>
            <a:r>
              <a:rPr lang="en-US" sz="2000" b="0">
                <a:solidFill>
                  <a:srgbClr val="1A1A1A"/>
                </a:solidFill>
                <a:latin typeface="Calibri"/>
              </a:rPr>
              <a:t>• The spread gain was 0.001, short of 0.005, and the typical run passed five minutes.</a:t>
            </a:r>
          </a:p>
          <a:p>
            <a:pPr algn="l">
              <a:spcAft>
                <a:spcPts val="1600"/>
              </a:spcAft>
            </a:pPr>
            <a:r>
              <a:rPr lang="en-US" sz="2000" b="0">
                <a:solidFill>
                  <a:srgbClr val="1A1A1A"/>
                </a:solidFill>
                <a:latin typeface="Calibri"/>
              </a:rPr>
              <a:t>• Tightened acceptance found the same plan as the hill-climb.</a:t>
            </a:r>
            <a:endParaRPr sz="2000" b="0" dirty="0">
              <a:solidFill>
                <a:srgbClr val="1A1A1A"/>
              </a:solidFill>
              <a:latin typeface="Calibri"/>
            </a:endParaRPr>
          </a:p>
        </p:txBody>
      </p:sp>
    </p:spTree>
    <p:extLst>
      <p:ext uri="{BB962C8B-B14F-4D97-AF65-F5344CB8AC3E}">
        <p14:creationId xmlns:p14="http://schemas.microsoft.com/office/powerpoint/2010/main" val="119599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HYPERPARAMETERS</a:t>
            </a:r>
            <a:endParaRPr sz="1700" b="1">
              <a:solidFill>
                <a:srgbClr val="000000"/>
              </a:solidFill>
              <a:latin typeface="Calibri"/>
            </a:endParaRP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AU" sz="4000" b="1">
                <a:solidFill>
                  <a:srgbClr val="000000"/>
                </a:solidFill>
                <a:latin typeface="Calibri"/>
              </a:rPr>
              <a:t>To be added.</a:t>
            </a:r>
            <a:endParaRPr sz="4000" b="1">
              <a:solidFill>
                <a:srgbClr val="000000"/>
              </a:solidFill>
              <a:latin typeface="Calibri"/>
            </a:endParaRPr>
          </a:p>
        </p:txBody>
      </p:sp>
    </p:spTree>
    <p:extLst>
      <p:ext uri="{BB962C8B-B14F-4D97-AF65-F5344CB8AC3E}">
        <p14:creationId xmlns:p14="http://schemas.microsoft.com/office/powerpoint/2010/main" val="1860422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F286-5669-8427-1D0F-CA345657D3AC}"/>
              </a:ext>
            </a:extLst>
          </p:cNvPr>
          <p:cNvSpPr>
            <a:spLocks noGrp="1"/>
          </p:cNvSpPr>
          <p:nvPr>
            <p:ph type="title"/>
          </p:nvPr>
        </p:nvSpPr>
        <p:spPr/>
        <p:txBody>
          <a:bodyPr/>
          <a:lstStyle/>
          <a:p>
            <a:r>
              <a:rPr lang="en-AU" noProof="0" dirty="0"/>
              <a:t>References</a:t>
            </a:r>
          </a:p>
        </p:txBody>
      </p:sp>
      <p:sp>
        <p:nvSpPr>
          <p:cNvPr id="3" name="Content Placeholder 2">
            <a:extLst>
              <a:ext uri="{FF2B5EF4-FFF2-40B4-BE49-F238E27FC236}">
                <a16:creationId xmlns:a16="http://schemas.microsoft.com/office/drawing/2014/main" id="{493858AE-5184-BF77-CA05-BC56957F9AE2}"/>
              </a:ext>
            </a:extLst>
          </p:cNvPr>
          <p:cNvSpPr>
            <a:spLocks noGrp="1"/>
          </p:cNvSpPr>
          <p:nvPr>
            <p:ph idx="1"/>
          </p:nvPr>
        </p:nvSpPr>
        <p:spPr/>
        <p:txBody>
          <a:bodyPr/>
          <a:lstStyle/>
          <a:p>
            <a:r>
              <a:rPr lang="en-AU" b="1" noProof="0" dirty="0">
                <a:latin typeface="Arial" panose="020B0604020202020204" pitchFamily="34" charset="0"/>
                <a:cs typeface="Arial" panose="020B0604020202020204" pitchFamily="34" charset="0"/>
              </a:rPr>
              <a:t>Pippin, Bradley W.</a:t>
            </a:r>
            <a:r>
              <a:rPr lang="en-AU" noProof="0" dirty="0">
                <a:latin typeface="Arial" panose="020B0604020202020204" pitchFamily="34" charset="0"/>
                <a:cs typeface="Arial" panose="020B0604020202020204" pitchFamily="34" charset="0"/>
              </a:rPr>
              <a:t> Allocating Flight Hours to Army Helicopters. PhD thesis, Naval Postgraduate School, 1998.</a:t>
            </a:r>
          </a:p>
          <a:p>
            <a:r>
              <a:rPr lang="en-AU" b="1" noProof="0" dirty="0">
                <a:latin typeface="Arial" panose="020B0604020202020204" pitchFamily="34" charset="0"/>
                <a:cs typeface="Arial" panose="020B0604020202020204" pitchFamily="34" charset="0"/>
              </a:rPr>
              <a:t>U.S. Army, </a:t>
            </a:r>
            <a:r>
              <a:rPr lang="en-AU" noProof="0" dirty="0">
                <a:latin typeface="Arial" panose="020B0604020202020204" pitchFamily="34" charset="0"/>
                <a:cs typeface="Arial" panose="020B0604020202020204" pitchFamily="34" charset="0"/>
              </a:rPr>
              <a:t>Black Hawk helicopter celebrates 40 years of aviation service with the Army, 2018.</a:t>
            </a:r>
          </a:p>
          <a:p>
            <a:r>
              <a:rPr lang="en-AU" b="1" noProof="0" dirty="0">
                <a:latin typeface="Arial" panose="020B0604020202020204" pitchFamily="34" charset="0"/>
                <a:cs typeface="Arial" panose="020B0604020202020204" pitchFamily="34" charset="0"/>
              </a:rPr>
              <a:t>Winata, Leonard</a:t>
            </a:r>
            <a:r>
              <a:rPr lang="en-AU" noProof="0" dirty="0">
                <a:latin typeface="Arial" panose="020B0604020202020204" pitchFamily="34" charset="0"/>
                <a:cs typeface="Arial" panose="020B0604020202020204" pitchFamily="34" charset="0"/>
              </a:rPr>
              <a:t>. Heuristic approaches for flight and maintenance planning of Large Fleets. Doctor of Philosophy Thesis, RMIT University, 2011.</a:t>
            </a:r>
          </a:p>
          <a:p>
            <a:endParaRPr lang="en-AU"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729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2452</TotalTime>
  <Words>3360</Words>
  <Application>Microsoft Office PowerPoint</Application>
  <PresentationFormat>Widescreen</PresentationFormat>
  <Paragraphs>222</Paragraphs>
  <Slides>23</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PowerPoint Presentation</vt:lpstr>
      <vt:lpstr>Why Maintenance Scheduling Matters</vt:lpstr>
      <vt:lpstr>The Problem and Bottlenecks</vt:lpstr>
      <vt:lpstr>Overview</vt:lpstr>
      <vt:lpstr>Literature Review and Method Selection</vt:lpstr>
      <vt:lpstr>Initial Dataset</vt:lpstr>
      <vt:lpstr>Best-Improvement Neighbourhood Search </vt:lpstr>
      <vt:lpstr>Extended Heavy maintenance dataset </vt:lpstr>
      <vt:lpstr>Optimised Heavy dataset using Random Sampling </vt:lpstr>
      <vt:lpstr>Optimised Heavy maintenance dataset </vt:lpstr>
      <vt:lpstr>Convergence Behaviour of Variable Neighbourhood Search</vt:lpstr>
      <vt:lpstr>Future Work and Research Direction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Long</dc:creator>
  <cp:lastModifiedBy>David Long</cp:lastModifiedBy>
  <cp:revision>1</cp:revision>
  <dcterms:created xsi:type="dcterms:W3CDTF">2026-03-18T14:25:52Z</dcterms:created>
  <dcterms:modified xsi:type="dcterms:W3CDTF">2026-10-13T22:46:35Z</dcterms:modified>
</cp:coreProperties>
</file>