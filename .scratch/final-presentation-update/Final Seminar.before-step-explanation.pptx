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9"/>
  </p:notesMasterIdLst>
  <p:sldIdLst>
    <p:sldId id="256" r:id="rId2"/>
    <p:sldId id="258" r:id="rId3"/>
    <p:sldId id="269" r:id="rId4"/>
    <p:sldId id="268" r:id="rId5"/>
    <p:sldId id="276" r:id="rId6"/>
    <p:sldId id="286" r:id="rId7"/>
    <p:sldId id="275" r:id="rId8"/>
    <p:sldId id="284" r:id="rId9"/>
    <p:sldId id="287" r:id="rId10"/>
    <p:sldId id="279" r:id="rId11"/>
    <p:sldId id="280" r:id="rId12"/>
    <p:sldId id="288" r:id="rId13"/>
    <p:sldId id="285" r:id="rId14"/>
    <p:sldId id="290" r:id="rId15"/>
    <p:sldId id="289" r:id="rId16"/>
    <p:sldId id="263" r:id="rId17"/>
    <p:sldId id="281"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FBF5219-141B-4B15-B12B-FD9888D4FAD0}" v="65" dt="2026-10-14T01:18:58.62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81307" autoAdjust="0"/>
  </p:normalViewPr>
  <p:slideViewPr>
    <p:cSldViewPr snapToGrid="0">
      <p:cViewPr varScale="1">
        <p:scale>
          <a:sx n="67" d="100"/>
          <a:sy n="67" d="100"/>
        </p:scale>
        <p:origin x="1267" y="58"/>
      </p:cViewPr>
      <p:guideLst/>
    </p:cSldViewPr>
  </p:slid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AU"/>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340086F-6501-442A-B5F5-9D09605BDEE0}" type="datetimeFigureOut">
              <a:rPr lang="en-AU" smtClean="0"/>
              <a:t>14/10/2026</a:t>
            </a:fld>
            <a:endParaRPr lang="en-AU"/>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AU"/>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1A084F6-DEB1-46CA-8A6A-74785726ECE7}" type="slidenum">
              <a:rPr lang="en-AU" smtClean="0"/>
              <a:t>‹#›</a:t>
            </a:fld>
            <a:endParaRPr lang="en-AU"/>
          </a:p>
        </p:txBody>
      </p:sp>
    </p:spTree>
    <p:extLst>
      <p:ext uri="{BB962C8B-B14F-4D97-AF65-F5344CB8AC3E}">
        <p14:creationId xmlns:p14="http://schemas.microsoft.com/office/powerpoint/2010/main" val="20914663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AU"/>
          </a:p>
        </p:txBody>
      </p:sp>
      <p:sp>
        <p:nvSpPr>
          <p:cNvPr id="3" name="Notes Placeholder 2"/>
          <p:cNvSpPr>
            <a:spLocks noGrp="1"/>
          </p:cNvSpPr>
          <p:nvPr>
            <p:ph type="body" idx="1"/>
          </p:nvPr>
        </p:nvSpPr>
        <p:spPr/>
        <p:txBody>
          <a:bodyPr/>
          <a:lstStyle/>
          <a:p>
            <a:r>
              <a:rPr lang="en-US"/>
              <a:t>Today I will present the complete journey through both iterations of the scheduling algorithm research. The goal was to improve daily aircraft availability by changing maintenance timing while preserving the maintenance rules. Iteration 1 established the objective and made the search practical. Iteration 2 tested whether a more exploratory method could improve it, investigated starting schedules, and finished a wider hyperparameter study. I will focus on the measured findings and the final recommendation. The supporting diagrams and earlier plots are available after the references for questions.</a:t>
            </a:r>
            <a:endParaRPr lang="en-AU" dirty="0"/>
          </a:p>
        </p:txBody>
      </p:sp>
      <p:sp>
        <p:nvSpPr>
          <p:cNvPr id="4" name="Slide Number Placeholder 3"/>
          <p:cNvSpPr>
            <a:spLocks noGrp="1"/>
          </p:cNvSpPr>
          <p:nvPr>
            <p:ph type="sldNum" sz="quarter" idx="5"/>
          </p:nvPr>
        </p:nvSpPr>
        <p:spPr/>
        <p:txBody>
          <a:bodyPr/>
          <a:lstStyle/>
          <a:p>
            <a:fld id="{81A084F6-DEB1-46CA-8A6A-74785726ECE7}" type="slidenum">
              <a:rPr lang="en-AU" smtClean="0"/>
              <a:t>1</a:t>
            </a:fld>
            <a:endParaRPr lang="en-AU"/>
          </a:p>
        </p:txBody>
      </p:sp>
    </p:spTree>
    <p:extLst>
      <p:ext uri="{BB962C8B-B14F-4D97-AF65-F5344CB8AC3E}">
        <p14:creationId xmlns:p14="http://schemas.microsoft.com/office/powerpoint/2010/main" val="210074049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AU"/>
          </a:p>
        </p:txBody>
      </p:sp>
      <p:sp>
        <p:nvSpPr>
          <p:cNvPr id="3" name="Notes Placeholder 2"/>
          <p:cNvSpPr>
            <a:spLocks noGrp="1"/>
          </p:cNvSpPr>
          <p:nvPr>
            <p:ph type="body" idx="1"/>
          </p:nvPr>
        </p:nvSpPr>
        <p:spPr/>
        <p:txBody>
          <a:bodyPr/>
          <a:lstStyle/>
          <a:p>
            <a:r>
              <a:rPr lang="en-US"/>
              <a:t>The scheduling problem starts when several aircraft enter maintenance at similar times. Availability then falls even if the average across the year looks acceptable. The decision variable is the start of a check inside its legal start window. Checks must not overlap on one aircraft, and changing one check must preserve the sequence and the reset rules for later checks. The score ranks worst-day availability first, lower population standard deviation second, and mean availability last. A smoother schedule cannot compensate for a lower worst day. Random failures and resource shortages motivate the problem, but the reported experiments model scheduled maintenance. Source: CONTEXT.md and the completed technical report dated 12 October 2026.</a:t>
            </a:r>
            <a:endParaRPr lang="en-AU" dirty="0"/>
          </a:p>
        </p:txBody>
      </p:sp>
      <p:sp>
        <p:nvSpPr>
          <p:cNvPr id="4" name="Slide Number Placeholder 3"/>
          <p:cNvSpPr>
            <a:spLocks noGrp="1"/>
          </p:cNvSpPr>
          <p:nvPr>
            <p:ph type="sldNum" sz="quarter" idx="5"/>
          </p:nvPr>
        </p:nvSpPr>
        <p:spPr/>
        <p:txBody>
          <a:bodyPr/>
          <a:lstStyle/>
          <a:p>
            <a:fld id="{81A084F6-DEB1-46CA-8A6A-74785726ECE7}" type="slidenum">
              <a:rPr lang="en-AU" smtClean="0"/>
              <a:t>2</a:t>
            </a:fld>
            <a:endParaRPr lang="en-AU"/>
          </a:p>
        </p:txBody>
      </p:sp>
    </p:spTree>
    <p:extLst>
      <p:ext uri="{BB962C8B-B14F-4D97-AF65-F5344CB8AC3E}">
        <p14:creationId xmlns:p14="http://schemas.microsoft.com/office/powerpoint/2010/main" val="375825329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first proof of concept used ten aircraft with eight checks each. Each check lasted sixty days, and the model constrained maintenance intervals to the supplied window. The flowchart shows the basic search loop: calculate daily availability, score the schedule, generate neighbours by shifting one check, reject infeasible candidates, and keep the best improvement. Larger timing changes came before smaller changes. On the right, the resulting simple-fleet schedule retains at least eight available aircraft, which was the original target. This established the objective and feasibility checks before the heavy maintenance model made the neighbourhood much larger. Source: presentations/Iteration 1.pptx and Iteration 1 Milestones.pptx.</a:t>
            </a:r>
            <a:endParaRPr lang="en-US" dirty="0"/>
          </a:p>
        </p:txBody>
      </p:sp>
      <p:sp>
        <p:nvSpPr>
          <p:cNvPr id="4" name="Slide Number Placeholder 3"/>
          <p:cNvSpPr>
            <a:spLocks noGrp="1"/>
          </p:cNvSpPr>
          <p:nvPr>
            <p:ph type="sldNum" sz="quarter" idx="5"/>
          </p:nvPr>
        </p:nvSpPr>
        <p:spPr/>
        <p:txBody>
          <a:bodyPr/>
          <a:lstStyle/>
          <a:p>
            <a:fld id="{81A084F6-DEB1-46CA-8A6A-74785726ECE7}" type="slidenum">
              <a:rPr lang="en-AU" smtClean="0"/>
              <a:t>3</a:t>
            </a:fld>
            <a:endParaRPr lang="en-AU"/>
          </a:p>
        </p:txBody>
      </p:sp>
    </p:spTree>
    <p:extLst>
      <p:ext uri="{BB962C8B-B14F-4D97-AF65-F5344CB8AC3E}">
        <p14:creationId xmlns:p14="http://schemas.microsoft.com/office/powerpoint/2010/main" val="219347323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heavy forecast contains twenty-four aircraft and two hundred and seventy-eight supplied checks over roughly twelve years. It adds A, B, C, and D check types, with different durations and maintenance reset rules. The repeating sequence is shown on the slide. The availability plot makes the central difficulty visible: long checks can overlap and create a sustained dip. In this model, shifting one check can change the due clocks for later checks on the same aircraft. The optimiser therefore needs to rebuild the later schedule rather than treating every start as an independent variable. The displayed table and plot come from the original iteration presentation.</a:t>
            </a:r>
            <a:endParaRPr lang="en-AU" dirty="0"/>
          </a:p>
        </p:txBody>
      </p:sp>
      <p:sp>
        <p:nvSpPr>
          <p:cNvPr id="4" name="Slide Number Placeholder 3"/>
          <p:cNvSpPr>
            <a:spLocks noGrp="1"/>
          </p:cNvSpPr>
          <p:nvPr>
            <p:ph type="sldNum" sz="quarter" idx="5"/>
          </p:nvPr>
        </p:nvSpPr>
        <p:spPr/>
        <p:txBody>
          <a:bodyPr/>
          <a:lstStyle/>
          <a:p>
            <a:fld id="{81A084F6-DEB1-46CA-8A6A-74785726ECE7}" type="slidenum">
              <a:rPr lang="en-AU" smtClean="0"/>
              <a:t>4</a:t>
            </a:fld>
            <a:endParaRPr lang="en-AU"/>
          </a:p>
        </p:txBody>
      </p:sp>
    </p:spTree>
    <p:extLst>
      <p:ext uri="{BB962C8B-B14F-4D97-AF65-F5344CB8AC3E}">
        <p14:creationId xmlns:p14="http://schemas.microsoft.com/office/powerpoint/2010/main" val="382196067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7B59F1-A0E3-C8D8-2304-B07ADAE0055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D69E565-BC4E-5CC4-A1D2-4628A881D84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88FAB18-7B0E-E825-351F-1141FACECE3F}"/>
              </a:ext>
            </a:extLst>
          </p:cNvPr>
          <p:cNvSpPr>
            <a:spLocks noGrp="1"/>
          </p:cNvSpPr>
          <p:nvPr>
            <p:ph type="body" idx="1"/>
          </p:nvPr>
        </p:nvSpPr>
        <p:spPr/>
        <p:txBody>
          <a:bodyPr/>
          <a:lstStyle/>
          <a:p>
            <a:r>
              <a:rPr lang="en-US"/>
              <a:t>When the same neighbourhood search scaled to the heavy forecast, an iteration could produce over a thousand candidate schedules. Fully copying, checking, and scoring each one was expensive. Sampling two hundred neighbours reduced the work but introduced uncertainty, because the sample could omit a useful improving move. The next change used the structure of the problem: checks covering the worst availability days are the most relevant place to search first. Priority selection therefore concentrates the work deterministically, while widening the search when a worse priority group cannot improve. Source: Iteration 1 milestone slides 5 to 7.</a:t>
            </a:r>
            <a:endParaRPr lang="en-US" dirty="0"/>
          </a:p>
        </p:txBody>
      </p:sp>
      <p:sp>
        <p:nvSpPr>
          <p:cNvPr id="4" name="Slide Number Placeholder 3">
            <a:extLst>
              <a:ext uri="{FF2B5EF4-FFF2-40B4-BE49-F238E27FC236}">
                <a16:creationId xmlns:a16="http://schemas.microsoft.com/office/drawing/2014/main" id="{5E528F73-DBEA-CA63-193B-43E3DC8CFA23}"/>
              </a:ext>
            </a:extLst>
          </p:cNvPr>
          <p:cNvSpPr>
            <a:spLocks noGrp="1"/>
          </p:cNvSpPr>
          <p:nvPr>
            <p:ph type="sldNum" sz="quarter" idx="5"/>
          </p:nvPr>
        </p:nvSpPr>
        <p:spPr/>
        <p:txBody>
          <a:bodyPr/>
          <a:lstStyle/>
          <a:p>
            <a:fld id="{81A084F6-DEB1-46CA-8A6A-74785726ECE7}" type="slidenum">
              <a:rPr lang="en-AU" smtClean="0"/>
              <a:t>5</a:t>
            </a:fld>
            <a:endParaRPr lang="en-AU"/>
          </a:p>
        </p:txBody>
      </p:sp>
    </p:spTree>
    <p:extLst>
      <p:ext uri="{BB962C8B-B14F-4D97-AF65-F5344CB8AC3E}">
        <p14:creationId xmlns:p14="http://schemas.microsoft.com/office/powerpoint/2010/main" val="140825929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This is the method I want to spend the most time on, because it is the main technical result of iteration 1.
Priority-based selection changes the question we ask. Instead of asking “what happens if we try random moves to find the best one?”, we ask “which maintenance events are actually hurting and causing the minimum availability to be the lowest?”
How this algorithm works is for every event, it gets a priority score equal to the lowest fleet availability of the event for every day it is active. So if an event overlaps a day when only fifteen aircraft are available on that day, then the event priority score is fifteen. Then the events with the lowest priority score will be the ones to be shifted first.
Another thing I changed is that when we move one check, we do not leave the rest of that aircraft’s plan sitting in a potentially broken state. Before, </a:t>
            </a:r>
            <a:r>
              <a:rPr lang="en-AU" sz="1200" b="0" i="0" kern="1200" dirty="0">
                <a:solidFill>
                  <a:schemeClr val="tx1"/>
                </a:solidFill>
                <a:effectLst/>
                <a:latin typeface="+mn-lt"/>
                <a:ea typeface="+mn-ea"/>
                <a:cs typeface="+mn-cs"/>
              </a:rPr>
              <a:t>when we move one maintenance check, only that selected event is shifted. Now when an event is shifted, the schedule is rebuilt, everything earlier on the same aircraft stays exactly as it was. Everything later is recalculated from the new shift date using the A/B/C/D rules, so the due dates will remain legal even after getting shifted.</a:t>
            </a:r>
            <a:r>
              <a:rPr lang="en-US" dirty="0"/>
              <a:t>
I also changed how scoring works. The entire fleet is not deep copied for every trial. We rebuild one aircraft, then update availability incrementally. That aircraft’s old intervals are removed from the stored availability array, and the new rebuilt intervals are added, and scored once. That is much cheaper than recomputing availability from scratch for every </a:t>
            </a:r>
            <a:r>
              <a:rPr lang="en-US" dirty="0" err="1"/>
              <a:t>neighbour</a:t>
            </a:r>
            <a:r>
              <a:rPr lang="en-US" dirty="0"/>
              <a:t>.
---</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Now I want to walk through the mechanics of those priority levels.
The global minimum availability for the starting schedule is fifteen. First, we score every event. For each event we look at fleet availability on every day that the event is active, and the priority is the minimum of those days. For example, for an event, if the first day has an availability of 18, the second has 18, third has 16, and forth has 15 aircraft available, and so on, its priority is fifteen.
Second, we split the events into exclusive buckets by that priority. In our starting schedule we had twenty events at level fifteen, ten at sixteen, nine at seventeen, and larger groups at higher levels. So level 21 had the </a:t>
            </a:r>
            <a:r>
              <a:rPr lang="en-US"/>
              <a:t>most events. </a:t>
            </a:r>
            <a:r>
              <a:rPr lang="en-US" dirty="0"/>
              <a:t>An event sits in only one bucket: the bucket for its own worst day. So the twenty events at fifteen and the ten at sixteen are different events. 
Third, we search the worst buckets first. For a shift set like plus and minus twenty-eight, level fifteen is about twenty events times two shifts, so around forty candidates. If any of those moves improve the score, we stop at that level for the iteration and take the best improving move. We only expand to level sixteen, then seventeen, and so on if the worse levels find nothing.
That is why the method is both targeted and fast. We are not randomly discarding most of the </a:t>
            </a:r>
            <a:r>
              <a:rPr lang="en-US" dirty="0" err="1"/>
              <a:t>neighbourhood</a:t>
            </a:r>
            <a:r>
              <a:rPr lang="en-US" dirty="0"/>
              <a:t>. We are concentrating effort on the events that touch the availability floor, and we only widen the search when we have to. And for higher levels like 21 where there are a lot of events, the algorithm converged at level 18 so the algorithm never needed to search that many </a:t>
            </a:r>
            <a:r>
              <a:rPr lang="en-US" dirty="0" err="1"/>
              <a:t>neighbours</a:t>
            </a:r>
            <a:r>
              <a:rPr lang="en-US" dirty="0"/>
              <a:t>.
---</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a:t>The historical milestone comparison reported about nine hundred and twenty seconds for full neighbourhood search, four hundred and fifty-one seconds for two hundred random samples, and fifteen point four seconds for priority selection. That is approximately sixty times faster than full search and thirty times faster than the sampled method in that benchmark. The primary result was an improvement from fifteen to eighteen available aircraft on the worst day. These are the historical Iteration 1 measurements. They are not directly comparable with the timings in the new hyperparameter study, which uses a matched scoring window and a verified study driver. Source: Iteration 1 Milestones.pptx slide 9.</a:t>
            </a:r>
            <a:endParaRPr lang="en-US" dirty="0"/>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131048660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a:noFill/>
          <a:ln w="12700">
            <a:solidFill>
              <a:prstClr val="black"/>
            </a:solidFill>
          </a:ln>
        </p:spPr>
        <p:txBody>
          <a:bodyPr/>
          <a:lstStyle/>
          <a:p>
            <a:endParaRPr lang="en-AU"/>
          </a:p>
        </p:txBody>
      </p:sp>
      <p:sp>
        <p:nvSpPr>
          <p:cNvPr id="3" name="Notes Placeholder 2"/>
          <p:cNvSpPr>
            <a:spLocks noGrp="1"/>
          </p:cNvSpPr>
          <p:nvPr>
            <p:ph type="body" idx="1"/>
          </p:nvPr>
        </p:nvSpPr>
        <p:spPr>
          <a:xfrm>
            <a:off x="685800" y="4400550"/>
            <a:ext cx="5486400" cy="3600450"/>
          </a:xfrm>
          <a:prstGeom prst="rect">
            <a:avLst/>
          </a:prstGeom>
        </p:spPr>
        <p:txBody>
          <a:bodyPr/>
          <a:lstStyle/>
          <a:p>
            <a:r>
              <a:rPr lang="en-US" dirty="0"/>
              <a:t>So what is simulated annealing.
Simulated annealing is a search method. The idea comes from metalworking: heating metal allows it to bend, then cool it slowly so it settles into a strong structure. In optimisation, “heat” means we are more willing to try unusual moves. “Cooling” means we become stricter over time.
There are three simple steps.
First, search. We propose a change to the maintenance schedule — for example, shift a check a few days earlier or later — then evaluate the new plan with the same availability score we already use: minimum availability first, then smoothness, then average. We are not inventing a new scoring system here.
Second, accept. If the new plan is better, we keep it. That part is familiar. The difference is early in the search we may also keep a slightly worse plan, by chance. That sounds odd, but it is deliberate. A temporary worse move can get us out of a local minima.
Third, cool down. As the search continues, we accept fewer and fewer worse moves. Near the end, we mostly behave like today’s method: keep improvements, reject clear steps backwards.
So if we were walking up a hill, sometimes we might need to take a step downhill just to find a better path rather than constantly going up a hill that might be steep. If we accept worse moves temporarily, we might find an easier path.
What annealing does need later is a fair acceptance rule for those temporary worse moves — because our score is a ranked tuple, not one number. That is an acceptance detail, not a new objective. Next I will show how this idea maps onto the </a:t>
            </a:r>
            <a:r>
              <a:rPr lang="en-US" dirty="0" err="1"/>
              <a:t>optimiser</a:t>
            </a:r>
            <a:r>
              <a:rPr lang="en-US" dirty="0"/>
              <a:t> we already built.</a:t>
            </a:r>
            <a:endParaRPr lang="en-AU" dirty="0"/>
          </a:p>
        </p:txBody>
      </p:sp>
    </p:spTree>
    <p:extLst>
      <p:ext uri="{BB962C8B-B14F-4D97-AF65-F5344CB8AC3E}">
        <p14:creationId xmlns:p14="http://schemas.microsoft.com/office/powerpoint/2010/main" val="316674797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AU"/>
          </a:p>
        </p:txBody>
      </p:sp>
      <p:sp>
        <p:nvSpPr>
          <p:cNvPr id="3" name="Notes Placeholder 2"/>
          <p:cNvSpPr>
            <a:spLocks noGrp="1"/>
          </p:cNvSpPr>
          <p:nvPr>
            <p:ph type="body" sz="quarter" idx="3"/>
          </p:nvPr>
        </p:nvSpPr>
        <p:spPr/>
        <p:txBody>
          <a:bodyPr/>
          <a:lstStyle/>
          <a:p>
            <a:r>
              <a:rPr lang="en-US"/>
              <a:t>On the original decision benchmark, all reported methods retained eighteen aircraft on the worst day. The tuned Priority Based Selection with VNS achieved standard deviation about one point three nine two in one hundred and fifteen point six seconds. Simulated Annealing improved the median standard deviation by only zero point zero zero one four four, below the required zero point zero zero five. Its median runtime was three hundred and six point three seconds, just over the five-minute limit. Two runs reached the time budget. Tightened acceptance matched the Priority Based Selection with VNS quality. The candidate therefore failed both the smoothness threshold and the runtime criterion. These values use the earlier decision-study horizon and must not be compared numerically with the later matched hyperparameter scores. Source: .scratch/iteration-2/study-results.json, decision section.</a:t>
            </a:r>
            <a:endParaRPr dirty="0"/>
          </a:p>
        </p:txBody>
      </p:sp>
      <p:sp>
        <p:nvSpPr>
          <p:cNvPr id="4" name="Slide Number Placeholder 3"/>
          <p:cNvSpPr>
            <a:spLocks noGrp="1"/>
          </p:cNvSpPr>
          <p:nvPr>
            <p:ph type="sldNum" sz="quarter" idx="5"/>
          </p:nvPr>
        </p:nvSpPr>
        <p:spPr/>
        <p:txBody>
          <a:bodyPr/>
          <a:lstStyle/>
          <a:p>
            <a:endParaRPr lang="en-AU"/>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AU"/>
          </a:p>
        </p:txBody>
      </p:sp>
      <p:sp>
        <p:nvSpPr>
          <p:cNvPr id="3" name="Notes Placeholder 2"/>
          <p:cNvSpPr>
            <a:spLocks noGrp="1"/>
          </p:cNvSpPr>
          <p:nvPr>
            <p:ph type="body" sz="quarter" idx="3"/>
          </p:nvPr>
        </p:nvSpPr>
        <p:spPr/>
        <p:txBody>
          <a:bodyPr/>
          <a:lstStyle/>
          <a:p>
            <a:r>
              <a:rPr lang="en-US"/>
              <a:t>This earlier experiment changes the opening start schedule for the same original checks and due dates. The three starts are as-loaded, bunched, and spread. All begin at a worst-day availability of fifteen and finish at eighteen with the tuned Priority Based Selection with VNS. The as-loaded start finishes smoothest. Simulated Annealing adds a small smoothness improvement on each start but takes longer. This supports retaining the as-loaded start for that original instance. It does not show that a more widely staggered fleet is always worse. The new moderate and wide datasets have different maintenance ages and check mixes, so their results answer a different question. Source: .scratch/iteration-2/study-results.json, stagger section.</a:t>
            </a:r>
            <a:endParaRPr dirty="0"/>
          </a:p>
        </p:txBody>
      </p:sp>
      <p:sp>
        <p:nvSpPr>
          <p:cNvPr id="4" name="Slide Number Placeholder 3"/>
          <p:cNvSpPr>
            <a:spLocks noGrp="1"/>
          </p:cNvSpPr>
          <p:nvPr>
            <p:ph type="sldNum" sz="quarter" idx="5"/>
          </p:nvPr>
        </p:nvSpPr>
        <p:spPr/>
        <p:txBody>
          <a:bodyPr/>
          <a:lstStyle/>
          <a:p>
            <a:endParaRPr lang="en-AU"/>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6DA805-A8D4-A0B5-BD61-445EFB81945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7127E42-CB92-3204-96E6-6FF5A588560D}"/>
              </a:ext>
            </a:extLst>
          </p:cNvPr>
          <p:cNvSpPr>
            <a:spLocks noGrp="1" noRot="1" noChangeAspect="1"/>
          </p:cNvSpPr>
          <p:nvPr>
            <p:ph type="sldImg" idx="2"/>
          </p:nvPr>
        </p:nvSpPr>
        <p:spPr/>
        <p:txBody>
          <a:bodyPr/>
          <a:lstStyle/>
          <a:p>
            <a:endParaRPr lang="en-AU"/>
          </a:p>
        </p:txBody>
      </p:sp>
      <p:sp>
        <p:nvSpPr>
          <p:cNvPr id="3" name="Notes Placeholder 2">
            <a:extLst>
              <a:ext uri="{FF2B5EF4-FFF2-40B4-BE49-F238E27FC236}">
                <a16:creationId xmlns:a16="http://schemas.microsoft.com/office/drawing/2014/main" id="{FD8B0EF6-829D-6A59-601F-5A50FF2601E2}"/>
              </a:ext>
            </a:extLst>
          </p:cNvPr>
          <p:cNvSpPr>
            <a:spLocks noGrp="1"/>
          </p:cNvSpPr>
          <p:nvPr>
            <p:ph type="body" sz="quarter" idx="3"/>
          </p:nvPr>
        </p:nvSpPr>
        <p:spPr/>
        <p:txBody>
          <a:bodyPr/>
          <a:lstStyle/>
          <a:p>
            <a:r>
              <a:rPr lang="en-US"/>
              <a:t>This earlier experiment changes the opening start schedule for the same original checks and due dates. The three starts are as-loaded, bunched, and spread. All begin at a worst-day availability of fifteen and finish at eighteen with the tuned Priority Based Selection with VNS. The as-loaded start finishes smoothest. Simulated Annealing adds a small smoothness improvement on each start but takes longer. This supports retaining the as-loaded start for that original instance. It does not show that a more widely staggered fleet is always worse. The new moderate and wide datasets have different maintenance ages and check mixes, so their results answer a different question. Source: .scratch/iteration-2/study-results.json, stagger section.</a:t>
            </a:r>
            <a:endParaRPr dirty="0"/>
          </a:p>
        </p:txBody>
      </p:sp>
      <p:sp>
        <p:nvSpPr>
          <p:cNvPr id="4" name="Slide Number Placeholder 3">
            <a:extLst>
              <a:ext uri="{FF2B5EF4-FFF2-40B4-BE49-F238E27FC236}">
                <a16:creationId xmlns:a16="http://schemas.microsoft.com/office/drawing/2014/main" id="{9CADED6C-E7CF-5D54-986C-46D285DB481B}"/>
              </a:ext>
            </a:extLst>
          </p:cNvPr>
          <p:cNvSpPr>
            <a:spLocks noGrp="1"/>
          </p:cNvSpPr>
          <p:nvPr>
            <p:ph type="sldNum" sz="quarter" idx="5"/>
          </p:nvPr>
        </p:nvSpPr>
        <p:spPr/>
        <p:txBody>
          <a:bodyPr/>
          <a:lstStyle/>
          <a:p>
            <a:endParaRPr lang="en-AU"/>
          </a:p>
        </p:txBody>
      </p:sp>
    </p:spTree>
    <p:extLst>
      <p:ext uri="{BB962C8B-B14F-4D97-AF65-F5344CB8AC3E}">
        <p14:creationId xmlns:p14="http://schemas.microsoft.com/office/powerpoint/2010/main" val="245841692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AU"/>
          </a:p>
        </p:txBody>
      </p:sp>
      <p:sp>
        <p:nvSpPr>
          <p:cNvPr id="3" name="Notes Placeholder 2"/>
          <p:cNvSpPr>
            <a:spLocks noGrp="1"/>
          </p:cNvSpPr>
          <p:nvPr>
            <p:ph type="body" sz="quarter" idx="3"/>
          </p:nvPr>
        </p:nvSpPr>
        <p:spPr/>
        <p:txBody>
          <a:bodyPr/>
          <a:lstStyle/>
          <a:p>
            <a:r>
              <a:rPr lang="en-US"/>
              <a:t>The study compared fifty-eight step-size and selection combinations on each of three matched forecasts, giving one hundred and seventy-four sweep cases. The default used separate shifts of minus and plus twenty-eight, fourteen, seven, and three days. For the original forecast, adding a forty-two-day level and pairing large and small shifts produced the best measured smoothness: 1.401929, with eighteen aircraft on the worst day. For moderate and wide stagger, the separate wide steps gave smoothness of 0.883419 and 0.586797, retaining nineteen and twenty aircraft respectively. The exact step sets appear on the next slide. Improvements against the default on the same input are 1.42, 3.10, and 4.85 percent. All runs preserve maintenance legality and opening due clocks on the matched dates from 21 January 2026 to 18 January 2038. Timings are medians of three serial repeats on this machine. Source: the completed hyperparameter report dated 14 October 2026 and saved three-dataset study records.</a:t>
            </a:r>
            <a:endParaRPr dirty="0"/>
          </a:p>
        </p:txBody>
      </p:sp>
      <p:sp>
        <p:nvSpPr>
          <p:cNvPr id="4" name="Slide Number Placeholder 3"/>
          <p:cNvSpPr>
            <a:spLocks noGrp="1"/>
          </p:cNvSpPr>
          <p:nvPr>
            <p:ph type="sldNum" sz="quarter" idx="5"/>
          </p:nvPr>
        </p:nvSpPr>
        <p:spPr/>
        <p:txBody>
          <a:bodyPr/>
          <a:lstStyle/>
          <a:p>
            <a:endParaRPr lang="en-AU"/>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AU"/>
          </a:p>
        </p:txBody>
      </p:sp>
      <p:sp>
        <p:nvSpPr>
          <p:cNvPr id="3" name="Notes Placeholder 2"/>
          <p:cNvSpPr>
            <a:spLocks noGrp="1"/>
          </p:cNvSpPr>
          <p:nvPr>
            <p:ph type="body" sz="quarter" idx="3"/>
          </p:nvPr>
        </p:nvSpPr>
        <p:spPr/>
        <p:txBody>
          <a:bodyPr/>
          <a:lstStyle/>
          <a:p>
            <a:r>
              <a:rPr lang="en-US"/>
              <a:t>A step size means the number of days added to or subtracted from one check start. It does not change the duration of that check. For a check currently starting on day 100, a minus-14 trial starts on day 86 and a plus-14 trial starts on day 114. These are different candidate schedules, not two changes applied together. A trial is usable only if it remains in the legal start window and rebuilding the aircraft later checks keeps the full schedule legal. The score first protects worst-day availability, then improves smoothness, and finally considers mean availability. Each search iteration starts from the largest neighbourhood. Within that neighbourhood, checks are grouped by the worst availability day they cover, and the worst group is searched first. The method examines all improving candidates within that group and chooses the best, rather than taking the first candidate encountered. If that group has no improvement, it tries the next priority group. If all groups fail for that step-size neighbourhood, it tries the next, smaller neighbourhood. After one improvement is accepted, it starts a new iteration, recomputes the priorities, and returns to the largest neighbourhood. Source: .scratch/priority-hyperparameter-analysis/run_three_datasets.py, neighbours and solve functions.</a:t>
            </a:r>
            <a:endParaRPr/>
          </a:p>
        </p:txBody>
      </p:sp>
      <p:sp>
        <p:nvSpPr>
          <p:cNvPr id="4" name="Slide Number Placeholder 3"/>
          <p:cNvSpPr>
            <a:spLocks noGrp="1"/>
          </p:cNvSpPr>
          <p:nvPr>
            <p:ph type="sldNum" sz="quarter" idx="5"/>
          </p:nvPr>
        </p:nvSpPr>
        <p:spPr/>
        <p:txBody>
          <a:bodyPr/>
          <a:lstStyle/>
          <a:p>
            <a:endParaRPr lang="en-AU"/>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AU"/>
          </a:p>
        </p:txBody>
      </p:sp>
      <p:sp>
        <p:nvSpPr>
          <p:cNvPr id="3" name="Notes Placeholder 2"/>
          <p:cNvSpPr>
            <a:spLocks noGrp="1"/>
          </p:cNvSpPr>
          <p:nvPr>
            <p:ph type="body" sz="quarter" idx="3"/>
          </p:nvPr>
        </p:nvSpPr>
        <p:spPr/>
        <p:txBody>
          <a:bodyPr/>
          <a:lstStyle/>
          <a:p>
            <a:r>
              <a:rPr lang="en-US"/>
              <a:t>These settings tune Priority Based Selection with Variable Neighbourhood Search. On the original forecast, the tested winning order was: first only minus and plus 42 days. If no improving legal candidate exists in any priority group at that neighbourhood, try four alternatives: minus 28, minus 14, plus 14, and plus 28 days. If that neighbourhood also fails, try minus 14, minus 7, plus 7, and plus 14. The next neighbourhood uses minus 7, minus 3, plus 3, and plus 7. The last uses minus 3, minus 1, plus 1, and plus 3. A pair means two alternative magnitudes in the same candidate batch. It does not mean add the sizes or move a check twice. For a check currently on day 100, the 28-and-14 batch proposes starts on days 72, 86, 114, and 128, assuming those dates and the rebuilt schedule are legal. The method then chooses one best improving schedule within the first priority group that can improve. On the moderate and wide forecasts, the winning order uses one magnitude per neighbourhood: 56, 42, 28, 14, 7, 3, and 1 day in either direction. Larger trial changes can produce different search paths, while the small steps allow finer adjustments. The winning settings were established by comparing the measured endpoints, not by assuming larger shifts must be better. After accepting a move, both strategies restart at their largest neighbourhood. Stop when every neighbourhood and priority group finds no improvement, or when the iteration cap is reached. The recommended cap is 400 iterations. The recorded winners needed 302, 367, and 291 accepted moves on original, moderate, and wide respectively, so 400 leaves room to confirm the final no-improvement pass. The parameter sweep used an 800-move cap and finalist extensions where needed. Source: three-dataset-results.json and run_three_datasets.py in .scratch/priority-hyperparameter-analysis, and the completed three-forecast report dated 14 October 2026.</a:t>
            </a:r>
            <a:endParaRPr/>
          </a:p>
        </p:txBody>
      </p:sp>
      <p:sp>
        <p:nvSpPr>
          <p:cNvPr id="4" name="Slide Number Placeholder 3"/>
          <p:cNvSpPr>
            <a:spLocks noGrp="1"/>
          </p:cNvSpPr>
          <p:nvPr>
            <p:ph type="sldNum" sz="quarter" idx="5"/>
          </p:nvPr>
        </p:nvSpPr>
        <p:spPr/>
        <p:txBody>
          <a:bodyPr/>
          <a:lstStyle/>
          <a:p>
            <a:endParaRPr lang="en-AU"/>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AU"/>
          </a:p>
        </p:txBody>
      </p:sp>
      <p:sp>
        <p:nvSpPr>
          <p:cNvPr id="3" name="Notes Placeholder 2"/>
          <p:cNvSpPr>
            <a:spLocks noGrp="1"/>
          </p:cNvSpPr>
          <p:nvPr>
            <p:ph type="body" sz="quarter" idx="3"/>
          </p:nvPr>
        </p:nvSpPr>
        <p:spPr/>
        <p:txBody>
          <a:bodyPr/>
          <a:lstStyle/>
          <a:p>
            <a:r>
              <a:rPr lang="en-US"/>
              <a:t>Worst-day availability means the lowest number of aircraft available on any day of the forecast. In the original fleet, a D check lasts one hundred and twenty-six days and can start up to seventy days early. Every legal placement therefore covers a fixed fifty-six-day interval beginning at its due date. Six of those compulsory intervals overlap on the original forecast. That forces at least six aircraft into maintenance together, so the twenty-four-aircraft fleet can have no more than eighteen available on its worst day. Our result reaches eighteen, proving the primary objective optimal under these maintenance assumptions. This does not prove that the schedule has globally optimal smoothness. On the moderate and wide stagger inputs, the equivalent overlap gives an upper limit of twenty-one, but the best measured results reach nineteen and twenty. The bound does not prove twenty-one is reachable. The remaining work is to test whether those gaps can be reduced and whether smoother schedules exist. Source: 14 October 2026 three-forecast report, limits of the evidence section.</a:t>
            </a:r>
            <a:endParaRPr/>
          </a:p>
        </p:txBody>
      </p:sp>
      <p:sp>
        <p:nvSpPr>
          <p:cNvPr id="4" name="Slide Number Placeholder 3"/>
          <p:cNvSpPr>
            <a:spLocks noGrp="1"/>
          </p:cNvSpPr>
          <p:nvPr>
            <p:ph type="sldNum" sz="quarter" idx="5"/>
          </p:nvPr>
        </p:nvSpPr>
        <p:spPr/>
        <p:txBody>
          <a:bodyPr/>
          <a:lstStyle/>
          <a:p>
            <a:endParaRPr lang="en-AU"/>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AU"/>
          </a:p>
        </p:txBody>
      </p:sp>
      <p:sp>
        <p:nvSpPr>
          <p:cNvPr id="3" name="Notes Placeholder 2"/>
          <p:cNvSpPr>
            <a:spLocks noGrp="1"/>
          </p:cNvSpPr>
          <p:nvPr>
            <p:ph type="body" sz="quarter" idx="3"/>
          </p:nvPr>
        </p:nvSpPr>
        <p:spPr/>
        <p:txBody>
          <a:bodyPr/>
          <a:lstStyle/>
          <a:p>
            <a:r>
              <a:rPr lang="en-US"/>
              <a:t>The final method remains Priority Based Selection with Variable Neighbourhood Search. For a shared setting on these three forecasts, use seven separate neighbourhood levels of minus and plus fifty-six, forty-two, twenty-eight, fourteen, seven, three, and one day, first-level priority selection, and a four-hundred-iteration limit. On the original forecast, the best measured smoothness instead uses a forty-two-day level followed by paired twenty-eight and fourteen, fourteen and seven, seven and three, and three and one-day shifts. Simulated Annealing did not meet the decision-study smoothness and runtime thresholds. These are explicit settings recommendations for the tested forecasts, rather than unexplained configuration codes.</a:t>
            </a:r>
            <a:endParaRPr dirty="0"/>
          </a:p>
        </p:txBody>
      </p:sp>
      <p:sp>
        <p:nvSpPr>
          <p:cNvPr id="4" name="Slide Number Placeholder 3"/>
          <p:cNvSpPr>
            <a:spLocks noGrp="1"/>
          </p:cNvSpPr>
          <p:nvPr>
            <p:ph type="sldNum" sz="quarter" idx="5"/>
          </p:nvPr>
        </p:nvSpPr>
        <p:spPr/>
        <p:txBody>
          <a:bodyPr/>
          <a:lstStyle/>
          <a:p>
            <a:endParaRPr lang="en-AU"/>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27AC29-5489-7E59-EAC9-D647FB48426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AU"/>
          </a:p>
        </p:txBody>
      </p:sp>
      <p:sp>
        <p:nvSpPr>
          <p:cNvPr id="3" name="Subtitle 2">
            <a:extLst>
              <a:ext uri="{FF2B5EF4-FFF2-40B4-BE49-F238E27FC236}">
                <a16:creationId xmlns:a16="http://schemas.microsoft.com/office/drawing/2014/main" id="{E2501C13-E0B2-D076-7CD7-A6AC33D1345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AU"/>
          </a:p>
        </p:txBody>
      </p:sp>
      <p:sp>
        <p:nvSpPr>
          <p:cNvPr id="4" name="Date Placeholder 3">
            <a:extLst>
              <a:ext uri="{FF2B5EF4-FFF2-40B4-BE49-F238E27FC236}">
                <a16:creationId xmlns:a16="http://schemas.microsoft.com/office/drawing/2014/main" id="{CBAABFF5-6218-2733-F7D7-DD43FF3EAF22}"/>
              </a:ext>
            </a:extLst>
          </p:cNvPr>
          <p:cNvSpPr>
            <a:spLocks noGrp="1"/>
          </p:cNvSpPr>
          <p:nvPr>
            <p:ph type="dt" sz="half" idx="10"/>
          </p:nvPr>
        </p:nvSpPr>
        <p:spPr/>
        <p:txBody>
          <a:bodyPr/>
          <a:lstStyle/>
          <a:p>
            <a:fld id="{9F7A5D4D-6049-4B4A-AC9A-1E104DF16849}" type="datetimeFigureOut">
              <a:rPr lang="en-AU" smtClean="0"/>
              <a:t>14/10/2026</a:t>
            </a:fld>
            <a:endParaRPr lang="en-AU"/>
          </a:p>
        </p:txBody>
      </p:sp>
      <p:sp>
        <p:nvSpPr>
          <p:cNvPr id="5" name="Footer Placeholder 4">
            <a:extLst>
              <a:ext uri="{FF2B5EF4-FFF2-40B4-BE49-F238E27FC236}">
                <a16:creationId xmlns:a16="http://schemas.microsoft.com/office/drawing/2014/main" id="{E33C09D1-4BB8-DFBC-BBAA-CF2404718D13}"/>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FEF124C5-CBB2-6745-3685-4BA6A7EDC064}"/>
              </a:ext>
            </a:extLst>
          </p:cNvPr>
          <p:cNvSpPr>
            <a:spLocks noGrp="1"/>
          </p:cNvSpPr>
          <p:nvPr>
            <p:ph type="sldNum" sz="quarter" idx="12"/>
          </p:nvPr>
        </p:nvSpPr>
        <p:spPr/>
        <p:txBody>
          <a:bodyPr/>
          <a:lstStyle/>
          <a:p>
            <a:fld id="{666143E0-65BA-4AF4-B9F5-3A622158391E}" type="slidenum">
              <a:rPr lang="en-AU" smtClean="0"/>
              <a:t>‹#›</a:t>
            </a:fld>
            <a:endParaRPr lang="en-AU"/>
          </a:p>
        </p:txBody>
      </p:sp>
    </p:spTree>
    <p:extLst>
      <p:ext uri="{BB962C8B-B14F-4D97-AF65-F5344CB8AC3E}">
        <p14:creationId xmlns:p14="http://schemas.microsoft.com/office/powerpoint/2010/main" val="195966035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345595-0FC8-A071-C6A1-FD736E6572DD}"/>
              </a:ext>
            </a:extLst>
          </p:cNvPr>
          <p:cNvSpPr>
            <a:spLocks noGrp="1"/>
          </p:cNvSpPr>
          <p:nvPr>
            <p:ph type="title"/>
          </p:nvPr>
        </p:nvSpPr>
        <p:spPr/>
        <p:txBody>
          <a:bodyPr/>
          <a:lstStyle/>
          <a:p>
            <a:r>
              <a:rPr lang="en-US"/>
              <a:t>Click to edit Master title style</a:t>
            </a:r>
            <a:endParaRPr lang="en-AU"/>
          </a:p>
        </p:txBody>
      </p:sp>
      <p:sp>
        <p:nvSpPr>
          <p:cNvPr id="3" name="Content Placeholder 2">
            <a:extLst>
              <a:ext uri="{FF2B5EF4-FFF2-40B4-BE49-F238E27FC236}">
                <a16:creationId xmlns:a16="http://schemas.microsoft.com/office/drawing/2014/main" id="{785C650A-169D-8AE2-1DCA-D4E4EDE6F57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6EB2D135-BC8E-4B1F-B311-615BDA2B09D9}"/>
              </a:ext>
            </a:extLst>
          </p:cNvPr>
          <p:cNvSpPr>
            <a:spLocks noGrp="1"/>
          </p:cNvSpPr>
          <p:nvPr>
            <p:ph type="dt" sz="half" idx="10"/>
          </p:nvPr>
        </p:nvSpPr>
        <p:spPr/>
        <p:txBody>
          <a:bodyPr/>
          <a:lstStyle/>
          <a:p>
            <a:fld id="{9F7A5D4D-6049-4B4A-AC9A-1E104DF16849}" type="datetimeFigureOut">
              <a:rPr lang="en-AU" smtClean="0"/>
              <a:t>14/10/2026</a:t>
            </a:fld>
            <a:endParaRPr lang="en-AU"/>
          </a:p>
        </p:txBody>
      </p:sp>
      <p:sp>
        <p:nvSpPr>
          <p:cNvPr id="5" name="Footer Placeholder 4">
            <a:extLst>
              <a:ext uri="{FF2B5EF4-FFF2-40B4-BE49-F238E27FC236}">
                <a16:creationId xmlns:a16="http://schemas.microsoft.com/office/drawing/2014/main" id="{288E205C-2CDA-B38C-FCDF-0583627C1F90}"/>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F8BE7FF6-BD67-1FA2-6C13-761141E5CCDC}"/>
              </a:ext>
            </a:extLst>
          </p:cNvPr>
          <p:cNvSpPr>
            <a:spLocks noGrp="1"/>
          </p:cNvSpPr>
          <p:nvPr>
            <p:ph type="sldNum" sz="quarter" idx="12"/>
          </p:nvPr>
        </p:nvSpPr>
        <p:spPr/>
        <p:txBody>
          <a:bodyPr/>
          <a:lstStyle/>
          <a:p>
            <a:fld id="{666143E0-65BA-4AF4-B9F5-3A622158391E}" type="slidenum">
              <a:rPr lang="en-AU" smtClean="0"/>
              <a:t>‹#›</a:t>
            </a:fld>
            <a:endParaRPr lang="en-AU"/>
          </a:p>
        </p:txBody>
      </p:sp>
    </p:spTree>
    <p:extLst>
      <p:ext uri="{BB962C8B-B14F-4D97-AF65-F5344CB8AC3E}">
        <p14:creationId xmlns:p14="http://schemas.microsoft.com/office/powerpoint/2010/main" val="403226733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D87FDA-BC2B-2887-C4A9-7B9ED044593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AU"/>
          </a:p>
        </p:txBody>
      </p:sp>
      <p:sp>
        <p:nvSpPr>
          <p:cNvPr id="3" name="Text Placeholder 2">
            <a:extLst>
              <a:ext uri="{FF2B5EF4-FFF2-40B4-BE49-F238E27FC236}">
                <a16:creationId xmlns:a16="http://schemas.microsoft.com/office/drawing/2014/main" id="{57202086-03F0-09BB-A77A-4FB4C29E2EA8}"/>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FD266CE-BB85-0270-43B0-3C359B125F62}"/>
              </a:ext>
            </a:extLst>
          </p:cNvPr>
          <p:cNvSpPr>
            <a:spLocks noGrp="1"/>
          </p:cNvSpPr>
          <p:nvPr>
            <p:ph type="dt" sz="half" idx="10"/>
          </p:nvPr>
        </p:nvSpPr>
        <p:spPr/>
        <p:txBody>
          <a:bodyPr/>
          <a:lstStyle/>
          <a:p>
            <a:fld id="{9F7A5D4D-6049-4B4A-AC9A-1E104DF16849}" type="datetimeFigureOut">
              <a:rPr lang="en-AU" smtClean="0"/>
              <a:t>14/10/2026</a:t>
            </a:fld>
            <a:endParaRPr lang="en-AU"/>
          </a:p>
        </p:txBody>
      </p:sp>
      <p:sp>
        <p:nvSpPr>
          <p:cNvPr id="5" name="Footer Placeholder 4">
            <a:extLst>
              <a:ext uri="{FF2B5EF4-FFF2-40B4-BE49-F238E27FC236}">
                <a16:creationId xmlns:a16="http://schemas.microsoft.com/office/drawing/2014/main" id="{6C6BB362-5A23-5B68-BE51-F0911E4A9B22}"/>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C2CC5297-93D0-8140-2ACD-F50F9574CA81}"/>
              </a:ext>
            </a:extLst>
          </p:cNvPr>
          <p:cNvSpPr>
            <a:spLocks noGrp="1"/>
          </p:cNvSpPr>
          <p:nvPr>
            <p:ph type="sldNum" sz="quarter" idx="12"/>
          </p:nvPr>
        </p:nvSpPr>
        <p:spPr/>
        <p:txBody>
          <a:bodyPr/>
          <a:lstStyle/>
          <a:p>
            <a:fld id="{666143E0-65BA-4AF4-B9F5-3A622158391E}" type="slidenum">
              <a:rPr lang="en-AU" smtClean="0"/>
              <a:t>‹#›</a:t>
            </a:fld>
            <a:endParaRPr lang="en-AU"/>
          </a:p>
        </p:txBody>
      </p:sp>
    </p:spTree>
    <p:extLst>
      <p:ext uri="{BB962C8B-B14F-4D97-AF65-F5344CB8AC3E}">
        <p14:creationId xmlns:p14="http://schemas.microsoft.com/office/powerpoint/2010/main" val="240954567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F69449-3E44-6EA6-776C-F7F459ED8A67}"/>
              </a:ext>
            </a:extLst>
          </p:cNvPr>
          <p:cNvSpPr>
            <a:spLocks noGrp="1"/>
          </p:cNvSpPr>
          <p:nvPr>
            <p:ph type="title"/>
          </p:nvPr>
        </p:nvSpPr>
        <p:spPr/>
        <p:txBody>
          <a:bodyPr/>
          <a:lstStyle/>
          <a:p>
            <a:r>
              <a:rPr lang="en-US"/>
              <a:t>Click to edit Master title style</a:t>
            </a:r>
            <a:endParaRPr lang="en-AU"/>
          </a:p>
        </p:txBody>
      </p:sp>
      <p:sp>
        <p:nvSpPr>
          <p:cNvPr id="3" name="Content Placeholder 2">
            <a:extLst>
              <a:ext uri="{FF2B5EF4-FFF2-40B4-BE49-F238E27FC236}">
                <a16:creationId xmlns:a16="http://schemas.microsoft.com/office/drawing/2014/main" id="{82D6B937-9F21-3E4E-4E61-D5AE3E5B661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Content Placeholder 3">
            <a:extLst>
              <a:ext uri="{FF2B5EF4-FFF2-40B4-BE49-F238E27FC236}">
                <a16:creationId xmlns:a16="http://schemas.microsoft.com/office/drawing/2014/main" id="{EC8022D0-26BA-67B5-621D-EBA2C13C862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Date Placeholder 4">
            <a:extLst>
              <a:ext uri="{FF2B5EF4-FFF2-40B4-BE49-F238E27FC236}">
                <a16:creationId xmlns:a16="http://schemas.microsoft.com/office/drawing/2014/main" id="{2C5D2C76-6DCC-1274-1CD9-163BE5B5D151}"/>
              </a:ext>
            </a:extLst>
          </p:cNvPr>
          <p:cNvSpPr>
            <a:spLocks noGrp="1"/>
          </p:cNvSpPr>
          <p:nvPr>
            <p:ph type="dt" sz="half" idx="10"/>
          </p:nvPr>
        </p:nvSpPr>
        <p:spPr/>
        <p:txBody>
          <a:bodyPr/>
          <a:lstStyle/>
          <a:p>
            <a:fld id="{9F7A5D4D-6049-4B4A-AC9A-1E104DF16849}" type="datetimeFigureOut">
              <a:rPr lang="en-AU" smtClean="0"/>
              <a:t>14/10/2026</a:t>
            </a:fld>
            <a:endParaRPr lang="en-AU"/>
          </a:p>
        </p:txBody>
      </p:sp>
      <p:sp>
        <p:nvSpPr>
          <p:cNvPr id="6" name="Footer Placeholder 5">
            <a:extLst>
              <a:ext uri="{FF2B5EF4-FFF2-40B4-BE49-F238E27FC236}">
                <a16:creationId xmlns:a16="http://schemas.microsoft.com/office/drawing/2014/main" id="{8395CCA0-9807-AF6E-1257-31140E40EBA2}"/>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9E7ADBAA-34A0-299F-9CC8-4E887DC80D98}"/>
              </a:ext>
            </a:extLst>
          </p:cNvPr>
          <p:cNvSpPr>
            <a:spLocks noGrp="1"/>
          </p:cNvSpPr>
          <p:nvPr>
            <p:ph type="sldNum" sz="quarter" idx="12"/>
          </p:nvPr>
        </p:nvSpPr>
        <p:spPr/>
        <p:txBody>
          <a:bodyPr/>
          <a:lstStyle/>
          <a:p>
            <a:fld id="{666143E0-65BA-4AF4-B9F5-3A622158391E}" type="slidenum">
              <a:rPr lang="en-AU" smtClean="0"/>
              <a:t>‹#›</a:t>
            </a:fld>
            <a:endParaRPr lang="en-AU"/>
          </a:p>
        </p:txBody>
      </p:sp>
    </p:spTree>
    <p:extLst>
      <p:ext uri="{BB962C8B-B14F-4D97-AF65-F5344CB8AC3E}">
        <p14:creationId xmlns:p14="http://schemas.microsoft.com/office/powerpoint/2010/main" val="294987483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2D3C85-D656-7770-7F02-ABA0B758BA16}"/>
              </a:ext>
            </a:extLst>
          </p:cNvPr>
          <p:cNvSpPr>
            <a:spLocks noGrp="1"/>
          </p:cNvSpPr>
          <p:nvPr>
            <p:ph type="title"/>
          </p:nvPr>
        </p:nvSpPr>
        <p:spPr>
          <a:xfrm>
            <a:off x="839788" y="365125"/>
            <a:ext cx="10515600" cy="1325563"/>
          </a:xfrm>
        </p:spPr>
        <p:txBody>
          <a:bodyPr/>
          <a:lstStyle/>
          <a:p>
            <a:r>
              <a:rPr lang="en-US"/>
              <a:t>Click to edit Master title style</a:t>
            </a:r>
            <a:endParaRPr lang="en-AU"/>
          </a:p>
        </p:txBody>
      </p:sp>
      <p:sp>
        <p:nvSpPr>
          <p:cNvPr id="3" name="Text Placeholder 2">
            <a:extLst>
              <a:ext uri="{FF2B5EF4-FFF2-40B4-BE49-F238E27FC236}">
                <a16:creationId xmlns:a16="http://schemas.microsoft.com/office/drawing/2014/main" id="{7F586C69-4818-8D27-53B3-61459A9794A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D0F99EB-0DDC-F689-0CAD-3B8A4EF148F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Text Placeholder 4">
            <a:extLst>
              <a:ext uri="{FF2B5EF4-FFF2-40B4-BE49-F238E27FC236}">
                <a16:creationId xmlns:a16="http://schemas.microsoft.com/office/drawing/2014/main" id="{2D655FA0-F4BF-294D-6C91-839EC185E53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3432D8F-9E7C-BFCC-7506-42FAD0452A7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7" name="Date Placeholder 6">
            <a:extLst>
              <a:ext uri="{FF2B5EF4-FFF2-40B4-BE49-F238E27FC236}">
                <a16:creationId xmlns:a16="http://schemas.microsoft.com/office/drawing/2014/main" id="{83A9DA42-17EC-0526-9EAE-55968BE9C9C8}"/>
              </a:ext>
            </a:extLst>
          </p:cNvPr>
          <p:cNvSpPr>
            <a:spLocks noGrp="1"/>
          </p:cNvSpPr>
          <p:nvPr>
            <p:ph type="dt" sz="half" idx="10"/>
          </p:nvPr>
        </p:nvSpPr>
        <p:spPr/>
        <p:txBody>
          <a:bodyPr/>
          <a:lstStyle/>
          <a:p>
            <a:fld id="{9F7A5D4D-6049-4B4A-AC9A-1E104DF16849}" type="datetimeFigureOut">
              <a:rPr lang="en-AU" smtClean="0"/>
              <a:t>14/10/2026</a:t>
            </a:fld>
            <a:endParaRPr lang="en-AU"/>
          </a:p>
        </p:txBody>
      </p:sp>
      <p:sp>
        <p:nvSpPr>
          <p:cNvPr id="8" name="Footer Placeholder 7">
            <a:extLst>
              <a:ext uri="{FF2B5EF4-FFF2-40B4-BE49-F238E27FC236}">
                <a16:creationId xmlns:a16="http://schemas.microsoft.com/office/drawing/2014/main" id="{FFA22C3E-FF08-4F95-71B6-A3DFCB2B1F1E}"/>
              </a:ext>
            </a:extLst>
          </p:cNvPr>
          <p:cNvSpPr>
            <a:spLocks noGrp="1"/>
          </p:cNvSpPr>
          <p:nvPr>
            <p:ph type="ftr" sz="quarter" idx="11"/>
          </p:nvPr>
        </p:nvSpPr>
        <p:spPr/>
        <p:txBody>
          <a:bodyPr/>
          <a:lstStyle/>
          <a:p>
            <a:endParaRPr lang="en-AU"/>
          </a:p>
        </p:txBody>
      </p:sp>
      <p:sp>
        <p:nvSpPr>
          <p:cNvPr id="9" name="Slide Number Placeholder 8">
            <a:extLst>
              <a:ext uri="{FF2B5EF4-FFF2-40B4-BE49-F238E27FC236}">
                <a16:creationId xmlns:a16="http://schemas.microsoft.com/office/drawing/2014/main" id="{9A8EF523-A7A4-5C96-A87E-62A9FFE82A77}"/>
              </a:ext>
            </a:extLst>
          </p:cNvPr>
          <p:cNvSpPr>
            <a:spLocks noGrp="1"/>
          </p:cNvSpPr>
          <p:nvPr>
            <p:ph type="sldNum" sz="quarter" idx="12"/>
          </p:nvPr>
        </p:nvSpPr>
        <p:spPr/>
        <p:txBody>
          <a:bodyPr/>
          <a:lstStyle/>
          <a:p>
            <a:fld id="{666143E0-65BA-4AF4-B9F5-3A622158391E}" type="slidenum">
              <a:rPr lang="en-AU" smtClean="0"/>
              <a:t>‹#›</a:t>
            </a:fld>
            <a:endParaRPr lang="en-AU"/>
          </a:p>
        </p:txBody>
      </p:sp>
    </p:spTree>
    <p:extLst>
      <p:ext uri="{BB962C8B-B14F-4D97-AF65-F5344CB8AC3E}">
        <p14:creationId xmlns:p14="http://schemas.microsoft.com/office/powerpoint/2010/main" val="12063830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202C16-082C-1C2D-2E7F-5A6EAA6DED3E}"/>
              </a:ext>
            </a:extLst>
          </p:cNvPr>
          <p:cNvSpPr>
            <a:spLocks noGrp="1"/>
          </p:cNvSpPr>
          <p:nvPr>
            <p:ph type="title"/>
          </p:nvPr>
        </p:nvSpPr>
        <p:spPr/>
        <p:txBody>
          <a:bodyPr/>
          <a:lstStyle/>
          <a:p>
            <a:r>
              <a:rPr lang="en-US"/>
              <a:t>Click to edit Master title style</a:t>
            </a:r>
            <a:endParaRPr lang="en-AU"/>
          </a:p>
        </p:txBody>
      </p:sp>
      <p:sp>
        <p:nvSpPr>
          <p:cNvPr id="3" name="Date Placeholder 2">
            <a:extLst>
              <a:ext uri="{FF2B5EF4-FFF2-40B4-BE49-F238E27FC236}">
                <a16:creationId xmlns:a16="http://schemas.microsoft.com/office/drawing/2014/main" id="{BB9E42EB-571E-35CA-2A3B-7512CBAD6A7F}"/>
              </a:ext>
            </a:extLst>
          </p:cNvPr>
          <p:cNvSpPr>
            <a:spLocks noGrp="1"/>
          </p:cNvSpPr>
          <p:nvPr>
            <p:ph type="dt" sz="half" idx="10"/>
          </p:nvPr>
        </p:nvSpPr>
        <p:spPr/>
        <p:txBody>
          <a:bodyPr/>
          <a:lstStyle/>
          <a:p>
            <a:fld id="{9F7A5D4D-6049-4B4A-AC9A-1E104DF16849}" type="datetimeFigureOut">
              <a:rPr lang="en-AU" smtClean="0"/>
              <a:t>14/10/2026</a:t>
            </a:fld>
            <a:endParaRPr lang="en-AU"/>
          </a:p>
        </p:txBody>
      </p:sp>
      <p:sp>
        <p:nvSpPr>
          <p:cNvPr id="4" name="Footer Placeholder 3">
            <a:extLst>
              <a:ext uri="{FF2B5EF4-FFF2-40B4-BE49-F238E27FC236}">
                <a16:creationId xmlns:a16="http://schemas.microsoft.com/office/drawing/2014/main" id="{A06FFC9C-6799-4836-1125-10115B307C9D}"/>
              </a:ext>
            </a:extLst>
          </p:cNvPr>
          <p:cNvSpPr>
            <a:spLocks noGrp="1"/>
          </p:cNvSpPr>
          <p:nvPr>
            <p:ph type="ftr" sz="quarter" idx="11"/>
          </p:nvPr>
        </p:nvSpPr>
        <p:spPr/>
        <p:txBody>
          <a:bodyPr/>
          <a:lstStyle/>
          <a:p>
            <a:endParaRPr lang="en-AU"/>
          </a:p>
        </p:txBody>
      </p:sp>
      <p:sp>
        <p:nvSpPr>
          <p:cNvPr id="5" name="Slide Number Placeholder 4">
            <a:extLst>
              <a:ext uri="{FF2B5EF4-FFF2-40B4-BE49-F238E27FC236}">
                <a16:creationId xmlns:a16="http://schemas.microsoft.com/office/drawing/2014/main" id="{866A684E-FF97-AD89-A309-B4EF8132F303}"/>
              </a:ext>
            </a:extLst>
          </p:cNvPr>
          <p:cNvSpPr>
            <a:spLocks noGrp="1"/>
          </p:cNvSpPr>
          <p:nvPr>
            <p:ph type="sldNum" sz="quarter" idx="12"/>
          </p:nvPr>
        </p:nvSpPr>
        <p:spPr/>
        <p:txBody>
          <a:bodyPr/>
          <a:lstStyle/>
          <a:p>
            <a:fld id="{666143E0-65BA-4AF4-B9F5-3A622158391E}" type="slidenum">
              <a:rPr lang="en-AU" smtClean="0"/>
              <a:t>‹#›</a:t>
            </a:fld>
            <a:endParaRPr lang="en-AU"/>
          </a:p>
        </p:txBody>
      </p:sp>
    </p:spTree>
    <p:extLst>
      <p:ext uri="{BB962C8B-B14F-4D97-AF65-F5344CB8AC3E}">
        <p14:creationId xmlns:p14="http://schemas.microsoft.com/office/powerpoint/2010/main" val="157908279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7A33FB7-EB70-9CAB-3760-550ED1D9537A}"/>
              </a:ext>
            </a:extLst>
          </p:cNvPr>
          <p:cNvSpPr>
            <a:spLocks noGrp="1"/>
          </p:cNvSpPr>
          <p:nvPr>
            <p:ph type="dt" sz="half" idx="10"/>
          </p:nvPr>
        </p:nvSpPr>
        <p:spPr/>
        <p:txBody>
          <a:bodyPr/>
          <a:lstStyle/>
          <a:p>
            <a:fld id="{9F7A5D4D-6049-4B4A-AC9A-1E104DF16849}" type="datetimeFigureOut">
              <a:rPr lang="en-AU" smtClean="0"/>
              <a:t>14/10/2026</a:t>
            </a:fld>
            <a:endParaRPr lang="en-AU"/>
          </a:p>
        </p:txBody>
      </p:sp>
      <p:sp>
        <p:nvSpPr>
          <p:cNvPr id="3" name="Footer Placeholder 2">
            <a:extLst>
              <a:ext uri="{FF2B5EF4-FFF2-40B4-BE49-F238E27FC236}">
                <a16:creationId xmlns:a16="http://schemas.microsoft.com/office/drawing/2014/main" id="{39E3D347-9DE0-5C07-52C1-88314FBC9826}"/>
              </a:ext>
            </a:extLst>
          </p:cNvPr>
          <p:cNvSpPr>
            <a:spLocks noGrp="1"/>
          </p:cNvSpPr>
          <p:nvPr>
            <p:ph type="ftr" sz="quarter" idx="11"/>
          </p:nvPr>
        </p:nvSpPr>
        <p:spPr/>
        <p:txBody>
          <a:bodyPr/>
          <a:lstStyle/>
          <a:p>
            <a:endParaRPr lang="en-AU"/>
          </a:p>
        </p:txBody>
      </p:sp>
      <p:sp>
        <p:nvSpPr>
          <p:cNvPr id="4" name="Slide Number Placeholder 3">
            <a:extLst>
              <a:ext uri="{FF2B5EF4-FFF2-40B4-BE49-F238E27FC236}">
                <a16:creationId xmlns:a16="http://schemas.microsoft.com/office/drawing/2014/main" id="{B4943FF2-4A69-6A74-5C0D-F878E8C96541}"/>
              </a:ext>
            </a:extLst>
          </p:cNvPr>
          <p:cNvSpPr>
            <a:spLocks noGrp="1"/>
          </p:cNvSpPr>
          <p:nvPr>
            <p:ph type="sldNum" sz="quarter" idx="12"/>
          </p:nvPr>
        </p:nvSpPr>
        <p:spPr/>
        <p:txBody>
          <a:bodyPr/>
          <a:lstStyle/>
          <a:p>
            <a:fld id="{666143E0-65BA-4AF4-B9F5-3A622158391E}" type="slidenum">
              <a:rPr lang="en-AU" smtClean="0"/>
              <a:t>‹#›</a:t>
            </a:fld>
            <a:endParaRPr lang="en-AU"/>
          </a:p>
        </p:txBody>
      </p:sp>
    </p:spTree>
    <p:extLst>
      <p:ext uri="{BB962C8B-B14F-4D97-AF65-F5344CB8AC3E}">
        <p14:creationId xmlns:p14="http://schemas.microsoft.com/office/powerpoint/2010/main" val="381250642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8A98DE-29C8-674F-C03A-256434246F4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AU"/>
          </a:p>
        </p:txBody>
      </p:sp>
      <p:sp>
        <p:nvSpPr>
          <p:cNvPr id="3" name="Content Placeholder 2">
            <a:extLst>
              <a:ext uri="{FF2B5EF4-FFF2-40B4-BE49-F238E27FC236}">
                <a16:creationId xmlns:a16="http://schemas.microsoft.com/office/drawing/2014/main" id="{C5E168ED-8F37-98B1-EF30-760C493A439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Text Placeholder 3">
            <a:extLst>
              <a:ext uri="{FF2B5EF4-FFF2-40B4-BE49-F238E27FC236}">
                <a16:creationId xmlns:a16="http://schemas.microsoft.com/office/drawing/2014/main" id="{78F23C02-58C9-E86C-64B0-548C80A60C3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A2717D8-E341-BB22-238E-E9AFE292D73C}"/>
              </a:ext>
            </a:extLst>
          </p:cNvPr>
          <p:cNvSpPr>
            <a:spLocks noGrp="1"/>
          </p:cNvSpPr>
          <p:nvPr>
            <p:ph type="dt" sz="half" idx="10"/>
          </p:nvPr>
        </p:nvSpPr>
        <p:spPr/>
        <p:txBody>
          <a:bodyPr/>
          <a:lstStyle/>
          <a:p>
            <a:fld id="{9F7A5D4D-6049-4B4A-AC9A-1E104DF16849}" type="datetimeFigureOut">
              <a:rPr lang="en-AU" smtClean="0"/>
              <a:t>14/10/2026</a:t>
            </a:fld>
            <a:endParaRPr lang="en-AU"/>
          </a:p>
        </p:txBody>
      </p:sp>
      <p:sp>
        <p:nvSpPr>
          <p:cNvPr id="6" name="Footer Placeholder 5">
            <a:extLst>
              <a:ext uri="{FF2B5EF4-FFF2-40B4-BE49-F238E27FC236}">
                <a16:creationId xmlns:a16="http://schemas.microsoft.com/office/drawing/2014/main" id="{649953E8-4735-72DA-6B79-6867005BBF94}"/>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27C09CD1-1C39-4510-CDA4-ED3EA9772694}"/>
              </a:ext>
            </a:extLst>
          </p:cNvPr>
          <p:cNvSpPr>
            <a:spLocks noGrp="1"/>
          </p:cNvSpPr>
          <p:nvPr>
            <p:ph type="sldNum" sz="quarter" idx="12"/>
          </p:nvPr>
        </p:nvSpPr>
        <p:spPr/>
        <p:txBody>
          <a:bodyPr/>
          <a:lstStyle/>
          <a:p>
            <a:fld id="{666143E0-65BA-4AF4-B9F5-3A622158391E}" type="slidenum">
              <a:rPr lang="en-AU" smtClean="0"/>
              <a:t>‹#›</a:t>
            </a:fld>
            <a:endParaRPr lang="en-AU"/>
          </a:p>
        </p:txBody>
      </p:sp>
    </p:spTree>
    <p:extLst>
      <p:ext uri="{BB962C8B-B14F-4D97-AF65-F5344CB8AC3E}">
        <p14:creationId xmlns:p14="http://schemas.microsoft.com/office/powerpoint/2010/main" val="271957002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4C23AD-791B-B7F3-A376-E608A61CDED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AU"/>
          </a:p>
        </p:txBody>
      </p:sp>
      <p:sp>
        <p:nvSpPr>
          <p:cNvPr id="3" name="Picture Placeholder 2">
            <a:extLst>
              <a:ext uri="{FF2B5EF4-FFF2-40B4-BE49-F238E27FC236}">
                <a16:creationId xmlns:a16="http://schemas.microsoft.com/office/drawing/2014/main" id="{75BFF0F7-6039-9D71-D0F2-F020EB1BD43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AU"/>
          </a:p>
        </p:txBody>
      </p:sp>
      <p:sp>
        <p:nvSpPr>
          <p:cNvPr id="4" name="Text Placeholder 3">
            <a:extLst>
              <a:ext uri="{FF2B5EF4-FFF2-40B4-BE49-F238E27FC236}">
                <a16:creationId xmlns:a16="http://schemas.microsoft.com/office/drawing/2014/main" id="{CAE11312-EB3B-5541-AF2E-8A5A7DB73A4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9F2DDDA-6916-3433-381F-F9E3D806F841}"/>
              </a:ext>
            </a:extLst>
          </p:cNvPr>
          <p:cNvSpPr>
            <a:spLocks noGrp="1"/>
          </p:cNvSpPr>
          <p:nvPr>
            <p:ph type="dt" sz="half" idx="10"/>
          </p:nvPr>
        </p:nvSpPr>
        <p:spPr/>
        <p:txBody>
          <a:bodyPr/>
          <a:lstStyle/>
          <a:p>
            <a:fld id="{9F7A5D4D-6049-4B4A-AC9A-1E104DF16849}" type="datetimeFigureOut">
              <a:rPr lang="en-AU" smtClean="0"/>
              <a:t>14/10/2026</a:t>
            </a:fld>
            <a:endParaRPr lang="en-AU"/>
          </a:p>
        </p:txBody>
      </p:sp>
      <p:sp>
        <p:nvSpPr>
          <p:cNvPr id="6" name="Footer Placeholder 5">
            <a:extLst>
              <a:ext uri="{FF2B5EF4-FFF2-40B4-BE49-F238E27FC236}">
                <a16:creationId xmlns:a16="http://schemas.microsoft.com/office/drawing/2014/main" id="{7561D945-48A8-8981-9F9B-8D606E9E1B9F}"/>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CB9CBBC1-F6AE-DF73-5D10-1AFE1FE8DB97}"/>
              </a:ext>
            </a:extLst>
          </p:cNvPr>
          <p:cNvSpPr>
            <a:spLocks noGrp="1"/>
          </p:cNvSpPr>
          <p:nvPr>
            <p:ph type="sldNum" sz="quarter" idx="12"/>
          </p:nvPr>
        </p:nvSpPr>
        <p:spPr/>
        <p:txBody>
          <a:bodyPr/>
          <a:lstStyle/>
          <a:p>
            <a:fld id="{666143E0-65BA-4AF4-B9F5-3A622158391E}" type="slidenum">
              <a:rPr lang="en-AU" smtClean="0"/>
              <a:t>‹#›</a:t>
            </a:fld>
            <a:endParaRPr lang="en-AU"/>
          </a:p>
        </p:txBody>
      </p:sp>
    </p:spTree>
    <p:extLst>
      <p:ext uri="{BB962C8B-B14F-4D97-AF65-F5344CB8AC3E}">
        <p14:creationId xmlns:p14="http://schemas.microsoft.com/office/powerpoint/2010/main" val="105968582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18948F-B5F0-6E1C-9D2F-FE655DBFF4C4}"/>
              </a:ext>
            </a:extLst>
          </p:cNvPr>
          <p:cNvSpPr>
            <a:spLocks noGrp="1"/>
          </p:cNvSpPr>
          <p:nvPr>
            <p:ph type="title"/>
          </p:nvPr>
        </p:nvSpPr>
        <p:spPr/>
        <p:txBody>
          <a:bodyPr/>
          <a:lstStyle/>
          <a:p>
            <a:r>
              <a:rPr lang="en-US"/>
              <a:t>Click to edit Master title style</a:t>
            </a:r>
            <a:endParaRPr lang="en-AU"/>
          </a:p>
        </p:txBody>
      </p:sp>
      <p:sp>
        <p:nvSpPr>
          <p:cNvPr id="3" name="Vertical Text Placeholder 2">
            <a:extLst>
              <a:ext uri="{FF2B5EF4-FFF2-40B4-BE49-F238E27FC236}">
                <a16:creationId xmlns:a16="http://schemas.microsoft.com/office/drawing/2014/main" id="{E98B8EDC-C405-DDDD-C07D-E4B13418164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E654D829-7E7C-76B9-31E3-3CF6DB4EB570}"/>
              </a:ext>
            </a:extLst>
          </p:cNvPr>
          <p:cNvSpPr>
            <a:spLocks noGrp="1"/>
          </p:cNvSpPr>
          <p:nvPr>
            <p:ph type="dt" sz="half" idx="10"/>
          </p:nvPr>
        </p:nvSpPr>
        <p:spPr/>
        <p:txBody>
          <a:bodyPr/>
          <a:lstStyle/>
          <a:p>
            <a:fld id="{9F7A5D4D-6049-4B4A-AC9A-1E104DF16849}" type="datetimeFigureOut">
              <a:rPr lang="en-AU" smtClean="0"/>
              <a:t>14/10/2026</a:t>
            </a:fld>
            <a:endParaRPr lang="en-AU"/>
          </a:p>
        </p:txBody>
      </p:sp>
      <p:sp>
        <p:nvSpPr>
          <p:cNvPr id="5" name="Footer Placeholder 4">
            <a:extLst>
              <a:ext uri="{FF2B5EF4-FFF2-40B4-BE49-F238E27FC236}">
                <a16:creationId xmlns:a16="http://schemas.microsoft.com/office/drawing/2014/main" id="{B599E042-4052-64D4-92D5-404003C8F3C5}"/>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5556AAB2-7265-573F-5D26-153411B57CC5}"/>
              </a:ext>
            </a:extLst>
          </p:cNvPr>
          <p:cNvSpPr>
            <a:spLocks noGrp="1"/>
          </p:cNvSpPr>
          <p:nvPr>
            <p:ph type="sldNum" sz="quarter" idx="12"/>
          </p:nvPr>
        </p:nvSpPr>
        <p:spPr/>
        <p:txBody>
          <a:bodyPr/>
          <a:lstStyle/>
          <a:p>
            <a:fld id="{666143E0-65BA-4AF4-B9F5-3A622158391E}" type="slidenum">
              <a:rPr lang="en-AU" smtClean="0"/>
              <a:t>‹#›</a:t>
            </a:fld>
            <a:endParaRPr lang="en-AU"/>
          </a:p>
        </p:txBody>
      </p:sp>
    </p:spTree>
    <p:extLst>
      <p:ext uri="{BB962C8B-B14F-4D97-AF65-F5344CB8AC3E}">
        <p14:creationId xmlns:p14="http://schemas.microsoft.com/office/powerpoint/2010/main" val="197246589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2CFF2DB-AAD9-5CB0-E51B-B937F5D7F49A}"/>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AU"/>
          </a:p>
        </p:txBody>
      </p:sp>
      <p:sp>
        <p:nvSpPr>
          <p:cNvPr id="3" name="Vertical Text Placeholder 2">
            <a:extLst>
              <a:ext uri="{FF2B5EF4-FFF2-40B4-BE49-F238E27FC236}">
                <a16:creationId xmlns:a16="http://schemas.microsoft.com/office/drawing/2014/main" id="{7D8E478B-10DD-1473-2606-A5B3834623E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E553A97E-9A01-7B17-FE27-E352FCAA339F}"/>
              </a:ext>
            </a:extLst>
          </p:cNvPr>
          <p:cNvSpPr>
            <a:spLocks noGrp="1"/>
          </p:cNvSpPr>
          <p:nvPr>
            <p:ph type="dt" sz="half" idx="10"/>
          </p:nvPr>
        </p:nvSpPr>
        <p:spPr/>
        <p:txBody>
          <a:bodyPr/>
          <a:lstStyle/>
          <a:p>
            <a:fld id="{9F7A5D4D-6049-4B4A-AC9A-1E104DF16849}" type="datetimeFigureOut">
              <a:rPr lang="en-AU" smtClean="0"/>
              <a:t>14/10/2026</a:t>
            </a:fld>
            <a:endParaRPr lang="en-AU"/>
          </a:p>
        </p:txBody>
      </p:sp>
      <p:sp>
        <p:nvSpPr>
          <p:cNvPr id="5" name="Footer Placeholder 4">
            <a:extLst>
              <a:ext uri="{FF2B5EF4-FFF2-40B4-BE49-F238E27FC236}">
                <a16:creationId xmlns:a16="http://schemas.microsoft.com/office/drawing/2014/main" id="{0B722961-B1D5-80C6-4DDD-DF3201DAF972}"/>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0EDB7E82-8EF1-B9DA-9BFB-DF20717AFEC9}"/>
              </a:ext>
            </a:extLst>
          </p:cNvPr>
          <p:cNvSpPr>
            <a:spLocks noGrp="1"/>
          </p:cNvSpPr>
          <p:nvPr>
            <p:ph type="sldNum" sz="quarter" idx="12"/>
          </p:nvPr>
        </p:nvSpPr>
        <p:spPr/>
        <p:txBody>
          <a:bodyPr/>
          <a:lstStyle/>
          <a:p>
            <a:fld id="{666143E0-65BA-4AF4-B9F5-3A622158391E}" type="slidenum">
              <a:rPr lang="en-AU" smtClean="0"/>
              <a:t>‹#›</a:t>
            </a:fld>
            <a:endParaRPr lang="en-AU"/>
          </a:p>
        </p:txBody>
      </p:sp>
    </p:spTree>
    <p:extLst>
      <p:ext uri="{BB962C8B-B14F-4D97-AF65-F5344CB8AC3E}">
        <p14:creationId xmlns:p14="http://schemas.microsoft.com/office/powerpoint/2010/main" val="245953915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4E53780-02F0-855E-B11C-90780D54663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AU"/>
          </a:p>
        </p:txBody>
      </p:sp>
      <p:sp>
        <p:nvSpPr>
          <p:cNvPr id="3" name="Text Placeholder 2">
            <a:extLst>
              <a:ext uri="{FF2B5EF4-FFF2-40B4-BE49-F238E27FC236}">
                <a16:creationId xmlns:a16="http://schemas.microsoft.com/office/drawing/2014/main" id="{9D8840E0-0AF6-2A1F-24E0-8970A6C9BDC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6175E01E-A400-C215-C4C4-272CCB5FE91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9F7A5D4D-6049-4B4A-AC9A-1E104DF16849}" type="datetimeFigureOut">
              <a:rPr lang="en-AU" smtClean="0"/>
              <a:t>14/10/2026</a:t>
            </a:fld>
            <a:endParaRPr lang="en-AU"/>
          </a:p>
        </p:txBody>
      </p:sp>
      <p:sp>
        <p:nvSpPr>
          <p:cNvPr id="5" name="Footer Placeholder 4">
            <a:extLst>
              <a:ext uri="{FF2B5EF4-FFF2-40B4-BE49-F238E27FC236}">
                <a16:creationId xmlns:a16="http://schemas.microsoft.com/office/drawing/2014/main" id="{1E5BA32E-F332-6240-29D9-F2CB902BAFE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AU"/>
          </a:p>
        </p:txBody>
      </p:sp>
      <p:sp>
        <p:nvSpPr>
          <p:cNvPr id="6" name="Slide Number Placeholder 5">
            <a:extLst>
              <a:ext uri="{FF2B5EF4-FFF2-40B4-BE49-F238E27FC236}">
                <a16:creationId xmlns:a16="http://schemas.microsoft.com/office/drawing/2014/main" id="{08ACC8AC-8647-5973-91D8-83A301967F6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666143E0-65BA-4AF4-B9F5-3A622158391E}" type="slidenum">
              <a:rPr lang="en-AU" smtClean="0"/>
              <a:t>‹#›</a:t>
            </a:fld>
            <a:endParaRPr lang="en-AU"/>
          </a:p>
        </p:txBody>
      </p:sp>
    </p:spTree>
    <p:extLst>
      <p:ext uri="{BB962C8B-B14F-4D97-AF65-F5344CB8AC3E}">
        <p14:creationId xmlns:p14="http://schemas.microsoft.com/office/powerpoint/2010/main" val="82685742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7.xml"/><Relationship Id="rId4" Type="http://schemas.openxmlformats.org/officeDocument/2006/relationships/image" Target="../media/image13.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32B536-CD70-9DE5-CFC2-48C7671739CA}"/>
              </a:ext>
            </a:extLst>
          </p:cNvPr>
          <p:cNvSpPr>
            <a:spLocks noGrp="1"/>
          </p:cNvSpPr>
          <p:nvPr>
            <p:ph type="ctrTitle"/>
          </p:nvPr>
        </p:nvSpPr>
        <p:spPr/>
        <p:txBody>
          <a:bodyPr/>
          <a:lstStyle/>
          <a:p>
            <a:endParaRPr lang="en-AU" noProof="0" dirty="0"/>
          </a:p>
        </p:txBody>
      </p:sp>
      <p:sp>
        <p:nvSpPr>
          <p:cNvPr id="3" name="Subtitle 2">
            <a:extLst>
              <a:ext uri="{FF2B5EF4-FFF2-40B4-BE49-F238E27FC236}">
                <a16:creationId xmlns:a16="http://schemas.microsoft.com/office/drawing/2014/main" id="{2ED935A8-37BF-57C3-A747-1FF6693A07D8}"/>
              </a:ext>
            </a:extLst>
          </p:cNvPr>
          <p:cNvSpPr>
            <a:spLocks noGrp="1"/>
          </p:cNvSpPr>
          <p:nvPr>
            <p:ph type="subTitle" idx="1"/>
          </p:nvPr>
        </p:nvSpPr>
        <p:spPr/>
        <p:txBody>
          <a:bodyPr/>
          <a:lstStyle/>
          <a:p>
            <a:endParaRPr lang="en-AU" noProof="0" dirty="0"/>
          </a:p>
        </p:txBody>
      </p:sp>
      <p:sp>
        <p:nvSpPr>
          <p:cNvPr id="6" name="Rectangle 5">
            <a:extLst>
              <a:ext uri="{FF2B5EF4-FFF2-40B4-BE49-F238E27FC236}">
                <a16:creationId xmlns:a16="http://schemas.microsoft.com/office/drawing/2014/main" id="{D78B6FCE-F346-304F-AA40-EB8F60801D40}"/>
              </a:ext>
            </a:extLst>
          </p:cNvPr>
          <p:cNvSpPr/>
          <p:nvPr/>
        </p:nvSpPr>
        <p:spPr>
          <a:xfrm>
            <a:off x="319872" y="291353"/>
            <a:ext cx="11552256" cy="627529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noProof="0" dirty="0"/>
          </a:p>
        </p:txBody>
      </p:sp>
      <p:pic>
        <p:nvPicPr>
          <p:cNvPr id="7" name="Picture 6">
            <a:extLst>
              <a:ext uri="{FF2B5EF4-FFF2-40B4-BE49-F238E27FC236}">
                <a16:creationId xmlns:a16="http://schemas.microsoft.com/office/drawing/2014/main" id="{D47208DD-28BB-3FF1-9FBB-E8C3FAEBA2C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66164" y="5838783"/>
            <a:ext cx="2003282" cy="443724"/>
          </a:xfrm>
          <a:prstGeom prst="rect">
            <a:avLst/>
          </a:prstGeom>
        </p:spPr>
      </p:pic>
      <p:pic>
        <p:nvPicPr>
          <p:cNvPr id="8" name="Picture 7">
            <a:extLst>
              <a:ext uri="{FF2B5EF4-FFF2-40B4-BE49-F238E27FC236}">
                <a16:creationId xmlns:a16="http://schemas.microsoft.com/office/drawing/2014/main" id="{918BAAE8-9568-E670-3D2B-09E0493A658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017370" y="426737"/>
            <a:ext cx="717140" cy="717140"/>
          </a:xfrm>
          <a:prstGeom prst="rect">
            <a:avLst/>
          </a:prstGeom>
        </p:spPr>
      </p:pic>
      <p:sp>
        <p:nvSpPr>
          <p:cNvPr id="9" name="TextBox 8">
            <a:extLst>
              <a:ext uri="{FF2B5EF4-FFF2-40B4-BE49-F238E27FC236}">
                <a16:creationId xmlns:a16="http://schemas.microsoft.com/office/drawing/2014/main" id="{B6F76717-FBF4-D43F-202F-9235C7C3C349}"/>
              </a:ext>
            </a:extLst>
          </p:cNvPr>
          <p:cNvSpPr txBox="1"/>
          <p:nvPr/>
        </p:nvSpPr>
        <p:spPr>
          <a:xfrm>
            <a:off x="457490" y="761999"/>
            <a:ext cx="9760880" cy="4889500"/>
          </a:xfrm>
          <a:prstGeom prst="rect">
            <a:avLst/>
          </a:prstGeom>
          <a:noFill/>
        </p:spPr>
        <p:txBody>
          <a:bodyPr wrap="square" rtlCol="0">
            <a:noAutofit/>
          </a:bodyPr>
          <a:lstStyle/>
          <a:p>
            <a:r>
              <a:rPr lang="en-US" sz="3200" b="1" dirty="0">
                <a:solidFill>
                  <a:schemeClr val="bg1"/>
                </a:solidFill>
              </a:rPr>
              <a:t>Scheduling Algorithm Research:</a:t>
            </a:r>
          </a:p>
          <a:p>
            <a:r>
              <a:rPr lang="en-US" sz="4400" b="1" dirty="0">
                <a:solidFill>
                  <a:schemeClr val="bg1"/>
                </a:solidFill>
              </a:rPr>
              <a:t>Fleet maintenance optimisation</a:t>
            </a:r>
          </a:p>
          <a:p>
            <a:endParaRPr lang="en-US" sz="3200" b="1" dirty="0">
              <a:solidFill>
                <a:schemeClr val="bg1"/>
              </a:solidFill>
            </a:endParaRPr>
          </a:p>
          <a:p>
            <a:endParaRPr lang="en-US" sz="3200" b="1" dirty="0">
              <a:solidFill>
                <a:schemeClr val="bg1"/>
              </a:solidFill>
            </a:endParaRPr>
          </a:p>
          <a:p>
            <a:endParaRPr lang="en-US" sz="3200" b="1" dirty="0">
              <a:solidFill>
                <a:schemeClr val="bg1"/>
              </a:solidFill>
            </a:endParaRPr>
          </a:p>
          <a:p>
            <a:r>
              <a:rPr lang="en-US" sz="3200" b="1" dirty="0">
                <a:solidFill>
                  <a:schemeClr val="bg1"/>
                </a:solidFill>
              </a:rPr>
              <a:t>Data7902 Capstone Project</a:t>
            </a:r>
          </a:p>
          <a:p>
            <a:endParaRPr lang="en-US" sz="3200" b="1" dirty="0">
              <a:solidFill>
                <a:schemeClr val="bg1"/>
              </a:solidFill>
            </a:endParaRPr>
          </a:p>
          <a:p>
            <a:r>
              <a:rPr lang="en-US" sz="2400" b="1" dirty="0">
                <a:solidFill>
                  <a:schemeClr val="bg1"/>
                </a:solidFill>
              </a:rPr>
              <a:t>Presenter: David Long</a:t>
            </a:r>
            <a:endParaRPr lang="en-AU" sz="2400" b="1" noProof="0" dirty="0">
              <a:solidFill>
                <a:schemeClr val="bg1"/>
              </a:solidFill>
            </a:endParaRPr>
          </a:p>
        </p:txBody>
      </p:sp>
      <p:pic>
        <p:nvPicPr>
          <p:cNvPr id="10" name="Picture 9">
            <a:extLst>
              <a:ext uri="{FF2B5EF4-FFF2-40B4-BE49-F238E27FC236}">
                <a16:creationId xmlns:a16="http://schemas.microsoft.com/office/drawing/2014/main" id="{76A11E68-1434-FB0F-7BF1-51BB9BD25F77}"/>
              </a:ext>
            </a:extLst>
          </p:cNvPr>
          <p:cNvPicPr>
            <a:picLocks noChangeAspect="1"/>
          </p:cNvPicPr>
          <p:nvPr/>
        </p:nvPicPr>
        <p:blipFill>
          <a:blip r:embed="rId5"/>
          <a:stretch>
            <a:fillRect/>
          </a:stretch>
        </p:blipFill>
        <p:spPr>
          <a:xfrm>
            <a:off x="2792837" y="2760759"/>
            <a:ext cx="3395766" cy="1109568"/>
          </a:xfrm>
          <a:prstGeom prst="rect">
            <a:avLst/>
          </a:prstGeom>
        </p:spPr>
      </p:pic>
    </p:spTree>
    <p:extLst>
      <p:ext uri="{BB962C8B-B14F-4D97-AF65-F5344CB8AC3E}">
        <p14:creationId xmlns:p14="http://schemas.microsoft.com/office/powerpoint/2010/main" val="323023462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45AD5A-A999-31AC-C7EE-FD3C41CC11C2}"/>
              </a:ext>
            </a:extLst>
          </p:cNvPr>
          <p:cNvSpPr>
            <a:spLocks noGrp="1"/>
          </p:cNvSpPr>
          <p:nvPr>
            <p:ph type="title"/>
          </p:nvPr>
        </p:nvSpPr>
        <p:spPr>
          <a:xfrm>
            <a:off x="553459" y="330739"/>
            <a:ext cx="4646904" cy="1624520"/>
          </a:xfrm>
        </p:spPr>
        <p:txBody>
          <a:bodyPr anchor="ctr">
            <a:noAutofit/>
          </a:bodyPr>
          <a:lstStyle/>
          <a:p>
            <a:r>
              <a:rPr lang="en-US" sz="4000" b="1" dirty="0"/>
              <a:t>The aircraft maintenance scheduling problem</a:t>
            </a:r>
            <a:endParaRPr lang="en-AU" sz="4000" dirty="0"/>
          </a:p>
        </p:txBody>
      </p:sp>
      <p:sp>
        <p:nvSpPr>
          <p:cNvPr id="3" name="Content Placeholder 2">
            <a:extLst>
              <a:ext uri="{FF2B5EF4-FFF2-40B4-BE49-F238E27FC236}">
                <a16:creationId xmlns:a16="http://schemas.microsoft.com/office/drawing/2014/main" id="{DE578AE2-AAF2-7D4A-3EC2-6D7583687400}"/>
              </a:ext>
            </a:extLst>
          </p:cNvPr>
          <p:cNvSpPr>
            <a:spLocks noGrp="1"/>
          </p:cNvSpPr>
          <p:nvPr>
            <p:ph idx="1"/>
          </p:nvPr>
        </p:nvSpPr>
        <p:spPr>
          <a:xfrm>
            <a:off x="437710" y="2311400"/>
            <a:ext cx="5460170" cy="3937000"/>
          </a:xfrm>
        </p:spPr>
        <p:txBody>
          <a:bodyPr anchor="ctr">
            <a:noAutofit/>
          </a:bodyPr>
          <a:lstStyle/>
          <a:p>
            <a:pPr>
              <a:spcAft>
                <a:spcPts val="1500"/>
              </a:spcAft>
            </a:pPr>
            <a:r>
              <a:rPr lang="en-US" sz="2000" dirty="0">
                <a:latin typeface="Arial" panose="020B0604020202020204" pitchFamily="34" charset="0"/>
                <a:cs typeface="Arial" panose="020B0604020202020204" pitchFamily="34" charset="0"/>
              </a:rPr>
              <a:t>Multiple aircraft go through routine checks concurrently</a:t>
            </a:r>
          </a:p>
          <a:p>
            <a:pPr>
              <a:spcAft>
                <a:spcPts val="1500"/>
              </a:spcAft>
            </a:pPr>
            <a:r>
              <a:rPr lang="en-US" sz="2000" dirty="0">
                <a:latin typeface="Arial" panose="020B0604020202020204" pitchFamily="34" charset="0"/>
                <a:cs typeface="Arial" panose="020B0604020202020204" pitchFamily="34" charset="0"/>
              </a:rPr>
              <a:t>Concurrent maintenance creates dips in fleet availability. Staggered checks must preserve start windows and maintenance rules.</a:t>
            </a:r>
          </a:p>
          <a:p>
            <a:pPr>
              <a:spcAft>
                <a:spcPts val="1500"/>
              </a:spcAft>
            </a:pPr>
            <a:r>
              <a:rPr lang="en-US" sz="2000" dirty="0">
                <a:latin typeface="Arial" panose="020B0604020202020204" pitchFamily="34" charset="0"/>
                <a:cs typeface="Arial" panose="020B0604020202020204" pitchFamily="34" charset="0"/>
              </a:rPr>
              <a:t>Finite resources such as dock space, mechanics, and components.</a:t>
            </a:r>
          </a:p>
          <a:p>
            <a:pPr>
              <a:spcAft>
                <a:spcPts val="1500"/>
              </a:spcAft>
            </a:pPr>
            <a:r>
              <a:rPr lang="en-US" sz="2000" dirty="0">
                <a:latin typeface="Arial" panose="020B0604020202020204" pitchFamily="34" charset="0"/>
                <a:cs typeface="Arial" panose="020B0604020202020204" pitchFamily="34" charset="0"/>
              </a:rPr>
              <a:t>First: </a:t>
            </a:r>
            <a:r>
              <a:rPr lang="en-US" sz="2000" dirty="0" err="1">
                <a:latin typeface="Arial" panose="020B0604020202020204" pitchFamily="34" charset="0"/>
                <a:cs typeface="Arial" panose="020B0604020202020204" pitchFamily="34" charset="0"/>
              </a:rPr>
              <a:t>maximise</a:t>
            </a:r>
            <a:r>
              <a:rPr lang="en-US" sz="2000" dirty="0">
                <a:latin typeface="Arial" panose="020B0604020202020204" pitchFamily="34" charset="0"/>
                <a:cs typeface="Arial" panose="020B0604020202020204" pitchFamily="34" charset="0"/>
              </a:rPr>
              <a:t> worst-day availability.</a:t>
            </a:r>
          </a:p>
          <a:p>
            <a:pPr>
              <a:spcAft>
                <a:spcPts val="1500"/>
              </a:spcAft>
            </a:pPr>
            <a:r>
              <a:rPr lang="en-US" sz="2000" dirty="0">
                <a:latin typeface="Arial" panose="020B0604020202020204" pitchFamily="34" charset="0"/>
                <a:cs typeface="Arial" panose="020B0604020202020204" pitchFamily="34" charset="0"/>
              </a:rPr>
              <a:t>Then: reduce standard deviation.</a:t>
            </a:r>
          </a:p>
        </p:txBody>
      </p:sp>
      <p:pic>
        <p:nvPicPr>
          <p:cNvPr id="29" name="Picture 28" descr="Airplanes on a road">
            <a:extLst>
              <a:ext uri="{FF2B5EF4-FFF2-40B4-BE49-F238E27FC236}">
                <a16:creationId xmlns:a16="http://schemas.microsoft.com/office/drawing/2014/main" id="{3F3F97C4-1E4E-D0DA-2013-1C72D5700FB5}"/>
              </a:ext>
            </a:extLst>
          </p:cNvPr>
          <p:cNvPicPr>
            <a:picLocks noChangeAspect="1"/>
          </p:cNvPicPr>
          <p:nvPr/>
        </p:nvPicPr>
        <p:blipFill>
          <a:blip r:embed="rId3"/>
          <a:srcRect l="23740" r="17305" b="-1"/>
          <a:stretch>
            <a:fillRect/>
          </a:stretch>
        </p:blipFill>
        <p:spPr>
          <a:xfrm>
            <a:off x="6096000" y="1"/>
            <a:ext cx="6102825" cy="6858000"/>
          </a:xfrm>
          <a:prstGeom prst="rect">
            <a:avLst/>
          </a:prstGeom>
        </p:spPr>
      </p:pic>
    </p:spTree>
    <p:extLst>
      <p:ext uri="{BB962C8B-B14F-4D97-AF65-F5344CB8AC3E}">
        <p14:creationId xmlns:p14="http://schemas.microsoft.com/office/powerpoint/2010/main" val="328573371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90F1B5D-6607-B3F3-80DB-2DF2490C44FA}"/>
            </a:ext>
          </a:extLst>
        </p:cNvPr>
        <p:cNvGrpSpPr/>
        <p:nvPr/>
      </p:nvGrpSpPr>
      <p:grpSpPr>
        <a:xfrm>
          <a:off x="0" y="0"/>
          <a:ext cx="0" cy="0"/>
          <a:chOff x="0" y="0"/>
          <a:chExt cx="0" cy="0"/>
        </a:xfrm>
      </p:grpSpPr>
      <p:sp useBgFill="1">
        <p:nvSpPr>
          <p:cNvPr id="44" name="Rectangle 43">
            <a:extLst>
              <a:ext uri="{FF2B5EF4-FFF2-40B4-BE49-F238E27FC236}">
                <a16:creationId xmlns:a16="http://schemas.microsoft.com/office/drawing/2014/main" id="{C4879EFC-8E62-4E00-973C-C45EE9EC676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FD78A0E-4412-E1D8-63D2-94FC3D4AD198}"/>
              </a:ext>
            </a:extLst>
          </p:cNvPr>
          <p:cNvSpPr>
            <a:spLocks noGrp="1"/>
          </p:cNvSpPr>
          <p:nvPr>
            <p:ph type="title"/>
          </p:nvPr>
        </p:nvSpPr>
        <p:spPr>
          <a:xfrm>
            <a:off x="457200" y="393700"/>
            <a:ext cx="11277600" cy="571500"/>
          </a:xfrm>
        </p:spPr>
        <p:txBody>
          <a:bodyPr vert="horz" lIns="91440" tIns="45720" rIns="91440" bIns="45720" rtlCol="0" anchor="ctr">
            <a:noAutofit/>
          </a:bodyPr>
          <a:lstStyle/>
          <a:p>
            <a:r>
              <a:rPr lang="en-US" sz="3200" noProof="0"/>
              <a:t>Simple fleet proof of concept</a:t>
            </a:r>
            <a:endParaRPr lang="en-US" sz="3200" noProof="0" dirty="0"/>
          </a:p>
        </p:txBody>
      </p:sp>
      <p:sp>
        <p:nvSpPr>
          <p:cNvPr id="46" name="sketch line">
            <a:extLst>
              <a:ext uri="{FF2B5EF4-FFF2-40B4-BE49-F238E27FC236}">
                <a16:creationId xmlns:a16="http://schemas.microsoft.com/office/drawing/2014/main" id="{D6A9C53F-5F90-40A5-8C85-5412D39C8C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50080" y="1850683"/>
            <a:ext cx="3291840" cy="18288"/>
          </a:xfrm>
          <a:custGeom>
            <a:avLst/>
            <a:gdLst>
              <a:gd name="csX0" fmla="*/ 0 w 3291840"/>
              <a:gd name="csY0" fmla="*/ 0 h 18288"/>
              <a:gd name="csX1" fmla="*/ 658368 w 3291840"/>
              <a:gd name="csY1" fmla="*/ 0 h 18288"/>
              <a:gd name="csX2" fmla="*/ 1283818 w 3291840"/>
              <a:gd name="csY2" fmla="*/ 0 h 18288"/>
              <a:gd name="csX3" fmla="*/ 1909267 w 3291840"/>
              <a:gd name="csY3" fmla="*/ 0 h 18288"/>
              <a:gd name="csX4" fmla="*/ 2633472 w 3291840"/>
              <a:gd name="csY4" fmla="*/ 0 h 18288"/>
              <a:gd name="csX5" fmla="*/ 3291840 w 3291840"/>
              <a:gd name="csY5" fmla="*/ 0 h 18288"/>
              <a:gd name="csX6" fmla="*/ 3291840 w 3291840"/>
              <a:gd name="csY6" fmla="*/ 18288 h 18288"/>
              <a:gd name="csX7" fmla="*/ 2633472 w 3291840"/>
              <a:gd name="csY7" fmla="*/ 18288 h 18288"/>
              <a:gd name="csX8" fmla="*/ 2073859 w 3291840"/>
              <a:gd name="csY8" fmla="*/ 18288 h 18288"/>
              <a:gd name="csX9" fmla="*/ 1448410 w 3291840"/>
              <a:gd name="csY9" fmla="*/ 18288 h 18288"/>
              <a:gd name="csX10" fmla="*/ 822960 w 3291840"/>
              <a:gd name="csY10" fmla="*/ 18288 h 18288"/>
              <a:gd name="csX11" fmla="*/ 0 w 3291840"/>
              <a:gd name="csY11" fmla="*/ 18288 h 18288"/>
              <a:gd name="csX12" fmla="*/ 0 w 3291840"/>
              <a:gd name="csY12"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3291840" h="18288" fill="none" extrusionOk="0">
                <a:moveTo>
                  <a:pt x="0" y="0"/>
                </a:moveTo>
                <a:cubicBezTo>
                  <a:pt x="173077" y="-20031"/>
                  <a:pt x="443104" y="6424"/>
                  <a:pt x="658368" y="0"/>
                </a:cubicBezTo>
                <a:cubicBezTo>
                  <a:pt x="873632" y="-6424"/>
                  <a:pt x="1034028" y="11764"/>
                  <a:pt x="1283818" y="0"/>
                </a:cubicBezTo>
                <a:cubicBezTo>
                  <a:pt x="1533608" y="-11764"/>
                  <a:pt x="1691227" y="-30112"/>
                  <a:pt x="1909267" y="0"/>
                </a:cubicBezTo>
                <a:cubicBezTo>
                  <a:pt x="2127307" y="30112"/>
                  <a:pt x="2272465" y="-18735"/>
                  <a:pt x="2633472" y="0"/>
                </a:cubicBezTo>
                <a:cubicBezTo>
                  <a:pt x="2994479" y="18735"/>
                  <a:pt x="3023324" y="-32030"/>
                  <a:pt x="3291840" y="0"/>
                </a:cubicBezTo>
                <a:cubicBezTo>
                  <a:pt x="3291406" y="7551"/>
                  <a:pt x="3291373" y="9822"/>
                  <a:pt x="3291840" y="18288"/>
                </a:cubicBezTo>
                <a:cubicBezTo>
                  <a:pt x="3048445" y="38989"/>
                  <a:pt x="2846548" y="-14400"/>
                  <a:pt x="2633472" y="18288"/>
                </a:cubicBezTo>
                <a:cubicBezTo>
                  <a:pt x="2420396" y="50976"/>
                  <a:pt x="2304099" y="6336"/>
                  <a:pt x="2073859" y="18288"/>
                </a:cubicBezTo>
                <a:cubicBezTo>
                  <a:pt x="1843619" y="30240"/>
                  <a:pt x="1706926" y="10778"/>
                  <a:pt x="1448410" y="18288"/>
                </a:cubicBezTo>
                <a:cubicBezTo>
                  <a:pt x="1189894" y="25798"/>
                  <a:pt x="1002278" y="8992"/>
                  <a:pt x="822960" y="18288"/>
                </a:cubicBezTo>
                <a:cubicBezTo>
                  <a:pt x="643642" y="27585"/>
                  <a:pt x="307039" y="38051"/>
                  <a:pt x="0" y="18288"/>
                </a:cubicBezTo>
                <a:cubicBezTo>
                  <a:pt x="60" y="11696"/>
                  <a:pt x="66" y="3758"/>
                  <a:pt x="0" y="0"/>
                </a:cubicBezTo>
                <a:close/>
              </a:path>
              <a:path w="3291840" h="18288" stroke="0" extrusionOk="0">
                <a:moveTo>
                  <a:pt x="0" y="0"/>
                </a:moveTo>
                <a:cubicBezTo>
                  <a:pt x="195850" y="28018"/>
                  <a:pt x="434891" y="17390"/>
                  <a:pt x="592531" y="0"/>
                </a:cubicBezTo>
                <a:cubicBezTo>
                  <a:pt x="750171" y="-17390"/>
                  <a:pt x="1018709" y="32200"/>
                  <a:pt x="1316736" y="0"/>
                </a:cubicBezTo>
                <a:cubicBezTo>
                  <a:pt x="1614763" y="-32200"/>
                  <a:pt x="1696480" y="-11367"/>
                  <a:pt x="1876349" y="0"/>
                </a:cubicBezTo>
                <a:cubicBezTo>
                  <a:pt x="2056218" y="11367"/>
                  <a:pt x="2193364" y="13433"/>
                  <a:pt x="2435962" y="0"/>
                </a:cubicBezTo>
                <a:cubicBezTo>
                  <a:pt x="2678560" y="-13433"/>
                  <a:pt x="3010901" y="-42367"/>
                  <a:pt x="3291840" y="0"/>
                </a:cubicBezTo>
                <a:cubicBezTo>
                  <a:pt x="3291758" y="4406"/>
                  <a:pt x="3291751" y="9982"/>
                  <a:pt x="3291840" y="18288"/>
                </a:cubicBezTo>
                <a:cubicBezTo>
                  <a:pt x="3108993" y="14228"/>
                  <a:pt x="2952658" y="46900"/>
                  <a:pt x="2666390" y="18288"/>
                </a:cubicBezTo>
                <a:cubicBezTo>
                  <a:pt x="2380122" y="-10324"/>
                  <a:pt x="2263855" y="41055"/>
                  <a:pt x="2040941" y="18288"/>
                </a:cubicBezTo>
                <a:cubicBezTo>
                  <a:pt x="1818027" y="-4479"/>
                  <a:pt x="1675097" y="6509"/>
                  <a:pt x="1415491" y="18288"/>
                </a:cubicBezTo>
                <a:cubicBezTo>
                  <a:pt x="1155885" y="30068"/>
                  <a:pt x="852976" y="36210"/>
                  <a:pt x="691286" y="18288"/>
                </a:cubicBezTo>
                <a:cubicBezTo>
                  <a:pt x="529596" y="366"/>
                  <a:pt x="187183" y="13912"/>
                  <a:pt x="0" y="18288"/>
                </a:cubicBezTo>
                <a:cubicBezTo>
                  <a:pt x="189" y="14288"/>
                  <a:pt x="-703" y="3747"/>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2863741219">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7" name="Picture 16">
            <a:extLst>
              <a:ext uri="{FF2B5EF4-FFF2-40B4-BE49-F238E27FC236}">
                <a16:creationId xmlns:a16="http://schemas.microsoft.com/office/drawing/2014/main" id="{7BE707D9-B313-19D3-7B8A-ACCC04D0AB40}"/>
              </a:ext>
            </a:extLst>
          </p:cNvPr>
          <p:cNvPicPr>
            <a:picLocks noChangeAspect="1"/>
          </p:cNvPicPr>
          <p:nvPr/>
        </p:nvPicPr>
        <p:blipFill>
          <a:blip r:embed="rId3"/>
          <a:stretch>
            <a:fillRect/>
          </a:stretch>
        </p:blipFill>
        <p:spPr>
          <a:xfrm>
            <a:off x="278250" y="1541418"/>
            <a:ext cx="7503609" cy="4971142"/>
          </a:xfrm>
          <a:prstGeom prst="rect">
            <a:avLst/>
          </a:prstGeom>
        </p:spPr>
      </p:pic>
      <p:pic>
        <p:nvPicPr>
          <p:cNvPr id="7" name="Picture 6">
            <a:extLst>
              <a:ext uri="{FF2B5EF4-FFF2-40B4-BE49-F238E27FC236}">
                <a16:creationId xmlns:a16="http://schemas.microsoft.com/office/drawing/2014/main" id="{08F29261-A05C-A617-9507-997E370A4E6F}"/>
              </a:ext>
            </a:extLst>
          </p:cNvPr>
          <p:cNvPicPr>
            <a:picLocks noChangeAspect="1"/>
          </p:cNvPicPr>
          <p:nvPr/>
        </p:nvPicPr>
        <p:blipFill>
          <a:blip r:embed="rId4"/>
          <a:stretch>
            <a:fillRect/>
          </a:stretch>
        </p:blipFill>
        <p:spPr>
          <a:xfrm>
            <a:off x="7506042" y="4059948"/>
            <a:ext cx="4522391" cy="2385560"/>
          </a:xfrm>
          <a:prstGeom prst="rect">
            <a:avLst/>
          </a:prstGeom>
        </p:spPr>
      </p:pic>
      <p:sp>
        <p:nvSpPr>
          <p:cNvPr id="13" name="AutoShape 10" descr="Optimization algorithm workflow diagram">
            <a:extLst>
              <a:ext uri="{FF2B5EF4-FFF2-40B4-BE49-F238E27FC236}">
                <a16:creationId xmlns:a16="http://schemas.microsoft.com/office/drawing/2014/main" id="{21EBC921-E282-B19E-243B-300038ACDA82}"/>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AU" noProof="0" dirty="0"/>
          </a:p>
        </p:txBody>
      </p:sp>
      <p:sp>
        <p:nvSpPr>
          <p:cNvPr id="3" name="Simple setup">
            <a:extLst>
              <a:ext uri="{FF2B5EF4-FFF2-40B4-BE49-F238E27FC236}">
                <a16:creationId xmlns:a16="http://schemas.microsoft.com/office/drawing/2014/main" id="{CCCAD1C2-1825-58A1-7ABB-CCDAB7AD881E}"/>
              </a:ext>
            </a:extLst>
          </p:cNvPr>
          <p:cNvSpPr txBox="1"/>
          <p:nvPr/>
        </p:nvSpPr>
        <p:spPr>
          <a:xfrm>
            <a:off x="609600" y="1130300"/>
            <a:ext cx="10922000" cy="246221"/>
          </a:xfrm>
          <a:prstGeom prst="rect">
            <a:avLst/>
          </a:prstGeom>
          <a:noFill/>
        </p:spPr>
        <p:txBody>
          <a:bodyPr vert="horz" lIns="0" tIns="0" rIns="0" bIns="0" rtlCol="0">
            <a:noAutofit/>
          </a:bodyPr>
          <a:lstStyle/>
          <a:p>
            <a:r>
              <a:rPr lang="en-US" sz="1600">
                <a:solidFill>
                  <a:srgbClr val="000000"/>
                </a:solidFill>
                <a:latin typeface="Calibri" panose="020F0502020204030204" pitchFamily="34" charset="0"/>
              </a:rPr>
              <a:t>10 aircraft, 80 checks. Keep the best feasible improvement at each iteration.</a:t>
            </a:r>
            <a:endParaRPr lang="en-AU" sz="1600">
              <a:solidFill>
                <a:srgbClr val="000000"/>
              </a:solidFill>
              <a:latin typeface="Calibri" panose="020F0502020204030204" pitchFamily="34" charset="0"/>
            </a:endParaRPr>
          </a:p>
        </p:txBody>
      </p:sp>
      <p:pic>
        <p:nvPicPr>
          <p:cNvPr id="5" name="Picture 4">
            <a:extLst>
              <a:ext uri="{FF2B5EF4-FFF2-40B4-BE49-F238E27FC236}">
                <a16:creationId xmlns:a16="http://schemas.microsoft.com/office/drawing/2014/main" id="{5ECA7279-AB1A-3648-2A8E-FC165FC58E53}"/>
              </a:ext>
            </a:extLst>
          </p:cNvPr>
          <p:cNvPicPr>
            <a:picLocks noChangeAspect="1"/>
          </p:cNvPicPr>
          <p:nvPr/>
        </p:nvPicPr>
        <p:blipFill>
          <a:blip r:embed="rId5"/>
          <a:stretch>
            <a:fillRect/>
          </a:stretch>
        </p:blipFill>
        <p:spPr>
          <a:xfrm>
            <a:off x="7585733" y="965200"/>
            <a:ext cx="4376143" cy="2330296"/>
          </a:xfrm>
          <a:prstGeom prst="rect">
            <a:avLst/>
          </a:prstGeom>
        </p:spPr>
      </p:pic>
    </p:spTree>
    <p:extLst>
      <p:ext uri="{BB962C8B-B14F-4D97-AF65-F5344CB8AC3E}">
        <p14:creationId xmlns:p14="http://schemas.microsoft.com/office/powerpoint/2010/main" val="60615553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4E31BE-3F5B-89B5-E6DD-3C9C02762E56}"/>
              </a:ext>
            </a:extLst>
          </p:cNvPr>
          <p:cNvSpPr>
            <a:spLocks noGrp="1"/>
          </p:cNvSpPr>
          <p:nvPr>
            <p:ph type="title"/>
          </p:nvPr>
        </p:nvSpPr>
        <p:spPr>
          <a:xfrm>
            <a:off x="730761" y="0"/>
            <a:ext cx="10515600" cy="1325563"/>
          </a:xfrm>
        </p:spPr>
        <p:txBody>
          <a:bodyPr>
            <a:noAutofit/>
          </a:bodyPr>
          <a:lstStyle/>
          <a:p>
            <a:r>
              <a:rPr lang="en-AU" sz="3600" b="1" noProof="0"/>
              <a:t>The heavy maintenance forecast</a:t>
            </a:r>
            <a:endParaRPr lang="en-AU" sz="3600" b="1" noProof="0" dirty="0"/>
          </a:p>
        </p:txBody>
      </p:sp>
      <p:sp>
        <p:nvSpPr>
          <p:cNvPr id="4" name="Rectangle 1">
            <a:extLst>
              <a:ext uri="{FF2B5EF4-FFF2-40B4-BE49-F238E27FC236}">
                <a16:creationId xmlns:a16="http://schemas.microsoft.com/office/drawing/2014/main" id="{A0DADB02-035B-53CF-9962-E4276D021B31}"/>
              </a:ext>
            </a:extLst>
          </p:cNvPr>
          <p:cNvSpPr>
            <a:spLocks noGrp="1" noChangeArrowheads="1"/>
          </p:cNvSpPr>
          <p:nvPr>
            <p:ph idx="1"/>
          </p:nvPr>
        </p:nvSpPr>
        <p:spPr bwMode="auto">
          <a:xfrm>
            <a:off x="834390" y="1125220"/>
            <a:ext cx="5562600" cy="2108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noAutofit/>
          </a:bodyPr>
          <a:lstStyle/>
          <a:p>
            <a:pPr marL="0" indent="0">
              <a:spcAft>
                <a:spcPts val="900"/>
              </a:spcAft>
              <a:buNone/>
            </a:pPr>
            <a:r>
              <a:rPr lang="en-US" sz="2100" b="1" noProof="0" dirty="0"/>
              <a:t>24 aircraft and 278 checks</a:t>
            </a:r>
          </a:p>
          <a:p>
            <a:pPr marL="0" indent="0">
              <a:spcAft>
                <a:spcPts val="900"/>
              </a:spcAft>
              <a:buNone/>
            </a:pPr>
            <a:r>
              <a:rPr lang="en-US" sz="2100" b="1" noProof="0" dirty="0"/>
              <a:t>A, B, C and D maintenance checks</a:t>
            </a:r>
          </a:p>
          <a:p>
            <a:pPr marL="0" indent="0">
              <a:spcAft>
                <a:spcPts val="900"/>
              </a:spcAft>
              <a:buNone/>
            </a:pPr>
            <a:r>
              <a:rPr lang="en-US" sz="2100" b="1" noProof="0" dirty="0"/>
              <a:t>Sequence: A B A C A B A D</a:t>
            </a:r>
          </a:p>
          <a:p>
            <a:pPr marL="0" indent="0">
              <a:spcAft>
                <a:spcPts val="900"/>
              </a:spcAft>
              <a:buNone/>
            </a:pPr>
            <a:r>
              <a:rPr lang="en-US" sz="2100" b="1" noProof="0" dirty="0"/>
              <a:t>12-year forecast</a:t>
            </a:r>
            <a:endParaRPr kumimoji="0" lang="en-AU" sz="2100" b="0" i="0" u="none" strike="noStrike" cap="none" normalizeH="0" baseline="0" noProof="0" dirty="0">
              <a:ln>
                <a:noFill/>
              </a:ln>
              <a:solidFill>
                <a:schemeClr val="tx1"/>
              </a:solidFill>
              <a:effectLst/>
              <a:latin typeface="Arial" panose="020B0604020202020204" pitchFamily="34" charset="0"/>
            </a:endParaRPr>
          </a:p>
        </p:txBody>
      </p:sp>
      <p:pic>
        <p:nvPicPr>
          <p:cNvPr id="6" name="Picture 5">
            <a:extLst>
              <a:ext uri="{FF2B5EF4-FFF2-40B4-BE49-F238E27FC236}">
                <a16:creationId xmlns:a16="http://schemas.microsoft.com/office/drawing/2014/main" id="{AC493D12-EF4B-1041-B45A-3C193DD7B6E8}"/>
              </a:ext>
            </a:extLst>
          </p:cNvPr>
          <p:cNvPicPr>
            <a:picLocks noChangeAspect="1"/>
          </p:cNvPicPr>
          <p:nvPr/>
        </p:nvPicPr>
        <p:blipFill>
          <a:blip r:embed="rId3"/>
          <a:stretch>
            <a:fillRect/>
          </a:stretch>
        </p:blipFill>
        <p:spPr>
          <a:xfrm>
            <a:off x="1941574" y="3429000"/>
            <a:ext cx="8093974" cy="3226254"/>
          </a:xfrm>
          <a:prstGeom prst="rect">
            <a:avLst/>
          </a:prstGeom>
        </p:spPr>
      </p:pic>
      <p:pic>
        <p:nvPicPr>
          <p:cNvPr id="8" name="Picture 7">
            <a:extLst>
              <a:ext uri="{FF2B5EF4-FFF2-40B4-BE49-F238E27FC236}">
                <a16:creationId xmlns:a16="http://schemas.microsoft.com/office/drawing/2014/main" id="{7B7BE054-2C77-EFC1-5B63-B0D88EF391BB}"/>
              </a:ext>
            </a:extLst>
          </p:cNvPr>
          <p:cNvPicPr>
            <a:picLocks noChangeAspect="1"/>
          </p:cNvPicPr>
          <p:nvPr/>
        </p:nvPicPr>
        <p:blipFill>
          <a:blip r:embed="rId4"/>
          <a:stretch>
            <a:fillRect/>
          </a:stretch>
        </p:blipFill>
        <p:spPr>
          <a:xfrm>
            <a:off x="6151685" y="1514282"/>
            <a:ext cx="5711499" cy="1523558"/>
          </a:xfrm>
          <a:prstGeom prst="rect">
            <a:avLst/>
          </a:prstGeom>
        </p:spPr>
      </p:pic>
    </p:spTree>
    <p:extLst>
      <p:ext uri="{BB962C8B-B14F-4D97-AF65-F5344CB8AC3E}">
        <p14:creationId xmlns:p14="http://schemas.microsoft.com/office/powerpoint/2010/main" val="180001280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D472B5A-3216-1A11-5E04-044444A72CA0}"/>
            </a:ext>
          </a:extLst>
        </p:cNvPr>
        <p:cNvGrpSpPr/>
        <p:nvPr/>
      </p:nvGrpSpPr>
      <p:grpSpPr>
        <a:xfrm>
          <a:off x="0" y="0"/>
          <a:ext cx="0" cy="0"/>
          <a:chOff x="0" y="0"/>
          <a:chExt cx="0" cy="0"/>
        </a:xfrm>
      </p:grpSpPr>
      <p:sp>
        <p:nvSpPr>
          <p:cNvPr id="36" name="Rectangle 35">
            <a:extLst>
              <a:ext uri="{FF2B5EF4-FFF2-40B4-BE49-F238E27FC236}">
                <a16:creationId xmlns:a16="http://schemas.microsoft.com/office/drawing/2014/main" id="{367D4E3B-0388-2BED-5B01-DA2A6F1A8A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51752"/>
            <a:ext cx="12192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noProof="0" dirty="0"/>
          </a:p>
        </p:txBody>
      </p:sp>
      <p:sp>
        <p:nvSpPr>
          <p:cNvPr id="2" name="Title 1">
            <a:extLst>
              <a:ext uri="{FF2B5EF4-FFF2-40B4-BE49-F238E27FC236}">
                <a16:creationId xmlns:a16="http://schemas.microsoft.com/office/drawing/2014/main" id="{79974C51-8353-BD72-29D5-D47AC2ED92B4}"/>
              </a:ext>
            </a:extLst>
          </p:cNvPr>
          <p:cNvSpPr>
            <a:spLocks noGrp="1"/>
          </p:cNvSpPr>
          <p:nvPr>
            <p:ph type="title"/>
          </p:nvPr>
        </p:nvSpPr>
        <p:spPr>
          <a:xfrm>
            <a:off x="556532" y="643467"/>
            <a:ext cx="11210925" cy="744836"/>
          </a:xfrm>
        </p:spPr>
        <p:txBody>
          <a:bodyPr vert="horz" lIns="91440" tIns="45720" rIns="91440" bIns="45720" rtlCol="0" anchor="ctr">
            <a:noAutofit/>
          </a:bodyPr>
          <a:lstStyle/>
          <a:p>
            <a:pPr algn="ctr"/>
            <a:r>
              <a:rPr lang="en-AU" sz="3200" kern="1200" noProof="0" dirty="0">
                <a:solidFill>
                  <a:schemeClr val="bg1"/>
                </a:solidFill>
                <a:latin typeface="+mj-lt"/>
                <a:ea typeface="+mj-ea"/>
                <a:cs typeface="+mj-cs"/>
              </a:rPr>
              <a:t>Scaling the search: Random Sampling method</a:t>
            </a:r>
          </a:p>
        </p:txBody>
      </p:sp>
      <p:pic>
        <p:nvPicPr>
          <p:cNvPr id="17" name="Picture 16">
            <a:extLst>
              <a:ext uri="{FF2B5EF4-FFF2-40B4-BE49-F238E27FC236}">
                <a16:creationId xmlns:a16="http://schemas.microsoft.com/office/drawing/2014/main" id="{4E3D4C6D-5699-C424-0613-87C1939BAC52}"/>
              </a:ext>
            </a:extLst>
          </p:cNvPr>
          <p:cNvPicPr>
            <a:picLocks noChangeAspect="1"/>
          </p:cNvPicPr>
          <p:nvPr/>
        </p:nvPicPr>
        <p:blipFill>
          <a:blip r:embed="rId3"/>
          <a:stretch>
            <a:fillRect/>
          </a:stretch>
        </p:blipFill>
        <p:spPr>
          <a:xfrm>
            <a:off x="6531824" y="1443811"/>
            <a:ext cx="4947598" cy="3277784"/>
          </a:xfrm>
          <a:prstGeom prst="rect">
            <a:avLst/>
          </a:prstGeom>
        </p:spPr>
      </p:pic>
      <p:sp>
        <p:nvSpPr>
          <p:cNvPr id="13" name="AutoShape 10" descr="Optimization algorithm workflow diagram">
            <a:extLst>
              <a:ext uri="{FF2B5EF4-FFF2-40B4-BE49-F238E27FC236}">
                <a16:creationId xmlns:a16="http://schemas.microsoft.com/office/drawing/2014/main" id="{1AE887EE-4832-D343-9523-0BD8C614F8ED}"/>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AU" noProof="0" dirty="0"/>
          </a:p>
        </p:txBody>
      </p:sp>
      <p:sp>
        <p:nvSpPr>
          <p:cNvPr id="3" name="Rectangle 1">
            <a:extLst>
              <a:ext uri="{FF2B5EF4-FFF2-40B4-BE49-F238E27FC236}">
                <a16:creationId xmlns:a16="http://schemas.microsoft.com/office/drawing/2014/main" id="{DE7B2555-8466-DE0B-896A-8C3D64BCFE6D}"/>
              </a:ext>
            </a:extLst>
          </p:cNvPr>
          <p:cNvSpPr>
            <a:spLocks noGrp="1" noChangeArrowheads="1"/>
          </p:cNvSpPr>
          <p:nvPr>
            <p:ph idx="1"/>
          </p:nvPr>
        </p:nvSpPr>
        <p:spPr bwMode="auto">
          <a:xfrm>
            <a:off x="302801" y="1673760"/>
            <a:ext cx="4326349" cy="4127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noAutofit/>
          </a:bodyPr>
          <a:lstStyle/>
          <a:p>
            <a:pPr marL="0" indent="0">
              <a:spcAft>
                <a:spcPts val="1500"/>
              </a:spcAft>
              <a:buNone/>
            </a:pPr>
            <a:r>
              <a:rPr lang="en-US" sz="2100" noProof="0" dirty="0"/>
              <a:t>The heavy fleet creates over 1,000 </a:t>
            </a:r>
            <a:r>
              <a:rPr lang="en-US" sz="2100" noProof="0" dirty="0" err="1"/>
              <a:t>neighbours</a:t>
            </a:r>
            <a:r>
              <a:rPr lang="en-US" sz="2100" noProof="0" dirty="0"/>
              <a:t> per iteration.</a:t>
            </a:r>
          </a:p>
          <a:p>
            <a:pPr marL="0" indent="0">
              <a:spcAft>
                <a:spcPts val="1500"/>
              </a:spcAft>
              <a:buNone/>
            </a:pPr>
            <a:r>
              <a:rPr lang="en-US" sz="2100" noProof="0" dirty="0"/>
              <a:t>Full evaluation becomes too slow.</a:t>
            </a:r>
          </a:p>
          <a:p>
            <a:pPr marL="0" indent="0">
              <a:spcAft>
                <a:spcPts val="1500"/>
              </a:spcAft>
              <a:buNone/>
            </a:pPr>
            <a:r>
              <a:rPr lang="en-US" sz="2100" noProof="0" dirty="0"/>
              <a:t>Sampling 200 </a:t>
            </a:r>
            <a:r>
              <a:rPr lang="en-US" sz="2100" noProof="0" dirty="0" err="1"/>
              <a:t>neighbours</a:t>
            </a:r>
            <a:r>
              <a:rPr lang="en-US" sz="2100" noProof="0" dirty="0"/>
              <a:t> reduces work.</a:t>
            </a:r>
          </a:p>
          <a:p>
            <a:pPr marL="0" indent="0">
              <a:spcAft>
                <a:spcPts val="1500"/>
              </a:spcAft>
              <a:buNone/>
            </a:pPr>
            <a:r>
              <a:rPr lang="en-US" sz="2100" dirty="0"/>
              <a:t>Not deterministic, only reproducible with same seed</a:t>
            </a:r>
            <a:endParaRPr lang="en-US" sz="2100" noProof="0" dirty="0"/>
          </a:p>
          <a:p>
            <a:pPr marL="0" indent="0">
              <a:spcAft>
                <a:spcPts val="1500"/>
              </a:spcAft>
              <a:buNone/>
            </a:pPr>
            <a:r>
              <a:rPr lang="en-US" sz="2100" noProof="0" dirty="0"/>
              <a:t>Random selection can miss a useful move.</a:t>
            </a:r>
          </a:p>
        </p:txBody>
      </p:sp>
      <p:pic>
        <p:nvPicPr>
          <p:cNvPr id="5" name="Picture 4">
            <a:extLst>
              <a:ext uri="{FF2B5EF4-FFF2-40B4-BE49-F238E27FC236}">
                <a16:creationId xmlns:a16="http://schemas.microsoft.com/office/drawing/2014/main" id="{456E6387-1899-EEAF-8BA1-BCA8D4DA0990}"/>
              </a:ext>
            </a:extLst>
          </p:cNvPr>
          <p:cNvPicPr>
            <a:picLocks noChangeAspect="1"/>
          </p:cNvPicPr>
          <p:nvPr/>
        </p:nvPicPr>
        <p:blipFill>
          <a:blip r:embed="rId4"/>
          <a:stretch>
            <a:fillRect/>
          </a:stretch>
        </p:blipFill>
        <p:spPr>
          <a:xfrm>
            <a:off x="6531824" y="4542035"/>
            <a:ext cx="4947598" cy="1941933"/>
          </a:xfrm>
          <a:prstGeom prst="rect">
            <a:avLst/>
          </a:prstGeom>
        </p:spPr>
      </p:pic>
    </p:spTree>
    <p:extLst>
      <p:ext uri="{BB962C8B-B14F-4D97-AF65-F5344CB8AC3E}">
        <p14:creationId xmlns:p14="http://schemas.microsoft.com/office/powerpoint/2010/main" val="122103363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9728"/>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256031"/>
            <a:ext cx="11277600" cy="342900"/>
          </a:xfrm>
          <a:prstGeom prst="rect">
            <a:avLst/>
          </a:prstGeom>
          <a:noFill/>
        </p:spPr>
        <p:txBody>
          <a:bodyPr wrap="square">
            <a:spAutoFit/>
          </a:bodyPr>
          <a:lstStyle/>
          <a:p>
            <a:pPr algn="l"/>
            <a:r>
              <a:rPr lang="en-US" sz="1400" b="1">
                <a:solidFill>
                  <a:srgbClr val="000000"/>
                </a:solidFill>
                <a:latin typeface="Calibri"/>
              </a:rPr>
              <a:t>PRIORITY BASED SELECTION WITH VARIABLE NEIGHBOURHOOD SEARCH</a:t>
            </a:r>
            <a:endParaRPr sz="1400" b="1">
              <a:solidFill>
                <a:srgbClr val="000000"/>
              </a:solidFill>
              <a:latin typeface="Calibri"/>
            </a:endParaRPr>
          </a:p>
        </p:txBody>
      </p:sp>
      <p:sp>
        <p:nvSpPr>
          <p:cNvPr id="5" name="TextBox 4"/>
          <p:cNvSpPr txBox="1"/>
          <p:nvPr/>
        </p:nvSpPr>
        <p:spPr>
          <a:xfrm>
            <a:off x="502920" y="502920"/>
            <a:ext cx="11155680" cy="640080"/>
          </a:xfrm>
          <a:prstGeom prst="rect">
            <a:avLst/>
          </a:prstGeom>
          <a:noFill/>
        </p:spPr>
        <p:txBody>
          <a:bodyPr wrap="square">
            <a:spAutoFit/>
          </a:bodyPr>
          <a:lstStyle/>
          <a:p>
            <a:pPr algn="l"/>
            <a:r>
              <a:rPr sz="3000" b="1">
                <a:solidFill>
                  <a:srgbClr val="000000"/>
                </a:solidFill>
                <a:latin typeface="Calibri"/>
              </a:rPr>
              <a:t>Priority selection searches the worst availability regions first</a:t>
            </a:r>
          </a:p>
        </p:txBody>
      </p:sp>
      <p:sp>
        <p:nvSpPr>
          <p:cNvPr id="6" name="Rounded Rectangle 5"/>
          <p:cNvSpPr/>
          <p:nvPr/>
        </p:nvSpPr>
        <p:spPr>
          <a:xfrm>
            <a:off x="502921" y="1280160"/>
            <a:ext cx="4747506" cy="4892040"/>
          </a:xfrm>
          <a:prstGeom prst="roundRect">
            <a:avLst/>
          </a:prstGeom>
          <a:solidFill>
            <a:srgbClr val="FFFFFF"/>
          </a:solidFill>
          <a:ln w="12700">
            <a:solidFill>
              <a:srgbClr val="B0B0B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77240" y="1508760"/>
            <a:ext cx="4542012" cy="3990836"/>
          </a:xfrm>
          <a:prstGeom prst="rect">
            <a:avLst/>
          </a:prstGeom>
          <a:noFill/>
        </p:spPr>
        <p:txBody>
          <a:bodyPr wrap="square">
            <a:spAutoFit/>
          </a:bodyPr>
          <a:lstStyle/>
          <a:p>
            <a:pPr algn="l">
              <a:spcAft>
                <a:spcPts val="800"/>
              </a:spcAft>
            </a:pPr>
            <a:r>
              <a:rPr sz="2000" b="0" dirty="0">
                <a:solidFill>
                  <a:srgbClr val="1A1A1A"/>
                </a:solidFill>
                <a:latin typeface="Calibri"/>
              </a:rPr>
              <a:t>Rank events by the worst availability during their interval.</a:t>
            </a:r>
          </a:p>
          <a:p>
            <a:pPr algn="l">
              <a:spcAft>
                <a:spcPts val="800"/>
              </a:spcAft>
            </a:pPr>
            <a:r>
              <a:rPr sz="2000" b="0" dirty="0">
                <a:solidFill>
                  <a:srgbClr val="1A1A1A"/>
                </a:solidFill>
                <a:latin typeface="Calibri"/>
              </a:rPr>
              <a:t>Search the worst priority level first</a:t>
            </a:r>
            <a:r>
              <a:rPr lang="en-AU" sz="2000" b="0" dirty="0">
                <a:solidFill>
                  <a:srgbClr val="1A1A1A"/>
                </a:solidFill>
                <a:latin typeface="Calibri"/>
              </a:rPr>
              <a:t>,</a:t>
            </a:r>
            <a:r>
              <a:rPr sz="2000" b="0" dirty="0">
                <a:solidFill>
                  <a:srgbClr val="1A1A1A"/>
                </a:solidFill>
                <a:latin typeface="Calibri"/>
              </a:rPr>
              <a:t> expand only if needed.</a:t>
            </a:r>
          </a:p>
          <a:p>
            <a:pPr algn="l">
              <a:spcAft>
                <a:spcPts val="800"/>
              </a:spcAft>
            </a:pPr>
            <a:r>
              <a:rPr sz="2000" b="0" dirty="0">
                <a:solidFill>
                  <a:srgbClr val="1A1A1A"/>
                </a:solidFill>
                <a:latin typeface="Calibri"/>
              </a:rPr>
              <a:t>Move one check, then rebuild later events using A/B/C/D rules.</a:t>
            </a:r>
            <a:endParaRPr lang="en-AU" sz="2000" b="0" dirty="0">
              <a:solidFill>
                <a:srgbClr val="1A1A1A"/>
              </a:solidFill>
              <a:latin typeface="Calibri"/>
            </a:endParaRPr>
          </a:p>
          <a:p>
            <a:pPr algn="l">
              <a:spcAft>
                <a:spcPts val="800"/>
              </a:spcAft>
            </a:pPr>
            <a:r>
              <a:rPr lang="en-AU" sz="2000" dirty="0">
                <a:solidFill>
                  <a:srgbClr val="1A1A1A"/>
                </a:solidFill>
                <a:latin typeface="Calibri"/>
              </a:rPr>
              <a:t>Update incrementally and score once.</a:t>
            </a:r>
            <a:endParaRPr sz="2000" b="0" dirty="0">
              <a:solidFill>
                <a:srgbClr val="1A1A1A"/>
              </a:solidFill>
              <a:latin typeface="Calibri"/>
            </a:endParaRPr>
          </a:p>
          <a:p>
            <a:pPr algn="l">
              <a:spcAft>
                <a:spcPts val="800"/>
              </a:spcAft>
            </a:pPr>
            <a:r>
              <a:rPr sz="2000" b="0" dirty="0">
                <a:solidFill>
                  <a:srgbClr val="1A1A1A"/>
                </a:solidFill>
                <a:latin typeface="Calibri"/>
              </a:rPr>
              <a:t>Deterministic, rule-compliant, and substantially faster.</a:t>
            </a:r>
          </a:p>
          <a:p>
            <a:pPr algn="l">
              <a:spcAft>
                <a:spcPts val="800"/>
              </a:spcAft>
            </a:pPr>
            <a:r>
              <a:rPr sz="2000" b="0" dirty="0">
                <a:solidFill>
                  <a:srgbClr val="1A1A1A"/>
                </a:solidFill>
                <a:latin typeface="Calibri"/>
              </a:rPr>
              <a:t>Measured result: min 15→18, std 1.96→1.44.</a:t>
            </a:r>
          </a:p>
        </p:txBody>
      </p:sp>
      <p:pic>
        <p:nvPicPr>
          <p:cNvPr id="8" name="Picture 7" descr="Priority Based Optimiser Flowchart.png"/>
          <p:cNvPicPr>
            <a:picLocks noChangeAspect="1"/>
          </p:cNvPicPr>
          <p:nvPr/>
        </p:nvPicPr>
        <p:blipFill>
          <a:blip r:embed="rId3"/>
          <a:stretch>
            <a:fillRect/>
          </a:stretch>
        </p:blipFill>
        <p:spPr>
          <a:xfrm>
            <a:off x="5311632" y="1142999"/>
            <a:ext cx="6677334" cy="4451555"/>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9728"/>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02920" y="502920"/>
            <a:ext cx="11155680" cy="553998"/>
          </a:xfrm>
          <a:prstGeom prst="rect">
            <a:avLst/>
          </a:prstGeom>
          <a:noFill/>
        </p:spPr>
        <p:txBody>
          <a:bodyPr wrap="square">
            <a:spAutoFit/>
          </a:bodyPr>
          <a:lstStyle/>
          <a:p>
            <a:pPr algn="l"/>
            <a:r>
              <a:rPr sz="3000" b="1" dirty="0">
                <a:solidFill>
                  <a:srgbClr val="000000"/>
                </a:solidFill>
                <a:latin typeface="Calibri"/>
              </a:rPr>
              <a:t>Each event gets one priority</a:t>
            </a:r>
            <a:r>
              <a:rPr lang="en-AU" sz="3000" b="1" dirty="0">
                <a:solidFill>
                  <a:srgbClr val="000000"/>
                </a:solidFill>
                <a:latin typeface="Calibri"/>
              </a:rPr>
              <a:t>: </a:t>
            </a:r>
            <a:r>
              <a:rPr sz="3000" b="1" dirty="0">
                <a:solidFill>
                  <a:srgbClr val="000000"/>
                </a:solidFill>
                <a:latin typeface="Calibri"/>
              </a:rPr>
              <a:t>the worst day it covers</a:t>
            </a:r>
          </a:p>
        </p:txBody>
      </p:sp>
      <p:sp>
        <p:nvSpPr>
          <p:cNvPr id="6" name="TextBox 5"/>
          <p:cNvSpPr txBox="1"/>
          <p:nvPr/>
        </p:nvSpPr>
        <p:spPr>
          <a:xfrm>
            <a:off x="502920" y="1143000"/>
            <a:ext cx="11155680" cy="369332"/>
          </a:xfrm>
          <a:prstGeom prst="rect">
            <a:avLst/>
          </a:prstGeom>
          <a:noFill/>
        </p:spPr>
        <p:txBody>
          <a:bodyPr wrap="square">
            <a:spAutoFit/>
          </a:bodyPr>
          <a:lstStyle/>
          <a:p>
            <a:pPr algn="l"/>
            <a:r>
              <a:rPr b="0" dirty="0">
                <a:solidFill>
                  <a:srgbClr val="555555"/>
                </a:solidFill>
                <a:latin typeface="Calibri"/>
              </a:rPr>
              <a:t>From the heavy starting schedule: global min availability = 15</a:t>
            </a:r>
            <a:r>
              <a:rPr lang="en-AU" b="0" dirty="0">
                <a:solidFill>
                  <a:srgbClr val="555555"/>
                </a:solidFill>
                <a:latin typeface="Calibri"/>
              </a:rPr>
              <a:t>,</a:t>
            </a:r>
            <a:r>
              <a:rPr b="0" dirty="0">
                <a:solidFill>
                  <a:srgbClr val="555555"/>
                </a:solidFill>
                <a:latin typeface="Calibri"/>
              </a:rPr>
              <a:t> 278 events</a:t>
            </a:r>
            <a:r>
              <a:rPr lang="en-AU" b="0" dirty="0">
                <a:solidFill>
                  <a:srgbClr val="555555"/>
                </a:solidFill>
                <a:latin typeface="Calibri"/>
              </a:rPr>
              <a:t>,</a:t>
            </a:r>
            <a:r>
              <a:rPr b="0" dirty="0">
                <a:solidFill>
                  <a:srgbClr val="555555"/>
                </a:solidFill>
                <a:latin typeface="Calibri"/>
              </a:rPr>
              <a:t> 24 aircraft</a:t>
            </a:r>
          </a:p>
        </p:txBody>
      </p:sp>
      <p:sp>
        <p:nvSpPr>
          <p:cNvPr id="7" name="Rounded Rectangle 6"/>
          <p:cNvSpPr/>
          <p:nvPr/>
        </p:nvSpPr>
        <p:spPr>
          <a:xfrm>
            <a:off x="502920" y="1600199"/>
            <a:ext cx="3657600" cy="4672781"/>
          </a:xfrm>
          <a:prstGeom prst="roundRect">
            <a:avLst/>
          </a:prstGeom>
          <a:solidFill>
            <a:srgbClr val="FFFFFF"/>
          </a:solidFill>
          <a:ln w="12700">
            <a:solidFill>
              <a:srgbClr val="B0B0B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85800" y="1737360"/>
            <a:ext cx="3291840" cy="400110"/>
          </a:xfrm>
          <a:prstGeom prst="rect">
            <a:avLst/>
          </a:prstGeom>
          <a:noFill/>
        </p:spPr>
        <p:txBody>
          <a:bodyPr wrap="square">
            <a:spAutoFit/>
          </a:bodyPr>
          <a:lstStyle/>
          <a:p>
            <a:pPr algn="l"/>
            <a:r>
              <a:rPr sz="2000" b="1">
                <a:solidFill>
                  <a:srgbClr val="000000"/>
                </a:solidFill>
                <a:latin typeface="Calibri"/>
              </a:rPr>
              <a:t>1. Score every event</a:t>
            </a:r>
          </a:p>
        </p:txBody>
      </p:sp>
      <p:sp>
        <p:nvSpPr>
          <p:cNvPr id="9" name="TextBox 8"/>
          <p:cNvSpPr txBox="1"/>
          <p:nvPr/>
        </p:nvSpPr>
        <p:spPr>
          <a:xfrm>
            <a:off x="685800" y="2194560"/>
            <a:ext cx="3291840" cy="2759730"/>
          </a:xfrm>
          <a:prstGeom prst="rect">
            <a:avLst/>
          </a:prstGeom>
          <a:noFill/>
        </p:spPr>
        <p:txBody>
          <a:bodyPr wrap="square">
            <a:spAutoFit/>
          </a:bodyPr>
          <a:lstStyle/>
          <a:p>
            <a:pPr algn="l">
              <a:spcAft>
                <a:spcPts val="800"/>
              </a:spcAft>
            </a:pPr>
            <a:r>
              <a:rPr sz="2000" b="0" dirty="0">
                <a:solidFill>
                  <a:srgbClr val="1A1A1A"/>
                </a:solidFill>
                <a:latin typeface="Calibri"/>
              </a:rPr>
              <a:t>Look at fleet availability on every day that event is in the hangar.</a:t>
            </a:r>
          </a:p>
          <a:p>
            <a:pPr algn="l">
              <a:spcAft>
                <a:spcPts val="800"/>
              </a:spcAft>
            </a:pPr>
            <a:r>
              <a:rPr sz="2000" b="0" dirty="0">
                <a:solidFill>
                  <a:srgbClr val="1A1A1A"/>
                </a:solidFill>
                <a:latin typeface="Calibri"/>
              </a:rPr>
              <a:t>Priority = the minimum of those days.</a:t>
            </a:r>
          </a:p>
          <a:p>
            <a:pPr algn="l">
              <a:spcAft>
                <a:spcPts val="800"/>
              </a:spcAft>
            </a:pPr>
            <a:r>
              <a:rPr sz="2000" b="0" dirty="0">
                <a:solidFill>
                  <a:srgbClr val="1A1A1A"/>
                </a:solidFill>
                <a:latin typeface="Calibri"/>
              </a:rPr>
              <a:t>Example: </a:t>
            </a:r>
            <a:r>
              <a:rPr lang="en-AU" sz="2000" b="0" dirty="0">
                <a:solidFill>
                  <a:srgbClr val="1A1A1A"/>
                </a:solidFill>
                <a:latin typeface="Calibri"/>
              </a:rPr>
              <a:t>event </a:t>
            </a:r>
            <a:r>
              <a:rPr sz="2000" b="0" dirty="0">
                <a:solidFill>
                  <a:srgbClr val="1A1A1A"/>
                </a:solidFill>
                <a:latin typeface="Calibri"/>
              </a:rPr>
              <a:t>days with avail</a:t>
            </a:r>
            <a:r>
              <a:rPr lang="en-AU" sz="2000" dirty="0">
                <a:solidFill>
                  <a:srgbClr val="1A1A1A"/>
                </a:solidFill>
                <a:latin typeface="Calibri"/>
              </a:rPr>
              <a:t>a</a:t>
            </a:r>
            <a:r>
              <a:rPr lang="en-AU" sz="2000" b="0" dirty="0">
                <a:solidFill>
                  <a:srgbClr val="1A1A1A"/>
                </a:solidFill>
                <a:latin typeface="Calibri"/>
              </a:rPr>
              <a:t>bility:</a:t>
            </a:r>
            <a:r>
              <a:rPr sz="2000" b="0" dirty="0">
                <a:solidFill>
                  <a:srgbClr val="1A1A1A"/>
                </a:solidFill>
                <a:latin typeface="Calibri"/>
              </a:rPr>
              <a:t> [</a:t>
            </a:r>
            <a:r>
              <a:rPr lang="en-AU" sz="2000" b="0" dirty="0">
                <a:solidFill>
                  <a:srgbClr val="1A1A1A"/>
                </a:solidFill>
                <a:latin typeface="Calibri"/>
              </a:rPr>
              <a:t>18, </a:t>
            </a:r>
            <a:r>
              <a:rPr sz="2000" b="0" dirty="0">
                <a:solidFill>
                  <a:srgbClr val="1A1A1A"/>
                </a:solidFill>
                <a:latin typeface="Calibri"/>
              </a:rPr>
              <a:t>18, 1</a:t>
            </a:r>
            <a:r>
              <a:rPr lang="en-AU" sz="2000" b="0" dirty="0">
                <a:solidFill>
                  <a:srgbClr val="1A1A1A"/>
                </a:solidFill>
                <a:latin typeface="Calibri"/>
              </a:rPr>
              <a:t>6</a:t>
            </a:r>
            <a:r>
              <a:rPr sz="2000" b="0" dirty="0">
                <a:solidFill>
                  <a:srgbClr val="1A1A1A"/>
                </a:solidFill>
                <a:latin typeface="Calibri"/>
              </a:rPr>
              <a:t>, 1</a:t>
            </a:r>
            <a:r>
              <a:rPr lang="en-AU" sz="2000" b="0" dirty="0">
                <a:solidFill>
                  <a:srgbClr val="1A1A1A"/>
                </a:solidFill>
                <a:latin typeface="Calibri"/>
              </a:rPr>
              <a:t>5</a:t>
            </a:r>
            <a:r>
              <a:rPr lang="en-AU" sz="2000" dirty="0">
                <a:solidFill>
                  <a:srgbClr val="1A1A1A"/>
                </a:solidFill>
                <a:latin typeface="Calibri"/>
              </a:rPr>
              <a:t>, etc.</a:t>
            </a:r>
            <a:r>
              <a:rPr sz="2000" b="0" dirty="0">
                <a:solidFill>
                  <a:srgbClr val="1A1A1A"/>
                </a:solidFill>
                <a:latin typeface="Calibri"/>
              </a:rPr>
              <a:t>] → priority 15.</a:t>
            </a:r>
          </a:p>
        </p:txBody>
      </p:sp>
      <p:sp>
        <p:nvSpPr>
          <p:cNvPr id="10" name="Rounded Rectangle 9"/>
          <p:cNvSpPr/>
          <p:nvPr/>
        </p:nvSpPr>
        <p:spPr>
          <a:xfrm>
            <a:off x="4297680" y="1600200"/>
            <a:ext cx="3657600" cy="4754880"/>
          </a:xfrm>
          <a:prstGeom prst="roundRect">
            <a:avLst/>
          </a:prstGeom>
          <a:solidFill>
            <a:srgbClr val="FFFFFF"/>
          </a:solidFill>
          <a:ln w="12700">
            <a:solidFill>
              <a:srgbClr val="B0B0B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480560" y="1737360"/>
            <a:ext cx="3291840" cy="400110"/>
          </a:xfrm>
          <a:prstGeom prst="rect">
            <a:avLst/>
          </a:prstGeom>
          <a:noFill/>
        </p:spPr>
        <p:txBody>
          <a:bodyPr wrap="square">
            <a:spAutoFit/>
          </a:bodyPr>
          <a:lstStyle/>
          <a:p>
            <a:pPr algn="l"/>
            <a:r>
              <a:rPr sz="2000" b="1" dirty="0">
                <a:solidFill>
                  <a:srgbClr val="000000"/>
                </a:solidFill>
                <a:latin typeface="Calibri"/>
              </a:rPr>
              <a:t>2. Split into exclusive buckets</a:t>
            </a:r>
          </a:p>
        </p:txBody>
      </p:sp>
      <p:sp>
        <p:nvSpPr>
          <p:cNvPr id="12" name="TextBox 11"/>
          <p:cNvSpPr txBox="1"/>
          <p:nvPr/>
        </p:nvSpPr>
        <p:spPr>
          <a:xfrm>
            <a:off x="4480560" y="2194560"/>
            <a:ext cx="3291840" cy="2349361"/>
          </a:xfrm>
          <a:prstGeom prst="rect">
            <a:avLst/>
          </a:prstGeom>
          <a:noFill/>
        </p:spPr>
        <p:txBody>
          <a:bodyPr wrap="square">
            <a:spAutoFit/>
          </a:bodyPr>
          <a:lstStyle/>
          <a:p>
            <a:pPr algn="l">
              <a:spcAft>
                <a:spcPts val="800"/>
              </a:spcAft>
            </a:pPr>
            <a:r>
              <a:rPr sz="2000" b="0" dirty="0">
                <a:solidFill>
                  <a:srgbClr val="1A1A1A"/>
                </a:solidFill>
                <a:latin typeface="Calibri"/>
              </a:rPr>
              <a:t>Level 15 → 20 events (touch a day-15 </a:t>
            </a:r>
            <a:r>
              <a:rPr lang="en-AU" sz="2000" b="0" dirty="0">
                <a:solidFill>
                  <a:srgbClr val="1A1A1A"/>
                </a:solidFill>
                <a:latin typeface="Calibri"/>
              </a:rPr>
              <a:t>dip</a:t>
            </a:r>
            <a:r>
              <a:rPr sz="2000" b="0" dirty="0">
                <a:solidFill>
                  <a:srgbClr val="1A1A1A"/>
                </a:solidFill>
                <a:latin typeface="Calibri"/>
              </a:rPr>
              <a:t>).</a:t>
            </a:r>
          </a:p>
          <a:p>
            <a:pPr algn="l">
              <a:spcAft>
                <a:spcPts val="800"/>
              </a:spcAft>
            </a:pPr>
            <a:r>
              <a:rPr sz="2000" b="0" dirty="0">
                <a:solidFill>
                  <a:srgbClr val="1A1A1A"/>
                </a:solidFill>
                <a:latin typeface="Calibri"/>
              </a:rPr>
              <a:t>Level 16 → 10 events</a:t>
            </a:r>
            <a:r>
              <a:rPr lang="en-AU" sz="2000" b="0" dirty="0">
                <a:solidFill>
                  <a:srgbClr val="1A1A1A"/>
                </a:solidFill>
                <a:latin typeface="Calibri"/>
              </a:rPr>
              <a:t> </a:t>
            </a:r>
          </a:p>
          <a:p>
            <a:pPr algn="l">
              <a:spcAft>
                <a:spcPts val="800"/>
              </a:spcAft>
            </a:pPr>
            <a:r>
              <a:rPr lang="en-AU" sz="2000" b="0" dirty="0">
                <a:solidFill>
                  <a:srgbClr val="1A1A1A"/>
                </a:solidFill>
                <a:latin typeface="Calibri"/>
              </a:rPr>
              <a:t>Level 17 → 9 events</a:t>
            </a:r>
          </a:p>
          <a:p>
            <a:pPr>
              <a:spcAft>
                <a:spcPts val="800"/>
              </a:spcAft>
            </a:pPr>
            <a:r>
              <a:rPr lang="en-AU" sz="2000" dirty="0">
                <a:solidFill>
                  <a:srgbClr val="1A1A1A"/>
                </a:solidFill>
                <a:latin typeface="Calibri"/>
              </a:rPr>
              <a:t>Level 21 </a:t>
            </a:r>
            <a:r>
              <a:rPr lang="en-AU" sz="2000" dirty="0">
                <a:solidFill>
                  <a:srgbClr val="1A1A1A"/>
                </a:solidFill>
              </a:rPr>
              <a:t>→ 68 events</a:t>
            </a:r>
            <a:endParaRPr lang="en-AU" sz="2000" dirty="0">
              <a:solidFill>
                <a:srgbClr val="1A1A1A"/>
              </a:solidFill>
              <a:latin typeface="Calibri"/>
            </a:endParaRPr>
          </a:p>
          <a:p>
            <a:pPr algn="l">
              <a:spcAft>
                <a:spcPts val="800"/>
              </a:spcAft>
            </a:pPr>
            <a:endParaRPr lang="en-AU" sz="2000" b="0" dirty="0">
              <a:solidFill>
                <a:srgbClr val="1A1A1A"/>
              </a:solidFill>
              <a:latin typeface="Calibri"/>
            </a:endParaRPr>
          </a:p>
        </p:txBody>
      </p:sp>
      <p:sp>
        <p:nvSpPr>
          <p:cNvPr id="13" name="Rounded Rectangle 12"/>
          <p:cNvSpPr/>
          <p:nvPr/>
        </p:nvSpPr>
        <p:spPr>
          <a:xfrm>
            <a:off x="8092440" y="1600200"/>
            <a:ext cx="3657600" cy="4754880"/>
          </a:xfrm>
          <a:prstGeom prst="roundRect">
            <a:avLst/>
          </a:prstGeom>
          <a:solidFill>
            <a:srgbClr val="FFFFFF"/>
          </a:solidFill>
          <a:ln w="12700">
            <a:solidFill>
              <a:srgbClr val="B0B0B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275320" y="1737360"/>
            <a:ext cx="3291840" cy="400110"/>
          </a:xfrm>
          <a:prstGeom prst="rect">
            <a:avLst/>
          </a:prstGeom>
          <a:noFill/>
        </p:spPr>
        <p:txBody>
          <a:bodyPr wrap="square">
            <a:spAutoFit/>
          </a:bodyPr>
          <a:lstStyle/>
          <a:p>
            <a:pPr algn="l"/>
            <a:r>
              <a:rPr sz="2000" b="1" dirty="0">
                <a:solidFill>
                  <a:srgbClr val="000000"/>
                </a:solidFill>
                <a:latin typeface="Calibri"/>
              </a:rPr>
              <a:t>3. Search worst first</a:t>
            </a:r>
          </a:p>
        </p:txBody>
      </p:sp>
      <p:sp>
        <p:nvSpPr>
          <p:cNvPr id="15" name="TextBox 14"/>
          <p:cNvSpPr txBox="1"/>
          <p:nvPr/>
        </p:nvSpPr>
        <p:spPr>
          <a:xfrm>
            <a:off x="8275320" y="2194560"/>
            <a:ext cx="3291840" cy="2144177"/>
          </a:xfrm>
          <a:prstGeom prst="rect">
            <a:avLst/>
          </a:prstGeom>
          <a:noFill/>
        </p:spPr>
        <p:txBody>
          <a:bodyPr wrap="square">
            <a:spAutoFit/>
          </a:bodyPr>
          <a:lstStyle/>
          <a:p>
            <a:pPr algn="l">
              <a:spcAft>
                <a:spcPts val="800"/>
              </a:spcAft>
            </a:pPr>
            <a:r>
              <a:rPr sz="2000" b="0" dirty="0">
                <a:solidFill>
                  <a:srgbClr val="1A1A1A"/>
                </a:solidFill>
                <a:latin typeface="Calibri"/>
              </a:rPr>
              <a:t>Try only level-15 events × shifts (e.g. 20 × 2 = 40).</a:t>
            </a:r>
          </a:p>
          <a:p>
            <a:pPr algn="l">
              <a:spcAft>
                <a:spcPts val="800"/>
              </a:spcAft>
            </a:pPr>
            <a:r>
              <a:rPr sz="2000" b="0" dirty="0">
                <a:solidFill>
                  <a:srgbClr val="1A1A1A"/>
                </a:solidFill>
                <a:latin typeface="Calibri"/>
              </a:rPr>
              <a:t>If any move improves the score, stop and pick the best.</a:t>
            </a:r>
          </a:p>
          <a:p>
            <a:pPr algn="l">
              <a:spcAft>
                <a:spcPts val="800"/>
              </a:spcAft>
            </a:pPr>
            <a:r>
              <a:rPr sz="2000" b="0" dirty="0">
                <a:solidFill>
                  <a:srgbClr val="1A1A1A"/>
                </a:solidFill>
                <a:latin typeface="Calibri"/>
              </a:rPr>
              <a:t>Only then expand to 16, 17… if level 15 finds nothing.</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9728"/>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57200" y="533400"/>
            <a:ext cx="11277600" cy="660400"/>
          </a:xfrm>
          <a:prstGeom prst="rect">
            <a:avLst/>
          </a:prstGeom>
          <a:noFill/>
        </p:spPr>
        <p:txBody>
          <a:bodyPr wrap="square">
            <a:noAutofit/>
          </a:bodyPr>
          <a:lstStyle/>
          <a:p>
            <a:pPr algn="l"/>
            <a:r>
              <a:rPr lang="en-US" sz="3200" b="1">
                <a:solidFill>
                  <a:srgbClr val="000000"/>
                </a:solidFill>
                <a:latin typeface="Calibri"/>
              </a:rPr>
              <a:t>Priority selection made the heavy search practical</a:t>
            </a:r>
            <a:endParaRPr sz="3200" b="1">
              <a:solidFill>
                <a:srgbClr val="000000"/>
              </a:solidFill>
              <a:latin typeface="Calibri"/>
            </a:endParaRPr>
          </a:p>
        </p:txBody>
      </p:sp>
      <p:sp>
        <p:nvSpPr>
          <p:cNvPr id="6" name="Rounded Rectangle 5"/>
          <p:cNvSpPr/>
          <p:nvPr/>
        </p:nvSpPr>
        <p:spPr>
          <a:xfrm>
            <a:off x="502920" y="1371600"/>
            <a:ext cx="3657600" cy="1554480"/>
          </a:xfrm>
          <a:prstGeom prst="roundRect">
            <a:avLst/>
          </a:prstGeom>
          <a:solidFill>
            <a:srgbClr val="F0F0F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67512" y="1536192"/>
            <a:ext cx="3383280" cy="276999"/>
          </a:xfrm>
          <a:prstGeom prst="rect">
            <a:avLst/>
          </a:prstGeom>
          <a:noFill/>
        </p:spPr>
        <p:txBody>
          <a:bodyPr wrap="square">
            <a:noAutofit/>
          </a:bodyPr>
          <a:lstStyle/>
          <a:p>
            <a:pPr algn="l"/>
            <a:r>
              <a:rPr lang="en-AU" sz="1200" b="1">
                <a:solidFill>
                  <a:srgbClr val="000000"/>
                </a:solidFill>
                <a:latin typeface="Calibri"/>
              </a:rPr>
              <a:t>WORST-DAY AVAILABILITY</a:t>
            </a:r>
            <a:endParaRPr sz="1200" b="1">
              <a:solidFill>
                <a:srgbClr val="000000"/>
              </a:solidFill>
              <a:latin typeface="Calibri"/>
            </a:endParaRPr>
          </a:p>
        </p:txBody>
      </p:sp>
      <p:sp>
        <p:nvSpPr>
          <p:cNvPr id="8" name="TextBox 7"/>
          <p:cNvSpPr txBox="1"/>
          <p:nvPr/>
        </p:nvSpPr>
        <p:spPr>
          <a:xfrm>
            <a:off x="667512" y="1874520"/>
            <a:ext cx="3383280" cy="492443"/>
          </a:xfrm>
          <a:prstGeom prst="rect">
            <a:avLst/>
          </a:prstGeom>
          <a:noFill/>
        </p:spPr>
        <p:txBody>
          <a:bodyPr wrap="square">
            <a:noAutofit/>
          </a:bodyPr>
          <a:lstStyle/>
          <a:p>
            <a:pPr algn="l"/>
            <a:r>
              <a:rPr lang="en-AU" sz="2400" b="1">
                <a:solidFill>
                  <a:srgbClr val="000000"/>
                </a:solidFill>
                <a:latin typeface="Calibri"/>
              </a:rPr>
              <a:t>15 to 18</a:t>
            </a:r>
            <a:endParaRPr sz="2400" b="1">
              <a:solidFill>
                <a:srgbClr val="000000"/>
              </a:solidFill>
              <a:latin typeface="Calibri"/>
            </a:endParaRPr>
          </a:p>
        </p:txBody>
      </p:sp>
      <p:sp>
        <p:nvSpPr>
          <p:cNvPr id="9" name="Rounded Rectangle 8"/>
          <p:cNvSpPr/>
          <p:nvPr/>
        </p:nvSpPr>
        <p:spPr>
          <a:xfrm>
            <a:off x="4343400" y="1371600"/>
            <a:ext cx="3657600" cy="1554480"/>
          </a:xfrm>
          <a:prstGeom prst="roundRect">
            <a:avLst/>
          </a:prstGeom>
          <a:solidFill>
            <a:srgbClr val="F0F0F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507992" y="1536192"/>
            <a:ext cx="3383280" cy="276999"/>
          </a:xfrm>
          <a:prstGeom prst="rect">
            <a:avLst/>
          </a:prstGeom>
          <a:noFill/>
        </p:spPr>
        <p:txBody>
          <a:bodyPr wrap="square">
            <a:noAutofit/>
          </a:bodyPr>
          <a:lstStyle/>
          <a:p>
            <a:pPr algn="l"/>
            <a:r>
              <a:rPr lang="en-AU" sz="1200" b="1">
                <a:solidFill>
                  <a:srgbClr val="000000"/>
                </a:solidFill>
                <a:latin typeface="Calibri"/>
              </a:rPr>
              <a:t>SEARCH STRATEGY</a:t>
            </a:r>
            <a:endParaRPr sz="1200" b="1">
              <a:solidFill>
                <a:srgbClr val="000000"/>
              </a:solidFill>
              <a:latin typeface="Calibri"/>
            </a:endParaRPr>
          </a:p>
        </p:txBody>
      </p:sp>
      <p:sp>
        <p:nvSpPr>
          <p:cNvPr id="11" name="TextBox 10"/>
          <p:cNvSpPr txBox="1"/>
          <p:nvPr/>
        </p:nvSpPr>
        <p:spPr>
          <a:xfrm>
            <a:off x="4507992" y="1874520"/>
            <a:ext cx="3383280" cy="492443"/>
          </a:xfrm>
          <a:prstGeom prst="rect">
            <a:avLst/>
          </a:prstGeom>
          <a:noFill/>
        </p:spPr>
        <p:txBody>
          <a:bodyPr wrap="square">
            <a:noAutofit/>
          </a:bodyPr>
          <a:lstStyle/>
          <a:p>
            <a:pPr algn="l"/>
            <a:r>
              <a:rPr lang="en-AU" sz="2400" b="1">
                <a:solidFill>
                  <a:srgbClr val="000000"/>
                </a:solidFill>
                <a:latin typeface="Calibri"/>
              </a:rPr>
              <a:t>Worst days first</a:t>
            </a:r>
            <a:endParaRPr sz="2400" b="1" dirty="0">
              <a:solidFill>
                <a:srgbClr val="000000"/>
              </a:solidFill>
              <a:latin typeface="Calibri"/>
            </a:endParaRPr>
          </a:p>
        </p:txBody>
      </p:sp>
      <p:sp>
        <p:nvSpPr>
          <p:cNvPr id="12" name="Rounded Rectangle 11"/>
          <p:cNvSpPr/>
          <p:nvPr/>
        </p:nvSpPr>
        <p:spPr>
          <a:xfrm>
            <a:off x="8183879" y="1371600"/>
            <a:ext cx="3474720" cy="1554480"/>
          </a:xfrm>
          <a:prstGeom prst="roundRect">
            <a:avLst/>
          </a:prstGeom>
          <a:solidFill>
            <a:srgbClr val="F0F0F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8348471" y="1536192"/>
            <a:ext cx="3200400" cy="276999"/>
          </a:xfrm>
          <a:prstGeom prst="rect">
            <a:avLst/>
          </a:prstGeom>
          <a:noFill/>
        </p:spPr>
        <p:txBody>
          <a:bodyPr wrap="square">
            <a:noAutofit/>
          </a:bodyPr>
          <a:lstStyle/>
          <a:p>
            <a:pPr algn="l"/>
            <a:r>
              <a:rPr lang="en-AU" sz="1200" b="1">
                <a:solidFill>
                  <a:srgbClr val="000000"/>
                </a:solidFill>
                <a:latin typeface="Calibri"/>
              </a:rPr>
              <a:t>VALIDITY</a:t>
            </a:r>
            <a:endParaRPr sz="1200" b="1">
              <a:solidFill>
                <a:srgbClr val="000000"/>
              </a:solidFill>
              <a:latin typeface="Calibri"/>
            </a:endParaRPr>
          </a:p>
        </p:txBody>
      </p:sp>
      <p:sp>
        <p:nvSpPr>
          <p:cNvPr id="14" name="TextBox 13"/>
          <p:cNvSpPr txBox="1"/>
          <p:nvPr/>
        </p:nvSpPr>
        <p:spPr>
          <a:xfrm>
            <a:off x="8348471" y="1874520"/>
            <a:ext cx="3200400" cy="492443"/>
          </a:xfrm>
          <a:prstGeom prst="rect">
            <a:avLst/>
          </a:prstGeom>
          <a:noFill/>
        </p:spPr>
        <p:txBody>
          <a:bodyPr wrap="square">
            <a:noAutofit/>
          </a:bodyPr>
          <a:lstStyle/>
          <a:p>
            <a:pPr algn="l"/>
            <a:r>
              <a:rPr lang="en-AU" sz="2400" b="1" dirty="0">
                <a:solidFill>
                  <a:srgbClr val="000000"/>
                </a:solidFill>
                <a:latin typeface="Calibri"/>
              </a:rPr>
              <a:t>Rebuilt every time we find improvement</a:t>
            </a:r>
            <a:endParaRPr sz="2400" b="1" dirty="0">
              <a:solidFill>
                <a:srgbClr val="000000"/>
              </a:solidFill>
              <a:latin typeface="Calibri"/>
            </a:endParaRPr>
          </a:p>
        </p:txBody>
      </p:sp>
      <p:sp>
        <p:nvSpPr>
          <p:cNvPr id="15" name="Rounded Rectangle 14"/>
          <p:cNvSpPr/>
          <p:nvPr/>
        </p:nvSpPr>
        <p:spPr>
          <a:xfrm>
            <a:off x="502920" y="3200400"/>
            <a:ext cx="11155680" cy="2926080"/>
          </a:xfrm>
          <a:prstGeom prst="roundRect">
            <a:avLst/>
          </a:prstGeom>
          <a:solidFill>
            <a:srgbClr val="FFFFFF"/>
          </a:solidFill>
          <a:ln w="12700">
            <a:solidFill>
              <a:srgbClr val="B0B0B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777240" y="3383280"/>
            <a:ext cx="10607040" cy="338554"/>
          </a:xfrm>
          <a:prstGeom prst="rect">
            <a:avLst/>
          </a:prstGeom>
          <a:noFill/>
        </p:spPr>
        <p:txBody>
          <a:bodyPr wrap="square">
            <a:noAutofit/>
          </a:bodyPr>
          <a:lstStyle/>
          <a:p>
            <a:pPr algn="l"/>
            <a:r>
              <a:rPr lang="en-US" sz="1600" b="1">
                <a:solidFill>
                  <a:srgbClr val="000000"/>
                </a:solidFill>
                <a:latin typeface="Calibri"/>
              </a:rPr>
              <a:t>Historical runtime comparison from the Iteration 1 milestone</a:t>
            </a:r>
            <a:endParaRPr sz="1600" b="1">
              <a:solidFill>
                <a:srgbClr val="000000"/>
              </a:solidFill>
              <a:latin typeface="Calibri"/>
            </a:endParaRPr>
          </a:p>
        </p:txBody>
      </p:sp>
      <p:sp>
        <p:nvSpPr>
          <p:cNvPr id="17" name="TextBox 16"/>
          <p:cNvSpPr txBox="1"/>
          <p:nvPr/>
        </p:nvSpPr>
        <p:spPr>
          <a:xfrm>
            <a:off x="777240" y="3886200"/>
            <a:ext cx="2743200" cy="365760"/>
          </a:xfrm>
          <a:prstGeom prst="rect">
            <a:avLst/>
          </a:prstGeom>
          <a:noFill/>
        </p:spPr>
        <p:txBody>
          <a:bodyPr wrap="square">
            <a:spAutoFit/>
          </a:bodyPr>
          <a:lstStyle/>
          <a:p>
            <a:pPr algn="l"/>
            <a:r>
              <a:rPr sz="1400" b="0">
                <a:solidFill>
                  <a:srgbClr val="1A1A1A"/>
                </a:solidFill>
                <a:latin typeface="Calibri"/>
              </a:rPr>
              <a:t>Full neighbourhood</a:t>
            </a:r>
          </a:p>
        </p:txBody>
      </p:sp>
      <p:sp>
        <p:nvSpPr>
          <p:cNvPr id="18" name="Rounded Rectangle 17"/>
          <p:cNvSpPr/>
          <p:nvPr/>
        </p:nvSpPr>
        <p:spPr>
          <a:xfrm>
            <a:off x="3657600" y="3931920"/>
            <a:ext cx="5943600" cy="320040"/>
          </a:xfrm>
          <a:prstGeom prst="roundRect">
            <a:avLst/>
          </a:prstGeom>
          <a:solidFill>
            <a:srgbClr val="2B2B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9692640" y="3886200"/>
            <a:ext cx="1828800" cy="276999"/>
          </a:xfrm>
          <a:prstGeom prst="rect">
            <a:avLst/>
          </a:prstGeom>
          <a:noFill/>
        </p:spPr>
        <p:txBody>
          <a:bodyPr wrap="square">
            <a:noAutofit/>
          </a:bodyPr>
          <a:lstStyle/>
          <a:p>
            <a:pPr algn="l"/>
            <a:r>
              <a:rPr lang="en-AU" sz="1200" b="1">
                <a:solidFill>
                  <a:srgbClr val="1A1A1A"/>
                </a:solidFill>
                <a:latin typeface="Calibri"/>
              </a:rPr>
              <a:t>920 s</a:t>
            </a:r>
            <a:endParaRPr sz="1200" b="1">
              <a:solidFill>
                <a:srgbClr val="1A1A1A"/>
              </a:solidFill>
              <a:latin typeface="Calibri"/>
            </a:endParaRPr>
          </a:p>
        </p:txBody>
      </p:sp>
      <p:sp>
        <p:nvSpPr>
          <p:cNvPr id="20" name="TextBox 19"/>
          <p:cNvSpPr txBox="1"/>
          <p:nvPr/>
        </p:nvSpPr>
        <p:spPr>
          <a:xfrm>
            <a:off x="777240" y="4526280"/>
            <a:ext cx="2743200" cy="365760"/>
          </a:xfrm>
          <a:prstGeom prst="rect">
            <a:avLst/>
          </a:prstGeom>
          <a:noFill/>
        </p:spPr>
        <p:txBody>
          <a:bodyPr wrap="square">
            <a:spAutoFit/>
          </a:bodyPr>
          <a:lstStyle/>
          <a:p>
            <a:pPr algn="l"/>
            <a:r>
              <a:rPr sz="1400" b="0">
                <a:solidFill>
                  <a:srgbClr val="1A1A1A"/>
                </a:solidFill>
                <a:latin typeface="Calibri"/>
              </a:rPr>
              <a:t>200 random samples</a:t>
            </a:r>
          </a:p>
        </p:txBody>
      </p:sp>
      <p:sp>
        <p:nvSpPr>
          <p:cNvPr id="21" name="Rounded Rectangle 20"/>
          <p:cNvSpPr/>
          <p:nvPr/>
        </p:nvSpPr>
        <p:spPr>
          <a:xfrm>
            <a:off x="3657600" y="4572000"/>
            <a:ext cx="2914935" cy="320040"/>
          </a:xfrm>
          <a:prstGeom prst="roundRect">
            <a:avLst/>
          </a:prstGeom>
          <a:solidFill>
            <a:srgbClr val="4A4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9692640" y="4526280"/>
            <a:ext cx="1828800" cy="276999"/>
          </a:xfrm>
          <a:prstGeom prst="rect">
            <a:avLst/>
          </a:prstGeom>
          <a:noFill/>
        </p:spPr>
        <p:txBody>
          <a:bodyPr wrap="square">
            <a:noAutofit/>
          </a:bodyPr>
          <a:lstStyle/>
          <a:p>
            <a:pPr algn="l"/>
            <a:r>
              <a:rPr lang="en-AU" sz="1200" b="1">
                <a:solidFill>
                  <a:srgbClr val="1A1A1A"/>
                </a:solidFill>
                <a:latin typeface="Calibri"/>
              </a:rPr>
              <a:t>451 s</a:t>
            </a:r>
            <a:endParaRPr sz="1200" b="1">
              <a:solidFill>
                <a:srgbClr val="1A1A1A"/>
              </a:solidFill>
              <a:latin typeface="Calibri"/>
            </a:endParaRPr>
          </a:p>
        </p:txBody>
      </p:sp>
      <p:sp>
        <p:nvSpPr>
          <p:cNvPr id="23" name="TextBox 22"/>
          <p:cNvSpPr txBox="1"/>
          <p:nvPr/>
        </p:nvSpPr>
        <p:spPr>
          <a:xfrm>
            <a:off x="777240" y="5166360"/>
            <a:ext cx="2743200" cy="365760"/>
          </a:xfrm>
          <a:prstGeom prst="rect">
            <a:avLst/>
          </a:prstGeom>
          <a:noFill/>
        </p:spPr>
        <p:txBody>
          <a:bodyPr wrap="square">
            <a:spAutoFit/>
          </a:bodyPr>
          <a:lstStyle/>
          <a:p>
            <a:pPr algn="l"/>
            <a:r>
              <a:rPr sz="1400" b="0">
                <a:solidFill>
                  <a:srgbClr val="1A1A1A"/>
                </a:solidFill>
                <a:latin typeface="Calibri"/>
              </a:rPr>
              <a:t>Priority selection</a:t>
            </a:r>
          </a:p>
        </p:txBody>
      </p:sp>
      <p:sp>
        <p:nvSpPr>
          <p:cNvPr id="24" name="Rounded Rectangle 23"/>
          <p:cNvSpPr/>
          <p:nvPr/>
        </p:nvSpPr>
        <p:spPr>
          <a:xfrm>
            <a:off x="3657600" y="5212080"/>
            <a:ext cx="237744" cy="320040"/>
          </a:xfrm>
          <a:prstGeom prst="round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9692640" y="5166360"/>
            <a:ext cx="1828800" cy="276999"/>
          </a:xfrm>
          <a:prstGeom prst="rect">
            <a:avLst/>
          </a:prstGeom>
          <a:noFill/>
        </p:spPr>
        <p:txBody>
          <a:bodyPr wrap="square">
            <a:noAutofit/>
          </a:bodyPr>
          <a:lstStyle/>
          <a:p>
            <a:pPr algn="l"/>
            <a:r>
              <a:rPr lang="en-AU" sz="1200" b="1">
                <a:solidFill>
                  <a:srgbClr val="1A1A1A"/>
                </a:solidFill>
                <a:latin typeface="Calibri"/>
              </a:rPr>
              <a:t>15.4 s</a:t>
            </a:r>
            <a:endParaRPr sz="1200" b="1" dirty="0">
              <a:solidFill>
                <a:srgbClr val="1A1A1A"/>
              </a:solidFill>
              <a:latin typeface="Calibri"/>
            </a:endParaRPr>
          </a:p>
        </p:txBody>
      </p:sp>
    </p:spTree>
    <p:extLst>
      <p:ext uri="{BB962C8B-B14F-4D97-AF65-F5344CB8AC3E}">
        <p14:creationId xmlns:p14="http://schemas.microsoft.com/office/powerpoint/2010/main" val="203294217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294DC6C8-EE33-72F7-95A1-953E9046C877}"/>
              </a:ext>
            </a:extLst>
          </p:cNvPr>
          <p:cNvSpPr/>
          <p:nvPr/>
        </p:nvSpPr>
        <p:spPr>
          <a:xfrm>
            <a:off x="0" y="0"/>
            <a:ext cx="12192000" cy="114300"/>
          </a:xfrm>
          <a:prstGeom prst="rect">
            <a:avLst/>
          </a:prstGeom>
          <a:solidFill>
            <a:srgbClr val="000000"/>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AU"/>
          </a:p>
        </p:txBody>
      </p:sp>
      <p:sp>
        <p:nvSpPr>
          <p:cNvPr id="2" name="Rectangle 1">
            <a:extLst>
              <a:ext uri="{FF2B5EF4-FFF2-40B4-BE49-F238E27FC236}">
                <a16:creationId xmlns:a16="http://schemas.microsoft.com/office/drawing/2014/main" id="{AAF7F6B7-D9AA-1A29-39E2-1D2D3447BDFB}"/>
              </a:ext>
            </a:extLst>
          </p:cNvPr>
          <p:cNvSpPr/>
          <p:nvPr/>
        </p:nvSpPr>
        <p:spPr>
          <a:xfrm>
            <a:off x="0" y="0"/>
            <a:ext cx="12192000" cy="6858000"/>
          </a:xfrm>
          <a:prstGeom prst="rect">
            <a:avLst/>
          </a:prstGeom>
          <a:solidFill>
            <a:srgbClr val="FFFFFF"/>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AU"/>
          </a:p>
        </p:txBody>
      </p:sp>
      <p:sp>
        <p:nvSpPr>
          <p:cNvPr id="4" name="TextBox 3">
            <a:extLst>
              <a:ext uri="{FF2B5EF4-FFF2-40B4-BE49-F238E27FC236}">
                <a16:creationId xmlns:a16="http://schemas.microsoft.com/office/drawing/2014/main" id="{F343D42E-5AB8-5080-D935-F249DC57DC05}"/>
              </a:ext>
            </a:extLst>
          </p:cNvPr>
          <p:cNvSpPr txBox="1"/>
          <p:nvPr/>
        </p:nvSpPr>
        <p:spPr>
          <a:xfrm>
            <a:off x="457200" y="165100"/>
            <a:ext cx="11176000" cy="353943"/>
          </a:xfrm>
          <a:prstGeom prst="rect">
            <a:avLst/>
          </a:prstGeom>
          <a:noFill/>
        </p:spPr>
        <p:txBody>
          <a:bodyPr vert="horz" rtlCol="0">
            <a:spAutoFit/>
          </a:bodyPr>
          <a:lstStyle/>
          <a:p>
            <a:r>
              <a:rPr lang="en-AU" sz="1700" b="1">
                <a:solidFill>
                  <a:srgbClr val="000000"/>
                </a:solidFill>
                <a:latin typeface="Calibri" panose="020F0502020204030204" pitchFamily="34" charset="0"/>
              </a:rPr>
              <a:t>SIMULATED ANNEALING</a:t>
            </a:r>
          </a:p>
        </p:txBody>
      </p:sp>
      <p:sp>
        <p:nvSpPr>
          <p:cNvPr id="5" name="TextBox 4">
            <a:extLst>
              <a:ext uri="{FF2B5EF4-FFF2-40B4-BE49-F238E27FC236}">
                <a16:creationId xmlns:a16="http://schemas.microsoft.com/office/drawing/2014/main" id="{0608A97F-A4AD-824E-1349-58727E4A223A}"/>
              </a:ext>
            </a:extLst>
          </p:cNvPr>
          <p:cNvSpPr txBox="1"/>
          <p:nvPr/>
        </p:nvSpPr>
        <p:spPr>
          <a:xfrm>
            <a:off x="457200" y="406400"/>
            <a:ext cx="11303000" cy="646331"/>
          </a:xfrm>
          <a:prstGeom prst="rect">
            <a:avLst/>
          </a:prstGeom>
          <a:noFill/>
        </p:spPr>
        <p:txBody>
          <a:bodyPr vert="horz" rtlCol="0">
            <a:spAutoFit/>
          </a:bodyPr>
          <a:lstStyle/>
          <a:p>
            <a:r>
              <a:rPr lang="en-US" sz="3600" b="1" dirty="0">
                <a:solidFill>
                  <a:srgbClr val="000000"/>
                </a:solidFill>
                <a:latin typeface="Calibri" panose="020F0502020204030204" pitchFamily="34" charset="0"/>
              </a:rPr>
              <a:t>What simulated annealing is </a:t>
            </a:r>
            <a:endParaRPr lang="en-AU" sz="3600" b="1" dirty="0">
              <a:solidFill>
                <a:srgbClr val="000000"/>
              </a:solidFill>
              <a:latin typeface="Calibri" panose="020F0502020204030204" pitchFamily="34" charset="0"/>
            </a:endParaRPr>
          </a:p>
        </p:txBody>
      </p:sp>
      <p:sp>
        <p:nvSpPr>
          <p:cNvPr id="6" name="Rectangle: Rounded Corners 5">
            <a:extLst>
              <a:ext uri="{FF2B5EF4-FFF2-40B4-BE49-F238E27FC236}">
                <a16:creationId xmlns:a16="http://schemas.microsoft.com/office/drawing/2014/main" id="{7C218566-5204-FD9B-68B7-82FF2C629F19}"/>
              </a:ext>
            </a:extLst>
          </p:cNvPr>
          <p:cNvSpPr/>
          <p:nvPr/>
        </p:nvSpPr>
        <p:spPr>
          <a:xfrm>
            <a:off x="457200" y="1206500"/>
            <a:ext cx="3619500" cy="1905000"/>
          </a:xfrm>
          <a:prstGeom prst="roundRect">
            <a:avLst/>
          </a:prstGeom>
          <a:solidFill>
            <a:srgbClr val="F0F0F0"/>
          </a:solidFill>
          <a:ln w="12700">
            <a:solidFill>
              <a:srgbClr val="B0B0B0"/>
            </a:solidFill>
          </a:ln>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AU"/>
          </a:p>
        </p:txBody>
      </p:sp>
      <p:sp>
        <p:nvSpPr>
          <p:cNvPr id="7" name="Rectangle: Rounded Corners 6">
            <a:extLst>
              <a:ext uri="{FF2B5EF4-FFF2-40B4-BE49-F238E27FC236}">
                <a16:creationId xmlns:a16="http://schemas.microsoft.com/office/drawing/2014/main" id="{5D730056-2EAC-D3A6-ADEB-76C560F98819}"/>
              </a:ext>
            </a:extLst>
          </p:cNvPr>
          <p:cNvSpPr/>
          <p:nvPr/>
        </p:nvSpPr>
        <p:spPr>
          <a:xfrm>
            <a:off x="4292600" y="1206500"/>
            <a:ext cx="3619500" cy="1905000"/>
          </a:xfrm>
          <a:prstGeom prst="roundRect">
            <a:avLst/>
          </a:prstGeom>
          <a:solidFill>
            <a:srgbClr val="F0F0F0"/>
          </a:solidFill>
          <a:ln w="12700">
            <a:solidFill>
              <a:srgbClr val="B0B0B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AU"/>
          </a:p>
        </p:txBody>
      </p:sp>
      <p:sp>
        <p:nvSpPr>
          <p:cNvPr id="8" name="Rectangle: Rounded Corners 7">
            <a:extLst>
              <a:ext uri="{FF2B5EF4-FFF2-40B4-BE49-F238E27FC236}">
                <a16:creationId xmlns:a16="http://schemas.microsoft.com/office/drawing/2014/main" id="{7C77D632-801B-BCDB-30F2-DDC63601BFEB}"/>
              </a:ext>
            </a:extLst>
          </p:cNvPr>
          <p:cNvSpPr/>
          <p:nvPr/>
        </p:nvSpPr>
        <p:spPr>
          <a:xfrm>
            <a:off x="8128000" y="1206500"/>
            <a:ext cx="3619500" cy="1905000"/>
          </a:xfrm>
          <a:prstGeom prst="roundRect">
            <a:avLst/>
          </a:prstGeom>
          <a:solidFill>
            <a:srgbClr val="F0F0F0"/>
          </a:solidFill>
          <a:ln w="12700">
            <a:solidFill>
              <a:srgbClr val="B0B0B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AU"/>
          </a:p>
        </p:txBody>
      </p:sp>
      <p:sp>
        <p:nvSpPr>
          <p:cNvPr id="9" name="TextBox 8">
            <a:extLst>
              <a:ext uri="{FF2B5EF4-FFF2-40B4-BE49-F238E27FC236}">
                <a16:creationId xmlns:a16="http://schemas.microsoft.com/office/drawing/2014/main" id="{6C3F0705-6F17-595E-C80C-D05976A44CE0}"/>
              </a:ext>
            </a:extLst>
          </p:cNvPr>
          <p:cNvSpPr txBox="1"/>
          <p:nvPr/>
        </p:nvSpPr>
        <p:spPr>
          <a:xfrm>
            <a:off x="660400" y="1397000"/>
            <a:ext cx="3238500" cy="400110"/>
          </a:xfrm>
          <a:prstGeom prst="rect">
            <a:avLst/>
          </a:prstGeom>
          <a:noFill/>
        </p:spPr>
        <p:txBody>
          <a:bodyPr vert="horz" rtlCol="0">
            <a:spAutoFit/>
          </a:bodyPr>
          <a:lstStyle/>
          <a:p>
            <a:r>
              <a:rPr lang="en-AU" sz="2000" b="1">
                <a:solidFill>
                  <a:srgbClr val="000000"/>
                </a:solidFill>
              </a:rPr>
              <a:t>1 · Search</a:t>
            </a:r>
          </a:p>
        </p:txBody>
      </p:sp>
      <p:sp>
        <p:nvSpPr>
          <p:cNvPr id="10" name="TextBox 9">
            <a:extLst>
              <a:ext uri="{FF2B5EF4-FFF2-40B4-BE49-F238E27FC236}">
                <a16:creationId xmlns:a16="http://schemas.microsoft.com/office/drawing/2014/main" id="{73CF10A2-CF9E-0A7C-E5FD-1F5527E2E124}"/>
              </a:ext>
            </a:extLst>
          </p:cNvPr>
          <p:cNvSpPr txBox="1"/>
          <p:nvPr/>
        </p:nvSpPr>
        <p:spPr>
          <a:xfrm>
            <a:off x="660400" y="1841500"/>
            <a:ext cx="3238500" cy="584775"/>
          </a:xfrm>
          <a:prstGeom prst="rect">
            <a:avLst/>
          </a:prstGeom>
          <a:noFill/>
        </p:spPr>
        <p:txBody>
          <a:bodyPr vert="horz" rtlCol="0">
            <a:spAutoFit/>
          </a:bodyPr>
          <a:lstStyle/>
          <a:p>
            <a:r>
              <a:rPr lang="en-US" sz="1600" dirty="0">
                <a:solidFill>
                  <a:srgbClr val="111111"/>
                </a:solidFill>
                <a:latin typeface="Calibri" panose="020F0502020204030204" pitchFamily="34" charset="0"/>
              </a:rPr>
              <a:t>Same priority-based selection </a:t>
            </a:r>
            <a:r>
              <a:rPr lang="en-US" sz="1600" dirty="0" err="1">
                <a:solidFill>
                  <a:srgbClr val="111111"/>
                </a:solidFill>
                <a:latin typeface="Calibri" panose="020F0502020204030204" pitchFamily="34" charset="0"/>
              </a:rPr>
              <a:t>neighbour</a:t>
            </a:r>
            <a:r>
              <a:rPr lang="en-US" sz="1600" dirty="0">
                <a:solidFill>
                  <a:srgbClr val="111111"/>
                </a:solidFill>
                <a:latin typeface="Calibri" panose="020F0502020204030204" pitchFamily="34" charset="0"/>
              </a:rPr>
              <a:t> search algorithm</a:t>
            </a:r>
            <a:endParaRPr lang="en-AU" sz="1600" dirty="0">
              <a:solidFill>
                <a:srgbClr val="111111"/>
              </a:solidFill>
              <a:latin typeface="Calibri" panose="020F0502020204030204" pitchFamily="34" charset="0"/>
            </a:endParaRPr>
          </a:p>
        </p:txBody>
      </p:sp>
      <p:sp>
        <p:nvSpPr>
          <p:cNvPr id="11" name="TextBox 10">
            <a:extLst>
              <a:ext uri="{FF2B5EF4-FFF2-40B4-BE49-F238E27FC236}">
                <a16:creationId xmlns:a16="http://schemas.microsoft.com/office/drawing/2014/main" id="{CEFAAB5C-4D53-FE1B-6D43-8EA22402B17E}"/>
              </a:ext>
            </a:extLst>
          </p:cNvPr>
          <p:cNvSpPr txBox="1"/>
          <p:nvPr/>
        </p:nvSpPr>
        <p:spPr>
          <a:xfrm>
            <a:off x="4495800" y="1397000"/>
            <a:ext cx="3238500" cy="400110"/>
          </a:xfrm>
          <a:prstGeom prst="rect">
            <a:avLst/>
          </a:prstGeom>
          <a:noFill/>
        </p:spPr>
        <p:txBody>
          <a:bodyPr vert="horz" rtlCol="0">
            <a:spAutoFit/>
          </a:bodyPr>
          <a:lstStyle/>
          <a:p>
            <a:r>
              <a:rPr lang="en-AU" sz="2000" b="1">
                <a:solidFill>
                  <a:srgbClr val="000000"/>
                </a:solidFill>
              </a:rPr>
              <a:t>2 · Accept</a:t>
            </a:r>
          </a:p>
        </p:txBody>
      </p:sp>
      <p:sp>
        <p:nvSpPr>
          <p:cNvPr id="12" name="TextBox 11">
            <a:extLst>
              <a:ext uri="{FF2B5EF4-FFF2-40B4-BE49-F238E27FC236}">
                <a16:creationId xmlns:a16="http://schemas.microsoft.com/office/drawing/2014/main" id="{3194C2E4-2FF9-3CAF-0AD9-C09BB003A385}"/>
              </a:ext>
            </a:extLst>
          </p:cNvPr>
          <p:cNvSpPr txBox="1"/>
          <p:nvPr/>
        </p:nvSpPr>
        <p:spPr>
          <a:xfrm>
            <a:off x="4495800" y="1841500"/>
            <a:ext cx="3238500" cy="830997"/>
          </a:xfrm>
          <a:prstGeom prst="rect">
            <a:avLst/>
          </a:prstGeom>
          <a:noFill/>
        </p:spPr>
        <p:txBody>
          <a:bodyPr vert="horz" rtlCol="0">
            <a:spAutoFit/>
          </a:bodyPr>
          <a:lstStyle/>
          <a:p>
            <a:r>
              <a:rPr lang="en-US" sz="1600">
                <a:solidFill>
                  <a:srgbClr val="1A1A1A"/>
                </a:solidFill>
              </a:rPr>
              <a:t>Better moves are always kept. Worse moves can still be kept early on, by chance.</a:t>
            </a:r>
            <a:endParaRPr lang="en-AU" sz="1600">
              <a:solidFill>
                <a:srgbClr val="1A1A1A"/>
              </a:solidFill>
            </a:endParaRPr>
          </a:p>
        </p:txBody>
      </p:sp>
      <p:sp>
        <p:nvSpPr>
          <p:cNvPr id="13" name="TextBox 12">
            <a:extLst>
              <a:ext uri="{FF2B5EF4-FFF2-40B4-BE49-F238E27FC236}">
                <a16:creationId xmlns:a16="http://schemas.microsoft.com/office/drawing/2014/main" id="{2C7F5FBD-3DB9-430C-0F4A-33620E8A1574}"/>
              </a:ext>
            </a:extLst>
          </p:cNvPr>
          <p:cNvSpPr txBox="1"/>
          <p:nvPr/>
        </p:nvSpPr>
        <p:spPr>
          <a:xfrm>
            <a:off x="8331200" y="1397000"/>
            <a:ext cx="3238500" cy="400110"/>
          </a:xfrm>
          <a:prstGeom prst="rect">
            <a:avLst/>
          </a:prstGeom>
          <a:noFill/>
        </p:spPr>
        <p:txBody>
          <a:bodyPr vert="horz" rtlCol="0">
            <a:spAutoFit/>
          </a:bodyPr>
          <a:lstStyle/>
          <a:p>
            <a:r>
              <a:rPr lang="en-AU" sz="2000" b="1">
                <a:solidFill>
                  <a:srgbClr val="000000"/>
                </a:solidFill>
              </a:rPr>
              <a:t>3 · Cool down</a:t>
            </a:r>
          </a:p>
        </p:txBody>
      </p:sp>
      <p:sp>
        <p:nvSpPr>
          <p:cNvPr id="14" name="TextBox 13">
            <a:extLst>
              <a:ext uri="{FF2B5EF4-FFF2-40B4-BE49-F238E27FC236}">
                <a16:creationId xmlns:a16="http://schemas.microsoft.com/office/drawing/2014/main" id="{90C7B489-F8AA-CCCA-B194-C2DE18317B9B}"/>
              </a:ext>
            </a:extLst>
          </p:cNvPr>
          <p:cNvSpPr txBox="1"/>
          <p:nvPr/>
        </p:nvSpPr>
        <p:spPr>
          <a:xfrm>
            <a:off x="8331200" y="1841500"/>
            <a:ext cx="3238500" cy="830997"/>
          </a:xfrm>
          <a:prstGeom prst="rect">
            <a:avLst/>
          </a:prstGeom>
          <a:noFill/>
        </p:spPr>
        <p:txBody>
          <a:bodyPr vert="horz" rtlCol="0">
            <a:spAutoFit/>
          </a:bodyPr>
          <a:lstStyle/>
          <a:p>
            <a:r>
              <a:rPr lang="en-US" sz="1600">
                <a:solidFill>
                  <a:srgbClr val="1A1A1A"/>
                </a:solidFill>
              </a:rPr>
              <a:t>Over time we accept fewer worse moves, so the search settles on a strong plan.</a:t>
            </a:r>
            <a:endParaRPr lang="en-AU" sz="1600">
              <a:solidFill>
                <a:srgbClr val="1A1A1A"/>
              </a:solidFill>
            </a:endParaRPr>
          </a:p>
        </p:txBody>
      </p:sp>
      <p:sp>
        <p:nvSpPr>
          <p:cNvPr id="15" name="Rectangle: Rounded Corners 14">
            <a:extLst>
              <a:ext uri="{FF2B5EF4-FFF2-40B4-BE49-F238E27FC236}">
                <a16:creationId xmlns:a16="http://schemas.microsoft.com/office/drawing/2014/main" id="{1399B483-487F-7054-3978-97E8125E47D5}"/>
              </a:ext>
            </a:extLst>
          </p:cNvPr>
          <p:cNvSpPr/>
          <p:nvPr/>
        </p:nvSpPr>
        <p:spPr>
          <a:xfrm>
            <a:off x="457200" y="3365500"/>
            <a:ext cx="11303000" cy="3048000"/>
          </a:xfrm>
          <a:prstGeom prst="roundRect">
            <a:avLst/>
          </a:prstGeom>
          <a:solidFill>
            <a:srgbClr val="FFFF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AU"/>
          </a:p>
        </p:txBody>
      </p:sp>
      <p:sp>
        <p:nvSpPr>
          <p:cNvPr id="16" name="TextBox 15">
            <a:extLst>
              <a:ext uri="{FF2B5EF4-FFF2-40B4-BE49-F238E27FC236}">
                <a16:creationId xmlns:a16="http://schemas.microsoft.com/office/drawing/2014/main" id="{978452C5-DE8E-5059-B6B3-9200A878AE2C}"/>
              </a:ext>
            </a:extLst>
          </p:cNvPr>
          <p:cNvSpPr txBox="1"/>
          <p:nvPr/>
        </p:nvSpPr>
        <p:spPr>
          <a:xfrm>
            <a:off x="698500" y="3556000"/>
            <a:ext cx="10795000" cy="430887"/>
          </a:xfrm>
          <a:prstGeom prst="rect">
            <a:avLst/>
          </a:prstGeom>
          <a:noFill/>
        </p:spPr>
        <p:txBody>
          <a:bodyPr vert="horz" rtlCol="0">
            <a:spAutoFit/>
          </a:bodyPr>
          <a:lstStyle/>
          <a:p>
            <a:r>
              <a:rPr lang="en-AU" sz="2200" b="1">
                <a:solidFill>
                  <a:srgbClr val="000000"/>
                </a:solidFill>
              </a:rPr>
              <a:t>Why it helps</a:t>
            </a:r>
          </a:p>
        </p:txBody>
      </p:sp>
      <p:sp>
        <p:nvSpPr>
          <p:cNvPr id="17" name="TextBox 16">
            <a:extLst>
              <a:ext uri="{FF2B5EF4-FFF2-40B4-BE49-F238E27FC236}">
                <a16:creationId xmlns:a16="http://schemas.microsoft.com/office/drawing/2014/main" id="{1318B08F-FA4A-8008-3678-314F14A422BD}"/>
              </a:ext>
            </a:extLst>
          </p:cNvPr>
          <p:cNvSpPr txBox="1"/>
          <p:nvPr/>
        </p:nvSpPr>
        <p:spPr>
          <a:xfrm>
            <a:off x="698500" y="4064000"/>
            <a:ext cx="10795000" cy="1477328"/>
          </a:xfrm>
          <a:prstGeom prst="rect">
            <a:avLst/>
          </a:prstGeom>
          <a:noFill/>
        </p:spPr>
        <p:txBody>
          <a:bodyPr vert="horz" rtlCol="0">
            <a:spAutoFit/>
          </a:bodyPr>
          <a:lstStyle/>
          <a:p>
            <a:r>
              <a:rPr lang="en-US" dirty="0">
                <a:solidFill>
                  <a:srgbClr val="1A1A1A"/>
                </a:solidFill>
              </a:rPr>
              <a:t>Think of the search like walking over hills. Today’s method only walks uphill. That is fast and safe, but you can get stuck on a steep part of the hill when a better peak is nearby.</a:t>
            </a:r>
          </a:p>
          <a:p>
            <a:endParaRPr lang="en-US" dirty="0">
              <a:solidFill>
                <a:srgbClr val="1A1A1A"/>
              </a:solidFill>
            </a:endParaRPr>
          </a:p>
          <a:p>
            <a:r>
              <a:rPr lang="en-US" dirty="0">
                <a:solidFill>
                  <a:srgbClr val="1A1A1A"/>
                </a:solidFill>
              </a:rPr>
              <a:t>Simulated annealing sometimes takes a downhill step early, so you can leave a trap and reach a better overall schedule. As the search “cools,” those downhill steps become rare, and we settle on the best plan we found.</a:t>
            </a:r>
            <a:endParaRPr lang="en-AU" dirty="0">
              <a:solidFill>
                <a:srgbClr val="1A1A1A"/>
              </a:solidFill>
            </a:endParaRPr>
          </a:p>
        </p:txBody>
      </p:sp>
    </p:spTree>
    <p:extLst>
      <p:ext uri="{BB962C8B-B14F-4D97-AF65-F5344CB8AC3E}">
        <p14:creationId xmlns:p14="http://schemas.microsoft.com/office/powerpoint/2010/main" val="91621765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0" y="0"/>
            <a:ext cx="12191695" cy="109728"/>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165100"/>
            <a:ext cx="11277600" cy="317500"/>
          </a:xfrm>
          <a:prstGeom prst="rect">
            <a:avLst/>
          </a:prstGeom>
          <a:noFill/>
        </p:spPr>
        <p:txBody>
          <a:bodyPr wrap="square">
            <a:noAutofit/>
          </a:bodyPr>
          <a:lstStyle/>
          <a:p>
            <a:pPr algn="l"/>
            <a:r>
              <a:rPr lang="en-AU" sz="1500" b="1">
                <a:solidFill>
                  <a:srgbClr val="000000"/>
                </a:solidFill>
                <a:latin typeface="Calibri"/>
              </a:rPr>
              <a:t>METHOD COMPARISON</a:t>
            </a:r>
            <a:endParaRPr sz="1500" b="1">
              <a:solidFill>
                <a:srgbClr val="000000"/>
              </a:solidFill>
              <a:latin typeface="Calibri"/>
            </a:endParaRPr>
          </a:p>
        </p:txBody>
      </p:sp>
      <p:sp>
        <p:nvSpPr>
          <p:cNvPr id="5" name="TextBox 4"/>
          <p:cNvSpPr txBox="1"/>
          <p:nvPr/>
        </p:nvSpPr>
        <p:spPr>
          <a:xfrm>
            <a:off x="457200" y="533400"/>
            <a:ext cx="11277600" cy="660400"/>
          </a:xfrm>
          <a:prstGeom prst="rect">
            <a:avLst/>
          </a:prstGeom>
          <a:noFill/>
        </p:spPr>
        <p:txBody>
          <a:bodyPr wrap="square">
            <a:noAutofit/>
          </a:bodyPr>
          <a:lstStyle/>
          <a:p>
            <a:pPr algn="l"/>
            <a:r>
              <a:rPr lang="en-US" sz="3200" b="1">
                <a:solidFill>
                  <a:srgbClr val="000000"/>
                </a:solidFill>
                <a:latin typeface="Calibri"/>
              </a:rPr>
              <a:t>Simulated Annealing did not meet the keep rule</a:t>
            </a:r>
            <a:endParaRPr sz="3200" b="1">
              <a:solidFill>
                <a:srgbClr val="000000"/>
              </a:solidFill>
              <a:latin typeface="Calibri"/>
            </a:endParaRPr>
          </a:p>
        </p:txBody>
      </p:sp>
      <p:graphicFrame>
        <p:nvGraphicFramePr>
          <p:cNvPr id="15" name="Method results">
            <a:extLst>
              <a:ext uri="{FF2B5EF4-FFF2-40B4-BE49-F238E27FC236}">
                <a16:creationId xmlns:a16="http://schemas.microsoft.com/office/drawing/2014/main" id="{CD681E3F-FD85-D410-57D3-F3F256E76129}"/>
              </a:ext>
            </a:extLst>
          </p:cNvPr>
          <p:cNvGraphicFramePr>
            <a:graphicFrameLocks noGrp="1"/>
          </p:cNvGraphicFramePr>
          <p:nvPr>
            <p:extLst>
              <p:ext uri="{D42A27DB-BD31-4B8C-83A1-F6EECF244321}">
                <p14:modId xmlns:p14="http://schemas.microsoft.com/office/powerpoint/2010/main" val="4074172747"/>
              </p:ext>
            </p:extLst>
          </p:nvPr>
        </p:nvGraphicFramePr>
        <p:xfrm>
          <a:off x="457200" y="1727200"/>
          <a:ext cx="11277600" cy="2821940"/>
        </p:xfrm>
        <a:graphic>
          <a:graphicData uri="http://schemas.openxmlformats.org/drawingml/2006/table">
            <a:tbl>
              <a:tblPr firstRow="1" bandRow="1">
                <a:tableStyleId>{5C22544A-7EE6-4342-B048-85BDC9FD1C3A}</a:tableStyleId>
              </a:tblPr>
              <a:tblGrid>
                <a:gridCol w="4318000">
                  <a:extLst>
                    <a:ext uri="{9D8B030D-6E8A-4147-A177-3AD203B41FA5}">
                      <a16:colId xmlns:a16="http://schemas.microsoft.com/office/drawing/2014/main" val="3404174873"/>
                    </a:ext>
                  </a:extLst>
                </a:gridCol>
                <a:gridCol w="1778000">
                  <a:extLst>
                    <a:ext uri="{9D8B030D-6E8A-4147-A177-3AD203B41FA5}">
                      <a16:colId xmlns:a16="http://schemas.microsoft.com/office/drawing/2014/main" val="275785731"/>
                    </a:ext>
                  </a:extLst>
                </a:gridCol>
                <a:gridCol w="2590800">
                  <a:extLst>
                    <a:ext uri="{9D8B030D-6E8A-4147-A177-3AD203B41FA5}">
                      <a16:colId xmlns:a16="http://schemas.microsoft.com/office/drawing/2014/main" val="815515899"/>
                    </a:ext>
                  </a:extLst>
                </a:gridCol>
                <a:gridCol w="2590800">
                  <a:extLst>
                    <a:ext uri="{9D8B030D-6E8A-4147-A177-3AD203B41FA5}">
                      <a16:colId xmlns:a16="http://schemas.microsoft.com/office/drawing/2014/main" val="4253128408"/>
                    </a:ext>
                  </a:extLst>
                </a:gridCol>
              </a:tblGrid>
              <a:tr h="698500">
                <a:tc>
                  <a:txBody>
                    <a:bodyPr/>
                    <a:lstStyle/>
                    <a:p>
                      <a:pPr>
                        <a:buFontTx/>
                        <a:buNone/>
                      </a:pPr>
                      <a:r>
                        <a:rPr lang="en-AU" sz="1600" b="1">
                          <a:solidFill>
                            <a:srgbClr val="FFFFFF"/>
                          </a:solidFill>
                          <a:latin typeface="Calibri" panose="020F0502020204030204" pitchFamily="34" charset="0"/>
                        </a:rPr>
                        <a:t>Method</a:t>
                      </a:r>
                    </a:p>
                  </a:txBody>
                  <a:tcPr marL="127000" marR="88900" marT="88900" marB="88900" anchor="ctr">
                    <a:lnL w="6350" cmpd="sng">
                      <a:solidFill>
                        <a:srgbClr val="B0B0B0"/>
                      </a:solidFill>
                    </a:lnL>
                    <a:lnR w="6350" cmpd="sng">
                      <a:solidFill>
                        <a:srgbClr val="B0B0B0"/>
                      </a:solidFill>
                    </a:lnR>
                    <a:lnT w="6350" cmpd="sng">
                      <a:solidFill>
                        <a:srgbClr val="B0B0B0"/>
                      </a:solidFill>
                    </a:lnT>
                    <a:lnB w="6350" cmpd="sng">
                      <a:solidFill>
                        <a:srgbClr val="B0B0B0"/>
                      </a:solidFill>
                    </a:lnB>
                    <a:solidFill>
                      <a:srgbClr val="000000"/>
                    </a:solidFill>
                  </a:tcPr>
                </a:tc>
                <a:tc>
                  <a:txBody>
                    <a:bodyPr/>
                    <a:lstStyle/>
                    <a:p>
                      <a:pPr>
                        <a:buFontTx/>
                        <a:buNone/>
                      </a:pPr>
                      <a:r>
                        <a:rPr lang="en-AU" sz="1600" b="1">
                          <a:solidFill>
                            <a:srgbClr val="FFFFFF"/>
                          </a:solidFill>
                          <a:latin typeface="Calibri" panose="020F0502020204030204" pitchFamily="34" charset="0"/>
                        </a:rPr>
                        <a:t>Worst day</a:t>
                      </a:r>
                    </a:p>
                  </a:txBody>
                  <a:tcPr marL="127000" marR="88900" marT="88900" marB="88900" anchor="ctr">
                    <a:lnL w="6350" cmpd="sng">
                      <a:solidFill>
                        <a:srgbClr val="B0B0B0"/>
                      </a:solidFill>
                    </a:lnL>
                    <a:lnR w="6350" cmpd="sng">
                      <a:solidFill>
                        <a:srgbClr val="B0B0B0"/>
                      </a:solidFill>
                    </a:lnR>
                    <a:lnT w="6350" cmpd="sng">
                      <a:solidFill>
                        <a:srgbClr val="B0B0B0"/>
                      </a:solidFill>
                    </a:lnT>
                    <a:lnB w="6350" cmpd="sng">
                      <a:solidFill>
                        <a:srgbClr val="B0B0B0"/>
                      </a:solidFill>
                    </a:lnB>
                    <a:solidFill>
                      <a:srgbClr val="000000"/>
                    </a:solidFill>
                  </a:tcPr>
                </a:tc>
                <a:tc>
                  <a:txBody>
                    <a:bodyPr/>
                    <a:lstStyle/>
                    <a:p>
                      <a:pPr>
                        <a:buFontTx/>
                        <a:buNone/>
                      </a:pPr>
                      <a:r>
                        <a:rPr lang="en-AU" sz="1600" b="1">
                          <a:solidFill>
                            <a:srgbClr val="FFFFFF"/>
                          </a:solidFill>
                          <a:latin typeface="Calibri" panose="020F0502020204030204" pitchFamily="34" charset="0"/>
                        </a:rPr>
                        <a:t>Std deviation</a:t>
                      </a:r>
                    </a:p>
                  </a:txBody>
                  <a:tcPr marL="127000" marR="88900" marT="88900" marB="88900" anchor="ctr">
                    <a:lnL w="6350" cmpd="sng">
                      <a:solidFill>
                        <a:srgbClr val="B0B0B0"/>
                      </a:solidFill>
                    </a:lnL>
                    <a:lnR w="6350" cmpd="sng">
                      <a:solidFill>
                        <a:srgbClr val="B0B0B0"/>
                      </a:solidFill>
                    </a:lnR>
                    <a:lnT w="6350" cmpd="sng">
                      <a:solidFill>
                        <a:srgbClr val="B0B0B0"/>
                      </a:solidFill>
                    </a:lnT>
                    <a:lnB w="6350" cmpd="sng">
                      <a:solidFill>
                        <a:srgbClr val="B0B0B0"/>
                      </a:solidFill>
                    </a:lnB>
                    <a:solidFill>
                      <a:srgbClr val="000000"/>
                    </a:solidFill>
                  </a:tcPr>
                </a:tc>
                <a:tc>
                  <a:txBody>
                    <a:bodyPr/>
                    <a:lstStyle/>
                    <a:p>
                      <a:pPr>
                        <a:buFontTx/>
                        <a:buNone/>
                      </a:pPr>
                      <a:r>
                        <a:rPr lang="en-AU" sz="1600" b="1">
                          <a:solidFill>
                            <a:srgbClr val="FFFFFF"/>
                          </a:solidFill>
                          <a:latin typeface="Calibri" panose="020F0502020204030204" pitchFamily="34" charset="0"/>
                        </a:rPr>
                        <a:t>Runtime</a:t>
                      </a:r>
                    </a:p>
                  </a:txBody>
                  <a:tcPr marL="127000" marR="88900" marT="88900" marB="88900" anchor="ctr">
                    <a:lnL w="6350" cmpd="sng">
                      <a:solidFill>
                        <a:srgbClr val="B0B0B0"/>
                      </a:solidFill>
                    </a:lnL>
                    <a:lnR w="6350" cmpd="sng">
                      <a:solidFill>
                        <a:srgbClr val="B0B0B0"/>
                      </a:solidFill>
                    </a:lnR>
                    <a:lnT w="6350" cmpd="sng">
                      <a:solidFill>
                        <a:srgbClr val="B0B0B0"/>
                      </a:solidFill>
                    </a:lnT>
                    <a:lnB w="6350" cmpd="sng">
                      <a:solidFill>
                        <a:srgbClr val="B0B0B0"/>
                      </a:solidFill>
                    </a:lnB>
                    <a:solidFill>
                      <a:srgbClr val="000000"/>
                    </a:solidFill>
                  </a:tcPr>
                </a:tc>
                <a:extLst>
                  <a:ext uri="{0D108BD9-81ED-4DB2-BD59-A6C34878D82A}">
                    <a16:rowId xmlns:a16="http://schemas.microsoft.com/office/drawing/2014/main" val="2124153373"/>
                  </a:ext>
                </a:extLst>
              </a:tr>
              <a:tr h="698500">
                <a:tc>
                  <a:txBody>
                    <a:bodyPr/>
                    <a:lstStyle/>
                    <a:p>
                      <a:pPr>
                        <a:buFontTx/>
                        <a:buNone/>
                      </a:pPr>
                      <a:r>
                        <a:rPr lang="en-US" sz="1800" b="0" dirty="0">
                          <a:solidFill>
                            <a:srgbClr val="000000"/>
                          </a:solidFill>
                          <a:latin typeface="Calibri" panose="020F0502020204030204" pitchFamily="34" charset="0"/>
                        </a:rPr>
                        <a:t>Tuned Priority Based</a:t>
                      </a:r>
                    </a:p>
                    <a:p>
                      <a:pPr>
                        <a:buFontTx/>
                        <a:buNone/>
                      </a:pPr>
                      <a:r>
                        <a:rPr lang="en-US" sz="1800" b="0" dirty="0">
                          <a:solidFill>
                            <a:srgbClr val="000000"/>
                          </a:solidFill>
                          <a:latin typeface="Calibri" panose="020F0502020204030204" pitchFamily="34" charset="0"/>
                        </a:rPr>
                        <a:t>Selection with VNS</a:t>
                      </a:r>
                      <a:endParaRPr lang="en-AU" sz="1800" b="0" dirty="0">
                        <a:solidFill>
                          <a:srgbClr val="000000"/>
                        </a:solidFill>
                        <a:latin typeface="Calibri" panose="020F0502020204030204" pitchFamily="34" charset="0"/>
                      </a:endParaRPr>
                    </a:p>
                  </a:txBody>
                  <a:tcPr marL="127000" marR="88900" marT="88900" marB="88900" anchor="ctr">
                    <a:lnL w="6350" cmpd="sng">
                      <a:solidFill>
                        <a:srgbClr val="B0B0B0"/>
                      </a:solidFill>
                    </a:lnL>
                    <a:lnR w="6350" cmpd="sng">
                      <a:solidFill>
                        <a:srgbClr val="B0B0B0"/>
                      </a:solidFill>
                    </a:lnR>
                    <a:lnT w="6350" cmpd="sng">
                      <a:solidFill>
                        <a:srgbClr val="B0B0B0"/>
                      </a:solidFill>
                    </a:lnT>
                    <a:lnB w="6350" cmpd="sng">
                      <a:solidFill>
                        <a:srgbClr val="B0B0B0"/>
                      </a:solidFill>
                    </a:lnB>
                    <a:solidFill>
                      <a:srgbClr val="F0F0F0"/>
                    </a:solidFill>
                  </a:tcPr>
                </a:tc>
                <a:tc>
                  <a:txBody>
                    <a:bodyPr/>
                    <a:lstStyle/>
                    <a:p>
                      <a:pPr>
                        <a:buFontTx/>
                        <a:buNone/>
                      </a:pPr>
                      <a:r>
                        <a:rPr lang="en-AU" sz="2000" b="0">
                          <a:solidFill>
                            <a:srgbClr val="000000"/>
                          </a:solidFill>
                          <a:latin typeface="Calibri" panose="020F0502020204030204" pitchFamily="34" charset="0"/>
                        </a:rPr>
                        <a:t>18</a:t>
                      </a:r>
                    </a:p>
                  </a:txBody>
                  <a:tcPr marL="127000" marR="88900" marT="88900" marB="88900" anchor="ctr">
                    <a:lnL w="6350" cmpd="sng">
                      <a:solidFill>
                        <a:srgbClr val="B0B0B0"/>
                      </a:solidFill>
                    </a:lnL>
                    <a:lnR w="6350" cmpd="sng">
                      <a:solidFill>
                        <a:srgbClr val="B0B0B0"/>
                      </a:solidFill>
                    </a:lnR>
                    <a:lnT w="6350" cmpd="sng">
                      <a:solidFill>
                        <a:srgbClr val="B0B0B0"/>
                      </a:solidFill>
                    </a:lnT>
                    <a:lnB w="6350" cmpd="sng">
                      <a:solidFill>
                        <a:srgbClr val="B0B0B0"/>
                      </a:solidFill>
                    </a:lnB>
                    <a:solidFill>
                      <a:srgbClr val="F0F0F0"/>
                    </a:solidFill>
                  </a:tcPr>
                </a:tc>
                <a:tc>
                  <a:txBody>
                    <a:bodyPr/>
                    <a:lstStyle/>
                    <a:p>
                      <a:pPr>
                        <a:buFontTx/>
                        <a:buNone/>
                      </a:pPr>
                      <a:r>
                        <a:rPr lang="en-AU" sz="2000" b="0">
                          <a:solidFill>
                            <a:srgbClr val="000000"/>
                          </a:solidFill>
                          <a:latin typeface="Calibri" panose="020F0502020204030204" pitchFamily="34" charset="0"/>
                        </a:rPr>
                        <a:t>1.391860</a:t>
                      </a:r>
                    </a:p>
                  </a:txBody>
                  <a:tcPr marL="127000" marR="88900" marT="88900" marB="88900" anchor="ctr">
                    <a:lnL w="6350" cmpd="sng">
                      <a:solidFill>
                        <a:srgbClr val="B0B0B0"/>
                      </a:solidFill>
                    </a:lnL>
                    <a:lnR w="6350" cmpd="sng">
                      <a:solidFill>
                        <a:srgbClr val="B0B0B0"/>
                      </a:solidFill>
                    </a:lnR>
                    <a:lnT w="6350" cmpd="sng">
                      <a:solidFill>
                        <a:srgbClr val="B0B0B0"/>
                      </a:solidFill>
                    </a:lnT>
                    <a:lnB w="6350" cmpd="sng">
                      <a:solidFill>
                        <a:srgbClr val="B0B0B0"/>
                      </a:solidFill>
                    </a:lnB>
                    <a:solidFill>
                      <a:srgbClr val="F0F0F0"/>
                    </a:solidFill>
                  </a:tcPr>
                </a:tc>
                <a:tc>
                  <a:txBody>
                    <a:bodyPr/>
                    <a:lstStyle/>
                    <a:p>
                      <a:pPr>
                        <a:buFontTx/>
                        <a:buNone/>
                      </a:pPr>
                      <a:r>
                        <a:rPr lang="en-AU" sz="2000" b="0">
                          <a:solidFill>
                            <a:srgbClr val="000000"/>
                          </a:solidFill>
                          <a:latin typeface="Calibri" panose="020F0502020204030204" pitchFamily="34" charset="0"/>
                        </a:rPr>
                        <a:t>115.6 s</a:t>
                      </a:r>
                    </a:p>
                  </a:txBody>
                  <a:tcPr marL="127000" marR="88900" marT="88900" marB="88900" anchor="ctr">
                    <a:lnL w="6350" cmpd="sng">
                      <a:solidFill>
                        <a:srgbClr val="B0B0B0"/>
                      </a:solidFill>
                    </a:lnL>
                    <a:lnR w="6350" cmpd="sng">
                      <a:solidFill>
                        <a:srgbClr val="B0B0B0"/>
                      </a:solidFill>
                    </a:lnR>
                    <a:lnT w="6350" cmpd="sng">
                      <a:solidFill>
                        <a:srgbClr val="B0B0B0"/>
                      </a:solidFill>
                    </a:lnT>
                    <a:lnB w="6350" cmpd="sng">
                      <a:solidFill>
                        <a:srgbClr val="B0B0B0"/>
                      </a:solidFill>
                    </a:lnB>
                    <a:solidFill>
                      <a:srgbClr val="F0F0F0"/>
                    </a:solidFill>
                  </a:tcPr>
                </a:tc>
                <a:extLst>
                  <a:ext uri="{0D108BD9-81ED-4DB2-BD59-A6C34878D82A}">
                    <a16:rowId xmlns:a16="http://schemas.microsoft.com/office/drawing/2014/main" val="2458311624"/>
                  </a:ext>
                </a:extLst>
              </a:tr>
              <a:tr h="698500">
                <a:tc>
                  <a:txBody>
                    <a:bodyPr/>
                    <a:lstStyle/>
                    <a:p>
                      <a:pPr>
                        <a:buFontTx/>
                        <a:buNone/>
                      </a:pPr>
                      <a:r>
                        <a:rPr lang="en-AU" sz="1800" b="0">
                          <a:solidFill>
                            <a:srgbClr val="000000"/>
                          </a:solidFill>
                          <a:latin typeface="Calibri" panose="020F0502020204030204" pitchFamily="34" charset="0"/>
                        </a:rPr>
                        <a:t>Simulated Annealing median</a:t>
                      </a:r>
                    </a:p>
                  </a:txBody>
                  <a:tcPr marL="127000" marR="88900" marT="88900" marB="88900" anchor="ctr">
                    <a:lnL w="6350" cmpd="sng">
                      <a:solidFill>
                        <a:srgbClr val="B0B0B0"/>
                      </a:solidFill>
                    </a:lnL>
                    <a:lnR w="6350" cmpd="sng">
                      <a:solidFill>
                        <a:srgbClr val="B0B0B0"/>
                      </a:solidFill>
                    </a:lnR>
                    <a:lnT w="6350" cmpd="sng">
                      <a:solidFill>
                        <a:srgbClr val="B0B0B0"/>
                      </a:solidFill>
                    </a:lnT>
                    <a:lnB w="6350" cmpd="sng">
                      <a:solidFill>
                        <a:srgbClr val="B0B0B0"/>
                      </a:solidFill>
                    </a:lnB>
                    <a:solidFill>
                      <a:srgbClr val="FFFFFF"/>
                    </a:solidFill>
                  </a:tcPr>
                </a:tc>
                <a:tc>
                  <a:txBody>
                    <a:bodyPr/>
                    <a:lstStyle/>
                    <a:p>
                      <a:pPr>
                        <a:buFontTx/>
                        <a:buNone/>
                      </a:pPr>
                      <a:r>
                        <a:rPr lang="en-AU" sz="2000" b="0">
                          <a:solidFill>
                            <a:srgbClr val="000000"/>
                          </a:solidFill>
                          <a:latin typeface="Calibri" panose="020F0502020204030204" pitchFamily="34" charset="0"/>
                        </a:rPr>
                        <a:t>18</a:t>
                      </a:r>
                    </a:p>
                  </a:txBody>
                  <a:tcPr marL="127000" marR="88900" marT="88900" marB="88900" anchor="ctr">
                    <a:lnL w="6350" cmpd="sng">
                      <a:solidFill>
                        <a:srgbClr val="B0B0B0"/>
                      </a:solidFill>
                    </a:lnL>
                    <a:lnR w="6350" cmpd="sng">
                      <a:solidFill>
                        <a:srgbClr val="B0B0B0"/>
                      </a:solidFill>
                    </a:lnR>
                    <a:lnT w="6350" cmpd="sng">
                      <a:solidFill>
                        <a:srgbClr val="B0B0B0"/>
                      </a:solidFill>
                    </a:lnT>
                    <a:lnB w="6350" cmpd="sng">
                      <a:solidFill>
                        <a:srgbClr val="B0B0B0"/>
                      </a:solidFill>
                    </a:lnB>
                    <a:solidFill>
                      <a:srgbClr val="FFFFFF"/>
                    </a:solidFill>
                  </a:tcPr>
                </a:tc>
                <a:tc>
                  <a:txBody>
                    <a:bodyPr/>
                    <a:lstStyle/>
                    <a:p>
                      <a:pPr>
                        <a:buFontTx/>
                        <a:buNone/>
                      </a:pPr>
                      <a:r>
                        <a:rPr lang="en-AU" sz="2000" b="0">
                          <a:solidFill>
                            <a:srgbClr val="000000"/>
                          </a:solidFill>
                          <a:latin typeface="Calibri" panose="020F0502020204030204" pitchFamily="34" charset="0"/>
                        </a:rPr>
                        <a:t>1.390417</a:t>
                      </a:r>
                    </a:p>
                  </a:txBody>
                  <a:tcPr marL="127000" marR="88900" marT="88900" marB="88900" anchor="ctr">
                    <a:lnL w="6350" cmpd="sng">
                      <a:solidFill>
                        <a:srgbClr val="B0B0B0"/>
                      </a:solidFill>
                    </a:lnL>
                    <a:lnR w="6350" cmpd="sng">
                      <a:solidFill>
                        <a:srgbClr val="B0B0B0"/>
                      </a:solidFill>
                    </a:lnR>
                    <a:lnT w="6350" cmpd="sng">
                      <a:solidFill>
                        <a:srgbClr val="B0B0B0"/>
                      </a:solidFill>
                    </a:lnT>
                    <a:lnB w="6350" cmpd="sng">
                      <a:solidFill>
                        <a:srgbClr val="B0B0B0"/>
                      </a:solidFill>
                    </a:lnB>
                    <a:solidFill>
                      <a:srgbClr val="FFFFFF"/>
                    </a:solidFill>
                  </a:tcPr>
                </a:tc>
                <a:tc>
                  <a:txBody>
                    <a:bodyPr/>
                    <a:lstStyle/>
                    <a:p>
                      <a:pPr>
                        <a:buFontTx/>
                        <a:buNone/>
                      </a:pPr>
                      <a:r>
                        <a:rPr lang="en-AU" sz="2000" b="0">
                          <a:solidFill>
                            <a:srgbClr val="000000"/>
                          </a:solidFill>
                          <a:latin typeface="Calibri" panose="020F0502020204030204" pitchFamily="34" charset="0"/>
                        </a:rPr>
                        <a:t>306.3 s</a:t>
                      </a:r>
                    </a:p>
                  </a:txBody>
                  <a:tcPr marL="127000" marR="88900" marT="88900" marB="88900" anchor="ctr">
                    <a:lnL w="6350" cmpd="sng">
                      <a:solidFill>
                        <a:srgbClr val="B0B0B0"/>
                      </a:solidFill>
                    </a:lnL>
                    <a:lnR w="6350" cmpd="sng">
                      <a:solidFill>
                        <a:srgbClr val="B0B0B0"/>
                      </a:solidFill>
                    </a:lnR>
                    <a:lnT w="6350" cmpd="sng">
                      <a:solidFill>
                        <a:srgbClr val="B0B0B0"/>
                      </a:solidFill>
                    </a:lnT>
                    <a:lnB w="6350" cmpd="sng">
                      <a:solidFill>
                        <a:srgbClr val="B0B0B0"/>
                      </a:solidFill>
                    </a:lnB>
                    <a:solidFill>
                      <a:srgbClr val="FFFFFF"/>
                    </a:solidFill>
                  </a:tcPr>
                </a:tc>
                <a:extLst>
                  <a:ext uri="{0D108BD9-81ED-4DB2-BD59-A6C34878D82A}">
                    <a16:rowId xmlns:a16="http://schemas.microsoft.com/office/drawing/2014/main" val="4240172694"/>
                  </a:ext>
                </a:extLst>
              </a:tr>
              <a:tr h="698500">
                <a:tc>
                  <a:txBody>
                    <a:bodyPr/>
                    <a:lstStyle/>
                    <a:p>
                      <a:pPr>
                        <a:buFontTx/>
                        <a:buNone/>
                      </a:pPr>
                      <a:r>
                        <a:rPr lang="en-AU" sz="1800" b="0">
                          <a:solidFill>
                            <a:srgbClr val="000000"/>
                          </a:solidFill>
                          <a:latin typeface="Calibri" panose="020F0502020204030204" pitchFamily="34" charset="0"/>
                        </a:rPr>
                        <a:t>Tightened acceptance median</a:t>
                      </a:r>
                    </a:p>
                  </a:txBody>
                  <a:tcPr marL="127000" marR="88900" marT="88900" marB="88900" anchor="ctr">
                    <a:lnL w="6350" cmpd="sng">
                      <a:solidFill>
                        <a:srgbClr val="B0B0B0"/>
                      </a:solidFill>
                    </a:lnL>
                    <a:lnR w="6350" cmpd="sng">
                      <a:solidFill>
                        <a:srgbClr val="B0B0B0"/>
                      </a:solidFill>
                    </a:lnR>
                    <a:lnT w="6350" cmpd="sng">
                      <a:solidFill>
                        <a:srgbClr val="B0B0B0"/>
                      </a:solidFill>
                    </a:lnT>
                    <a:lnB w="6350" cmpd="sng">
                      <a:solidFill>
                        <a:srgbClr val="B0B0B0"/>
                      </a:solidFill>
                    </a:lnB>
                    <a:solidFill>
                      <a:srgbClr val="F0F0F0"/>
                    </a:solidFill>
                  </a:tcPr>
                </a:tc>
                <a:tc>
                  <a:txBody>
                    <a:bodyPr/>
                    <a:lstStyle/>
                    <a:p>
                      <a:pPr>
                        <a:buFontTx/>
                        <a:buNone/>
                      </a:pPr>
                      <a:r>
                        <a:rPr lang="en-AU" sz="2000" b="0">
                          <a:solidFill>
                            <a:srgbClr val="000000"/>
                          </a:solidFill>
                          <a:latin typeface="Calibri" panose="020F0502020204030204" pitchFamily="34" charset="0"/>
                        </a:rPr>
                        <a:t>18</a:t>
                      </a:r>
                    </a:p>
                  </a:txBody>
                  <a:tcPr marL="127000" marR="88900" marT="88900" marB="88900" anchor="ctr">
                    <a:lnL w="6350" cmpd="sng">
                      <a:solidFill>
                        <a:srgbClr val="B0B0B0"/>
                      </a:solidFill>
                    </a:lnL>
                    <a:lnR w="6350" cmpd="sng">
                      <a:solidFill>
                        <a:srgbClr val="B0B0B0"/>
                      </a:solidFill>
                    </a:lnR>
                    <a:lnT w="6350" cmpd="sng">
                      <a:solidFill>
                        <a:srgbClr val="B0B0B0"/>
                      </a:solidFill>
                    </a:lnT>
                    <a:lnB w="6350" cmpd="sng">
                      <a:solidFill>
                        <a:srgbClr val="B0B0B0"/>
                      </a:solidFill>
                    </a:lnB>
                    <a:solidFill>
                      <a:srgbClr val="F0F0F0"/>
                    </a:solidFill>
                  </a:tcPr>
                </a:tc>
                <a:tc>
                  <a:txBody>
                    <a:bodyPr/>
                    <a:lstStyle/>
                    <a:p>
                      <a:pPr>
                        <a:buFontTx/>
                        <a:buNone/>
                      </a:pPr>
                      <a:r>
                        <a:rPr lang="en-AU" sz="2000" b="0">
                          <a:solidFill>
                            <a:srgbClr val="000000"/>
                          </a:solidFill>
                          <a:latin typeface="Calibri" panose="020F0502020204030204" pitchFamily="34" charset="0"/>
                        </a:rPr>
                        <a:t>1.391860</a:t>
                      </a:r>
                    </a:p>
                  </a:txBody>
                  <a:tcPr marL="127000" marR="88900" marT="88900" marB="88900" anchor="ctr">
                    <a:lnL w="6350" cmpd="sng">
                      <a:solidFill>
                        <a:srgbClr val="B0B0B0"/>
                      </a:solidFill>
                    </a:lnL>
                    <a:lnR w="6350" cmpd="sng">
                      <a:solidFill>
                        <a:srgbClr val="B0B0B0"/>
                      </a:solidFill>
                    </a:lnR>
                    <a:lnT w="6350" cmpd="sng">
                      <a:solidFill>
                        <a:srgbClr val="B0B0B0"/>
                      </a:solidFill>
                    </a:lnT>
                    <a:lnB w="6350" cmpd="sng">
                      <a:solidFill>
                        <a:srgbClr val="B0B0B0"/>
                      </a:solidFill>
                    </a:lnB>
                    <a:solidFill>
                      <a:srgbClr val="F0F0F0"/>
                    </a:solidFill>
                  </a:tcPr>
                </a:tc>
                <a:tc>
                  <a:txBody>
                    <a:bodyPr/>
                    <a:lstStyle/>
                    <a:p>
                      <a:pPr>
                        <a:buFontTx/>
                        <a:buNone/>
                      </a:pPr>
                      <a:r>
                        <a:rPr lang="en-AU" sz="2000" b="0" dirty="0">
                          <a:solidFill>
                            <a:srgbClr val="000000"/>
                          </a:solidFill>
                          <a:latin typeface="Calibri" panose="020F0502020204030204" pitchFamily="34" charset="0"/>
                        </a:rPr>
                        <a:t>63.5 s</a:t>
                      </a:r>
                    </a:p>
                  </a:txBody>
                  <a:tcPr marL="127000" marR="88900" marT="88900" marB="88900" anchor="ctr">
                    <a:lnL w="6350" cmpd="sng">
                      <a:solidFill>
                        <a:srgbClr val="B0B0B0"/>
                      </a:solidFill>
                    </a:lnL>
                    <a:lnR w="6350" cmpd="sng">
                      <a:solidFill>
                        <a:srgbClr val="B0B0B0"/>
                      </a:solidFill>
                    </a:lnR>
                    <a:lnT w="6350" cmpd="sng">
                      <a:solidFill>
                        <a:srgbClr val="B0B0B0"/>
                      </a:solidFill>
                    </a:lnT>
                    <a:lnB w="6350" cmpd="sng">
                      <a:solidFill>
                        <a:srgbClr val="B0B0B0"/>
                      </a:solidFill>
                    </a:lnB>
                    <a:solidFill>
                      <a:srgbClr val="F0F0F0"/>
                    </a:solidFill>
                  </a:tcPr>
                </a:tc>
                <a:extLst>
                  <a:ext uri="{0D108BD9-81ED-4DB2-BD59-A6C34878D82A}">
                    <a16:rowId xmlns:a16="http://schemas.microsoft.com/office/drawing/2014/main" val="1615045474"/>
                  </a:ext>
                </a:extLst>
              </a:tr>
            </a:tbl>
          </a:graphicData>
        </a:graphic>
      </p:graphicFrame>
      <p:sp>
        <p:nvSpPr>
          <p:cNvPr id="16" name="Decision finding">
            <a:extLst>
              <a:ext uri="{FF2B5EF4-FFF2-40B4-BE49-F238E27FC236}">
                <a16:creationId xmlns:a16="http://schemas.microsoft.com/office/drawing/2014/main" id="{03764756-E802-0138-69BF-2D283926E903}"/>
              </a:ext>
            </a:extLst>
          </p:cNvPr>
          <p:cNvSpPr txBox="1"/>
          <p:nvPr/>
        </p:nvSpPr>
        <p:spPr>
          <a:xfrm>
            <a:off x="533400" y="4864100"/>
            <a:ext cx="11112500" cy="323165"/>
          </a:xfrm>
          <a:prstGeom prst="rect">
            <a:avLst/>
          </a:prstGeom>
          <a:noFill/>
        </p:spPr>
        <p:txBody>
          <a:bodyPr vert="horz" lIns="0" tIns="0" rIns="0" bIns="0" rtlCol="0">
            <a:noAutofit/>
          </a:bodyPr>
          <a:lstStyle/>
          <a:p>
            <a:r>
              <a:rPr lang="en-US" sz="2100" b="1">
                <a:solidFill>
                  <a:srgbClr val="000000"/>
                </a:solidFill>
                <a:latin typeface="Calibri" panose="020F0502020204030204" pitchFamily="34" charset="0"/>
              </a:rPr>
              <a:t>Smoothness gain: 0.00144 against a 0.005 threshold. Median runtime exceeded 300 s.</a:t>
            </a:r>
            <a:endParaRPr lang="en-AU" sz="2100" b="1">
              <a:solidFill>
                <a:srgbClr val="000000"/>
              </a:solidFill>
              <a:latin typeface="Calibri" panose="020F0502020204030204" pitchFamily="34" charset="0"/>
            </a:endParaRPr>
          </a:p>
        </p:txBody>
      </p:sp>
      <p:sp>
        <p:nvSpPr>
          <p:cNvPr id="17" name="Decision context">
            <a:extLst>
              <a:ext uri="{FF2B5EF4-FFF2-40B4-BE49-F238E27FC236}">
                <a16:creationId xmlns:a16="http://schemas.microsoft.com/office/drawing/2014/main" id="{2D701409-90CA-A5CD-FDBC-FDDC0A2A9CB0}"/>
              </a:ext>
            </a:extLst>
          </p:cNvPr>
          <p:cNvSpPr txBox="1"/>
          <p:nvPr/>
        </p:nvSpPr>
        <p:spPr>
          <a:xfrm>
            <a:off x="533400" y="5905500"/>
            <a:ext cx="11112500" cy="246221"/>
          </a:xfrm>
          <a:prstGeom prst="rect">
            <a:avLst/>
          </a:prstGeom>
          <a:noFill/>
        </p:spPr>
        <p:txBody>
          <a:bodyPr vert="horz" lIns="0" tIns="0" rIns="0" bIns="0" rtlCol="0">
            <a:noAutofit/>
          </a:bodyPr>
          <a:lstStyle/>
          <a:p>
            <a:r>
              <a:rPr lang="en-US" sz="1600">
                <a:solidFill>
                  <a:srgbClr val="000000"/>
                </a:solidFill>
                <a:latin typeface="Calibri" panose="020F0502020204030204" pitchFamily="34" charset="0"/>
              </a:rPr>
              <a:t>Earlier decision benchmark. Simulated Annealing seeds 1–3. Two runs reached the time budget.</a:t>
            </a:r>
            <a:endParaRPr lang="en-AU" sz="1600">
              <a:solidFill>
                <a:srgbClr val="000000"/>
              </a:solidFill>
              <a:latin typeface="Calibri" panose="020F0502020204030204" pitchFamily="34" charset="0"/>
            </a:endParaRPr>
          </a:p>
        </p:txBody>
      </p:sp>
    </p:spTree>
    <p:extLst>
      <p:ext uri="{BB962C8B-B14F-4D97-AF65-F5344CB8AC3E}">
        <p14:creationId xmlns:p14="http://schemas.microsoft.com/office/powerpoint/2010/main" val="282928625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0" y="0"/>
            <a:ext cx="12191695" cy="109728"/>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165100"/>
            <a:ext cx="11277600" cy="317500"/>
          </a:xfrm>
          <a:prstGeom prst="rect">
            <a:avLst/>
          </a:prstGeom>
          <a:noFill/>
        </p:spPr>
        <p:txBody>
          <a:bodyPr wrap="square">
            <a:noAutofit/>
          </a:bodyPr>
          <a:lstStyle/>
          <a:p>
            <a:pPr algn="l"/>
            <a:r>
              <a:rPr lang="en-AU" sz="1500" b="1">
                <a:solidFill>
                  <a:srgbClr val="000000"/>
                </a:solidFill>
                <a:latin typeface="Calibri"/>
              </a:rPr>
              <a:t>CONTROLLED START SCHEDULES</a:t>
            </a:r>
            <a:endParaRPr sz="1500" b="1">
              <a:solidFill>
                <a:srgbClr val="000000"/>
              </a:solidFill>
              <a:latin typeface="Calibri"/>
            </a:endParaRPr>
          </a:p>
        </p:txBody>
      </p:sp>
      <p:sp>
        <p:nvSpPr>
          <p:cNvPr id="5" name="TextBox 4"/>
          <p:cNvSpPr txBox="1"/>
          <p:nvPr/>
        </p:nvSpPr>
        <p:spPr>
          <a:xfrm>
            <a:off x="457200" y="533400"/>
            <a:ext cx="11277600" cy="660400"/>
          </a:xfrm>
          <a:prstGeom prst="rect">
            <a:avLst/>
          </a:prstGeom>
          <a:noFill/>
        </p:spPr>
        <p:txBody>
          <a:bodyPr wrap="square">
            <a:noAutofit/>
          </a:bodyPr>
          <a:lstStyle/>
          <a:p>
            <a:pPr algn="l"/>
            <a:r>
              <a:rPr lang="en-US" sz="3200" b="1">
                <a:solidFill>
                  <a:srgbClr val="000000"/>
                </a:solidFill>
                <a:latin typeface="Calibri"/>
              </a:rPr>
              <a:t>The as-loaded start finished smoothest</a:t>
            </a:r>
            <a:endParaRPr sz="3200" b="1">
              <a:solidFill>
                <a:srgbClr val="000000"/>
              </a:solidFill>
              <a:latin typeface="Calibri"/>
            </a:endParaRPr>
          </a:p>
        </p:txBody>
      </p:sp>
      <p:graphicFrame>
        <p:nvGraphicFramePr>
          <p:cNvPr id="15" name="Start schedule results">
            <a:extLst>
              <a:ext uri="{FF2B5EF4-FFF2-40B4-BE49-F238E27FC236}">
                <a16:creationId xmlns:a16="http://schemas.microsoft.com/office/drawing/2014/main" id="{85071843-9FD9-E62E-BD68-CEB78729605C}"/>
              </a:ext>
            </a:extLst>
          </p:cNvPr>
          <p:cNvGraphicFramePr>
            <a:graphicFrameLocks noGrp="1"/>
          </p:cNvGraphicFramePr>
          <p:nvPr>
            <p:extLst>
              <p:ext uri="{D42A27DB-BD31-4B8C-83A1-F6EECF244321}">
                <p14:modId xmlns:p14="http://schemas.microsoft.com/office/powerpoint/2010/main" val="471050802"/>
              </p:ext>
            </p:extLst>
          </p:nvPr>
        </p:nvGraphicFramePr>
        <p:xfrm>
          <a:off x="457200" y="1727200"/>
          <a:ext cx="11277600" cy="2794000"/>
        </p:xfrm>
        <a:graphic>
          <a:graphicData uri="http://schemas.openxmlformats.org/drawingml/2006/table">
            <a:tbl>
              <a:tblPr firstRow="1" bandRow="1">
                <a:tableStyleId>{5C22544A-7EE6-4342-B048-85BDC9FD1C3A}</a:tableStyleId>
              </a:tblPr>
              <a:tblGrid>
                <a:gridCol w="3429000">
                  <a:extLst>
                    <a:ext uri="{9D8B030D-6E8A-4147-A177-3AD203B41FA5}">
                      <a16:colId xmlns:a16="http://schemas.microsoft.com/office/drawing/2014/main" val="1960761829"/>
                    </a:ext>
                  </a:extLst>
                </a:gridCol>
                <a:gridCol w="2413000">
                  <a:extLst>
                    <a:ext uri="{9D8B030D-6E8A-4147-A177-3AD203B41FA5}">
                      <a16:colId xmlns:a16="http://schemas.microsoft.com/office/drawing/2014/main" val="336550224"/>
                    </a:ext>
                  </a:extLst>
                </a:gridCol>
                <a:gridCol w="2413000">
                  <a:extLst>
                    <a:ext uri="{9D8B030D-6E8A-4147-A177-3AD203B41FA5}">
                      <a16:colId xmlns:a16="http://schemas.microsoft.com/office/drawing/2014/main" val="1864216480"/>
                    </a:ext>
                  </a:extLst>
                </a:gridCol>
                <a:gridCol w="3022600">
                  <a:extLst>
                    <a:ext uri="{9D8B030D-6E8A-4147-A177-3AD203B41FA5}">
                      <a16:colId xmlns:a16="http://schemas.microsoft.com/office/drawing/2014/main" val="3340908839"/>
                    </a:ext>
                  </a:extLst>
                </a:gridCol>
              </a:tblGrid>
              <a:tr h="698500">
                <a:tc>
                  <a:txBody>
                    <a:bodyPr/>
                    <a:lstStyle/>
                    <a:p>
                      <a:pPr>
                        <a:buFontTx/>
                        <a:buNone/>
                      </a:pPr>
                      <a:r>
                        <a:rPr lang="en-AU" sz="1600" b="1">
                          <a:solidFill>
                            <a:srgbClr val="FFFFFF"/>
                          </a:solidFill>
                          <a:latin typeface="Calibri" panose="020F0502020204030204" pitchFamily="34" charset="0"/>
                        </a:rPr>
                        <a:t>Start schedule</a:t>
                      </a:r>
                    </a:p>
                  </a:txBody>
                  <a:tcPr marL="127000" marR="88900" marT="88900" marB="88900" anchor="ctr">
                    <a:lnL w="6350" cmpd="sng">
                      <a:solidFill>
                        <a:srgbClr val="B0B0B0"/>
                      </a:solidFill>
                    </a:lnL>
                    <a:lnR w="6350" cmpd="sng">
                      <a:solidFill>
                        <a:srgbClr val="B0B0B0"/>
                      </a:solidFill>
                    </a:lnR>
                    <a:lnT w="6350" cmpd="sng">
                      <a:solidFill>
                        <a:srgbClr val="B0B0B0"/>
                      </a:solidFill>
                    </a:lnT>
                    <a:lnB w="6350" cmpd="sng">
                      <a:solidFill>
                        <a:srgbClr val="B0B0B0"/>
                      </a:solidFill>
                    </a:lnB>
                    <a:solidFill>
                      <a:srgbClr val="000000"/>
                    </a:solidFill>
                  </a:tcPr>
                </a:tc>
                <a:tc>
                  <a:txBody>
                    <a:bodyPr/>
                    <a:lstStyle/>
                    <a:p>
                      <a:pPr>
                        <a:buFontTx/>
                        <a:buNone/>
                      </a:pPr>
                      <a:r>
                        <a:rPr lang="en-AU" sz="1600" b="1">
                          <a:solidFill>
                            <a:srgbClr val="FFFFFF"/>
                          </a:solidFill>
                          <a:latin typeface="Calibri" panose="020F0502020204030204" pitchFamily="34" charset="0"/>
                        </a:rPr>
                        <a:t>Initial worst day</a:t>
                      </a:r>
                    </a:p>
                  </a:txBody>
                  <a:tcPr marL="127000" marR="88900" marT="88900" marB="88900" anchor="ctr">
                    <a:lnL w="6350" cmpd="sng">
                      <a:solidFill>
                        <a:srgbClr val="B0B0B0"/>
                      </a:solidFill>
                    </a:lnL>
                    <a:lnR w="6350" cmpd="sng">
                      <a:solidFill>
                        <a:srgbClr val="B0B0B0"/>
                      </a:solidFill>
                    </a:lnR>
                    <a:lnT w="6350" cmpd="sng">
                      <a:solidFill>
                        <a:srgbClr val="B0B0B0"/>
                      </a:solidFill>
                    </a:lnT>
                    <a:lnB w="6350" cmpd="sng">
                      <a:solidFill>
                        <a:srgbClr val="B0B0B0"/>
                      </a:solidFill>
                    </a:lnB>
                    <a:solidFill>
                      <a:srgbClr val="000000"/>
                    </a:solidFill>
                  </a:tcPr>
                </a:tc>
                <a:tc>
                  <a:txBody>
                    <a:bodyPr/>
                    <a:lstStyle/>
                    <a:p>
                      <a:pPr>
                        <a:buFontTx/>
                        <a:buNone/>
                      </a:pPr>
                      <a:r>
                        <a:rPr lang="en-AU" sz="1600" b="1">
                          <a:solidFill>
                            <a:srgbClr val="FFFFFF"/>
                          </a:solidFill>
                          <a:latin typeface="Calibri" panose="020F0502020204030204" pitchFamily="34" charset="0"/>
                        </a:rPr>
                        <a:t>Final worst day</a:t>
                      </a:r>
                    </a:p>
                  </a:txBody>
                  <a:tcPr marL="127000" marR="88900" marT="88900" marB="88900" anchor="ctr">
                    <a:lnL w="6350" cmpd="sng">
                      <a:solidFill>
                        <a:srgbClr val="B0B0B0"/>
                      </a:solidFill>
                    </a:lnL>
                    <a:lnR w="6350" cmpd="sng">
                      <a:solidFill>
                        <a:srgbClr val="B0B0B0"/>
                      </a:solidFill>
                    </a:lnR>
                    <a:lnT w="6350" cmpd="sng">
                      <a:solidFill>
                        <a:srgbClr val="B0B0B0"/>
                      </a:solidFill>
                    </a:lnT>
                    <a:lnB w="6350" cmpd="sng">
                      <a:solidFill>
                        <a:srgbClr val="B0B0B0"/>
                      </a:solidFill>
                    </a:lnB>
                    <a:solidFill>
                      <a:srgbClr val="000000"/>
                    </a:solidFill>
                  </a:tcPr>
                </a:tc>
                <a:tc>
                  <a:txBody>
                    <a:bodyPr/>
                    <a:lstStyle/>
                    <a:p>
                      <a:pPr>
                        <a:buFontTx/>
                        <a:buNone/>
                      </a:pPr>
                      <a:r>
                        <a:rPr lang="en-AU" sz="1600" b="1">
                          <a:solidFill>
                            <a:srgbClr val="FFFFFF"/>
                          </a:solidFill>
                          <a:latin typeface="Calibri" panose="020F0502020204030204" pitchFamily="34" charset="0"/>
                        </a:rPr>
                        <a:t>Final std deviation</a:t>
                      </a:r>
                    </a:p>
                  </a:txBody>
                  <a:tcPr marL="127000" marR="88900" marT="88900" marB="88900" anchor="ctr">
                    <a:lnL w="6350" cmpd="sng">
                      <a:solidFill>
                        <a:srgbClr val="B0B0B0"/>
                      </a:solidFill>
                    </a:lnL>
                    <a:lnR w="6350" cmpd="sng">
                      <a:solidFill>
                        <a:srgbClr val="B0B0B0"/>
                      </a:solidFill>
                    </a:lnR>
                    <a:lnT w="6350" cmpd="sng">
                      <a:solidFill>
                        <a:srgbClr val="B0B0B0"/>
                      </a:solidFill>
                    </a:lnT>
                    <a:lnB w="6350" cmpd="sng">
                      <a:solidFill>
                        <a:srgbClr val="B0B0B0"/>
                      </a:solidFill>
                    </a:lnB>
                    <a:solidFill>
                      <a:srgbClr val="000000"/>
                    </a:solidFill>
                  </a:tcPr>
                </a:tc>
                <a:extLst>
                  <a:ext uri="{0D108BD9-81ED-4DB2-BD59-A6C34878D82A}">
                    <a16:rowId xmlns:a16="http://schemas.microsoft.com/office/drawing/2014/main" val="2322045604"/>
                  </a:ext>
                </a:extLst>
              </a:tr>
              <a:tr h="698500">
                <a:tc>
                  <a:txBody>
                    <a:bodyPr/>
                    <a:lstStyle/>
                    <a:p>
                      <a:pPr>
                        <a:buFontTx/>
                        <a:buNone/>
                      </a:pPr>
                      <a:r>
                        <a:rPr lang="en-AU" sz="2000" b="0">
                          <a:solidFill>
                            <a:srgbClr val="000000"/>
                          </a:solidFill>
                          <a:latin typeface="Calibri" panose="020F0502020204030204" pitchFamily="34" charset="0"/>
                        </a:rPr>
                        <a:t>As-loaded</a:t>
                      </a:r>
                    </a:p>
                  </a:txBody>
                  <a:tcPr marL="127000" marR="88900" marT="88900" marB="88900" anchor="ctr">
                    <a:lnL w="6350" cmpd="sng">
                      <a:solidFill>
                        <a:srgbClr val="B0B0B0"/>
                      </a:solidFill>
                    </a:lnL>
                    <a:lnR w="6350" cmpd="sng">
                      <a:solidFill>
                        <a:srgbClr val="B0B0B0"/>
                      </a:solidFill>
                    </a:lnR>
                    <a:lnT w="6350" cmpd="sng">
                      <a:solidFill>
                        <a:srgbClr val="B0B0B0"/>
                      </a:solidFill>
                    </a:lnT>
                    <a:lnB w="6350" cmpd="sng">
                      <a:solidFill>
                        <a:srgbClr val="B0B0B0"/>
                      </a:solidFill>
                    </a:lnB>
                    <a:solidFill>
                      <a:srgbClr val="F0F0F0"/>
                    </a:solidFill>
                  </a:tcPr>
                </a:tc>
                <a:tc>
                  <a:txBody>
                    <a:bodyPr/>
                    <a:lstStyle/>
                    <a:p>
                      <a:pPr>
                        <a:buFontTx/>
                        <a:buNone/>
                      </a:pPr>
                      <a:r>
                        <a:rPr lang="en-AU" sz="2000" b="0">
                          <a:solidFill>
                            <a:srgbClr val="000000"/>
                          </a:solidFill>
                          <a:latin typeface="Calibri" panose="020F0502020204030204" pitchFamily="34" charset="0"/>
                        </a:rPr>
                        <a:t>15</a:t>
                      </a:r>
                    </a:p>
                  </a:txBody>
                  <a:tcPr marL="127000" marR="88900" marT="88900" marB="88900" anchor="ctr">
                    <a:lnL w="6350" cmpd="sng">
                      <a:solidFill>
                        <a:srgbClr val="B0B0B0"/>
                      </a:solidFill>
                    </a:lnL>
                    <a:lnR w="6350" cmpd="sng">
                      <a:solidFill>
                        <a:srgbClr val="B0B0B0"/>
                      </a:solidFill>
                    </a:lnR>
                    <a:lnT w="6350" cmpd="sng">
                      <a:solidFill>
                        <a:srgbClr val="B0B0B0"/>
                      </a:solidFill>
                    </a:lnT>
                    <a:lnB w="6350" cmpd="sng">
                      <a:solidFill>
                        <a:srgbClr val="B0B0B0"/>
                      </a:solidFill>
                    </a:lnB>
                    <a:solidFill>
                      <a:srgbClr val="F0F0F0"/>
                    </a:solidFill>
                  </a:tcPr>
                </a:tc>
                <a:tc>
                  <a:txBody>
                    <a:bodyPr/>
                    <a:lstStyle/>
                    <a:p>
                      <a:pPr>
                        <a:buFontTx/>
                        <a:buNone/>
                      </a:pPr>
                      <a:r>
                        <a:rPr lang="en-AU" sz="2000" b="0">
                          <a:solidFill>
                            <a:srgbClr val="000000"/>
                          </a:solidFill>
                          <a:latin typeface="Calibri" panose="020F0502020204030204" pitchFamily="34" charset="0"/>
                        </a:rPr>
                        <a:t>18</a:t>
                      </a:r>
                    </a:p>
                  </a:txBody>
                  <a:tcPr marL="127000" marR="88900" marT="88900" marB="88900" anchor="ctr">
                    <a:lnL w="6350" cmpd="sng">
                      <a:solidFill>
                        <a:srgbClr val="B0B0B0"/>
                      </a:solidFill>
                    </a:lnL>
                    <a:lnR w="6350" cmpd="sng">
                      <a:solidFill>
                        <a:srgbClr val="B0B0B0"/>
                      </a:solidFill>
                    </a:lnR>
                    <a:lnT w="6350" cmpd="sng">
                      <a:solidFill>
                        <a:srgbClr val="B0B0B0"/>
                      </a:solidFill>
                    </a:lnT>
                    <a:lnB w="6350" cmpd="sng">
                      <a:solidFill>
                        <a:srgbClr val="B0B0B0"/>
                      </a:solidFill>
                    </a:lnB>
                    <a:solidFill>
                      <a:srgbClr val="F0F0F0"/>
                    </a:solidFill>
                  </a:tcPr>
                </a:tc>
                <a:tc>
                  <a:txBody>
                    <a:bodyPr/>
                    <a:lstStyle/>
                    <a:p>
                      <a:pPr>
                        <a:buFontTx/>
                        <a:buNone/>
                      </a:pPr>
                      <a:r>
                        <a:rPr lang="en-AU" sz="2000" b="0" dirty="0">
                          <a:solidFill>
                            <a:srgbClr val="000000"/>
                          </a:solidFill>
                          <a:latin typeface="Calibri" panose="020F0502020204030204" pitchFamily="34" charset="0"/>
                        </a:rPr>
                        <a:t>1.414</a:t>
                      </a:r>
                    </a:p>
                  </a:txBody>
                  <a:tcPr marL="127000" marR="88900" marT="88900" marB="88900" anchor="ctr">
                    <a:lnL w="6350" cmpd="sng">
                      <a:solidFill>
                        <a:srgbClr val="B0B0B0"/>
                      </a:solidFill>
                    </a:lnL>
                    <a:lnR w="6350" cmpd="sng">
                      <a:solidFill>
                        <a:srgbClr val="B0B0B0"/>
                      </a:solidFill>
                    </a:lnR>
                    <a:lnT w="6350" cmpd="sng">
                      <a:solidFill>
                        <a:srgbClr val="B0B0B0"/>
                      </a:solidFill>
                    </a:lnT>
                    <a:lnB w="6350" cmpd="sng">
                      <a:solidFill>
                        <a:srgbClr val="B0B0B0"/>
                      </a:solidFill>
                    </a:lnB>
                    <a:solidFill>
                      <a:srgbClr val="F0F0F0"/>
                    </a:solidFill>
                  </a:tcPr>
                </a:tc>
                <a:extLst>
                  <a:ext uri="{0D108BD9-81ED-4DB2-BD59-A6C34878D82A}">
                    <a16:rowId xmlns:a16="http://schemas.microsoft.com/office/drawing/2014/main" val="1733797674"/>
                  </a:ext>
                </a:extLst>
              </a:tr>
              <a:tr h="698500">
                <a:tc>
                  <a:txBody>
                    <a:bodyPr/>
                    <a:lstStyle/>
                    <a:p>
                      <a:pPr>
                        <a:buFontTx/>
                        <a:buNone/>
                      </a:pPr>
                      <a:r>
                        <a:rPr lang="en-AU" sz="2000" b="0" dirty="0">
                          <a:solidFill>
                            <a:srgbClr val="000000"/>
                          </a:solidFill>
                          <a:latin typeface="Calibri" panose="020F0502020204030204" pitchFamily="34" charset="0"/>
                        </a:rPr>
                        <a:t>Moderate</a:t>
                      </a:r>
                    </a:p>
                  </a:txBody>
                  <a:tcPr marL="127000" marR="88900" marT="88900" marB="88900" anchor="ctr">
                    <a:lnL w="6350" cmpd="sng">
                      <a:solidFill>
                        <a:srgbClr val="B0B0B0"/>
                      </a:solidFill>
                    </a:lnL>
                    <a:lnR w="6350" cmpd="sng">
                      <a:solidFill>
                        <a:srgbClr val="B0B0B0"/>
                      </a:solidFill>
                    </a:lnR>
                    <a:lnT w="6350" cmpd="sng">
                      <a:solidFill>
                        <a:srgbClr val="B0B0B0"/>
                      </a:solidFill>
                    </a:lnT>
                    <a:lnB w="6350" cmpd="sng">
                      <a:solidFill>
                        <a:srgbClr val="B0B0B0"/>
                      </a:solidFill>
                    </a:lnB>
                    <a:solidFill>
                      <a:srgbClr val="FFFFFF"/>
                    </a:solidFill>
                  </a:tcPr>
                </a:tc>
                <a:tc>
                  <a:txBody>
                    <a:bodyPr/>
                    <a:lstStyle/>
                    <a:p>
                      <a:pPr>
                        <a:buFontTx/>
                        <a:buNone/>
                      </a:pPr>
                      <a:r>
                        <a:rPr lang="en-AU" sz="2000" b="0">
                          <a:solidFill>
                            <a:srgbClr val="000000"/>
                          </a:solidFill>
                          <a:latin typeface="Calibri" panose="020F0502020204030204" pitchFamily="34" charset="0"/>
                        </a:rPr>
                        <a:t>15</a:t>
                      </a:r>
                    </a:p>
                  </a:txBody>
                  <a:tcPr marL="127000" marR="88900" marT="88900" marB="88900" anchor="ctr">
                    <a:lnL w="6350" cmpd="sng">
                      <a:solidFill>
                        <a:srgbClr val="B0B0B0"/>
                      </a:solidFill>
                    </a:lnL>
                    <a:lnR w="6350" cmpd="sng">
                      <a:solidFill>
                        <a:srgbClr val="B0B0B0"/>
                      </a:solidFill>
                    </a:lnR>
                    <a:lnT w="6350" cmpd="sng">
                      <a:solidFill>
                        <a:srgbClr val="B0B0B0"/>
                      </a:solidFill>
                    </a:lnT>
                    <a:lnB w="6350" cmpd="sng">
                      <a:solidFill>
                        <a:srgbClr val="B0B0B0"/>
                      </a:solidFill>
                    </a:lnB>
                    <a:solidFill>
                      <a:srgbClr val="FFFFFF"/>
                    </a:solidFill>
                  </a:tcPr>
                </a:tc>
                <a:tc>
                  <a:txBody>
                    <a:bodyPr/>
                    <a:lstStyle/>
                    <a:p>
                      <a:pPr>
                        <a:buFontTx/>
                        <a:buNone/>
                      </a:pPr>
                      <a:r>
                        <a:rPr lang="en-AU" sz="2000" b="0" dirty="0">
                          <a:solidFill>
                            <a:srgbClr val="000000"/>
                          </a:solidFill>
                          <a:latin typeface="Calibri" panose="020F0502020204030204" pitchFamily="34" charset="0"/>
                        </a:rPr>
                        <a:t>19</a:t>
                      </a:r>
                    </a:p>
                  </a:txBody>
                  <a:tcPr marL="127000" marR="88900" marT="88900" marB="88900" anchor="ctr">
                    <a:lnL w="6350" cmpd="sng">
                      <a:solidFill>
                        <a:srgbClr val="B0B0B0"/>
                      </a:solidFill>
                    </a:lnL>
                    <a:lnR w="6350" cmpd="sng">
                      <a:solidFill>
                        <a:srgbClr val="B0B0B0"/>
                      </a:solidFill>
                    </a:lnR>
                    <a:lnT w="6350" cmpd="sng">
                      <a:solidFill>
                        <a:srgbClr val="B0B0B0"/>
                      </a:solidFill>
                    </a:lnT>
                    <a:lnB w="6350" cmpd="sng">
                      <a:solidFill>
                        <a:srgbClr val="B0B0B0"/>
                      </a:solidFill>
                    </a:lnB>
                    <a:solidFill>
                      <a:srgbClr val="FFFFFF"/>
                    </a:solidFill>
                  </a:tcPr>
                </a:tc>
                <a:tc>
                  <a:txBody>
                    <a:bodyPr/>
                    <a:lstStyle/>
                    <a:p>
                      <a:pPr>
                        <a:buFontTx/>
                        <a:buNone/>
                      </a:pPr>
                      <a:r>
                        <a:rPr lang="en-AU" sz="2000" b="0" dirty="0">
                          <a:solidFill>
                            <a:srgbClr val="000000"/>
                          </a:solidFill>
                          <a:latin typeface="Calibri" panose="020F0502020204030204" pitchFamily="34" charset="0"/>
                        </a:rPr>
                        <a:t>0.944</a:t>
                      </a:r>
                    </a:p>
                  </a:txBody>
                  <a:tcPr marL="127000" marR="88900" marT="88900" marB="88900" anchor="ctr">
                    <a:lnL w="6350" cmpd="sng">
                      <a:solidFill>
                        <a:srgbClr val="B0B0B0"/>
                      </a:solidFill>
                    </a:lnL>
                    <a:lnR w="6350" cmpd="sng">
                      <a:solidFill>
                        <a:srgbClr val="B0B0B0"/>
                      </a:solidFill>
                    </a:lnR>
                    <a:lnT w="6350" cmpd="sng">
                      <a:solidFill>
                        <a:srgbClr val="B0B0B0"/>
                      </a:solidFill>
                    </a:lnT>
                    <a:lnB w="6350" cmpd="sng">
                      <a:solidFill>
                        <a:srgbClr val="B0B0B0"/>
                      </a:solidFill>
                    </a:lnB>
                    <a:solidFill>
                      <a:srgbClr val="FFFFFF"/>
                    </a:solidFill>
                  </a:tcPr>
                </a:tc>
                <a:extLst>
                  <a:ext uri="{0D108BD9-81ED-4DB2-BD59-A6C34878D82A}">
                    <a16:rowId xmlns:a16="http://schemas.microsoft.com/office/drawing/2014/main" val="718094041"/>
                  </a:ext>
                </a:extLst>
              </a:tr>
              <a:tr h="698500">
                <a:tc>
                  <a:txBody>
                    <a:bodyPr/>
                    <a:lstStyle/>
                    <a:p>
                      <a:pPr>
                        <a:buFontTx/>
                        <a:buNone/>
                      </a:pPr>
                      <a:r>
                        <a:rPr lang="en-AU" sz="2000" b="0" dirty="0">
                          <a:solidFill>
                            <a:srgbClr val="000000"/>
                          </a:solidFill>
                          <a:latin typeface="Calibri" panose="020F0502020204030204" pitchFamily="34" charset="0"/>
                        </a:rPr>
                        <a:t>Wide</a:t>
                      </a:r>
                    </a:p>
                  </a:txBody>
                  <a:tcPr marL="127000" marR="88900" marT="88900" marB="88900" anchor="ctr">
                    <a:lnL w="6350" cmpd="sng">
                      <a:solidFill>
                        <a:srgbClr val="B0B0B0"/>
                      </a:solidFill>
                    </a:lnL>
                    <a:lnR w="6350" cmpd="sng">
                      <a:solidFill>
                        <a:srgbClr val="B0B0B0"/>
                      </a:solidFill>
                    </a:lnR>
                    <a:lnT w="6350" cmpd="sng">
                      <a:solidFill>
                        <a:srgbClr val="B0B0B0"/>
                      </a:solidFill>
                    </a:lnT>
                    <a:lnB w="6350" cmpd="sng">
                      <a:solidFill>
                        <a:srgbClr val="B0B0B0"/>
                      </a:solidFill>
                    </a:lnB>
                    <a:solidFill>
                      <a:srgbClr val="F0F0F0"/>
                    </a:solidFill>
                  </a:tcPr>
                </a:tc>
                <a:tc>
                  <a:txBody>
                    <a:bodyPr/>
                    <a:lstStyle/>
                    <a:p>
                      <a:pPr>
                        <a:buFontTx/>
                        <a:buNone/>
                      </a:pPr>
                      <a:r>
                        <a:rPr lang="en-AU" sz="2000" b="0">
                          <a:solidFill>
                            <a:srgbClr val="000000"/>
                          </a:solidFill>
                          <a:latin typeface="Calibri" panose="020F0502020204030204" pitchFamily="34" charset="0"/>
                        </a:rPr>
                        <a:t>15</a:t>
                      </a:r>
                    </a:p>
                  </a:txBody>
                  <a:tcPr marL="127000" marR="88900" marT="88900" marB="88900" anchor="ctr">
                    <a:lnL w="6350" cmpd="sng">
                      <a:solidFill>
                        <a:srgbClr val="B0B0B0"/>
                      </a:solidFill>
                    </a:lnL>
                    <a:lnR w="6350" cmpd="sng">
                      <a:solidFill>
                        <a:srgbClr val="B0B0B0"/>
                      </a:solidFill>
                    </a:lnR>
                    <a:lnT w="6350" cmpd="sng">
                      <a:solidFill>
                        <a:srgbClr val="B0B0B0"/>
                      </a:solidFill>
                    </a:lnT>
                    <a:lnB w="6350" cmpd="sng">
                      <a:solidFill>
                        <a:srgbClr val="B0B0B0"/>
                      </a:solidFill>
                    </a:lnB>
                    <a:solidFill>
                      <a:srgbClr val="F0F0F0"/>
                    </a:solidFill>
                  </a:tcPr>
                </a:tc>
                <a:tc>
                  <a:txBody>
                    <a:bodyPr/>
                    <a:lstStyle/>
                    <a:p>
                      <a:pPr>
                        <a:buFontTx/>
                        <a:buNone/>
                      </a:pPr>
                      <a:r>
                        <a:rPr lang="en-AU" sz="2000" b="0" dirty="0">
                          <a:solidFill>
                            <a:srgbClr val="000000"/>
                          </a:solidFill>
                          <a:latin typeface="Calibri" panose="020F0502020204030204" pitchFamily="34" charset="0"/>
                        </a:rPr>
                        <a:t>20</a:t>
                      </a:r>
                    </a:p>
                  </a:txBody>
                  <a:tcPr marL="127000" marR="88900" marT="88900" marB="88900" anchor="ctr">
                    <a:lnL w="6350" cmpd="sng">
                      <a:solidFill>
                        <a:srgbClr val="B0B0B0"/>
                      </a:solidFill>
                    </a:lnL>
                    <a:lnR w="6350" cmpd="sng">
                      <a:solidFill>
                        <a:srgbClr val="B0B0B0"/>
                      </a:solidFill>
                    </a:lnR>
                    <a:lnT w="6350" cmpd="sng">
                      <a:solidFill>
                        <a:srgbClr val="B0B0B0"/>
                      </a:solidFill>
                    </a:lnT>
                    <a:lnB w="6350" cmpd="sng">
                      <a:solidFill>
                        <a:srgbClr val="B0B0B0"/>
                      </a:solidFill>
                    </a:lnB>
                    <a:solidFill>
                      <a:srgbClr val="F0F0F0"/>
                    </a:solidFill>
                  </a:tcPr>
                </a:tc>
                <a:tc>
                  <a:txBody>
                    <a:bodyPr/>
                    <a:lstStyle/>
                    <a:p>
                      <a:pPr>
                        <a:buFontTx/>
                        <a:buNone/>
                      </a:pPr>
                      <a:r>
                        <a:rPr lang="en-AU" sz="2000" b="0" dirty="0">
                          <a:solidFill>
                            <a:srgbClr val="000000"/>
                          </a:solidFill>
                          <a:latin typeface="Calibri" panose="020F0502020204030204" pitchFamily="34" charset="0"/>
                        </a:rPr>
                        <a:t>0.713</a:t>
                      </a:r>
                    </a:p>
                  </a:txBody>
                  <a:tcPr marL="127000" marR="88900" marT="88900" marB="88900" anchor="ctr">
                    <a:lnL w="6350" cmpd="sng">
                      <a:solidFill>
                        <a:srgbClr val="B0B0B0"/>
                      </a:solidFill>
                    </a:lnL>
                    <a:lnR w="6350" cmpd="sng">
                      <a:solidFill>
                        <a:srgbClr val="B0B0B0"/>
                      </a:solidFill>
                    </a:lnR>
                    <a:lnT w="6350" cmpd="sng">
                      <a:solidFill>
                        <a:srgbClr val="B0B0B0"/>
                      </a:solidFill>
                    </a:lnT>
                    <a:lnB w="6350" cmpd="sng">
                      <a:solidFill>
                        <a:srgbClr val="B0B0B0"/>
                      </a:solidFill>
                    </a:lnB>
                    <a:solidFill>
                      <a:srgbClr val="F0F0F0"/>
                    </a:solidFill>
                  </a:tcPr>
                </a:tc>
                <a:extLst>
                  <a:ext uri="{0D108BD9-81ED-4DB2-BD59-A6C34878D82A}">
                    <a16:rowId xmlns:a16="http://schemas.microsoft.com/office/drawing/2014/main" val="269844776"/>
                  </a:ext>
                </a:extLst>
              </a:tr>
            </a:tbl>
          </a:graphicData>
        </a:graphic>
      </p:graphicFrame>
      <p:sp>
        <p:nvSpPr>
          <p:cNvPr id="17" name="Start distinction">
            <a:extLst>
              <a:ext uri="{FF2B5EF4-FFF2-40B4-BE49-F238E27FC236}">
                <a16:creationId xmlns:a16="http://schemas.microsoft.com/office/drawing/2014/main" id="{79EF1278-47B2-350E-7824-41D5EF7DA597}"/>
              </a:ext>
            </a:extLst>
          </p:cNvPr>
          <p:cNvSpPr txBox="1"/>
          <p:nvPr/>
        </p:nvSpPr>
        <p:spPr>
          <a:xfrm>
            <a:off x="533400" y="5588000"/>
            <a:ext cx="11112500" cy="584775"/>
          </a:xfrm>
          <a:prstGeom prst="rect">
            <a:avLst/>
          </a:prstGeom>
          <a:noFill/>
        </p:spPr>
        <p:txBody>
          <a:bodyPr vert="horz" lIns="0" tIns="0" rIns="0" bIns="0" rtlCol="0">
            <a:noAutofit/>
          </a:bodyPr>
          <a:lstStyle/>
          <a:p>
            <a:r>
              <a:rPr lang="en-AU" sz="1900" dirty="0">
                <a:solidFill>
                  <a:srgbClr val="000000"/>
                </a:solidFill>
                <a:latin typeface="Calibri" panose="020F0502020204030204" pitchFamily="34" charset="0"/>
              </a:rPr>
              <a:t>Instead of focusing on the algorithm which cannot be improved further because of constraints, I decided to focus on the initial stagger. In the normal heavy dataset, all the D checks happen at once. What if we move the D checks around? First, I did moderate spread of the D checks then widespread.</a:t>
            </a:r>
          </a:p>
        </p:txBody>
      </p:sp>
    </p:spTree>
    <p:extLst>
      <p:ext uri="{BB962C8B-B14F-4D97-AF65-F5344CB8AC3E}">
        <p14:creationId xmlns:p14="http://schemas.microsoft.com/office/powerpoint/2010/main" val="297552098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F57BDB-9DB9-950C-7AC5-CAA265723273}"/>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783C61EB-FD76-B859-E393-CE1A2EB0EF90}"/>
              </a:ext>
            </a:extLst>
          </p:cNvPr>
          <p:cNvSpPr/>
          <p:nvPr/>
        </p:nvSpPr>
        <p:spPr>
          <a:xfrm>
            <a:off x="0" y="0"/>
            <a:ext cx="12191695" cy="109728"/>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a:extLst>
              <a:ext uri="{FF2B5EF4-FFF2-40B4-BE49-F238E27FC236}">
                <a16:creationId xmlns:a16="http://schemas.microsoft.com/office/drawing/2014/main" id="{731630ED-A7C9-18EB-B9DB-C1DCE8C111DE}"/>
              </a:ext>
            </a:extLst>
          </p:cNvPr>
          <p:cNvSpPr txBox="1"/>
          <p:nvPr/>
        </p:nvSpPr>
        <p:spPr>
          <a:xfrm>
            <a:off x="457200" y="165100"/>
            <a:ext cx="11277600" cy="317500"/>
          </a:xfrm>
          <a:prstGeom prst="rect">
            <a:avLst/>
          </a:prstGeom>
          <a:noFill/>
        </p:spPr>
        <p:txBody>
          <a:bodyPr wrap="square">
            <a:noAutofit/>
          </a:bodyPr>
          <a:lstStyle/>
          <a:p>
            <a:pPr algn="l"/>
            <a:r>
              <a:rPr lang="en-AU" sz="1500" b="1">
                <a:solidFill>
                  <a:srgbClr val="000000"/>
                </a:solidFill>
                <a:latin typeface="Calibri"/>
              </a:rPr>
              <a:t>CONTROLLED START SCHEDULES</a:t>
            </a:r>
            <a:endParaRPr sz="1500" b="1">
              <a:solidFill>
                <a:srgbClr val="000000"/>
              </a:solidFill>
              <a:latin typeface="Calibri"/>
            </a:endParaRPr>
          </a:p>
        </p:txBody>
      </p:sp>
      <p:sp>
        <p:nvSpPr>
          <p:cNvPr id="5" name="TextBox 4">
            <a:extLst>
              <a:ext uri="{FF2B5EF4-FFF2-40B4-BE49-F238E27FC236}">
                <a16:creationId xmlns:a16="http://schemas.microsoft.com/office/drawing/2014/main" id="{A1B5376C-8509-6CCA-08B6-EDD31F06747F}"/>
              </a:ext>
            </a:extLst>
          </p:cNvPr>
          <p:cNvSpPr txBox="1"/>
          <p:nvPr/>
        </p:nvSpPr>
        <p:spPr>
          <a:xfrm>
            <a:off x="457200" y="533400"/>
            <a:ext cx="11277600" cy="660400"/>
          </a:xfrm>
          <a:prstGeom prst="rect">
            <a:avLst/>
          </a:prstGeom>
          <a:noFill/>
        </p:spPr>
        <p:txBody>
          <a:bodyPr wrap="square">
            <a:noAutofit/>
          </a:bodyPr>
          <a:lstStyle/>
          <a:p>
            <a:pPr algn="l"/>
            <a:r>
              <a:rPr lang="en-AU" sz="3200" b="1" dirty="0">
                <a:solidFill>
                  <a:srgbClr val="000000"/>
                </a:solidFill>
                <a:latin typeface="Calibri"/>
              </a:rPr>
              <a:t>Moderate and Wide Staggers</a:t>
            </a:r>
            <a:endParaRPr sz="3200" b="1" dirty="0">
              <a:solidFill>
                <a:srgbClr val="000000"/>
              </a:solidFill>
              <a:latin typeface="Calibri"/>
            </a:endParaRPr>
          </a:p>
        </p:txBody>
      </p:sp>
      <p:pic>
        <p:nvPicPr>
          <p:cNvPr id="6" name="Picture 5">
            <a:extLst>
              <a:ext uri="{FF2B5EF4-FFF2-40B4-BE49-F238E27FC236}">
                <a16:creationId xmlns:a16="http://schemas.microsoft.com/office/drawing/2014/main" id="{7648D653-B757-0E2A-4085-61393D411A12}"/>
              </a:ext>
            </a:extLst>
          </p:cNvPr>
          <p:cNvPicPr>
            <a:picLocks noChangeAspect="1"/>
          </p:cNvPicPr>
          <p:nvPr/>
        </p:nvPicPr>
        <p:blipFill>
          <a:blip r:embed="rId3"/>
          <a:stretch>
            <a:fillRect/>
          </a:stretch>
        </p:blipFill>
        <p:spPr>
          <a:xfrm>
            <a:off x="4355179" y="1192384"/>
            <a:ext cx="6867611" cy="2729376"/>
          </a:xfrm>
          <a:prstGeom prst="rect">
            <a:avLst/>
          </a:prstGeom>
        </p:spPr>
      </p:pic>
      <p:pic>
        <p:nvPicPr>
          <p:cNvPr id="8" name="Picture 7">
            <a:extLst>
              <a:ext uri="{FF2B5EF4-FFF2-40B4-BE49-F238E27FC236}">
                <a16:creationId xmlns:a16="http://schemas.microsoft.com/office/drawing/2014/main" id="{D13795DE-FF8E-E2FC-7437-C8504988279F}"/>
              </a:ext>
            </a:extLst>
          </p:cNvPr>
          <p:cNvPicPr>
            <a:picLocks noChangeAspect="1"/>
          </p:cNvPicPr>
          <p:nvPr/>
        </p:nvPicPr>
        <p:blipFill>
          <a:blip r:embed="rId4"/>
          <a:stretch>
            <a:fillRect/>
          </a:stretch>
        </p:blipFill>
        <p:spPr>
          <a:xfrm>
            <a:off x="4355179" y="3963525"/>
            <a:ext cx="7193490" cy="2639060"/>
          </a:xfrm>
          <a:prstGeom prst="rect">
            <a:avLst/>
          </a:prstGeom>
        </p:spPr>
      </p:pic>
      <p:sp>
        <p:nvSpPr>
          <p:cNvPr id="10" name="Start distinction">
            <a:extLst>
              <a:ext uri="{FF2B5EF4-FFF2-40B4-BE49-F238E27FC236}">
                <a16:creationId xmlns:a16="http://schemas.microsoft.com/office/drawing/2014/main" id="{22C7D028-6D16-58CD-5363-9385BD6D6A74}"/>
              </a:ext>
            </a:extLst>
          </p:cNvPr>
          <p:cNvSpPr txBox="1"/>
          <p:nvPr/>
        </p:nvSpPr>
        <p:spPr>
          <a:xfrm>
            <a:off x="969210" y="2158250"/>
            <a:ext cx="4030980" cy="584775"/>
          </a:xfrm>
          <a:prstGeom prst="rect">
            <a:avLst/>
          </a:prstGeom>
          <a:noFill/>
        </p:spPr>
        <p:txBody>
          <a:bodyPr vert="horz" lIns="0" tIns="0" rIns="0" bIns="0" rtlCol="0">
            <a:noAutofit/>
          </a:bodyPr>
          <a:lstStyle/>
          <a:p>
            <a:r>
              <a:rPr lang="en-AU" sz="1900" dirty="0">
                <a:solidFill>
                  <a:srgbClr val="000000"/>
                </a:solidFill>
                <a:latin typeface="Calibri" panose="020F0502020204030204" pitchFamily="34" charset="0"/>
              </a:rPr>
              <a:t>Moderate initial stagger</a:t>
            </a:r>
          </a:p>
        </p:txBody>
      </p:sp>
      <p:sp>
        <p:nvSpPr>
          <p:cNvPr id="12" name="Start distinction">
            <a:extLst>
              <a:ext uri="{FF2B5EF4-FFF2-40B4-BE49-F238E27FC236}">
                <a16:creationId xmlns:a16="http://schemas.microsoft.com/office/drawing/2014/main" id="{261E6202-0618-936F-D861-E54B1F8E6E62}"/>
              </a:ext>
            </a:extLst>
          </p:cNvPr>
          <p:cNvSpPr txBox="1"/>
          <p:nvPr/>
        </p:nvSpPr>
        <p:spPr>
          <a:xfrm>
            <a:off x="835660" y="4927975"/>
            <a:ext cx="4030980" cy="584775"/>
          </a:xfrm>
          <a:prstGeom prst="rect">
            <a:avLst/>
          </a:prstGeom>
          <a:noFill/>
        </p:spPr>
        <p:txBody>
          <a:bodyPr vert="horz" lIns="0" tIns="0" rIns="0" bIns="0" rtlCol="0">
            <a:noAutofit/>
          </a:bodyPr>
          <a:lstStyle/>
          <a:p>
            <a:r>
              <a:rPr lang="en-AU" sz="1900" dirty="0">
                <a:solidFill>
                  <a:srgbClr val="000000"/>
                </a:solidFill>
                <a:latin typeface="Calibri" panose="020F0502020204030204" pitchFamily="34" charset="0"/>
              </a:rPr>
              <a:t>Wide initial stagger</a:t>
            </a:r>
          </a:p>
        </p:txBody>
      </p:sp>
    </p:spTree>
    <p:extLst>
      <p:ext uri="{BB962C8B-B14F-4D97-AF65-F5344CB8AC3E}">
        <p14:creationId xmlns:p14="http://schemas.microsoft.com/office/powerpoint/2010/main" val="414387952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0" y="0"/>
            <a:ext cx="12191695" cy="109728"/>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165100"/>
            <a:ext cx="11277600" cy="317500"/>
          </a:xfrm>
          <a:prstGeom prst="rect">
            <a:avLst/>
          </a:prstGeom>
          <a:noFill/>
        </p:spPr>
        <p:txBody>
          <a:bodyPr wrap="square">
            <a:noAutofit/>
          </a:bodyPr>
          <a:lstStyle/>
          <a:p>
            <a:pPr algn="l"/>
            <a:r>
              <a:rPr lang="en-AU" sz="1500" b="1">
                <a:solidFill>
                  <a:srgbClr val="000000"/>
                </a:solidFill>
                <a:latin typeface="Calibri"/>
              </a:rPr>
              <a:t>HYPERPARAMETER RESULTS</a:t>
            </a:r>
            <a:endParaRPr sz="1500" b="1">
              <a:solidFill>
                <a:srgbClr val="000000"/>
              </a:solidFill>
              <a:latin typeface="Calibri"/>
            </a:endParaRPr>
          </a:p>
        </p:txBody>
      </p:sp>
      <p:sp>
        <p:nvSpPr>
          <p:cNvPr id="5" name="TextBox 4"/>
          <p:cNvSpPr txBox="1"/>
          <p:nvPr/>
        </p:nvSpPr>
        <p:spPr>
          <a:xfrm>
            <a:off x="457200" y="533400"/>
            <a:ext cx="11277600" cy="660400"/>
          </a:xfrm>
          <a:prstGeom prst="rect">
            <a:avLst/>
          </a:prstGeom>
          <a:noFill/>
        </p:spPr>
        <p:txBody>
          <a:bodyPr wrap="square">
            <a:noAutofit/>
          </a:bodyPr>
          <a:lstStyle/>
          <a:p>
            <a:pPr algn="l"/>
            <a:r>
              <a:rPr lang="en-US" sz="3200" b="1">
                <a:solidFill>
                  <a:srgbClr val="000000"/>
                </a:solidFill>
                <a:latin typeface="Calibri"/>
              </a:rPr>
              <a:t>Tuning improved smoothness on every forecast</a:t>
            </a:r>
            <a:endParaRPr sz="3200" b="1">
              <a:solidFill>
                <a:srgbClr val="000000"/>
              </a:solidFill>
              <a:latin typeface="Calibri"/>
            </a:endParaRPr>
          </a:p>
        </p:txBody>
      </p:sp>
      <p:graphicFrame>
        <p:nvGraphicFramePr>
          <p:cNvPr id="6" name="Hyperparameter results">
            <a:extLst>
              <a:ext uri="{FF2B5EF4-FFF2-40B4-BE49-F238E27FC236}">
                <a16:creationId xmlns:a16="http://schemas.microsoft.com/office/drawing/2014/main" id="{C47F4C4B-330A-CD4D-FA5F-6E5E686EC89C}"/>
              </a:ext>
            </a:extLst>
          </p:cNvPr>
          <p:cNvGraphicFramePr>
            <a:graphicFrameLocks noGrp="1"/>
          </p:cNvGraphicFramePr>
          <p:nvPr>
            <p:extLst>
              <p:ext uri="{D42A27DB-BD31-4B8C-83A1-F6EECF244321}">
                <p14:modId xmlns:p14="http://schemas.microsoft.com/office/powerpoint/2010/main" val="1329318297"/>
              </p:ext>
            </p:extLst>
          </p:nvPr>
        </p:nvGraphicFramePr>
        <p:xfrm>
          <a:off x="457200" y="1638300"/>
          <a:ext cx="11277600" cy="2895600"/>
        </p:xfrm>
        <a:graphic>
          <a:graphicData uri="http://schemas.openxmlformats.org/drawingml/2006/table">
            <a:tbl>
              <a:tblPr firstRow="1" bandRow="1">
                <a:tableStyleId>{5C22544A-7EE6-4342-B048-85BDC9FD1C3A}</a:tableStyleId>
              </a:tblPr>
              <a:tblGrid>
                <a:gridCol w="1778000">
                  <a:extLst>
                    <a:ext uri="{9D8B030D-6E8A-4147-A177-3AD203B41FA5}">
                      <a16:colId xmlns:a16="http://schemas.microsoft.com/office/drawing/2014/main" val="1996990930"/>
                    </a:ext>
                  </a:extLst>
                </a:gridCol>
                <a:gridCol w="1625600">
                  <a:extLst>
                    <a:ext uri="{9D8B030D-6E8A-4147-A177-3AD203B41FA5}">
                      <a16:colId xmlns:a16="http://schemas.microsoft.com/office/drawing/2014/main" val="3880956400"/>
                    </a:ext>
                  </a:extLst>
                </a:gridCol>
                <a:gridCol w="1625600">
                  <a:extLst>
                    <a:ext uri="{9D8B030D-6E8A-4147-A177-3AD203B41FA5}">
                      <a16:colId xmlns:a16="http://schemas.microsoft.com/office/drawing/2014/main" val="2683081926"/>
                    </a:ext>
                  </a:extLst>
                </a:gridCol>
                <a:gridCol w="1841500">
                  <a:extLst>
                    <a:ext uri="{9D8B030D-6E8A-4147-A177-3AD203B41FA5}">
                      <a16:colId xmlns:a16="http://schemas.microsoft.com/office/drawing/2014/main" val="927142470"/>
                    </a:ext>
                  </a:extLst>
                </a:gridCol>
                <a:gridCol w="1841500">
                  <a:extLst>
                    <a:ext uri="{9D8B030D-6E8A-4147-A177-3AD203B41FA5}">
                      <a16:colId xmlns:a16="http://schemas.microsoft.com/office/drawing/2014/main" val="3425995423"/>
                    </a:ext>
                  </a:extLst>
                </a:gridCol>
                <a:gridCol w="2565400">
                  <a:extLst>
                    <a:ext uri="{9D8B030D-6E8A-4147-A177-3AD203B41FA5}">
                      <a16:colId xmlns:a16="http://schemas.microsoft.com/office/drawing/2014/main" val="864458135"/>
                    </a:ext>
                  </a:extLst>
                </a:gridCol>
              </a:tblGrid>
              <a:tr h="723900">
                <a:tc>
                  <a:txBody>
                    <a:bodyPr/>
                    <a:lstStyle/>
                    <a:p>
                      <a:pPr>
                        <a:buFontTx/>
                        <a:buNone/>
                      </a:pPr>
                      <a:r>
                        <a:rPr lang="en-AU" sz="1600" b="1">
                          <a:solidFill>
                            <a:srgbClr val="FFFFFF"/>
                          </a:solidFill>
                          <a:latin typeface="Calibri" panose="020F0502020204030204" pitchFamily="34" charset="0"/>
                        </a:rPr>
                        <a:t>Dataset</a:t>
                      </a:r>
                    </a:p>
                  </a:txBody>
                  <a:tcPr marL="127000" marR="88900" marT="88900" marB="88900" anchor="ctr">
                    <a:lnL w="6350" cmpd="sng">
                      <a:solidFill>
                        <a:srgbClr val="B0B0B0"/>
                      </a:solidFill>
                    </a:lnL>
                    <a:lnR w="6350" cmpd="sng">
                      <a:solidFill>
                        <a:srgbClr val="B0B0B0"/>
                      </a:solidFill>
                    </a:lnR>
                    <a:lnT w="6350" cmpd="sng">
                      <a:solidFill>
                        <a:srgbClr val="B0B0B0"/>
                      </a:solidFill>
                    </a:lnT>
                    <a:lnB w="6350" cmpd="sng">
                      <a:solidFill>
                        <a:srgbClr val="B0B0B0"/>
                      </a:solidFill>
                    </a:lnB>
                    <a:solidFill>
                      <a:srgbClr val="000000"/>
                    </a:solidFill>
                  </a:tcPr>
                </a:tc>
                <a:tc>
                  <a:txBody>
                    <a:bodyPr/>
                    <a:lstStyle/>
                    <a:p>
                      <a:pPr>
                        <a:buFontTx/>
                        <a:buNone/>
                      </a:pPr>
                      <a:r>
                        <a:rPr lang="en-AU" sz="1600" b="1">
                          <a:solidFill>
                            <a:srgbClr val="FFFFFF"/>
                          </a:solidFill>
                          <a:latin typeface="Calibri" panose="020F0502020204030204" pitchFamily="34" charset="0"/>
                        </a:rPr>
                        <a:t>Initial worst day</a:t>
                      </a:r>
                    </a:p>
                  </a:txBody>
                  <a:tcPr marL="127000" marR="88900" marT="88900" marB="88900" anchor="ctr">
                    <a:lnL w="6350" cmpd="sng">
                      <a:solidFill>
                        <a:srgbClr val="B0B0B0"/>
                      </a:solidFill>
                    </a:lnL>
                    <a:lnR w="6350" cmpd="sng">
                      <a:solidFill>
                        <a:srgbClr val="B0B0B0"/>
                      </a:solidFill>
                    </a:lnR>
                    <a:lnT w="6350" cmpd="sng">
                      <a:solidFill>
                        <a:srgbClr val="B0B0B0"/>
                      </a:solidFill>
                    </a:lnT>
                    <a:lnB w="6350" cmpd="sng">
                      <a:solidFill>
                        <a:srgbClr val="B0B0B0"/>
                      </a:solidFill>
                    </a:lnB>
                    <a:solidFill>
                      <a:srgbClr val="000000"/>
                    </a:solidFill>
                  </a:tcPr>
                </a:tc>
                <a:tc>
                  <a:txBody>
                    <a:bodyPr/>
                    <a:lstStyle/>
                    <a:p>
                      <a:pPr>
                        <a:buFontTx/>
                        <a:buNone/>
                      </a:pPr>
                      <a:r>
                        <a:rPr lang="en-AU" sz="1600" b="1">
                          <a:solidFill>
                            <a:srgbClr val="FFFFFF"/>
                          </a:solidFill>
                          <a:latin typeface="Calibri" panose="020F0502020204030204" pitchFamily="34" charset="0"/>
                        </a:rPr>
                        <a:t>Tuned worst day</a:t>
                      </a:r>
                    </a:p>
                  </a:txBody>
                  <a:tcPr marL="127000" marR="88900" marT="88900" marB="88900" anchor="ctr">
                    <a:lnL w="6350" cmpd="sng">
                      <a:solidFill>
                        <a:srgbClr val="B0B0B0"/>
                      </a:solidFill>
                    </a:lnL>
                    <a:lnR w="6350" cmpd="sng">
                      <a:solidFill>
                        <a:srgbClr val="B0B0B0"/>
                      </a:solidFill>
                    </a:lnR>
                    <a:lnT w="6350" cmpd="sng">
                      <a:solidFill>
                        <a:srgbClr val="B0B0B0"/>
                      </a:solidFill>
                    </a:lnT>
                    <a:lnB w="6350" cmpd="sng">
                      <a:solidFill>
                        <a:srgbClr val="B0B0B0"/>
                      </a:solidFill>
                    </a:lnB>
                    <a:solidFill>
                      <a:srgbClr val="000000"/>
                    </a:solidFill>
                  </a:tcPr>
                </a:tc>
                <a:tc>
                  <a:txBody>
                    <a:bodyPr/>
                    <a:lstStyle/>
                    <a:p>
                      <a:pPr>
                        <a:buFontTx/>
                        <a:buNone/>
                      </a:pPr>
                      <a:r>
                        <a:rPr lang="en-AU" sz="1600" b="1">
                          <a:solidFill>
                            <a:srgbClr val="FFFFFF"/>
                          </a:solidFill>
                          <a:latin typeface="Calibri" panose="020F0502020204030204" pitchFamily="34" charset="0"/>
                        </a:rPr>
                        <a:t>Default std</a:t>
                      </a:r>
                    </a:p>
                  </a:txBody>
                  <a:tcPr marL="127000" marR="88900" marT="88900" marB="88900" anchor="ctr">
                    <a:lnL w="6350" cmpd="sng">
                      <a:solidFill>
                        <a:srgbClr val="B0B0B0"/>
                      </a:solidFill>
                    </a:lnL>
                    <a:lnR w="6350" cmpd="sng">
                      <a:solidFill>
                        <a:srgbClr val="B0B0B0"/>
                      </a:solidFill>
                    </a:lnR>
                    <a:lnT w="6350" cmpd="sng">
                      <a:solidFill>
                        <a:srgbClr val="B0B0B0"/>
                      </a:solidFill>
                    </a:lnT>
                    <a:lnB w="6350" cmpd="sng">
                      <a:solidFill>
                        <a:srgbClr val="B0B0B0"/>
                      </a:solidFill>
                    </a:lnB>
                    <a:solidFill>
                      <a:srgbClr val="000000"/>
                    </a:solidFill>
                  </a:tcPr>
                </a:tc>
                <a:tc>
                  <a:txBody>
                    <a:bodyPr/>
                    <a:lstStyle/>
                    <a:p>
                      <a:pPr>
                        <a:buFontTx/>
                        <a:buNone/>
                      </a:pPr>
                      <a:r>
                        <a:rPr lang="en-AU" sz="1600" b="1">
                          <a:solidFill>
                            <a:srgbClr val="FFFFFF"/>
                          </a:solidFill>
                          <a:latin typeface="Calibri" panose="020F0502020204030204" pitchFamily="34" charset="0"/>
                        </a:rPr>
                        <a:t>Tuned std</a:t>
                      </a:r>
                    </a:p>
                  </a:txBody>
                  <a:tcPr marL="127000" marR="88900" marT="88900" marB="88900" anchor="ctr">
                    <a:lnL w="6350" cmpd="sng">
                      <a:solidFill>
                        <a:srgbClr val="B0B0B0"/>
                      </a:solidFill>
                    </a:lnL>
                    <a:lnR w="6350" cmpd="sng">
                      <a:solidFill>
                        <a:srgbClr val="B0B0B0"/>
                      </a:solidFill>
                    </a:lnR>
                    <a:lnT w="6350" cmpd="sng">
                      <a:solidFill>
                        <a:srgbClr val="B0B0B0"/>
                      </a:solidFill>
                    </a:lnT>
                    <a:lnB w="6350" cmpd="sng">
                      <a:solidFill>
                        <a:srgbClr val="B0B0B0"/>
                      </a:solidFill>
                    </a:lnB>
                    <a:solidFill>
                      <a:srgbClr val="000000"/>
                    </a:solidFill>
                  </a:tcPr>
                </a:tc>
                <a:tc>
                  <a:txBody>
                    <a:bodyPr/>
                    <a:lstStyle/>
                    <a:p>
                      <a:pPr>
                        <a:buFontTx/>
                        <a:buNone/>
                      </a:pPr>
                      <a:r>
                        <a:rPr lang="en-AU" sz="1600" b="1" dirty="0">
                          <a:solidFill>
                            <a:srgbClr val="FFFFFF"/>
                          </a:solidFill>
                          <a:latin typeface="Calibri" panose="020F0502020204030204" pitchFamily="34" charset="0"/>
                        </a:rPr>
                        <a:t>Results</a:t>
                      </a:r>
                    </a:p>
                  </a:txBody>
                  <a:tcPr marL="127000" marR="88900" marT="88900" marB="88900" anchor="ctr">
                    <a:lnL w="6350" cmpd="sng">
                      <a:solidFill>
                        <a:srgbClr val="B0B0B0"/>
                      </a:solidFill>
                    </a:lnL>
                    <a:lnR w="6350" cmpd="sng">
                      <a:solidFill>
                        <a:srgbClr val="B0B0B0"/>
                      </a:solidFill>
                    </a:lnR>
                    <a:lnT w="6350" cmpd="sng">
                      <a:solidFill>
                        <a:srgbClr val="B0B0B0"/>
                      </a:solidFill>
                    </a:lnT>
                    <a:lnB w="6350" cmpd="sng">
                      <a:solidFill>
                        <a:srgbClr val="B0B0B0"/>
                      </a:solidFill>
                    </a:lnB>
                    <a:solidFill>
                      <a:srgbClr val="000000"/>
                    </a:solidFill>
                  </a:tcPr>
                </a:tc>
                <a:extLst>
                  <a:ext uri="{0D108BD9-81ED-4DB2-BD59-A6C34878D82A}">
                    <a16:rowId xmlns:a16="http://schemas.microsoft.com/office/drawing/2014/main" val="1698915676"/>
                  </a:ext>
                </a:extLst>
              </a:tr>
              <a:tr h="723900">
                <a:tc>
                  <a:txBody>
                    <a:bodyPr/>
                    <a:lstStyle/>
                    <a:p>
                      <a:pPr>
                        <a:buFontTx/>
                        <a:buNone/>
                      </a:pPr>
                      <a:r>
                        <a:rPr lang="en-AU" sz="2000" b="0">
                          <a:solidFill>
                            <a:srgbClr val="000000"/>
                          </a:solidFill>
                          <a:latin typeface="Calibri" panose="020F0502020204030204" pitchFamily="34" charset="0"/>
                        </a:rPr>
                        <a:t>Original</a:t>
                      </a:r>
                    </a:p>
                  </a:txBody>
                  <a:tcPr marL="127000" marR="88900" marT="88900" marB="88900" anchor="ctr">
                    <a:lnL w="6350" cmpd="sng">
                      <a:solidFill>
                        <a:srgbClr val="B0B0B0"/>
                      </a:solidFill>
                    </a:lnL>
                    <a:lnR w="6350" cmpd="sng">
                      <a:solidFill>
                        <a:srgbClr val="B0B0B0"/>
                      </a:solidFill>
                    </a:lnR>
                    <a:lnT w="6350" cmpd="sng">
                      <a:solidFill>
                        <a:srgbClr val="B0B0B0"/>
                      </a:solidFill>
                    </a:lnT>
                    <a:lnB w="6350" cmpd="sng">
                      <a:solidFill>
                        <a:srgbClr val="B0B0B0"/>
                      </a:solidFill>
                    </a:lnB>
                    <a:solidFill>
                      <a:srgbClr val="F0F0F0"/>
                    </a:solidFill>
                  </a:tcPr>
                </a:tc>
                <a:tc>
                  <a:txBody>
                    <a:bodyPr/>
                    <a:lstStyle/>
                    <a:p>
                      <a:pPr>
                        <a:buFontTx/>
                        <a:buNone/>
                      </a:pPr>
                      <a:r>
                        <a:rPr lang="en-AU" sz="2000" b="0">
                          <a:solidFill>
                            <a:srgbClr val="000000"/>
                          </a:solidFill>
                          <a:latin typeface="Calibri" panose="020F0502020204030204" pitchFamily="34" charset="0"/>
                        </a:rPr>
                        <a:t>15</a:t>
                      </a:r>
                    </a:p>
                  </a:txBody>
                  <a:tcPr marL="127000" marR="88900" marT="88900" marB="88900" anchor="ctr">
                    <a:lnL w="6350" cmpd="sng">
                      <a:solidFill>
                        <a:srgbClr val="B0B0B0"/>
                      </a:solidFill>
                    </a:lnL>
                    <a:lnR w="6350" cmpd="sng">
                      <a:solidFill>
                        <a:srgbClr val="B0B0B0"/>
                      </a:solidFill>
                    </a:lnR>
                    <a:lnT w="6350" cmpd="sng">
                      <a:solidFill>
                        <a:srgbClr val="B0B0B0"/>
                      </a:solidFill>
                    </a:lnT>
                    <a:lnB w="6350" cmpd="sng">
                      <a:solidFill>
                        <a:srgbClr val="B0B0B0"/>
                      </a:solidFill>
                    </a:lnB>
                    <a:solidFill>
                      <a:srgbClr val="F0F0F0"/>
                    </a:solidFill>
                  </a:tcPr>
                </a:tc>
                <a:tc>
                  <a:txBody>
                    <a:bodyPr/>
                    <a:lstStyle/>
                    <a:p>
                      <a:pPr>
                        <a:buFontTx/>
                        <a:buNone/>
                      </a:pPr>
                      <a:r>
                        <a:rPr lang="en-AU" sz="2000" b="0">
                          <a:solidFill>
                            <a:srgbClr val="000000"/>
                          </a:solidFill>
                          <a:latin typeface="Calibri" panose="020F0502020204030204" pitchFamily="34" charset="0"/>
                        </a:rPr>
                        <a:t>18</a:t>
                      </a:r>
                    </a:p>
                  </a:txBody>
                  <a:tcPr marL="127000" marR="88900" marT="88900" marB="88900" anchor="ctr">
                    <a:lnL w="6350" cmpd="sng">
                      <a:solidFill>
                        <a:srgbClr val="B0B0B0"/>
                      </a:solidFill>
                    </a:lnL>
                    <a:lnR w="6350" cmpd="sng">
                      <a:solidFill>
                        <a:srgbClr val="B0B0B0"/>
                      </a:solidFill>
                    </a:lnR>
                    <a:lnT w="6350" cmpd="sng">
                      <a:solidFill>
                        <a:srgbClr val="B0B0B0"/>
                      </a:solidFill>
                    </a:lnT>
                    <a:lnB w="6350" cmpd="sng">
                      <a:solidFill>
                        <a:srgbClr val="B0B0B0"/>
                      </a:solidFill>
                    </a:lnB>
                    <a:solidFill>
                      <a:srgbClr val="F0F0F0"/>
                    </a:solidFill>
                  </a:tcPr>
                </a:tc>
                <a:tc>
                  <a:txBody>
                    <a:bodyPr/>
                    <a:lstStyle/>
                    <a:p>
                      <a:pPr>
                        <a:buFontTx/>
                        <a:buNone/>
                      </a:pPr>
                      <a:r>
                        <a:rPr lang="en-AU" sz="2000" b="0">
                          <a:solidFill>
                            <a:srgbClr val="000000"/>
                          </a:solidFill>
                          <a:latin typeface="Calibri" panose="020F0502020204030204" pitchFamily="34" charset="0"/>
                        </a:rPr>
                        <a:t>1.4221</a:t>
                      </a:r>
                    </a:p>
                  </a:txBody>
                  <a:tcPr marL="127000" marR="88900" marT="88900" marB="88900" anchor="ctr">
                    <a:lnL w="6350" cmpd="sng">
                      <a:solidFill>
                        <a:srgbClr val="B0B0B0"/>
                      </a:solidFill>
                    </a:lnL>
                    <a:lnR w="6350" cmpd="sng">
                      <a:solidFill>
                        <a:srgbClr val="B0B0B0"/>
                      </a:solidFill>
                    </a:lnR>
                    <a:lnT w="6350" cmpd="sng">
                      <a:solidFill>
                        <a:srgbClr val="B0B0B0"/>
                      </a:solidFill>
                    </a:lnT>
                    <a:lnB w="6350" cmpd="sng">
                      <a:solidFill>
                        <a:srgbClr val="B0B0B0"/>
                      </a:solidFill>
                    </a:lnB>
                    <a:solidFill>
                      <a:srgbClr val="F0F0F0"/>
                    </a:solidFill>
                  </a:tcPr>
                </a:tc>
                <a:tc>
                  <a:txBody>
                    <a:bodyPr/>
                    <a:lstStyle/>
                    <a:p>
                      <a:pPr>
                        <a:buFontTx/>
                        <a:buNone/>
                      </a:pPr>
                      <a:r>
                        <a:rPr lang="en-AU" sz="2000" b="0">
                          <a:solidFill>
                            <a:srgbClr val="000000"/>
                          </a:solidFill>
                          <a:latin typeface="Calibri" panose="020F0502020204030204" pitchFamily="34" charset="0"/>
                        </a:rPr>
                        <a:t>1.4019</a:t>
                      </a:r>
                    </a:p>
                  </a:txBody>
                  <a:tcPr marL="127000" marR="88900" marT="88900" marB="88900" anchor="ctr">
                    <a:lnL w="6350" cmpd="sng">
                      <a:solidFill>
                        <a:srgbClr val="B0B0B0"/>
                      </a:solidFill>
                    </a:lnL>
                    <a:lnR w="6350" cmpd="sng">
                      <a:solidFill>
                        <a:srgbClr val="B0B0B0"/>
                      </a:solidFill>
                    </a:lnR>
                    <a:lnT w="6350" cmpd="sng">
                      <a:solidFill>
                        <a:srgbClr val="B0B0B0"/>
                      </a:solidFill>
                    </a:lnT>
                    <a:lnB w="6350" cmpd="sng">
                      <a:solidFill>
                        <a:srgbClr val="B0B0B0"/>
                      </a:solidFill>
                    </a:lnB>
                    <a:solidFill>
                      <a:srgbClr val="F0F0F0"/>
                    </a:solidFill>
                  </a:tcPr>
                </a:tc>
                <a:tc>
                  <a:txBody>
                    <a:bodyPr/>
                    <a:lstStyle/>
                    <a:p>
                      <a:pPr>
                        <a:buFontTx/>
                        <a:buNone/>
                      </a:pPr>
                      <a:r>
                        <a:rPr lang="en-AU" sz="1700" b="0" dirty="0">
                          <a:solidFill>
                            <a:srgbClr val="000000"/>
                          </a:solidFill>
                          <a:latin typeface="Calibri" panose="020F0502020204030204" pitchFamily="34" charset="0"/>
                        </a:rPr>
                        <a:t>1.42%</a:t>
                      </a:r>
                    </a:p>
                  </a:txBody>
                  <a:tcPr marL="127000" marR="88900" marT="88900" marB="88900" anchor="ctr">
                    <a:lnL w="6350" cmpd="sng">
                      <a:solidFill>
                        <a:srgbClr val="B0B0B0"/>
                      </a:solidFill>
                    </a:lnL>
                    <a:lnR w="6350" cmpd="sng">
                      <a:solidFill>
                        <a:srgbClr val="B0B0B0"/>
                      </a:solidFill>
                    </a:lnR>
                    <a:lnT w="6350" cmpd="sng">
                      <a:solidFill>
                        <a:srgbClr val="B0B0B0"/>
                      </a:solidFill>
                    </a:lnT>
                    <a:lnB w="6350" cmpd="sng">
                      <a:solidFill>
                        <a:srgbClr val="B0B0B0"/>
                      </a:solidFill>
                    </a:lnB>
                    <a:solidFill>
                      <a:srgbClr val="F0F0F0"/>
                    </a:solidFill>
                  </a:tcPr>
                </a:tc>
                <a:extLst>
                  <a:ext uri="{0D108BD9-81ED-4DB2-BD59-A6C34878D82A}">
                    <a16:rowId xmlns:a16="http://schemas.microsoft.com/office/drawing/2014/main" val="1483647616"/>
                  </a:ext>
                </a:extLst>
              </a:tr>
              <a:tr h="723900">
                <a:tc>
                  <a:txBody>
                    <a:bodyPr/>
                    <a:lstStyle/>
                    <a:p>
                      <a:pPr>
                        <a:buFontTx/>
                        <a:buNone/>
                      </a:pPr>
                      <a:r>
                        <a:rPr lang="en-AU" sz="2000" b="0">
                          <a:solidFill>
                            <a:srgbClr val="000000"/>
                          </a:solidFill>
                          <a:latin typeface="Calibri" panose="020F0502020204030204" pitchFamily="34" charset="0"/>
                        </a:rPr>
                        <a:t>Moderate</a:t>
                      </a:r>
                    </a:p>
                  </a:txBody>
                  <a:tcPr marL="127000" marR="88900" marT="88900" marB="88900" anchor="ctr">
                    <a:lnL w="6350" cmpd="sng">
                      <a:solidFill>
                        <a:srgbClr val="B0B0B0"/>
                      </a:solidFill>
                    </a:lnL>
                    <a:lnR w="6350" cmpd="sng">
                      <a:solidFill>
                        <a:srgbClr val="B0B0B0"/>
                      </a:solidFill>
                    </a:lnR>
                    <a:lnT w="6350" cmpd="sng">
                      <a:solidFill>
                        <a:srgbClr val="B0B0B0"/>
                      </a:solidFill>
                    </a:lnT>
                    <a:lnB w="6350" cmpd="sng">
                      <a:solidFill>
                        <a:srgbClr val="B0B0B0"/>
                      </a:solidFill>
                    </a:lnB>
                    <a:solidFill>
                      <a:srgbClr val="FFFFFF"/>
                    </a:solidFill>
                  </a:tcPr>
                </a:tc>
                <a:tc>
                  <a:txBody>
                    <a:bodyPr/>
                    <a:lstStyle/>
                    <a:p>
                      <a:pPr>
                        <a:buFontTx/>
                        <a:buNone/>
                      </a:pPr>
                      <a:r>
                        <a:rPr lang="en-AU" sz="2000" b="0">
                          <a:solidFill>
                            <a:srgbClr val="000000"/>
                          </a:solidFill>
                          <a:latin typeface="Calibri" panose="020F0502020204030204" pitchFamily="34" charset="0"/>
                        </a:rPr>
                        <a:t>16</a:t>
                      </a:r>
                    </a:p>
                  </a:txBody>
                  <a:tcPr marL="127000" marR="88900" marT="88900" marB="88900" anchor="ctr">
                    <a:lnL w="6350" cmpd="sng">
                      <a:solidFill>
                        <a:srgbClr val="B0B0B0"/>
                      </a:solidFill>
                    </a:lnL>
                    <a:lnR w="6350" cmpd="sng">
                      <a:solidFill>
                        <a:srgbClr val="B0B0B0"/>
                      </a:solidFill>
                    </a:lnR>
                    <a:lnT w="6350" cmpd="sng">
                      <a:solidFill>
                        <a:srgbClr val="B0B0B0"/>
                      </a:solidFill>
                    </a:lnT>
                    <a:lnB w="6350" cmpd="sng">
                      <a:solidFill>
                        <a:srgbClr val="B0B0B0"/>
                      </a:solidFill>
                    </a:lnB>
                    <a:solidFill>
                      <a:srgbClr val="FFFFFF"/>
                    </a:solidFill>
                  </a:tcPr>
                </a:tc>
                <a:tc>
                  <a:txBody>
                    <a:bodyPr/>
                    <a:lstStyle/>
                    <a:p>
                      <a:pPr>
                        <a:buFontTx/>
                        <a:buNone/>
                      </a:pPr>
                      <a:r>
                        <a:rPr lang="en-AU" sz="2000" b="0">
                          <a:solidFill>
                            <a:srgbClr val="000000"/>
                          </a:solidFill>
                          <a:latin typeface="Calibri" panose="020F0502020204030204" pitchFamily="34" charset="0"/>
                        </a:rPr>
                        <a:t>19</a:t>
                      </a:r>
                    </a:p>
                  </a:txBody>
                  <a:tcPr marL="127000" marR="88900" marT="88900" marB="88900" anchor="ctr">
                    <a:lnL w="6350" cmpd="sng">
                      <a:solidFill>
                        <a:srgbClr val="B0B0B0"/>
                      </a:solidFill>
                    </a:lnL>
                    <a:lnR w="6350" cmpd="sng">
                      <a:solidFill>
                        <a:srgbClr val="B0B0B0"/>
                      </a:solidFill>
                    </a:lnR>
                    <a:lnT w="6350" cmpd="sng">
                      <a:solidFill>
                        <a:srgbClr val="B0B0B0"/>
                      </a:solidFill>
                    </a:lnT>
                    <a:lnB w="6350" cmpd="sng">
                      <a:solidFill>
                        <a:srgbClr val="B0B0B0"/>
                      </a:solidFill>
                    </a:lnB>
                    <a:solidFill>
                      <a:srgbClr val="FFFFFF"/>
                    </a:solidFill>
                  </a:tcPr>
                </a:tc>
                <a:tc>
                  <a:txBody>
                    <a:bodyPr/>
                    <a:lstStyle/>
                    <a:p>
                      <a:pPr>
                        <a:buFontTx/>
                        <a:buNone/>
                      </a:pPr>
                      <a:r>
                        <a:rPr lang="en-AU" sz="2000" b="0">
                          <a:solidFill>
                            <a:srgbClr val="000000"/>
                          </a:solidFill>
                          <a:latin typeface="Calibri" panose="020F0502020204030204" pitchFamily="34" charset="0"/>
                        </a:rPr>
                        <a:t>0.9117</a:t>
                      </a:r>
                    </a:p>
                  </a:txBody>
                  <a:tcPr marL="127000" marR="88900" marT="88900" marB="88900" anchor="ctr">
                    <a:lnL w="6350" cmpd="sng">
                      <a:solidFill>
                        <a:srgbClr val="B0B0B0"/>
                      </a:solidFill>
                    </a:lnL>
                    <a:lnR w="6350" cmpd="sng">
                      <a:solidFill>
                        <a:srgbClr val="B0B0B0"/>
                      </a:solidFill>
                    </a:lnR>
                    <a:lnT w="6350" cmpd="sng">
                      <a:solidFill>
                        <a:srgbClr val="B0B0B0"/>
                      </a:solidFill>
                    </a:lnT>
                    <a:lnB w="6350" cmpd="sng">
                      <a:solidFill>
                        <a:srgbClr val="B0B0B0"/>
                      </a:solidFill>
                    </a:lnB>
                    <a:solidFill>
                      <a:srgbClr val="FFFFFF"/>
                    </a:solidFill>
                  </a:tcPr>
                </a:tc>
                <a:tc>
                  <a:txBody>
                    <a:bodyPr/>
                    <a:lstStyle/>
                    <a:p>
                      <a:pPr>
                        <a:buFontTx/>
                        <a:buNone/>
                      </a:pPr>
                      <a:r>
                        <a:rPr lang="en-AU" sz="2000" b="0">
                          <a:solidFill>
                            <a:srgbClr val="000000"/>
                          </a:solidFill>
                          <a:latin typeface="Calibri" panose="020F0502020204030204" pitchFamily="34" charset="0"/>
                        </a:rPr>
                        <a:t>0.8834</a:t>
                      </a:r>
                    </a:p>
                  </a:txBody>
                  <a:tcPr marL="127000" marR="88900" marT="88900" marB="88900" anchor="ctr">
                    <a:lnL w="6350" cmpd="sng">
                      <a:solidFill>
                        <a:srgbClr val="B0B0B0"/>
                      </a:solidFill>
                    </a:lnL>
                    <a:lnR w="6350" cmpd="sng">
                      <a:solidFill>
                        <a:srgbClr val="B0B0B0"/>
                      </a:solidFill>
                    </a:lnR>
                    <a:lnT w="6350" cmpd="sng">
                      <a:solidFill>
                        <a:srgbClr val="B0B0B0"/>
                      </a:solidFill>
                    </a:lnT>
                    <a:lnB w="6350" cmpd="sng">
                      <a:solidFill>
                        <a:srgbClr val="B0B0B0"/>
                      </a:solidFill>
                    </a:lnB>
                    <a:solidFill>
                      <a:srgbClr val="FFFFFF"/>
                    </a:solidFill>
                  </a:tcPr>
                </a:tc>
                <a:tc>
                  <a:txBody>
                    <a:bodyPr/>
                    <a:lstStyle/>
                    <a:p>
                      <a:pPr>
                        <a:buFontTx/>
                        <a:buNone/>
                      </a:pPr>
                      <a:r>
                        <a:rPr lang="en-AU" sz="1700" b="0" dirty="0">
                          <a:solidFill>
                            <a:srgbClr val="000000"/>
                          </a:solidFill>
                          <a:latin typeface="Calibri" panose="020F0502020204030204" pitchFamily="34" charset="0"/>
                        </a:rPr>
                        <a:t>3.1%</a:t>
                      </a:r>
                    </a:p>
                  </a:txBody>
                  <a:tcPr marL="127000" marR="88900" marT="88900" marB="88900" anchor="ctr">
                    <a:lnL w="6350" cmpd="sng">
                      <a:solidFill>
                        <a:srgbClr val="B0B0B0"/>
                      </a:solidFill>
                    </a:lnL>
                    <a:lnR w="6350" cmpd="sng">
                      <a:solidFill>
                        <a:srgbClr val="B0B0B0"/>
                      </a:solidFill>
                    </a:lnR>
                    <a:lnT w="6350" cmpd="sng">
                      <a:solidFill>
                        <a:srgbClr val="B0B0B0"/>
                      </a:solidFill>
                    </a:lnT>
                    <a:lnB w="6350" cmpd="sng">
                      <a:solidFill>
                        <a:srgbClr val="B0B0B0"/>
                      </a:solidFill>
                    </a:lnB>
                    <a:solidFill>
                      <a:srgbClr val="FFFFFF"/>
                    </a:solidFill>
                  </a:tcPr>
                </a:tc>
                <a:extLst>
                  <a:ext uri="{0D108BD9-81ED-4DB2-BD59-A6C34878D82A}">
                    <a16:rowId xmlns:a16="http://schemas.microsoft.com/office/drawing/2014/main" val="1424467793"/>
                  </a:ext>
                </a:extLst>
              </a:tr>
              <a:tr h="723900">
                <a:tc>
                  <a:txBody>
                    <a:bodyPr/>
                    <a:lstStyle/>
                    <a:p>
                      <a:pPr>
                        <a:buFontTx/>
                        <a:buNone/>
                      </a:pPr>
                      <a:r>
                        <a:rPr lang="en-AU" sz="2000" b="0">
                          <a:solidFill>
                            <a:srgbClr val="000000"/>
                          </a:solidFill>
                          <a:latin typeface="Calibri" panose="020F0502020204030204" pitchFamily="34" charset="0"/>
                        </a:rPr>
                        <a:t>Wide</a:t>
                      </a:r>
                    </a:p>
                  </a:txBody>
                  <a:tcPr marL="127000" marR="88900" marT="88900" marB="88900" anchor="ctr">
                    <a:lnL w="6350" cmpd="sng">
                      <a:solidFill>
                        <a:srgbClr val="B0B0B0"/>
                      </a:solidFill>
                    </a:lnL>
                    <a:lnR w="6350" cmpd="sng">
                      <a:solidFill>
                        <a:srgbClr val="B0B0B0"/>
                      </a:solidFill>
                    </a:lnR>
                    <a:lnT w="6350" cmpd="sng">
                      <a:solidFill>
                        <a:srgbClr val="B0B0B0"/>
                      </a:solidFill>
                    </a:lnT>
                    <a:lnB w="6350" cmpd="sng">
                      <a:solidFill>
                        <a:srgbClr val="B0B0B0"/>
                      </a:solidFill>
                    </a:lnB>
                    <a:solidFill>
                      <a:srgbClr val="F0F0F0"/>
                    </a:solidFill>
                  </a:tcPr>
                </a:tc>
                <a:tc>
                  <a:txBody>
                    <a:bodyPr/>
                    <a:lstStyle/>
                    <a:p>
                      <a:pPr>
                        <a:buFontTx/>
                        <a:buNone/>
                      </a:pPr>
                      <a:r>
                        <a:rPr lang="en-AU" sz="2000" b="0">
                          <a:solidFill>
                            <a:srgbClr val="000000"/>
                          </a:solidFill>
                          <a:latin typeface="Calibri" panose="020F0502020204030204" pitchFamily="34" charset="0"/>
                        </a:rPr>
                        <a:t>17</a:t>
                      </a:r>
                    </a:p>
                  </a:txBody>
                  <a:tcPr marL="127000" marR="88900" marT="88900" marB="88900" anchor="ctr">
                    <a:lnL w="6350" cmpd="sng">
                      <a:solidFill>
                        <a:srgbClr val="B0B0B0"/>
                      </a:solidFill>
                    </a:lnL>
                    <a:lnR w="6350" cmpd="sng">
                      <a:solidFill>
                        <a:srgbClr val="B0B0B0"/>
                      </a:solidFill>
                    </a:lnR>
                    <a:lnT w="6350" cmpd="sng">
                      <a:solidFill>
                        <a:srgbClr val="B0B0B0"/>
                      </a:solidFill>
                    </a:lnT>
                    <a:lnB w="6350" cmpd="sng">
                      <a:solidFill>
                        <a:srgbClr val="B0B0B0"/>
                      </a:solidFill>
                    </a:lnB>
                    <a:solidFill>
                      <a:srgbClr val="F0F0F0"/>
                    </a:solidFill>
                  </a:tcPr>
                </a:tc>
                <a:tc>
                  <a:txBody>
                    <a:bodyPr/>
                    <a:lstStyle/>
                    <a:p>
                      <a:pPr>
                        <a:buFontTx/>
                        <a:buNone/>
                      </a:pPr>
                      <a:r>
                        <a:rPr lang="en-AU" sz="2000" b="0">
                          <a:solidFill>
                            <a:srgbClr val="000000"/>
                          </a:solidFill>
                          <a:latin typeface="Calibri" panose="020F0502020204030204" pitchFamily="34" charset="0"/>
                        </a:rPr>
                        <a:t>20</a:t>
                      </a:r>
                    </a:p>
                  </a:txBody>
                  <a:tcPr marL="127000" marR="88900" marT="88900" marB="88900" anchor="ctr">
                    <a:lnL w="6350" cmpd="sng">
                      <a:solidFill>
                        <a:srgbClr val="B0B0B0"/>
                      </a:solidFill>
                    </a:lnL>
                    <a:lnR w="6350" cmpd="sng">
                      <a:solidFill>
                        <a:srgbClr val="B0B0B0"/>
                      </a:solidFill>
                    </a:lnR>
                    <a:lnT w="6350" cmpd="sng">
                      <a:solidFill>
                        <a:srgbClr val="B0B0B0"/>
                      </a:solidFill>
                    </a:lnT>
                    <a:lnB w="6350" cmpd="sng">
                      <a:solidFill>
                        <a:srgbClr val="B0B0B0"/>
                      </a:solidFill>
                    </a:lnB>
                    <a:solidFill>
                      <a:srgbClr val="F0F0F0"/>
                    </a:solidFill>
                  </a:tcPr>
                </a:tc>
                <a:tc>
                  <a:txBody>
                    <a:bodyPr/>
                    <a:lstStyle/>
                    <a:p>
                      <a:pPr>
                        <a:buFontTx/>
                        <a:buNone/>
                      </a:pPr>
                      <a:r>
                        <a:rPr lang="en-AU" sz="2000" b="0">
                          <a:solidFill>
                            <a:srgbClr val="000000"/>
                          </a:solidFill>
                          <a:latin typeface="Calibri" panose="020F0502020204030204" pitchFamily="34" charset="0"/>
                        </a:rPr>
                        <a:t>0.6167</a:t>
                      </a:r>
                    </a:p>
                  </a:txBody>
                  <a:tcPr marL="127000" marR="88900" marT="88900" marB="88900" anchor="ctr">
                    <a:lnL w="6350" cmpd="sng">
                      <a:solidFill>
                        <a:srgbClr val="B0B0B0"/>
                      </a:solidFill>
                    </a:lnL>
                    <a:lnR w="6350" cmpd="sng">
                      <a:solidFill>
                        <a:srgbClr val="B0B0B0"/>
                      </a:solidFill>
                    </a:lnR>
                    <a:lnT w="6350" cmpd="sng">
                      <a:solidFill>
                        <a:srgbClr val="B0B0B0"/>
                      </a:solidFill>
                    </a:lnT>
                    <a:lnB w="6350" cmpd="sng">
                      <a:solidFill>
                        <a:srgbClr val="B0B0B0"/>
                      </a:solidFill>
                    </a:lnB>
                    <a:solidFill>
                      <a:srgbClr val="F0F0F0"/>
                    </a:solidFill>
                  </a:tcPr>
                </a:tc>
                <a:tc>
                  <a:txBody>
                    <a:bodyPr/>
                    <a:lstStyle/>
                    <a:p>
                      <a:pPr>
                        <a:buFontTx/>
                        <a:buNone/>
                      </a:pPr>
                      <a:r>
                        <a:rPr lang="en-AU" sz="2000" b="0">
                          <a:solidFill>
                            <a:srgbClr val="000000"/>
                          </a:solidFill>
                          <a:latin typeface="Calibri" panose="020F0502020204030204" pitchFamily="34" charset="0"/>
                        </a:rPr>
                        <a:t>0.5868</a:t>
                      </a:r>
                    </a:p>
                  </a:txBody>
                  <a:tcPr marL="127000" marR="88900" marT="88900" marB="88900" anchor="ctr">
                    <a:lnL w="6350" cmpd="sng">
                      <a:solidFill>
                        <a:srgbClr val="B0B0B0"/>
                      </a:solidFill>
                    </a:lnL>
                    <a:lnR w="6350" cmpd="sng">
                      <a:solidFill>
                        <a:srgbClr val="B0B0B0"/>
                      </a:solidFill>
                    </a:lnR>
                    <a:lnT w="6350" cmpd="sng">
                      <a:solidFill>
                        <a:srgbClr val="B0B0B0"/>
                      </a:solidFill>
                    </a:lnT>
                    <a:lnB w="6350" cmpd="sng">
                      <a:solidFill>
                        <a:srgbClr val="B0B0B0"/>
                      </a:solidFill>
                    </a:lnB>
                    <a:solidFill>
                      <a:srgbClr val="F0F0F0"/>
                    </a:solidFill>
                  </a:tcPr>
                </a:tc>
                <a:tc>
                  <a:txBody>
                    <a:bodyPr/>
                    <a:lstStyle/>
                    <a:p>
                      <a:pPr>
                        <a:buFontTx/>
                        <a:buNone/>
                      </a:pPr>
                      <a:r>
                        <a:rPr lang="en-AU" sz="1700" b="0" dirty="0">
                          <a:solidFill>
                            <a:srgbClr val="000000"/>
                          </a:solidFill>
                          <a:latin typeface="Calibri" panose="020F0502020204030204" pitchFamily="34" charset="0"/>
                        </a:rPr>
                        <a:t>4.85%</a:t>
                      </a:r>
                    </a:p>
                  </a:txBody>
                  <a:tcPr marL="127000" marR="88900" marT="88900" marB="88900" anchor="ctr">
                    <a:lnL w="6350" cmpd="sng">
                      <a:solidFill>
                        <a:srgbClr val="B0B0B0"/>
                      </a:solidFill>
                    </a:lnL>
                    <a:lnR w="6350" cmpd="sng">
                      <a:solidFill>
                        <a:srgbClr val="B0B0B0"/>
                      </a:solidFill>
                    </a:lnR>
                    <a:lnT w="6350" cmpd="sng">
                      <a:solidFill>
                        <a:srgbClr val="B0B0B0"/>
                      </a:solidFill>
                    </a:lnT>
                    <a:lnB w="6350" cmpd="sng">
                      <a:solidFill>
                        <a:srgbClr val="B0B0B0"/>
                      </a:solidFill>
                    </a:lnB>
                    <a:solidFill>
                      <a:srgbClr val="F0F0F0"/>
                    </a:solidFill>
                  </a:tcPr>
                </a:tc>
                <a:extLst>
                  <a:ext uri="{0D108BD9-81ED-4DB2-BD59-A6C34878D82A}">
                    <a16:rowId xmlns:a16="http://schemas.microsoft.com/office/drawing/2014/main" val="3059096885"/>
                  </a:ext>
                </a:extLst>
              </a:tr>
            </a:tbl>
          </a:graphicData>
        </a:graphic>
      </p:graphicFrame>
      <p:sp>
        <p:nvSpPr>
          <p:cNvPr id="7" name="Quality gain">
            <a:extLst>
              <a:ext uri="{FF2B5EF4-FFF2-40B4-BE49-F238E27FC236}">
                <a16:creationId xmlns:a16="http://schemas.microsoft.com/office/drawing/2014/main" id="{91500ADB-73AE-5E36-2B31-54DE0155DC76}"/>
              </a:ext>
            </a:extLst>
          </p:cNvPr>
          <p:cNvSpPr txBox="1"/>
          <p:nvPr/>
        </p:nvSpPr>
        <p:spPr>
          <a:xfrm>
            <a:off x="533400" y="4787900"/>
            <a:ext cx="11112500" cy="338554"/>
          </a:xfrm>
          <a:prstGeom prst="rect">
            <a:avLst/>
          </a:prstGeom>
          <a:noFill/>
        </p:spPr>
        <p:txBody>
          <a:bodyPr vert="horz" lIns="0" tIns="0" rIns="0" bIns="0" rtlCol="0">
            <a:noAutofit/>
          </a:bodyPr>
          <a:lstStyle/>
          <a:p>
            <a:r>
              <a:rPr lang="en-US" sz="2200" b="1">
                <a:solidFill>
                  <a:srgbClr val="000000"/>
                </a:solidFill>
                <a:latin typeface="Calibri" panose="020F0502020204030204" pitchFamily="34" charset="0"/>
              </a:rPr>
              <a:t>Smoothness improvement at the same worst day: 1.42%, 3.10% and 4.85%</a:t>
            </a:r>
            <a:endParaRPr lang="en-AU" sz="2200" b="1">
              <a:solidFill>
                <a:srgbClr val="000000"/>
              </a:solidFill>
              <a:latin typeface="Calibri" panose="020F0502020204030204" pitchFamily="34" charset="0"/>
            </a:endParaRPr>
          </a:p>
        </p:txBody>
      </p:sp>
    </p:spTree>
    <p:extLst>
      <p:ext uri="{BB962C8B-B14F-4D97-AF65-F5344CB8AC3E}">
        <p14:creationId xmlns:p14="http://schemas.microsoft.com/office/powerpoint/2010/main" val="400498853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9728"/>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165100"/>
            <a:ext cx="11277600" cy="317500"/>
          </a:xfrm>
          <a:prstGeom prst="rect">
            <a:avLst/>
          </a:prstGeom>
          <a:noFill/>
        </p:spPr>
        <p:txBody>
          <a:bodyPr wrap="square">
            <a:noAutofit/>
          </a:bodyPr>
          <a:lstStyle/>
          <a:p>
            <a:pPr algn="l"/>
            <a:r>
              <a:rPr lang="en-AU" sz="1500" b="1">
                <a:solidFill>
                  <a:srgbClr val="000000"/>
                </a:solidFill>
                <a:latin typeface="Calibri"/>
              </a:rPr>
              <a:t>HOW STEP SIZES WORK</a:t>
            </a:r>
            <a:endParaRPr sz="1500" b="1">
              <a:solidFill>
                <a:srgbClr val="000000"/>
              </a:solidFill>
              <a:latin typeface="Calibri"/>
            </a:endParaRPr>
          </a:p>
        </p:txBody>
      </p:sp>
      <p:sp>
        <p:nvSpPr>
          <p:cNvPr id="5" name="TextBox 4"/>
          <p:cNvSpPr txBox="1"/>
          <p:nvPr/>
        </p:nvSpPr>
        <p:spPr>
          <a:xfrm>
            <a:off x="457200" y="533400"/>
            <a:ext cx="11277600" cy="660400"/>
          </a:xfrm>
          <a:prstGeom prst="rect">
            <a:avLst/>
          </a:prstGeom>
          <a:noFill/>
        </p:spPr>
        <p:txBody>
          <a:bodyPr wrap="square">
            <a:noAutofit/>
          </a:bodyPr>
          <a:lstStyle/>
          <a:p>
            <a:r>
              <a:rPr lang="en-US" sz="3000" b="1">
                <a:solidFill>
                  <a:srgbClr val="000000"/>
                </a:solidFill>
                <a:latin typeface="Calibri" panose="020F0502020204030204" pitchFamily="34" charset="0"/>
              </a:rPr>
              <a:t>A step size is a trial change to a check start date</a:t>
            </a:r>
            <a:endParaRPr sz="3000" b="1" dirty="0">
              <a:solidFill>
                <a:srgbClr val="000000"/>
              </a:solidFill>
              <a:latin typeface="Calibri" panose="020F0502020204030204" pitchFamily="34" charset="0"/>
            </a:endParaRPr>
          </a:p>
        </p:txBody>
      </p:sp>
      <p:sp>
        <p:nvSpPr>
          <p:cNvPr id="9" name="Rounded Rectangle 5">
            <a:extLst>
              <a:ext uri="{FF2B5EF4-FFF2-40B4-BE49-F238E27FC236}">
                <a16:creationId xmlns:a16="http://schemas.microsoft.com/office/drawing/2014/main" id="{EB8F05B1-0C6F-85C3-09E3-DC807EA60B9F}"/>
              </a:ext>
            </a:extLst>
          </p:cNvPr>
          <p:cNvSpPr/>
          <p:nvPr/>
        </p:nvSpPr>
        <p:spPr>
          <a:xfrm>
            <a:off x="457200" y="1188720"/>
            <a:ext cx="5532120" cy="3835400"/>
          </a:xfrm>
          <a:prstGeom prst="roundRect">
            <a:avLst/>
          </a:prstGeom>
          <a:solidFill>
            <a:srgbClr val="FFFFFF"/>
          </a:solidFill>
          <a:ln w="12700">
            <a:solidFill>
              <a:srgbClr val="B0B0B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8">
            <a:extLst>
              <a:ext uri="{FF2B5EF4-FFF2-40B4-BE49-F238E27FC236}">
                <a16:creationId xmlns:a16="http://schemas.microsoft.com/office/drawing/2014/main" id="{CA042E39-C912-4482-5368-24E2DF631308}"/>
              </a:ext>
            </a:extLst>
          </p:cNvPr>
          <p:cNvSpPr/>
          <p:nvPr/>
        </p:nvSpPr>
        <p:spPr>
          <a:xfrm>
            <a:off x="6217920" y="1188720"/>
            <a:ext cx="5440680" cy="3835400"/>
          </a:xfrm>
          <a:prstGeom prst="roundRect">
            <a:avLst/>
          </a:prstGeom>
          <a:solidFill>
            <a:srgbClr val="F0F0F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a:extLst>
              <a:ext uri="{FF2B5EF4-FFF2-40B4-BE49-F238E27FC236}">
                <a16:creationId xmlns:a16="http://schemas.microsoft.com/office/drawing/2014/main" id="{578B1173-56A7-CCBE-B621-B5F6C57B3633}"/>
              </a:ext>
            </a:extLst>
          </p:cNvPr>
          <p:cNvSpPr txBox="1"/>
          <p:nvPr/>
        </p:nvSpPr>
        <p:spPr>
          <a:xfrm>
            <a:off x="731520" y="1463040"/>
            <a:ext cx="5029200" cy="430887"/>
          </a:xfrm>
          <a:prstGeom prst="rect">
            <a:avLst/>
          </a:prstGeom>
          <a:noFill/>
        </p:spPr>
        <p:txBody>
          <a:bodyPr wrap="square">
            <a:noAutofit/>
          </a:bodyPr>
          <a:lstStyle/>
          <a:p>
            <a:r>
              <a:rPr lang="en-US" sz="2200" b="1">
                <a:solidFill>
                  <a:srgbClr val="000000"/>
                </a:solidFill>
                <a:latin typeface="Calibri" panose="020F0502020204030204" pitchFamily="34" charset="0"/>
              </a:rPr>
              <a:t>Example: try a 14-day move</a:t>
            </a:r>
            <a:endParaRPr sz="2200" b="1" dirty="0">
              <a:solidFill>
                <a:srgbClr val="000000"/>
              </a:solidFill>
              <a:latin typeface="Calibri" panose="020F0502020204030204" pitchFamily="34" charset="0"/>
            </a:endParaRPr>
          </a:p>
        </p:txBody>
      </p:sp>
      <p:sp>
        <p:nvSpPr>
          <p:cNvPr id="15" name="TextBox 14">
            <a:extLst>
              <a:ext uri="{FF2B5EF4-FFF2-40B4-BE49-F238E27FC236}">
                <a16:creationId xmlns:a16="http://schemas.microsoft.com/office/drawing/2014/main" id="{917E8644-1360-B249-7DC8-687D66DE8ACE}"/>
              </a:ext>
            </a:extLst>
          </p:cNvPr>
          <p:cNvSpPr txBox="1"/>
          <p:nvPr/>
        </p:nvSpPr>
        <p:spPr>
          <a:xfrm>
            <a:off x="731520" y="2146300"/>
            <a:ext cx="5029200" cy="2578100"/>
          </a:xfrm>
          <a:prstGeom prst="rect">
            <a:avLst/>
          </a:prstGeom>
          <a:noFill/>
        </p:spPr>
        <p:txBody>
          <a:bodyPr wrap="square">
            <a:noAutofit/>
          </a:bodyPr>
          <a:lstStyle/>
          <a:p>
            <a:pPr>
              <a:lnSpc>
                <a:spcPct val="115000"/>
              </a:lnSpc>
              <a:spcAft>
                <a:spcPts val="500"/>
              </a:spcAft>
            </a:pPr>
            <a:r>
              <a:rPr lang="en-US" sz="2100">
                <a:solidFill>
                  <a:srgbClr val="1A1A1A"/>
                </a:solidFill>
                <a:latin typeface="Calibri" panose="020F0502020204030204" pitchFamily="34" charset="0"/>
              </a:rPr>
              <a:t>Current start: Day 100</a:t>
            </a:r>
          </a:p>
          <a:p>
            <a:pPr>
              <a:lnSpc>
                <a:spcPct val="115000"/>
              </a:lnSpc>
              <a:spcAft>
                <a:spcPts val="500"/>
              </a:spcAft>
            </a:pPr>
            <a:r>
              <a:rPr lang="en-US" sz="2100">
                <a:solidFill>
                  <a:srgbClr val="1A1A1A"/>
                </a:solidFill>
                <a:latin typeface="Calibri" panose="020F0502020204030204" pitchFamily="34" charset="0"/>
              </a:rPr>
              <a:t>14 days earlier: Day 86</a:t>
            </a:r>
          </a:p>
          <a:p>
            <a:pPr>
              <a:lnSpc>
                <a:spcPct val="115000"/>
              </a:lnSpc>
              <a:spcAft>
                <a:spcPts val="500"/>
              </a:spcAft>
            </a:pPr>
            <a:r>
              <a:rPr lang="en-US" sz="2100">
                <a:solidFill>
                  <a:srgbClr val="1A1A1A"/>
                </a:solidFill>
                <a:latin typeface="Calibri" panose="020F0502020204030204" pitchFamily="34" charset="0"/>
              </a:rPr>
              <a:t>14 days later: Day 114</a:t>
            </a:r>
          </a:p>
          <a:p>
            <a:pPr>
              <a:lnSpc>
                <a:spcPct val="115000"/>
              </a:lnSpc>
              <a:spcAft>
                <a:spcPts val="500"/>
              </a:spcAft>
            </a:pPr>
            <a:endParaRPr lang="en-US" sz="2100">
              <a:solidFill>
                <a:srgbClr val="1A1A1A"/>
              </a:solidFill>
              <a:latin typeface="Calibri" panose="020F0502020204030204" pitchFamily="34" charset="0"/>
            </a:endParaRPr>
          </a:p>
          <a:p>
            <a:pPr>
              <a:lnSpc>
                <a:spcPct val="115000"/>
              </a:lnSpc>
              <a:spcAft>
                <a:spcPts val="500"/>
              </a:spcAft>
            </a:pPr>
            <a:r>
              <a:rPr lang="en-US" sz="2100">
                <a:solidFill>
                  <a:srgbClr val="1A1A1A"/>
                </a:solidFill>
                <a:latin typeface="Calibri" panose="020F0502020204030204" pitchFamily="34" charset="0"/>
              </a:rPr>
              <a:t>These are two alternative schedules.</a:t>
            </a:r>
          </a:p>
          <a:p>
            <a:pPr>
              <a:lnSpc>
                <a:spcPct val="115000"/>
              </a:lnSpc>
              <a:spcAft>
                <a:spcPts val="500"/>
              </a:spcAft>
            </a:pPr>
            <a:r>
              <a:rPr lang="en-US" sz="2100">
                <a:solidFill>
                  <a:srgbClr val="1A1A1A"/>
                </a:solidFill>
                <a:latin typeface="Calibri" panose="020F0502020204030204" pitchFamily="34" charset="0"/>
              </a:rPr>
              <a:t>Keep the better legal improvement.</a:t>
            </a:r>
            <a:endParaRPr sz="2100" dirty="0">
              <a:solidFill>
                <a:srgbClr val="1A1A1A"/>
              </a:solidFill>
              <a:latin typeface="Calibri" panose="020F0502020204030204" pitchFamily="34" charset="0"/>
            </a:endParaRPr>
          </a:p>
        </p:txBody>
      </p:sp>
      <p:sp>
        <p:nvSpPr>
          <p:cNvPr id="17" name="TextBox 16">
            <a:extLst>
              <a:ext uri="{FF2B5EF4-FFF2-40B4-BE49-F238E27FC236}">
                <a16:creationId xmlns:a16="http://schemas.microsoft.com/office/drawing/2014/main" id="{BBE33486-1A26-9B55-897F-E21A9D782C94}"/>
              </a:ext>
            </a:extLst>
          </p:cNvPr>
          <p:cNvSpPr txBox="1"/>
          <p:nvPr/>
        </p:nvSpPr>
        <p:spPr>
          <a:xfrm>
            <a:off x="6492240" y="1463040"/>
            <a:ext cx="4937760" cy="430887"/>
          </a:xfrm>
          <a:prstGeom prst="rect">
            <a:avLst/>
          </a:prstGeom>
          <a:noFill/>
        </p:spPr>
        <p:txBody>
          <a:bodyPr wrap="square">
            <a:noAutofit/>
          </a:bodyPr>
          <a:lstStyle/>
          <a:p>
            <a:r>
              <a:rPr lang="en-US" sz="2200" b="1">
                <a:solidFill>
                  <a:srgbClr val="000000"/>
                </a:solidFill>
                <a:latin typeface="Calibri" panose="020F0502020204030204" pitchFamily="34" charset="0"/>
              </a:rPr>
              <a:t>How the search repeats</a:t>
            </a:r>
            <a:endParaRPr sz="2200" b="1" dirty="0">
              <a:solidFill>
                <a:srgbClr val="000000"/>
              </a:solidFill>
              <a:latin typeface="Calibri" panose="020F0502020204030204" pitchFamily="34" charset="0"/>
            </a:endParaRPr>
          </a:p>
        </p:txBody>
      </p:sp>
      <p:sp>
        <p:nvSpPr>
          <p:cNvPr id="19" name="TextBox 18">
            <a:extLst>
              <a:ext uri="{FF2B5EF4-FFF2-40B4-BE49-F238E27FC236}">
                <a16:creationId xmlns:a16="http://schemas.microsoft.com/office/drawing/2014/main" id="{8ACC2210-B02E-C807-76AC-1C2EFAEF7739}"/>
              </a:ext>
            </a:extLst>
          </p:cNvPr>
          <p:cNvSpPr txBox="1"/>
          <p:nvPr/>
        </p:nvSpPr>
        <p:spPr>
          <a:xfrm>
            <a:off x="6492240" y="2146300"/>
            <a:ext cx="4937760" cy="2578100"/>
          </a:xfrm>
          <a:prstGeom prst="rect">
            <a:avLst/>
          </a:prstGeom>
          <a:noFill/>
        </p:spPr>
        <p:txBody>
          <a:bodyPr wrap="square">
            <a:noAutofit/>
          </a:bodyPr>
          <a:lstStyle/>
          <a:p>
            <a:pPr>
              <a:lnSpc>
                <a:spcPct val="115000"/>
              </a:lnSpc>
              <a:spcAft>
                <a:spcPts val="500"/>
              </a:spcAft>
            </a:pPr>
            <a:r>
              <a:rPr lang="en-US" sz="2100">
                <a:solidFill>
                  <a:srgbClr val="1A1A1A"/>
                </a:solidFill>
                <a:latin typeface="Calibri" panose="020F0502020204030204" pitchFamily="34" charset="0"/>
              </a:rPr>
              <a:t>Try the largest step size first.</a:t>
            </a:r>
          </a:p>
          <a:p>
            <a:pPr>
              <a:lnSpc>
                <a:spcPct val="115000"/>
              </a:lnSpc>
              <a:spcAft>
                <a:spcPts val="500"/>
              </a:spcAft>
            </a:pPr>
            <a:r>
              <a:rPr lang="en-US" sz="2100">
                <a:solidFill>
                  <a:srgbClr val="1A1A1A"/>
                </a:solidFill>
                <a:latin typeface="Calibri" panose="020F0502020204030204" pitchFamily="34" charset="0"/>
              </a:rPr>
              <a:t>Keep one best improving move.</a:t>
            </a:r>
          </a:p>
          <a:p>
            <a:pPr>
              <a:lnSpc>
                <a:spcPct val="115000"/>
              </a:lnSpc>
              <a:spcAft>
                <a:spcPts val="500"/>
              </a:spcAft>
            </a:pPr>
            <a:r>
              <a:rPr lang="en-US" sz="2100">
                <a:solidFill>
                  <a:srgbClr val="1A1A1A"/>
                </a:solidFill>
                <a:latin typeface="Calibri" panose="020F0502020204030204" pitchFamily="34" charset="0"/>
              </a:rPr>
              <a:t>Restart from the largest step size.</a:t>
            </a:r>
          </a:p>
          <a:p>
            <a:pPr>
              <a:lnSpc>
                <a:spcPct val="115000"/>
              </a:lnSpc>
              <a:spcAft>
                <a:spcPts val="500"/>
              </a:spcAft>
            </a:pPr>
            <a:endParaRPr lang="en-US" sz="2100">
              <a:solidFill>
                <a:srgbClr val="1A1A1A"/>
              </a:solidFill>
              <a:latin typeface="Calibri" panose="020F0502020204030204" pitchFamily="34" charset="0"/>
            </a:endParaRPr>
          </a:p>
          <a:p>
            <a:pPr>
              <a:lnSpc>
                <a:spcPct val="115000"/>
              </a:lnSpc>
              <a:spcAft>
                <a:spcPts val="500"/>
              </a:spcAft>
            </a:pPr>
            <a:r>
              <a:rPr lang="en-US" sz="2100">
                <a:solidFill>
                  <a:srgbClr val="1A1A1A"/>
                </a:solidFill>
                <a:latin typeface="Calibri" panose="020F0502020204030204" pitchFamily="34" charset="0"/>
              </a:rPr>
              <a:t>If no move improves the schedule,</a:t>
            </a:r>
          </a:p>
          <a:p>
            <a:pPr>
              <a:lnSpc>
                <a:spcPct val="115000"/>
              </a:lnSpc>
              <a:spcAft>
                <a:spcPts val="500"/>
              </a:spcAft>
            </a:pPr>
            <a:r>
              <a:rPr lang="en-US" sz="2100">
                <a:solidFill>
                  <a:srgbClr val="1A1A1A"/>
                </a:solidFill>
                <a:latin typeface="Calibri" panose="020F0502020204030204" pitchFamily="34" charset="0"/>
              </a:rPr>
              <a:t>try the next, smaller step size.</a:t>
            </a:r>
            <a:endParaRPr lang="en-US" sz="2100" dirty="0">
              <a:solidFill>
                <a:srgbClr val="1A1A1A"/>
              </a:solidFill>
              <a:latin typeface="Calibri" panose="020F0502020204030204" pitchFamily="34" charset="0"/>
            </a:endParaRPr>
          </a:p>
        </p:txBody>
      </p:sp>
      <p:sp>
        <p:nvSpPr>
          <p:cNvPr id="6" name="Footer Card 20">
            <a:extLst>
              <a:ext uri="{FF2B5EF4-FFF2-40B4-BE49-F238E27FC236}">
                <a16:creationId xmlns:a16="http://schemas.microsoft.com/office/drawing/2014/main" id="{AB4D2C2B-97B8-3B21-388B-09229F9A3EFA}"/>
              </a:ext>
            </a:extLst>
          </p:cNvPr>
          <p:cNvSpPr/>
          <p:nvPr/>
        </p:nvSpPr>
        <p:spPr>
          <a:xfrm>
            <a:off x="457200" y="5181600"/>
            <a:ext cx="11201400" cy="1371600"/>
          </a:xfrm>
          <a:prstGeom prst="roundRect">
            <a:avLst/>
          </a:prstGeom>
          <a:solidFill>
            <a:srgbClr val="F0F0F0"/>
          </a:solidFill>
          <a:ln w="12700">
            <a:solidFill>
              <a:srgbClr val="B0B0B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AU"/>
          </a:p>
        </p:txBody>
      </p:sp>
      <p:sp>
        <p:nvSpPr>
          <p:cNvPr id="7" name="TextBox 6">
            <a:extLst>
              <a:ext uri="{FF2B5EF4-FFF2-40B4-BE49-F238E27FC236}">
                <a16:creationId xmlns:a16="http://schemas.microsoft.com/office/drawing/2014/main" id="{023F1CF4-A312-8E8E-481A-FD6D6BB15480}"/>
              </a:ext>
            </a:extLst>
          </p:cNvPr>
          <p:cNvSpPr txBox="1"/>
          <p:nvPr/>
        </p:nvSpPr>
        <p:spPr>
          <a:xfrm>
            <a:off x="731520" y="5334000"/>
            <a:ext cx="10668000" cy="400110"/>
          </a:xfrm>
          <a:prstGeom prst="rect">
            <a:avLst/>
          </a:prstGeom>
          <a:noFill/>
        </p:spPr>
        <p:txBody>
          <a:bodyPr vert="horz" rtlCol="0">
            <a:noAutofit/>
          </a:bodyPr>
          <a:lstStyle/>
          <a:p>
            <a:r>
              <a:rPr lang="en-US" sz="2100" b="1">
                <a:solidFill>
                  <a:srgbClr val="000000"/>
                </a:solidFill>
                <a:latin typeface="Calibri" panose="020F0502020204030204" pitchFamily="34" charset="0"/>
              </a:rPr>
              <a:t>Which checks get tested first?</a:t>
            </a:r>
            <a:endParaRPr lang="en-AU" sz="2100" b="1" dirty="0">
              <a:solidFill>
                <a:srgbClr val="000000"/>
              </a:solidFill>
              <a:latin typeface="Calibri" panose="020F0502020204030204" pitchFamily="34" charset="0"/>
            </a:endParaRPr>
          </a:p>
        </p:txBody>
      </p:sp>
      <p:sp>
        <p:nvSpPr>
          <p:cNvPr id="8" name="TextBox 7">
            <a:extLst>
              <a:ext uri="{FF2B5EF4-FFF2-40B4-BE49-F238E27FC236}">
                <a16:creationId xmlns:a16="http://schemas.microsoft.com/office/drawing/2014/main" id="{F0AE5DB2-73E5-8FE9-FE51-45675AE50032}"/>
              </a:ext>
            </a:extLst>
          </p:cNvPr>
          <p:cNvSpPr txBox="1"/>
          <p:nvPr/>
        </p:nvSpPr>
        <p:spPr>
          <a:xfrm>
            <a:off x="731520" y="5778500"/>
            <a:ext cx="10668000" cy="711200"/>
          </a:xfrm>
          <a:prstGeom prst="rect">
            <a:avLst/>
          </a:prstGeom>
          <a:noFill/>
        </p:spPr>
        <p:txBody>
          <a:bodyPr vert="horz" rtlCol="0">
            <a:noAutofit/>
          </a:bodyPr>
          <a:lstStyle/>
          <a:p>
            <a:r>
              <a:rPr lang="en-US">
                <a:solidFill>
                  <a:srgbClr val="1A1A1A"/>
                </a:solidFill>
                <a:latin typeface="+mj-lt"/>
              </a:rPr>
              <a:t>For each step size, test checks covering the worst availability days first.</a:t>
            </a:r>
          </a:p>
          <a:p>
            <a:r>
              <a:rPr lang="en-US">
                <a:solidFill>
                  <a:srgbClr val="1A1A1A"/>
                </a:solidFill>
                <a:latin typeface="+mj-lt"/>
              </a:rPr>
              <a:t>Only search the other priority groups if the earlier groups find no improvement.</a:t>
            </a:r>
            <a:endParaRPr lang="en-AU" dirty="0">
              <a:solidFill>
                <a:srgbClr val="1A1A1A"/>
              </a:solidFill>
              <a:latin typeface="+mj-lt"/>
            </a:endParaRPr>
          </a:p>
        </p:txBody>
      </p:sp>
    </p:spTree>
    <p:extLst>
      <p:ext uri="{BB962C8B-B14F-4D97-AF65-F5344CB8AC3E}">
        <p14:creationId xmlns:p14="http://schemas.microsoft.com/office/powerpoint/2010/main" val="375239576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9728"/>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165100"/>
            <a:ext cx="11277600" cy="317500"/>
          </a:xfrm>
          <a:prstGeom prst="rect">
            <a:avLst/>
          </a:prstGeom>
          <a:noFill/>
        </p:spPr>
        <p:txBody>
          <a:bodyPr wrap="square">
            <a:noAutofit/>
          </a:bodyPr>
          <a:lstStyle/>
          <a:p>
            <a:pPr algn="l"/>
            <a:r>
              <a:rPr lang="en-AU" sz="1500" b="1">
                <a:solidFill>
                  <a:srgbClr val="000000"/>
                </a:solidFill>
                <a:latin typeface="Calibri"/>
              </a:rPr>
              <a:t>HYPERPARAMETER SETTINGS</a:t>
            </a:r>
            <a:endParaRPr sz="1500" b="1">
              <a:solidFill>
                <a:srgbClr val="000000"/>
              </a:solidFill>
              <a:latin typeface="Calibri"/>
            </a:endParaRPr>
          </a:p>
        </p:txBody>
      </p:sp>
      <p:sp>
        <p:nvSpPr>
          <p:cNvPr id="5" name="TextBox 4"/>
          <p:cNvSpPr txBox="1"/>
          <p:nvPr/>
        </p:nvSpPr>
        <p:spPr>
          <a:xfrm>
            <a:off x="457200" y="533400"/>
            <a:ext cx="11277600" cy="660400"/>
          </a:xfrm>
          <a:prstGeom prst="rect">
            <a:avLst/>
          </a:prstGeom>
          <a:noFill/>
        </p:spPr>
        <p:txBody>
          <a:bodyPr wrap="square">
            <a:noAutofit/>
          </a:bodyPr>
          <a:lstStyle/>
          <a:p>
            <a:r>
              <a:rPr lang="en-US" sz="3200" b="1">
                <a:solidFill>
                  <a:srgbClr val="000000"/>
                </a:solidFill>
                <a:latin typeface="Calibri" panose="020F0502020204030204" pitchFamily="34" charset="0"/>
              </a:rPr>
              <a:t>Which trial moves worked best?</a:t>
            </a:r>
            <a:endParaRPr sz="3200" b="1" dirty="0">
              <a:solidFill>
                <a:srgbClr val="000000"/>
              </a:solidFill>
              <a:latin typeface="Calibri" panose="020F0502020204030204" pitchFamily="34" charset="0"/>
            </a:endParaRPr>
          </a:p>
        </p:txBody>
      </p:sp>
      <p:sp>
        <p:nvSpPr>
          <p:cNvPr id="9" name="Rounded Rectangle 5">
            <a:extLst>
              <a:ext uri="{FF2B5EF4-FFF2-40B4-BE49-F238E27FC236}">
                <a16:creationId xmlns:a16="http://schemas.microsoft.com/office/drawing/2014/main" id="{EB8F05B1-0C6F-85C3-09E3-DC807EA60B9F}"/>
              </a:ext>
            </a:extLst>
          </p:cNvPr>
          <p:cNvSpPr/>
          <p:nvPr/>
        </p:nvSpPr>
        <p:spPr>
          <a:xfrm>
            <a:off x="457200" y="1188720"/>
            <a:ext cx="5532120" cy="3835400"/>
          </a:xfrm>
          <a:prstGeom prst="roundRect">
            <a:avLst/>
          </a:prstGeom>
          <a:solidFill>
            <a:srgbClr val="FFFFFF"/>
          </a:solidFill>
          <a:ln w="12700">
            <a:solidFill>
              <a:srgbClr val="B0B0B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8">
            <a:extLst>
              <a:ext uri="{FF2B5EF4-FFF2-40B4-BE49-F238E27FC236}">
                <a16:creationId xmlns:a16="http://schemas.microsoft.com/office/drawing/2014/main" id="{CA042E39-C912-4482-5368-24E2DF631308}"/>
              </a:ext>
            </a:extLst>
          </p:cNvPr>
          <p:cNvSpPr/>
          <p:nvPr/>
        </p:nvSpPr>
        <p:spPr>
          <a:xfrm>
            <a:off x="6217920" y="1188720"/>
            <a:ext cx="5440680" cy="3835400"/>
          </a:xfrm>
          <a:prstGeom prst="roundRect">
            <a:avLst/>
          </a:prstGeom>
          <a:solidFill>
            <a:srgbClr val="F0F0F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a:extLst>
              <a:ext uri="{FF2B5EF4-FFF2-40B4-BE49-F238E27FC236}">
                <a16:creationId xmlns:a16="http://schemas.microsoft.com/office/drawing/2014/main" id="{578B1173-56A7-CCBE-B621-B5F6C57B3633}"/>
              </a:ext>
            </a:extLst>
          </p:cNvPr>
          <p:cNvSpPr txBox="1"/>
          <p:nvPr/>
        </p:nvSpPr>
        <p:spPr>
          <a:xfrm>
            <a:off x="731520" y="1463040"/>
            <a:ext cx="5029200" cy="430887"/>
          </a:xfrm>
          <a:prstGeom prst="rect">
            <a:avLst/>
          </a:prstGeom>
          <a:noFill/>
        </p:spPr>
        <p:txBody>
          <a:bodyPr wrap="square">
            <a:noAutofit/>
          </a:bodyPr>
          <a:lstStyle/>
          <a:p>
            <a:r>
              <a:rPr lang="en-AU" sz="2300" b="1">
                <a:solidFill>
                  <a:srgbClr val="000000"/>
                </a:solidFill>
                <a:latin typeface="Calibri" panose="020F0502020204030204" pitchFamily="34" charset="0"/>
              </a:rPr>
              <a:t>Original forecast</a:t>
            </a:r>
            <a:endParaRPr sz="2300" b="1" dirty="0">
              <a:solidFill>
                <a:srgbClr val="000000"/>
              </a:solidFill>
              <a:latin typeface="Calibri" panose="020F0502020204030204" pitchFamily="34" charset="0"/>
            </a:endParaRPr>
          </a:p>
        </p:txBody>
      </p:sp>
      <p:sp>
        <p:nvSpPr>
          <p:cNvPr id="15" name="TextBox 14">
            <a:extLst>
              <a:ext uri="{FF2B5EF4-FFF2-40B4-BE49-F238E27FC236}">
                <a16:creationId xmlns:a16="http://schemas.microsoft.com/office/drawing/2014/main" id="{917E8644-1360-B249-7DC8-687D66DE8ACE}"/>
              </a:ext>
            </a:extLst>
          </p:cNvPr>
          <p:cNvSpPr txBox="1"/>
          <p:nvPr/>
        </p:nvSpPr>
        <p:spPr>
          <a:xfrm>
            <a:off x="731520" y="2146300"/>
            <a:ext cx="5029200" cy="2578100"/>
          </a:xfrm>
          <a:prstGeom prst="rect">
            <a:avLst/>
          </a:prstGeom>
          <a:noFill/>
        </p:spPr>
        <p:txBody>
          <a:bodyPr wrap="square">
            <a:noAutofit/>
          </a:bodyPr>
          <a:lstStyle/>
          <a:p>
            <a:pPr>
              <a:lnSpc>
                <a:spcPct val="115000"/>
              </a:lnSpc>
              <a:spcAft>
                <a:spcPts val="500"/>
              </a:spcAft>
            </a:pPr>
            <a:r>
              <a:rPr lang="en-US" sz="2100">
                <a:solidFill>
                  <a:srgbClr val="1A1A1A"/>
                </a:solidFill>
                <a:latin typeface="Calibri" panose="020F0502020204030204" pitchFamily="34" charset="0"/>
              </a:rPr>
              <a:t>First try 42 days earlier or later.</a:t>
            </a:r>
          </a:p>
          <a:p>
            <a:pPr>
              <a:lnSpc>
                <a:spcPct val="115000"/>
              </a:lnSpc>
              <a:spcAft>
                <a:spcPts val="500"/>
              </a:spcAft>
            </a:pPr>
            <a:r>
              <a:rPr lang="en-US" sz="2100">
                <a:solidFill>
                  <a:srgbClr val="1A1A1A"/>
                </a:solidFill>
                <a:latin typeface="Calibri" panose="020F0502020204030204" pitchFamily="34" charset="0"/>
              </a:rPr>
              <a:t>If no move helps, try 28 or 14 days.</a:t>
            </a:r>
          </a:p>
          <a:p>
            <a:pPr>
              <a:lnSpc>
                <a:spcPct val="115000"/>
              </a:lnSpc>
              <a:spcAft>
                <a:spcPts val="500"/>
              </a:spcAft>
            </a:pPr>
            <a:r>
              <a:rPr lang="en-US" sz="2100">
                <a:solidFill>
                  <a:srgbClr val="1A1A1A"/>
                </a:solidFill>
                <a:latin typeface="Calibri" panose="020F0502020204030204" pitchFamily="34" charset="0"/>
              </a:rPr>
              <a:t>Next try 14 or 7, then 7 or 3,</a:t>
            </a:r>
          </a:p>
          <a:p>
            <a:pPr>
              <a:lnSpc>
                <a:spcPct val="115000"/>
              </a:lnSpc>
              <a:spcAft>
                <a:spcPts val="500"/>
              </a:spcAft>
            </a:pPr>
            <a:r>
              <a:rPr lang="en-US" sz="2100">
                <a:solidFill>
                  <a:srgbClr val="1A1A1A"/>
                </a:solidFill>
                <a:latin typeface="Calibri" panose="020F0502020204030204" pitchFamily="34" charset="0"/>
              </a:rPr>
              <a:t>then 3 or 1 day.</a:t>
            </a:r>
          </a:p>
          <a:p>
            <a:pPr>
              <a:lnSpc>
                <a:spcPct val="115000"/>
              </a:lnSpc>
              <a:spcAft>
                <a:spcPts val="500"/>
              </a:spcAft>
            </a:pPr>
            <a:endParaRPr lang="en-US" sz="2100">
              <a:solidFill>
                <a:srgbClr val="1A1A1A"/>
              </a:solidFill>
              <a:latin typeface="Calibri" panose="020F0502020204030204" pitchFamily="34" charset="0"/>
            </a:endParaRPr>
          </a:p>
          <a:p>
            <a:pPr>
              <a:lnSpc>
                <a:spcPct val="115000"/>
              </a:lnSpc>
              <a:spcAft>
                <a:spcPts val="500"/>
              </a:spcAft>
            </a:pPr>
            <a:r>
              <a:rPr lang="en-US" sz="2100">
                <a:solidFill>
                  <a:srgbClr val="1A1A1A"/>
                </a:solidFill>
                <a:latin typeface="Calibri" panose="020F0502020204030204" pitchFamily="34" charset="0"/>
              </a:rPr>
              <a:t>Each pair gives four trial moves.</a:t>
            </a:r>
            <a:endParaRPr sz="2100" dirty="0">
              <a:solidFill>
                <a:srgbClr val="1A1A1A"/>
              </a:solidFill>
              <a:latin typeface="Calibri" panose="020F0502020204030204" pitchFamily="34" charset="0"/>
            </a:endParaRPr>
          </a:p>
        </p:txBody>
      </p:sp>
      <p:sp>
        <p:nvSpPr>
          <p:cNvPr id="17" name="TextBox 16">
            <a:extLst>
              <a:ext uri="{FF2B5EF4-FFF2-40B4-BE49-F238E27FC236}">
                <a16:creationId xmlns:a16="http://schemas.microsoft.com/office/drawing/2014/main" id="{BBE33486-1A26-9B55-897F-E21A9D782C94}"/>
              </a:ext>
            </a:extLst>
          </p:cNvPr>
          <p:cNvSpPr txBox="1"/>
          <p:nvPr/>
        </p:nvSpPr>
        <p:spPr>
          <a:xfrm>
            <a:off x="6492240" y="1463040"/>
            <a:ext cx="4937760" cy="430887"/>
          </a:xfrm>
          <a:prstGeom prst="rect">
            <a:avLst/>
          </a:prstGeom>
          <a:noFill/>
        </p:spPr>
        <p:txBody>
          <a:bodyPr wrap="square">
            <a:noAutofit/>
          </a:bodyPr>
          <a:lstStyle/>
          <a:p>
            <a:r>
              <a:rPr lang="en-US" sz="2300" b="1">
                <a:solidFill>
                  <a:srgbClr val="000000"/>
                </a:solidFill>
                <a:latin typeface="Calibri" panose="020F0502020204030204" pitchFamily="34" charset="0"/>
              </a:rPr>
              <a:t>Moderate and wide forecasts</a:t>
            </a:r>
            <a:endParaRPr sz="2300" b="1" dirty="0">
              <a:solidFill>
                <a:srgbClr val="000000"/>
              </a:solidFill>
              <a:latin typeface="Calibri" panose="020F0502020204030204" pitchFamily="34" charset="0"/>
            </a:endParaRPr>
          </a:p>
        </p:txBody>
      </p:sp>
      <p:sp>
        <p:nvSpPr>
          <p:cNvPr id="19" name="TextBox 18">
            <a:extLst>
              <a:ext uri="{FF2B5EF4-FFF2-40B4-BE49-F238E27FC236}">
                <a16:creationId xmlns:a16="http://schemas.microsoft.com/office/drawing/2014/main" id="{8ACC2210-B02E-C807-76AC-1C2EFAEF7739}"/>
              </a:ext>
            </a:extLst>
          </p:cNvPr>
          <p:cNvSpPr txBox="1"/>
          <p:nvPr/>
        </p:nvSpPr>
        <p:spPr>
          <a:xfrm>
            <a:off x="6492240" y="2146300"/>
            <a:ext cx="4937760" cy="2578100"/>
          </a:xfrm>
          <a:prstGeom prst="rect">
            <a:avLst/>
          </a:prstGeom>
          <a:noFill/>
        </p:spPr>
        <p:txBody>
          <a:bodyPr wrap="square">
            <a:noAutofit/>
          </a:bodyPr>
          <a:lstStyle/>
          <a:p>
            <a:pPr>
              <a:lnSpc>
                <a:spcPct val="115000"/>
              </a:lnSpc>
              <a:spcAft>
                <a:spcPts val="500"/>
              </a:spcAft>
            </a:pPr>
            <a:r>
              <a:rPr lang="en-US" sz="2100">
                <a:solidFill>
                  <a:srgbClr val="1A1A1A"/>
                </a:solidFill>
                <a:latin typeface="Calibri" panose="020F0502020204030204" pitchFamily="34" charset="0"/>
              </a:rPr>
              <a:t>First try 56 days earlier or later.</a:t>
            </a:r>
          </a:p>
          <a:p>
            <a:pPr>
              <a:lnSpc>
                <a:spcPct val="115000"/>
              </a:lnSpc>
              <a:spcAft>
                <a:spcPts val="500"/>
              </a:spcAft>
            </a:pPr>
            <a:r>
              <a:rPr lang="en-US" sz="2100">
                <a:solidFill>
                  <a:srgbClr val="1A1A1A"/>
                </a:solidFill>
                <a:latin typeface="Calibri" panose="020F0502020204030204" pitchFamily="34" charset="0"/>
              </a:rPr>
              <a:t>If no move helps, try 42 days,</a:t>
            </a:r>
          </a:p>
          <a:p>
            <a:pPr>
              <a:lnSpc>
                <a:spcPct val="115000"/>
              </a:lnSpc>
              <a:spcAft>
                <a:spcPts val="500"/>
              </a:spcAft>
            </a:pPr>
            <a:r>
              <a:rPr lang="en-US" sz="2100">
                <a:solidFill>
                  <a:srgbClr val="1A1A1A"/>
                </a:solidFill>
                <a:latin typeface="Calibri" panose="020F0502020204030204" pitchFamily="34" charset="0"/>
              </a:rPr>
              <a:t>then 28, 14, 7, 3 and 1 day.</a:t>
            </a:r>
          </a:p>
          <a:p>
            <a:pPr>
              <a:lnSpc>
                <a:spcPct val="115000"/>
              </a:lnSpc>
              <a:spcAft>
                <a:spcPts val="500"/>
              </a:spcAft>
            </a:pPr>
            <a:endParaRPr lang="en-US" sz="2100">
              <a:solidFill>
                <a:srgbClr val="1A1A1A"/>
              </a:solidFill>
              <a:latin typeface="Calibri" panose="020F0502020204030204" pitchFamily="34" charset="0"/>
            </a:endParaRPr>
          </a:p>
          <a:p>
            <a:pPr>
              <a:lnSpc>
                <a:spcPct val="115000"/>
              </a:lnSpc>
              <a:spcAft>
                <a:spcPts val="500"/>
              </a:spcAft>
            </a:pPr>
            <a:r>
              <a:rPr lang="en-US" sz="2100">
                <a:solidFill>
                  <a:srgbClr val="1A1A1A"/>
                </a:solidFill>
                <a:latin typeface="Calibri" panose="020F0502020204030204" pitchFamily="34" charset="0"/>
              </a:rPr>
              <a:t>Try one size at a time.</a:t>
            </a:r>
          </a:p>
          <a:p>
            <a:pPr>
              <a:lnSpc>
                <a:spcPct val="115000"/>
              </a:lnSpc>
              <a:spcAft>
                <a:spcPts val="500"/>
              </a:spcAft>
            </a:pPr>
            <a:r>
              <a:rPr lang="en-US" sz="2100">
                <a:solidFill>
                  <a:srgbClr val="1A1A1A"/>
                </a:solidFill>
                <a:latin typeface="Calibri" panose="020F0502020204030204" pitchFamily="34" charset="0"/>
              </a:rPr>
              <a:t>This is the shared recommendation.</a:t>
            </a:r>
            <a:endParaRPr lang="en-US" sz="2100" dirty="0">
              <a:solidFill>
                <a:srgbClr val="1A1A1A"/>
              </a:solidFill>
              <a:latin typeface="Calibri" panose="020F0502020204030204" pitchFamily="34" charset="0"/>
            </a:endParaRPr>
          </a:p>
        </p:txBody>
      </p:sp>
      <p:sp>
        <p:nvSpPr>
          <p:cNvPr id="6" name="Footer Card 20">
            <a:extLst>
              <a:ext uri="{FF2B5EF4-FFF2-40B4-BE49-F238E27FC236}">
                <a16:creationId xmlns:a16="http://schemas.microsoft.com/office/drawing/2014/main" id="{AB4D2C2B-97B8-3B21-388B-09229F9A3EFA}"/>
              </a:ext>
            </a:extLst>
          </p:cNvPr>
          <p:cNvSpPr/>
          <p:nvPr/>
        </p:nvSpPr>
        <p:spPr>
          <a:xfrm>
            <a:off x="457200" y="5181600"/>
            <a:ext cx="11201400" cy="1371600"/>
          </a:xfrm>
          <a:prstGeom prst="roundRect">
            <a:avLst/>
          </a:prstGeom>
          <a:solidFill>
            <a:srgbClr val="F0F0F0"/>
          </a:solidFill>
          <a:ln w="12700">
            <a:solidFill>
              <a:srgbClr val="B0B0B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AU"/>
          </a:p>
        </p:txBody>
      </p:sp>
      <p:sp>
        <p:nvSpPr>
          <p:cNvPr id="7" name="TextBox 6">
            <a:extLst>
              <a:ext uri="{FF2B5EF4-FFF2-40B4-BE49-F238E27FC236}">
                <a16:creationId xmlns:a16="http://schemas.microsoft.com/office/drawing/2014/main" id="{023F1CF4-A312-8E8E-481A-FD6D6BB15480}"/>
              </a:ext>
            </a:extLst>
          </p:cNvPr>
          <p:cNvSpPr txBox="1"/>
          <p:nvPr/>
        </p:nvSpPr>
        <p:spPr>
          <a:xfrm>
            <a:off x="731520" y="5334000"/>
            <a:ext cx="10668000" cy="400110"/>
          </a:xfrm>
          <a:prstGeom prst="rect">
            <a:avLst/>
          </a:prstGeom>
          <a:noFill/>
        </p:spPr>
        <p:txBody>
          <a:bodyPr vert="horz" rtlCol="0">
            <a:noAutofit/>
          </a:bodyPr>
          <a:lstStyle/>
          <a:p>
            <a:r>
              <a:rPr lang="en-US" sz="2100" b="1">
                <a:solidFill>
                  <a:srgbClr val="000000"/>
                </a:solidFill>
                <a:latin typeface="Calibri" panose="020F0502020204030204" pitchFamily="34" charset="0"/>
              </a:rPr>
              <a:t>When does the search stop?</a:t>
            </a:r>
            <a:endParaRPr lang="en-AU" sz="2100" b="1" dirty="0">
              <a:solidFill>
                <a:srgbClr val="000000"/>
              </a:solidFill>
              <a:latin typeface="Calibri" panose="020F0502020204030204" pitchFamily="34" charset="0"/>
            </a:endParaRPr>
          </a:p>
        </p:txBody>
      </p:sp>
      <p:sp>
        <p:nvSpPr>
          <p:cNvPr id="8" name="TextBox 7">
            <a:extLst>
              <a:ext uri="{FF2B5EF4-FFF2-40B4-BE49-F238E27FC236}">
                <a16:creationId xmlns:a16="http://schemas.microsoft.com/office/drawing/2014/main" id="{F0AE5DB2-73E5-8FE9-FE51-45675AE50032}"/>
              </a:ext>
            </a:extLst>
          </p:cNvPr>
          <p:cNvSpPr txBox="1"/>
          <p:nvPr/>
        </p:nvSpPr>
        <p:spPr>
          <a:xfrm>
            <a:off x="731520" y="5778500"/>
            <a:ext cx="10668000" cy="711200"/>
          </a:xfrm>
          <a:prstGeom prst="rect">
            <a:avLst/>
          </a:prstGeom>
          <a:noFill/>
        </p:spPr>
        <p:txBody>
          <a:bodyPr vert="horz" rtlCol="0">
            <a:noAutofit/>
          </a:bodyPr>
          <a:lstStyle/>
          <a:p>
            <a:r>
              <a:rPr lang="en-US">
                <a:solidFill>
                  <a:srgbClr val="1A1A1A"/>
                </a:solidFill>
                <a:latin typeface="+mj-lt"/>
              </a:rPr>
              <a:t>Stop when none of the listed moves improves the schedule, or after 400 search iterations.</a:t>
            </a:r>
          </a:p>
          <a:p>
            <a:r>
              <a:rPr lang="en-US">
                <a:solidFill>
                  <a:srgbClr val="1A1A1A"/>
                </a:solidFill>
                <a:latin typeface="+mj-lt"/>
              </a:rPr>
              <a:t>Each iteration accepts at most one move. The search can stop before reaching 400.</a:t>
            </a:r>
            <a:endParaRPr lang="en-AU" dirty="0">
              <a:solidFill>
                <a:srgbClr val="1A1A1A"/>
              </a:solidFill>
              <a:latin typeface="+mj-lt"/>
            </a:endParaRPr>
          </a:p>
        </p:txBody>
      </p:sp>
    </p:spTree>
    <p:extLst>
      <p:ext uri="{BB962C8B-B14F-4D97-AF65-F5344CB8AC3E}">
        <p14:creationId xmlns:p14="http://schemas.microsoft.com/office/powerpoint/2010/main" val="404262173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9728"/>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165100"/>
            <a:ext cx="11277600" cy="317500"/>
          </a:xfrm>
          <a:prstGeom prst="rect">
            <a:avLst/>
          </a:prstGeom>
          <a:noFill/>
        </p:spPr>
        <p:txBody>
          <a:bodyPr wrap="square">
            <a:noAutofit/>
          </a:bodyPr>
          <a:lstStyle/>
          <a:p>
            <a:pPr algn="l"/>
            <a:r>
              <a:rPr lang="en-AU" sz="1500" b="1">
                <a:solidFill>
                  <a:srgbClr val="000000"/>
                </a:solidFill>
                <a:latin typeface="Calibri"/>
              </a:rPr>
              <a:t>LIMITS AND NEXT STEPS</a:t>
            </a:r>
            <a:endParaRPr sz="1500" b="1">
              <a:solidFill>
                <a:srgbClr val="000000"/>
              </a:solidFill>
              <a:latin typeface="Calibri"/>
            </a:endParaRPr>
          </a:p>
        </p:txBody>
      </p:sp>
      <p:sp>
        <p:nvSpPr>
          <p:cNvPr id="5" name="TextBox 4"/>
          <p:cNvSpPr txBox="1"/>
          <p:nvPr/>
        </p:nvSpPr>
        <p:spPr>
          <a:xfrm>
            <a:off x="457200" y="533400"/>
            <a:ext cx="11277600" cy="660400"/>
          </a:xfrm>
          <a:prstGeom prst="rect">
            <a:avLst/>
          </a:prstGeom>
          <a:noFill/>
        </p:spPr>
        <p:txBody>
          <a:bodyPr wrap="square">
            <a:noAutofit/>
          </a:bodyPr>
          <a:lstStyle/>
          <a:p>
            <a:r>
              <a:rPr lang="en-US" sz="3200" b="1">
                <a:solidFill>
                  <a:srgbClr val="000000"/>
                </a:solidFill>
                <a:latin typeface="Calibri" panose="020F0502020204030204" pitchFamily="34" charset="0"/>
              </a:rPr>
              <a:t>Availability limits and remaining work</a:t>
            </a:r>
            <a:endParaRPr sz="3200" b="1" dirty="0">
              <a:solidFill>
                <a:srgbClr val="000000"/>
              </a:solidFill>
              <a:latin typeface="Calibri" panose="020F0502020204030204" pitchFamily="34" charset="0"/>
            </a:endParaRPr>
          </a:p>
        </p:txBody>
      </p:sp>
      <p:sp>
        <p:nvSpPr>
          <p:cNvPr id="9" name="Rounded Rectangle 5">
            <a:extLst>
              <a:ext uri="{FF2B5EF4-FFF2-40B4-BE49-F238E27FC236}">
                <a16:creationId xmlns:a16="http://schemas.microsoft.com/office/drawing/2014/main" id="{EB8F05B1-0C6F-85C3-09E3-DC807EA60B9F}"/>
              </a:ext>
            </a:extLst>
          </p:cNvPr>
          <p:cNvSpPr/>
          <p:nvPr/>
        </p:nvSpPr>
        <p:spPr>
          <a:xfrm>
            <a:off x="457200" y="1188720"/>
            <a:ext cx="5532120" cy="3835400"/>
          </a:xfrm>
          <a:prstGeom prst="roundRect">
            <a:avLst/>
          </a:prstGeom>
          <a:solidFill>
            <a:srgbClr val="FFFFFF"/>
          </a:solidFill>
          <a:ln w="12700">
            <a:solidFill>
              <a:srgbClr val="B0B0B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8">
            <a:extLst>
              <a:ext uri="{FF2B5EF4-FFF2-40B4-BE49-F238E27FC236}">
                <a16:creationId xmlns:a16="http://schemas.microsoft.com/office/drawing/2014/main" id="{CA042E39-C912-4482-5368-24E2DF631308}"/>
              </a:ext>
            </a:extLst>
          </p:cNvPr>
          <p:cNvSpPr/>
          <p:nvPr/>
        </p:nvSpPr>
        <p:spPr>
          <a:xfrm>
            <a:off x="6217920" y="1188720"/>
            <a:ext cx="5440680" cy="3835400"/>
          </a:xfrm>
          <a:prstGeom prst="roundRect">
            <a:avLst/>
          </a:prstGeom>
          <a:solidFill>
            <a:srgbClr val="F0F0F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a:extLst>
              <a:ext uri="{FF2B5EF4-FFF2-40B4-BE49-F238E27FC236}">
                <a16:creationId xmlns:a16="http://schemas.microsoft.com/office/drawing/2014/main" id="{578B1173-56A7-CCBE-B621-B5F6C57B3633}"/>
              </a:ext>
            </a:extLst>
          </p:cNvPr>
          <p:cNvSpPr txBox="1"/>
          <p:nvPr/>
        </p:nvSpPr>
        <p:spPr>
          <a:xfrm>
            <a:off x="731520" y="1463040"/>
            <a:ext cx="5029200" cy="430887"/>
          </a:xfrm>
          <a:prstGeom prst="rect">
            <a:avLst/>
          </a:prstGeom>
          <a:noFill/>
        </p:spPr>
        <p:txBody>
          <a:bodyPr wrap="square">
            <a:noAutofit/>
          </a:bodyPr>
          <a:lstStyle/>
          <a:p>
            <a:r>
              <a:rPr lang="en-AU" sz="2300" b="1">
                <a:solidFill>
                  <a:srgbClr val="000000"/>
                </a:solidFill>
                <a:latin typeface="Calibri" panose="020F0502020204030204" pitchFamily="34" charset="0"/>
              </a:rPr>
              <a:t>Original forecast</a:t>
            </a:r>
            <a:endParaRPr sz="2300" b="1" dirty="0">
              <a:solidFill>
                <a:srgbClr val="000000"/>
              </a:solidFill>
              <a:latin typeface="Calibri" panose="020F0502020204030204" pitchFamily="34" charset="0"/>
            </a:endParaRPr>
          </a:p>
        </p:txBody>
      </p:sp>
      <p:sp>
        <p:nvSpPr>
          <p:cNvPr id="15" name="TextBox 14">
            <a:extLst>
              <a:ext uri="{FF2B5EF4-FFF2-40B4-BE49-F238E27FC236}">
                <a16:creationId xmlns:a16="http://schemas.microsoft.com/office/drawing/2014/main" id="{917E8644-1360-B249-7DC8-687D66DE8ACE}"/>
              </a:ext>
            </a:extLst>
          </p:cNvPr>
          <p:cNvSpPr txBox="1"/>
          <p:nvPr/>
        </p:nvSpPr>
        <p:spPr>
          <a:xfrm>
            <a:off x="731520" y="2044700"/>
            <a:ext cx="5029200" cy="2679700"/>
          </a:xfrm>
          <a:prstGeom prst="rect">
            <a:avLst/>
          </a:prstGeom>
          <a:noFill/>
        </p:spPr>
        <p:txBody>
          <a:bodyPr wrap="square">
            <a:noAutofit/>
          </a:bodyPr>
          <a:lstStyle/>
          <a:p>
            <a:pPr>
              <a:lnSpc>
                <a:spcPct val="115000"/>
              </a:lnSpc>
              <a:spcAft>
                <a:spcPts val="800"/>
              </a:spcAft>
            </a:pPr>
            <a:r>
              <a:rPr lang="en-US" sz="3400" b="1">
                <a:solidFill>
                  <a:srgbClr val="1A1A1A"/>
                </a:solidFill>
                <a:latin typeface="Calibri" panose="020F0502020204030204" pitchFamily="34" charset="0"/>
              </a:rPr>
              <a:t>18 aircraft</a:t>
            </a:r>
          </a:p>
          <a:p>
            <a:pPr>
              <a:lnSpc>
                <a:spcPct val="115000"/>
              </a:lnSpc>
              <a:spcAft>
                <a:spcPts val="800"/>
              </a:spcAft>
            </a:pPr>
            <a:r>
              <a:rPr lang="en-US" sz="2200">
                <a:solidFill>
                  <a:srgbClr val="1A1A1A"/>
                </a:solidFill>
                <a:latin typeface="Calibri" panose="020F0502020204030204" pitchFamily="34" charset="0"/>
              </a:rPr>
              <a:t>Best possible worst-day availability</a:t>
            </a:r>
          </a:p>
          <a:p>
            <a:pPr>
              <a:lnSpc>
                <a:spcPct val="115000"/>
              </a:lnSpc>
              <a:spcAft>
                <a:spcPts val="800"/>
              </a:spcAft>
            </a:pPr>
            <a:endParaRPr lang="en-US" sz="2200">
              <a:solidFill>
                <a:srgbClr val="1A1A1A"/>
              </a:solidFill>
              <a:latin typeface="Calibri" panose="020F0502020204030204" pitchFamily="34" charset="0"/>
            </a:endParaRPr>
          </a:p>
          <a:p>
            <a:pPr>
              <a:lnSpc>
                <a:spcPct val="115000"/>
              </a:lnSpc>
              <a:spcAft>
                <a:spcPts val="800"/>
              </a:spcAft>
            </a:pPr>
            <a:r>
              <a:rPr lang="en-US" sz="2200">
                <a:solidFill>
                  <a:srgbClr val="1A1A1A"/>
                </a:solidFill>
                <a:latin typeface="Calibri" panose="020F0502020204030204" pitchFamily="34" charset="0"/>
              </a:rPr>
              <a:t>Six D checks must overlap.</a:t>
            </a:r>
          </a:p>
          <a:p>
            <a:pPr>
              <a:lnSpc>
                <a:spcPct val="115000"/>
              </a:lnSpc>
              <a:spcAft>
                <a:spcPts val="800"/>
              </a:spcAft>
            </a:pPr>
            <a:r>
              <a:rPr lang="en-US" sz="2200">
                <a:solidFill>
                  <a:srgbClr val="1A1A1A"/>
                </a:solidFill>
                <a:latin typeface="Calibri" panose="020F0502020204030204" pitchFamily="34" charset="0"/>
              </a:rPr>
              <a:t>24 aircraft − 6 in maintenance = 18</a:t>
            </a:r>
            <a:endParaRPr sz="2200" dirty="0">
              <a:solidFill>
                <a:srgbClr val="1A1A1A"/>
              </a:solidFill>
              <a:latin typeface="Calibri" panose="020F0502020204030204" pitchFamily="34" charset="0"/>
            </a:endParaRPr>
          </a:p>
        </p:txBody>
      </p:sp>
      <p:sp>
        <p:nvSpPr>
          <p:cNvPr id="17" name="TextBox 16">
            <a:extLst>
              <a:ext uri="{FF2B5EF4-FFF2-40B4-BE49-F238E27FC236}">
                <a16:creationId xmlns:a16="http://schemas.microsoft.com/office/drawing/2014/main" id="{BBE33486-1A26-9B55-897F-E21A9D782C94}"/>
              </a:ext>
            </a:extLst>
          </p:cNvPr>
          <p:cNvSpPr txBox="1"/>
          <p:nvPr/>
        </p:nvSpPr>
        <p:spPr>
          <a:xfrm>
            <a:off x="6492240" y="1463040"/>
            <a:ext cx="4937760" cy="430887"/>
          </a:xfrm>
          <a:prstGeom prst="rect">
            <a:avLst/>
          </a:prstGeom>
          <a:noFill/>
        </p:spPr>
        <p:txBody>
          <a:bodyPr wrap="square">
            <a:noAutofit/>
          </a:bodyPr>
          <a:lstStyle/>
          <a:p>
            <a:r>
              <a:rPr lang="en-US" sz="2300" b="1">
                <a:solidFill>
                  <a:srgbClr val="000000"/>
                </a:solidFill>
                <a:latin typeface="Calibri" panose="020F0502020204030204" pitchFamily="34" charset="0"/>
              </a:rPr>
              <a:t>Moderate and wide stagger</a:t>
            </a:r>
            <a:endParaRPr sz="2300" b="1" dirty="0">
              <a:solidFill>
                <a:srgbClr val="000000"/>
              </a:solidFill>
              <a:latin typeface="Calibri" panose="020F0502020204030204" pitchFamily="34" charset="0"/>
            </a:endParaRPr>
          </a:p>
        </p:txBody>
      </p:sp>
      <p:sp>
        <p:nvSpPr>
          <p:cNvPr id="19" name="TextBox 18">
            <a:extLst>
              <a:ext uri="{FF2B5EF4-FFF2-40B4-BE49-F238E27FC236}">
                <a16:creationId xmlns:a16="http://schemas.microsoft.com/office/drawing/2014/main" id="{8ACC2210-B02E-C807-76AC-1C2EFAEF7739}"/>
              </a:ext>
            </a:extLst>
          </p:cNvPr>
          <p:cNvSpPr txBox="1"/>
          <p:nvPr/>
        </p:nvSpPr>
        <p:spPr>
          <a:xfrm>
            <a:off x="6492240" y="2044700"/>
            <a:ext cx="4937760" cy="2679700"/>
          </a:xfrm>
          <a:prstGeom prst="rect">
            <a:avLst/>
          </a:prstGeom>
          <a:noFill/>
        </p:spPr>
        <p:txBody>
          <a:bodyPr wrap="square">
            <a:noAutofit/>
          </a:bodyPr>
          <a:lstStyle/>
          <a:p>
            <a:pPr>
              <a:lnSpc>
                <a:spcPct val="115000"/>
              </a:lnSpc>
              <a:spcAft>
                <a:spcPts val="800"/>
              </a:spcAft>
            </a:pPr>
            <a:r>
              <a:rPr lang="en-US" sz="3400" b="1">
                <a:solidFill>
                  <a:srgbClr val="1A1A1A"/>
                </a:solidFill>
                <a:latin typeface="Calibri" panose="020F0502020204030204" pitchFamily="34" charset="0"/>
              </a:rPr>
              <a:t>19 and 20 aircraft</a:t>
            </a:r>
          </a:p>
          <a:p>
            <a:pPr>
              <a:lnSpc>
                <a:spcPct val="115000"/>
              </a:lnSpc>
              <a:spcAft>
                <a:spcPts val="800"/>
              </a:spcAft>
            </a:pPr>
            <a:r>
              <a:rPr lang="en-US" sz="2200">
                <a:solidFill>
                  <a:srgbClr val="1A1A1A"/>
                </a:solidFill>
                <a:latin typeface="Calibri" panose="020F0502020204030204" pitchFamily="34" charset="0"/>
              </a:rPr>
              <a:t>Best worst-day availability found so far</a:t>
            </a:r>
          </a:p>
          <a:p>
            <a:pPr>
              <a:lnSpc>
                <a:spcPct val="115000"/>
              </a:lnSpc>
              <a:spcAft>
                <a:spcPts val="800"/>
              </a:spcAft>
            </a:pPr>
            <a:endParaRPr lang="en-US" sz="2200">
              <a:solidFill>
                <a:srgbClr val="1A1A1A"/>
              </a:solidFill>
              <a:latin typeface="Calibri" panose="020F0502020204030204" pitchFamily="34" charset="0"/>
            </a:endParaRPr>
          </a:p>
          <a:p>
            <a:pPr>
              <a:lnSpc>
                <a:spcPct val="115000"/>
              </a:lnSpc>
              <a:spcAft>
                <a:spcPts val="800"/>
              </a:spcAft>
            </a:pPr>
            <a:r>
              <a:rPr lang="en-US" sz="2200">
                <a:solidFill>
                  <a:srgbClr val="1A1A1A"/>
                </a:solidFill>
                <a:latin typeface="Calibri" panose="020F0502020204030204" pitchFamily="34" charset="0"/>
              </a:rPr>
              <a:t>Upper limit: 21 on each dataset</a:t>
            </a:r>
          </a:p>
          <a:p>
            <a:pPr>
              <a:lnSpc>
                <a:spcPct val="115000"/>
              </a:lnSpc>
              <a:spcAft>
                <a:spcPts val="800"/>
              </a:spcAft>
            </a:pPr>
            <a:r>
              <a:rPr lang="en-US" sz="2200">
                <a:solidFill>
                  <a:srgbClr val="1A1A1A"/>
                </a:solidFill>
                <a:latin typeface="Calibri" panose="020F0502020204030204" pitchFamily="34" charset="0"/>
              </a:rPr>
              <a:t>Whether we can reach 21 is still open.</a:t>
            </a:r>
            <a:endParaRPr lang="en-US" sz="2200" dirty="0">
              <a:solidFill>
                <a:srgbClr val="1A1A1A"/>
              </a:solidFill>
              <a:latin typeface="Calibri" panose="020F0502020204030204" pitchFamily="34" charset="0"/>
            </a:endParaRPr>
          </a:p>
        </p:txBody>
      </p:sp>
      <p:sp>
        <p:nvSpPr>
          <p:cNvPr id="6" name="Footer Card 20">
            <a:extLst>
              <a:ext uri="{FF2B5EF4-FFF2-40B4-BE49-F238E27FC236}">
                <a16:creationId xmlns:a16="http://schemas.microsoft.com/office/drawing/2014/main" id="{AB4D2C2B-97B8-3B21-388B-09229F9A3EFA}"/>
              </a:ext>
            </a:extLst>
          </p:cNvPr>
          <p:cNvSpPr/>
          <p:nvPr/>
        </p:nvSpPr>
        <p:spPr>
          <a:xfrm>
            <a:off x="457200" y="5181600"/>
            <a:ext cx="11201400" cy="1371600"/>
          </a:xfrm>
          <a:prstGeom prst="roundRect">
            <a:avLst/>
          </a:prstGeom>
          <a:solidFill>
            <a:srgbClr val="F0F0F0"/>
          </a:solidFill>
          <a:ln w="12700">
            <a:solidFill>
              <a:srgbClr val="B0B0B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AU"/>
          </a:p>
        </p:txBody>
      </p:sp>
      <p:sp>
        <p:nvSpPr>
          <p:cNvPr id="7" name="TextBox 6">
            <a:extLst>
              <a:ext uri="{FF2B5EF4-FFF2-40B4-BE49-F238E27FC236}">
                <a16:creationId xmlns:a16="http://schemas.microsoft.com/office/drawing/2014/main" id="{023F1CF4-A312-8E8E-481A-FD6D6BB15480}"/>
              </a:ext>
            </a:extLst>
          </p:cNvPr>
          <p:cNvSpPr txBox="1"/>
          <p:nvPr/>
        </p:nvSpPr>
        <p:spPr>
          <a:xfrm>
            <a:off x="731520" y="5334000"/>
            <a:ext cx="10668000" cy="400110"/>
          </a:xfrm>
          <a:prstGeom prst="rect">
            <a:avLst/>
          </a:prstGeom>
          <a:noFill/>
        </p:spPr>
        <p:txBody>
          <a:bodyPr vert="horz" rtlCol="0">
            <a:noAutofit/>
          </a:bodyPr>
          <a:lstStyle/>
          <a:p>
            <a:r>
              <a:rPr lang="en-US" sz="2100" b="1">
                <a:solidFill>
                  <a:srgbClr val="000000"/>
                </a:solidFill>
                <a:latin typeface="Calibri" panose="020F0502020204030204" pitchFamily="34" charset="0"/>
              </a:rPr>
              <a:t>What remains open</a:t>
            </a:r>
            <a:endParaRPr lang="en-AU" sz="2100" b="1" dirty="0">
              <a:solidFill>
                <a:srgbClr val="000000"/>
              </a:solidFill>
              <a:latin typeface="Calibri" panose="020F0502020204030204" pitchFamily="34" charset="0"/>
            </a:endParaRPr>
          </a:p>
        </p:txBody>
      </p:sp>
      <p:sp>
        <p:nvSpPr>
          <p:cNvPr id="8" name="TextBox 7">
            <a:extLst>
              <a:ext uri="{FF2B5EF4-FFF2-40B4-BE49-F238E27FC236}">
                <a16:creationId xmlns:a16="http://schemas.microsoft.com/office/drawing/2014/main" id="{F0AE5DB2-73E5-8FE9-FE51-45675AE50032}"/>
              </a:ext>
            </a:extLst>
          </p:cNvPr>
          <p:cNvSpPr txBox="1"/>
          <p:nvPr/>
        </p:nvSpPr>
        <p:spPr>
          <a:xfrm>
            <a:off x="731520" y="5778499"/>
            <a:ext cx="10668000" cy="711200"/>
          </a:xfrm>
          <a:prstGeom prst="rect">
            <a:avLst/>
          </a:prstGeom>
          <a:noFill/>
        </p:spPr>
        <p:txBody>
          <a:bodyPr vert="horz" rtlCol="0">
            <a:noAutofit/>
          </a:bodyPr>
          <a:lstStyle/>
          <a:p>
            <a:r>
              <a:rPr lang="en-US">
                <a:solidFill>
                  <a:srgbClr val="1A1A1A"/>
                </a:solidFill>
                <a:latin typeface="+mj-lt"/>
              </a:rPr>
              <a:t>Search for smoother original schedules and higher worst-day availability on the stagger datasets.</a:t>
            </a:r>
          </a:p>
          <a:p>
            <a:r>
              <a:rPr lang="en-US">
                <a:solidFill>
                  <a:srgbClr val="1A1A1A"/>
                </a:solidFill>
                <a:latin typeface="+mj-lt"/>
              </a:rPr>
              <a:t>These findings apply to the tested dummy maintenance forecasts.</a:t>
            </a:r>
            <a:endParaRPr lang="en-AU" dirty="0">
              <a:solidFill>
                <a:srgbClr val="1A1A1A"/>
              </a:solidFill>
              <a:latin typeface="+mj-lt"/>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9728"/>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165100"/>
            <a:ext cx="11277600" cy="317500"/>
          </a:xfrm>
          <a:prstGeom prst="rect">
            <a:avLst/>
          </a:prstGeom>
          <a:noFill/>
        </p:spPr>
        <p:txBody>
          <a:bodyPr wrap="square">
            <a:noAutofit/>
          </a:bodyPr>
          <a:lstStyle/>
          <a:p>
            <a:pPr algn="l"/>
            <a:r>
              <a:rPr lang="en-AU" sz="1500" b="1">
                <a:solidFill>
                  <a:srgbClr val="000000"/>
                </a:solidFill>
                <a:latin typeface="Calibri"/>
              </a:rPr>
              <a:t>FINAL RECOMMENDATION</a:t>
            </a:r>
            <a:endParaRPr sz="1500" b="1">
              <a:solidFill>
                <a:srgbClr val="000000"/>
              </a:solidFill>
              <a:latin typeface="Calibri"/>
            </a:endParaRPr>
          </a:p>
        </p:txBody>
      </p:sp>
      <p:sp>
        <p:nvSpPr>
          <p:cNvPr id="5" name="TextBox 4"/>
          <p:cNvSpPr txBox="1"/>
          <p:nvPr/>
        </p:nvSpPr>
        <p:spPr>
          <a:xfrm>
            <a:off x="457200" y="533400"/>
            <a:ext cx="11277600" cy="660400"/>
          </a:xfrm>
          <a:prstGeom prst="rect">
            <a:avLst/>
          </a:prstGeom>
          <a:noFill/>
        </p:spPr>
        <p:txBody>
          <a:bodyPr wrap="square">
            <a:noAutofit/>
          </a:bodyPr>
          <a:lstStyle/>
          <a:p>
            <a:pPr algn="l"/>
            <a:r>
              <a:rPr lang="en-US" sz="3100" b="1">
                <a:solidFill>
                  <a:srgbClr val="000000"/>
                </a:solidFill>
                <a:latin typeface="Calibri"/>
              </a:rPr>
              <a:t>Final method: Priority Based Selection with VNS</a:t>
            </a:r>
            <a:endParaRPr sz="3100" b="1">
              <a:solidFill>
                <a:srgbClr val="000000"/>
              </a:solidFill>
              <a:latin typeface="Calibri"/>
            </a:endParaRPr>
          </a:p>
        </p:txBody>
      </p:sp>
      <p:sp>
        <p:nvSpPr>
          <p:cNvPr id="6" name="Rounded Rectangle 5"/>
          <p:cNvSpPr/>
          <p:nvPr/>
        </p:nvSpPr>
        <p:spPr>
          <a:xfrm>
            <a:off x="457200" y="1188720"/>
            <a:ext cx="5440680" cy="1417320"/>
          </a:xfrm>
          <a:prstGeom prst="roundRect">
            <a:avLst/>
          </a:prstGeom>
          <a:solidFill>
            <a:srgbClr val="F0F0F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58368" y="1389888"/>
            <a:ext cx="5074920" cy="365760"/>
          </a:xfrm>
          <a:prstGeom prst="rect">
            <a:avLst/>
          </a:prstGeom>
          <a:noFill/>
        </p:spPr>
        <p:txBody>
          <a:bodyPr wrap="square">
            <a:noAutofit/>
          </a:bodyPr>
          <a:lstStyle/>
          <a:p>
            <a:pPr algn="l"/>
            <a:r>
              <a:rPr lang="en-AU" sz="1700" b="1">
                <a:solidFill>
                  <a:srgbClr val="000000"/>
                </a:solidFill>
                <a:latin typeface="Calibri"/>
              </a:rPr>
              <a:t>METHOD</a:t>
            </a:r>
            <a:endParaRPr sz="1700" b="1">
              <a:solidFill>
                <a:srgbClr val="000000"/>
              </a:solidFill>
              <a:latin typeface="Calibri"/>
            </a:endParaRPr>
          </a:p>
        </p:txBody>
      </p:sp>
      <p:sp>
        <p:nvSpPr>
          <p:cNvPr id="8" name="TextBox 7"/>
          <p:cNvSpPr txBox="1"/>
          <p:nvPr/>
        </p:nvSpPr>
        <p:spPr>
          <a:xfrm>
            <a:off x="658368" y="1810511"/>
            <a:ext cx="5074920" cy="787400"/>
          </a:xfrm>
          <a:prstGeom prst="rect">
            <a:avLst/>
          </a:prstGeom>
          <a:noFill/>
        </p:spPr>
        <p:txBody>
          <a:bodyPr wrap="square">
            <a:noAutofit/>
          </a:bodyPr>
          <a:lstStyle/>
          <a:p>
            <a:pPr algn="l"/>
            <a:r>
              <a:rPr lang="en-US" sz="2300" b="1">
                <a:solidFill>
                  <a:srgbClr val="000000"/>
                </a:solidFill>
                <a:latin typeface="Calibri"/>
              </a:rPr>
              <a:t>Priority Based Selection</a:t>
            </a:r>
          </a:p>
          <a:p>
            <a:pPr algn="l"/>
            <a:r>
              <a:rPr lang="en-US" sz="2300" b="1">
                <a:solidFill>
                  <a:srgbClr val="000000"/>
                </a:solidFill>
                <a:latin typeface="Calibri"/>
              </a:rPr>
              <a:t>with VNS</a:t>
            </a:r>
            <a:endParaRPr sz="2300" b="1">
              <a:solidFill>
                <a:srgbClr val="000000"/>
              </a:solidFill>
              <a:latin typeface="Calibri"/>
            </a:endParaRPr>
          </a:p>
        </p:txBody>
      </p:sp>
      <p:sp>
        <p:nvSpPr>
          <p:cNvPr id="9" name="Rounded Rectangle 8"/>
          <p:cNvSpPr/>
          <p:nvPr/>
        </p:nvSpPr>
        <p:spPr>
          <a:xfrm>
            <a:off x="6172200" y="1188720"/>
            <a:ext cx="5440680" cy="1417320"/>
          </a:xfrm>
          <a:prstGeom prst="roundRect">
            <a:avLst/>
          </a:prstGeom>
          <a:solidFill>
            <a:srgbClr val="F0F0F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373368" y="1389888"/>
            <a:ext cx="5074920" cy="365760"/>
          </a:xfrm>
          <a:prstGeom prst="rect">
            <a:avLst/>
          </a:prstGeom>
          <a:noFill/>
        </p:spPr>
        <p:txBody>
          <a:bodyPr wrap="square">
            <a:noAutofit/>
          </a:bodyPr>
          <a:lstStyle/>
          <a:p>
            <a:pPr algn="l"/>
            <a:r>
              <a:rPr lang="en-AU" sz="1700" b="1">
                <a:solidFill>
                  <a:srgbClr val="000000"/>
                </a:solidFill>
                <a:latin typeface="Calibri"/>
              </a:rPr>
              <a:t>SHARED STEP SIZES</a:t>
            </a:r>
            <a:endParaRPr sz="1700" b="1">
              <a:solidFill>
                <a:srgbClr val="000000"/>
              </a:solidFill>
              <a:latin typeface="Calibri"/>
            </a:endParaRPr>
          </a:p>
        </p:txBody>
      </p:sp>
      <p:sp>
        <p:nvSpPr>
          <p:cNvPr id="11" name="TextBox 10"/>
          <p:cNvSpPr txBox="1"/>
          <p:nvPr/>
        </p:nvSpPr>
        <p:spPr>
          <a:xfrm>
            <a:off x="6373368" y="1810511"/>
            <a:ext cx="5074920" cy="850900"/>
          </a:xfrm>
          <a:prstGeom prst="rect">
            <a:avLst/>
          </a:prstGeom>
          <a:noFill/>
        </p:spPr>
        <p:txBody>
          <a:bodyPr wrap="square">
            <a:noAutofit/>
          </a:bodyPr>
          <a:lstStyle/>
          <a:p>
            <a:pPr algn="l"/>
            <a:r>
              <a:rPr lang="en-US" sz="2300" b="1">
                <a:solidFill>
                  <a:srgbClr val="000000"/>
                </a:solidFill>
                <a:latin typeface="Calibri"/>
              </a:rPr>
              <a:t>±56, ±42, ±28, ±14,</a:t>
            </a:r>
          </a:p>
          <a:p>
            <a:pPr algn="l"/>
            <a:r>
              <a:rPr lang="en-US" sz="2300" b="1">
                <a:solidFill>
                  <a:srgbClr val="000000"/>
                </a:solidFill>
                <a:latin typeface="Calibri"/>
              </a:rPr>
              <a:t>±7, ±3, ±1 days</a:t>
            </a:r>
            <a:endParaRPr sz="2300" b="1">
              <a:solidFill>
                <a:srgbClr val="000000"/>
              </a:solidFill>
              <a:latin typeface="Calibri"/>
            </a:endParaRPr>
          </a:p>
        </p:txBody>
      </p:sp>
      <p:sp>
        <p:nvSpPr>
          <p:cNvPr id="12" name="Rounded Rectangle 11"/>
          <p:cNvSpPr/>
          <p:nvPr/>
        </p:nvSpPr>
        <p:spPr>
          <a:xfrm>
            <a:off x="457200" y="2834640"/>
            <a:ext cx="11247120" cy="3520440"/>
          </a:xfrm>
          <a:prstGeom prst="roundRect">
            <a:avLst/>
          </a:prstGeom>
          <a:solidFill>
            <a:srgbClr val="FFFFFF"/>
          </a:solidFill>
          <a:ln w="12700">
            <a:solidFill>
              <a:srgbClr val="B0B0B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731520" y="3063240"/>
            <a:ext cx="10698480" cy="430887"/>
          </a:xfrm>
          <a:prstGeom prst="rect">
            <a:avLst/>
          </a:prstGeom>
          <a:noFill/>
        </p:spPr>
        <p:txBody>
          <a:bodyPr wrap="square">
            <a:noAutofit/>
          </a:bodyPr>
          <a:lstStyle/>
          <a:p>
            <a:pPr algn="l"/>
            <a:r>
              <a:rPr lang="en-US" sz="2200" b="1">
                <a:solidFill>
                  <a:srgbClr val="000000"/>
                </a:solidFill>
                <a:latin typeface="Calibri"/>
              </a:rPr>
              <a:t>Project outcome</a:t>
            </a:r>
            <a:endParaRPr sz="2200" b="1" dirty="0">
              <a:solidFill>
                <a:srgbClr val="000000"/>
              </a:solidFill>
              <a:latin typeface="Calibri"/>
            </a:endParaRPr>
          </a:p>
        </p:txBody>
      </p:sp>
      <p:sp>
        <p:nvSpPr>
          <p:cNvPr id="14" name="TextBox 13"/>
          <p:cNvSpPr txBox="1"/>
          <p:nvPr/>
        </p:nvSpPr>
        <p:spPr>
          <a:xfrm>
            <a:off x="731520" y="3657600"/>
            <a:ext cx="10698480" cy="2095500"/>
          </a:xfrm>
          <a:prstGeom prst="rect">
            <a:avLst/>
          </a:prstGeom>
          <a:noFill/>
        </p:spPr>
        <p:txBody>
          <a:bodyPr wrap="square">
            <a:noAutofit/>
          </a:bodyPr>
          <a:lstStyle/>
          <a:p>
            <a:pPr algn="l">
              <a:spcAft>
                <a:spcPts val="1400"/>
              </a:spcAft>
            </a:pPr>
            <a:r>
              <a:rPr lang="en-US" sz="1900" b="0">
                <a:solidFill>
                  <a:srgbClr val="1A1A1A"/>
                </a:solidFill>
                <a:latin typeface="Calibri"/>
              </a:rPr>
              <a:t>Iteration 1 raised original worst-day availability from 15 to 18.</a:t>
            </a:r>
          </a:p>
          <a:p>
            <a:pPr algn="l">
              <a:spcAft>
                <a:spcPts val="1400"/>
              </a:spcAft>
            </a:pPr>
            <a:r>
              <a:rPr lang="en-US" sz="1900" b="0">
                <a:solidFill>
                  <a:srgbClr val="1A1A1A"/>
                </a:solidFill>
                <a:latin typeface="Calibri"/>
              </a:rPr>
              <a:t>Simulated Annealing offered too little smoothness gain for its runtime.</a:t>
            </a:r>
          </a:p>
          <a:p>
            <a:pPr algn="l">
              <a:spcAft>
                <a:spcPts val="1400"/>
              </a:spcAft>
            </a:pPr>
            <a:r>
              <a:rPr lang="en-US" sz="1900" b="0">
                <a:solidFill>
                  <a:srgbClr val="1A1A1A"/>
                </a:solidFill>
                <a:latin typeface="Calibri"/>
              </a:rPr>
              <a:t>Use the separate wide steps with a 400-iteration limit across these forecasts.</a:t>
            </a:r>
          </a:p>
          <a:p>
            <a:pPr algn="l">
              <a:spcAft>
                <a:spcPts val="1400"/>
              </a:spcAft>
            </a:pPr>
            <a:r>
              <a:rPr lang="en-US" sz="1900" b="0">
                <a:solidFill>
                  <a:srgbClr val="1A1A1A"/>
                </a:solidFill>
                <a:latin typeface="Calibri"/>
              </a:rPr>
              <a:t>For the original forecast, paired shifts plus 42 days give the best measured smoothness.</a:t>
            </a:r>
            <a:endParaRPr sz="1900" b="0" dirty="0">
              <a:solidFill>
                <a:srgbClr val="1A1A1A"/>
              </a:solidFill>
              <a:latin typeface="Calibri"/>
            </a:endParaRPr>
          </a:p>
        </p:txBody>
      </p:sp>
    </p:spTree>
    <p:extLst>
      <p:ext uri="{BB962C8B-B14F-4D97-AF65-F5344CB8AC3E}">
        <p14:creationId xmlns:p14="http://schemas.microsoft.com/office/powerpoint/2010/main" val="11959971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2538</TotalTime>
  <Words>4473</Words>
  <Application>Microsoft Office PowerPoint</Application>
  <PresentationFormat>Widescreen</PresentationFormat>
  <Paragraphs>237</Paragraphs>
  <Slides>17</Slides>
  <Notes>17</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17</vt:i4>
      </vt:variant>
    </vt:vector>
  </HeadingPairs>
  <TitlesOfParts>
    <vt:vector size="22" baseType="lpstr">
      <vt:lpstr>Aptos</vt:lpstr>
      <vt:lpstr>Aptos Display</vt:lpstr>
      <vt:lpstr>Arial</vt:lpstr>
      <vt:lpstr>Calibri</vt:lpstr>
      <vt:lpstr>Office Theme</vt:lpstr>
      <vt:lpstr>PowerPoint Presentation</vt:lpstr>
      <vt:lpstr>The aircraft maintenance scheduling problem</vt:lpstr>
      <vt:lpstr>Simple fleet proof of concept</vt:lpstr>
      <vt:lpstr>The heavy maintenance forecast</vt:lpstr>
      <vt:lpstr>Scaling the search: Random Sampling method</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David Long</dc:creator>
  <cp:lastModifiedBy>David Long</cp:lastModifiedBy>
  <cp:revision>1</cp:revision>
  <dcterms:created xsi:type="dcterms:W3CDTF">2026-03-18T14:25:52Z</dcterms:created>
  <dcterms:modified xsi:type="dcterms:W3CDTF">2026-10-14T01:20:42Z</dcterms:modified>
</cp:coreProperties>
</file>